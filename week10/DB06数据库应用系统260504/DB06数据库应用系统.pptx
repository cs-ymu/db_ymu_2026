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5"/>
  </p:notesMasterIdLst>
  <p:sldIdLst>
    <p:sldId id="256" r:id="rId2"/>
    <p:sldId id="257" r:id="rId3"/>
    <p:sldId id="261" r:id="rId4"/>
    <p:sldId id="310" r:id="rId5"/>
    <p:sldId id="311" r:id="rId6"/>
    <p:sldId id="313" r:id="rId7"/>
    <p:sldId id="312" r:id="rId8"/>
    <p:sldId id="314" r:id="rId9"/>
    <p:sldId id="315" r:id="rId10"/>
    <p:sldId id="309" r:id="rId11"/>
    <p:sldId id="308" r:id="rId12"/>
    <p:sldId id="284" r:id="rId13"/>
    <p:sldId id="286" r:id="rId14"/>
    <p:sldId id="325" r:id="rId15"/>
    <p:sldId id="288" r:id="rId16"/>
    <p:sldId id="292" r:id="rId17"/>
    <p:sldId id="293" r:id="rId18"/>
    <p:sldId id="294" r:id="rId19"/>
    <p:sldId id="296" r:id="rId20"/>
    <p:sldId id="295" r:id="rId21"/>
    <p:sldId id="316" r:id="rId22"/>
    <p:sldId id="319" r:id="rId23"/>
    <p:sldId id="318" r:id="rId24"/>
    <p:sldId id="320" r:id="rId25"/>
    <p:sldId id="321" r:id="rId26"/>
    <p:sldId id="322" r:id="rId27"/>
    <p:sldId id="323" r:id="rId28"/>
    <p:sldId id="289" r:id="rId29"/>
    <p:sldId id="317" r:id="rId30"/>
    <p:sldId id="324" r:id="rId31"/>
    <p:sldId id="302" r:id="rId32"/>
    <p:sldId id="304" r:id="rId33"/>
    <p:sldId id="287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160" autoAdjust="0"/>
  </p:normalViewPr>
  <p:slideViewPr>
    <p:cSldViewPr snapToGrid="0">
      <p:cViewPr varScale="1">
        <p:scale>
          <a:sx n="90" d="100"/>
          <a:sy n="90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B7CDA-D777-4C67-97EC-743CCFD2EB99}" type="datetimeFigureOut">
              <a:rPr lang="zh-CN" altLang="en-US" smtClean="0"/>
              <a:t>2026-5-4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1F5E6-58F1-42BC-81C7-CA9C3857D8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95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1F5E6-58F1-42BC-81C7-CA9C3857D8E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220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演示简单数据库应用系统：</a:t>
            </a:r>
            <a:r>
              <a:rPr lang="en-US" altLang="zh-CN" dirty="0"/>
              <a:t>Access</a:t>
            </a:r>
            <a:r>
              <a:rPr lang="zh-CN" altLang="en-US" dirty="0"/>
              <a:t>数据库应用程序、</a:t>
            </a:r>
            <a:r>
              <a:rPr lang="en-US" altLang="zh-CN" dirty="0"/>
              <a:t>Web</a:t>
            </a:r>
            <a:r>
              <a:rPr lang="zh-CN" altLang="en-US" dirty="0"/>
              <a:t>数据库应用程序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1F5E6-58F1-42BC-81C7-CA9C3857D8E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971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应用程序中调用存储过程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1F5E6-58F1-42BC-81C7-CA9C3857D8E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605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1F5E6-58F1-42BC-81C7-CA9C3857D8E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179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400" baseline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0C60-7730-4A5E-A101-6194F56D2881}" type="datetimeFigureOut">
              <a:rPr lang="zh-CN" altLang="en-US" smtClean="0"/>
              <a:t>2026-5-4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72D3-6E8E-43C3-88B7-06FB12355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60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Cambria Math" panose="02040503050406030204" pitchFamily="18" charset="0"/>
                <a:ea typeface="黑体" panose="02010609060101010101" pitchFamily="49" charset="-122"/>
              </a:defRPr>
            </a:lvl1pPr>
            <a:lvl2pPr marL="541338" indent="-269875">
              <a:defRPr baseline="0">
                <a:latin typeface="Cambria Math" panose="02040503050406030204" pitchFamily="18" charset="0"/>
                <a:ea typeface="黑体" panose="02010609060101010101" pitchFamily="49" charset="-122"/>
              </a:defRPr>
            </a:lvl2pPr>
            <a:lvl3pPr marL="804863" indent="-263525">
              <a:defRPr baseline="0">
                <a:latin typeface="Cambria Math" panose="02040503050406030204" pitchFamily="18" charset="0"/>
                <a:ea typeface="黑体" panose="02010609060101010101" pitchFamily="49" charset="-122"/>
              </a:defRPr>
            </a:lvl3pPr>
            <a:lvl4pPr marL="1074738" indent="-269875">
              <a:defRPr baseline="0">
                <a:latin typeface="Cambria Math" panose="02040503050406030204" pitchFamily="18" charset="0"/>
                <a:ea typeface="黑体" panose="02010609060101010101" pitchFamily="49" charset="-122"/>
              </a:defRPr>
            </a:lvl4pPr>
            <a:lvl5pPr marL="1252538" indent="-177800">
              <a:defRPr baseline="0">
                <a:latin typeface="Cambria Math" panose="02040503050406030204" pitchFamily="18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0C60-7730-4A5E-A101-6194F56D2881}" type="datetimeFigureOut">
              <a:rPr lang="zh-CN" altLang="en-US" smtClean="0"/>
              <a:t>2026-5-4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72D3-6E8E-43C3-88B7-06FB12355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746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0C60-7730-4A5E-A101-6194F56D2881}" type="datetimeFigureOut">
              <a:rPr lang="zh-CN" altLang="en-US" smtClean="0"/>
              <a:t>2026-5-4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72D3-6E8E-43C3-88B7-06FB12355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67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02267"/>
            <a:ext cx="5181600" cy="497469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02267"/>
            <a:ext cx="5181600" cy="49746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0C60-7730-4A5E-A101-6194F56D2881}" type="datetimeFigureOut">
              <a:rPr lang="zh-CN" altLang="en-US" smtClean="0"/>
              <a:t>2026-5-4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72D3-6E8E-43C3-88B7-06FB12355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811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0C60-7730-4A5E-A101-6194F56D2881}" type="datetimeFigureOut">
              <a:rPr lang="zh-CN" altLang="en-US" smtClean="0"/>
              <a:t>2026-5-4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72D3-6E8E-43C3-88B7-06FB12355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948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mbria Math" panose="020405030504060302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0C60-7730-4A5E-A101-6194F56D2881}" type="datetimeFigureOut">
              <a:rPr lang="zh-CN" altLang="en-US" smtClean="0"/>
              <a:t>2026-5-4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72D3-6E8E-43C3-88B7-06FB12355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452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0C60-7730-4A5E-A101-6194F56D2881}" type="datetimeFigureOut">
              <a:rPr lang="zh-CN" altLang="en-US" smtClean="0"/>
              <a:t>2026-5-4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72D3-6E8E-43C3-88B7-06FB12355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285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0C60-7730-4A5E-A101-6194F56D2881}" type="datetimeFigureOut">
              <a:rPr lang="zh-CN" altLang="en-US" smtClean="0"/>
              <a:t>2026-5-4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72D3-6E8E-43C3-88B7-06FB12355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494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0C60-7730-4A5E-A101-6194F56D2881}" type="datetimeFigureOut">
              <a:rPr lang="zh-CN" altLang="en-US" smtClean="0"/>
              <a:t>2026-5-4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72D3-6E8E-43C3-88B7-06FB12355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18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0C60-7730-4A5E-A101-6194F56D2881}" type="datetimeFigureOut">
              <a:rPr lang="zh-CN" altLang="en-US" smtClean="0"/>
              <a:t>2026-5-4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72D3-6E8E-43C3-88B7-06FB12355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71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0C60-7730-4A5E-A101-6194F56D2881}" type="datetimeFigureOut">
              <a:rPr lang="zh-CN" altLang="en-US" smtClean="0"/>
              <a:t>2026-5-4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72D3-6E8E-43C3-88B7-06FB12355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7741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93800"/>
            <a:ext cx="105156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C0C60-7730-4A5E-A101-6194F56D2881}" type="datetimeFigureOut">
              <a:rPr lang="zh-CN" altLang="en-US" smtClean="0"/>
              <a:t>2026-5-4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572D3-6E8E-43C3-88B7-06FB12355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93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 baseline="0">
          <a:solidFill>
            <a:schemeClr val="bg1"/>
          </a:solidFill>
          <a:latin typeface="Times New Roman" panose="02020603050405020304" pitchFamily="18" charset="0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  <a:cs typeface="+mn-cs"/>
        </a:defRPr>
      </a:lvl1pPr>
      <a:lvl2pPr marL="449263" indent="-271463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  <a:cs typeface="+mn-cs"/>
        </a:defRPr>
      </a:lvl2pPr>
      <a:lvl3pPr marL="627063" indent="-1778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  <a:cs typeface="+mn-cs"/>
        </a:defRPr>
      </a:lvl3pPr>
      <a:lvl4pPr marL="896938" indent="-1778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  <a:cs typeface="+mn-cs"/>
        </a:defRPr>
      </a:lvl4pPr>
      <a:lvl5pPr marL="1074738" indent="-1778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a82703855/article/details/7670877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runoob.com/mysql/mysql-functions.html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讲</a:t>
            </a:r>
            <a:br>
              <a:rPr lang="en-US" altLang="zh-CN" dirty="0"/>
            </a:br>
            <a:r>
              <a:rPr lang="zh-CN" altLang="en-US" dirty="0"/>
              <a:t>数据库应用系统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03773"/>
            <a:ext cx="9144000" cy="1292382"/>
          </a:xfrm>
        </p:spPr>
        <p:txBody>
          <a:bodyPr>
            <a:normAutofit/>
          </a:bodyPr>
          <a:lstStyle/>
          <a:p>
            <a:r>
              <a:rPr lang="zh-CN" altLang="en-US" dirty="0"/>
              <a:t>云南民族大学 数学与计算机科学学院  </a:t>
            </a:r>
            <a:endParaRPr lang="en-US" altLang="zh-CN" dirty="0"/>
          </a:p>
          <a:p>
            <a:r>
              <a:rPr lang="zh-CN" altLang="en-US" dirty="0"/>
              <a:t>潘文林  博士</a:t>
            </a:r>
            <a:r>
              <a:rPr lang="en-US" altLang="zh-CN" dirty="0"/>
              <a:t>/</a:t>
            </a:r>
            <a:r>
              <a:rPr lang="zh-CN" altLang="en-US" dirty="0"/>
              <a:t>教授</a:t>
            </a:r>
          </a:p>
        </p:txBody>
      </p:sp>
      <p:sp>
        <p:nvSpPr>
          <p:cNvPr id="4" name="矩形 3"/>
          <p:cNvSpPr/>
          <p:nvPr/>
        </p:nvSpPr>
        <p:spPr>
          <a:xfrm>
            <a:off x="2162872" y="5359132"/>
            <a:ext cx="89401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©2018 </a:t>
            </a:r>
            <a:r>
              <a:rPr lang="zh-CN" altLang="en-US" sz="2400" b="1" dirty="0"/>
              <a:t>潘文林 版权所有，</a:t>
            </a:r>
            <a:r>
              <a:rPr lang="zh-CN" altLang="en-US" sz="2400" b="1" dirty="0">
                <a:solidFill>
                  <a:srgbClr val="FF0000"/>
                </a:solidFill>
              </a:rPr>
              <a:t>未经允许，不允许外传和供</a:t>
            </a:r>
            <a:r>
              <a:rPr lang="en-US" altLang="zh-CN" sz="2400" b="1" dirty="0">
                <a:solidFill>
                  <a:srgbClr val="FF0000"/>
                </a:solidFill>
              </a:rPr>
              <a:t>TA</a:t>
            </a:r>
            <a:r>
              <a:rPr lang="zh-CN" altLang="en-US" sz="2400" b="1" dirty="0">
                <a:solidFill>
                  <a:srgbClr val="FF0000"/>
                </a:solidFill>
              </a:rPr>
              <a:t>人使用</a:t>
            </a:r>
          </a:p>
        </p:txBody>
      </p:sp>
    </p:spTree>
    <p:extLst>
      <p:ext uri="{BB962C8B-B14F-4D97-AF65-F5344CB8AC3E}">
        <p14:creationId xmlns:p14="http://schemas.microsoft.com/office/powerpoint/2010/main" val="2773125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教学目标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93800"/>
            <a:ext cx="5703277" cy="4983163"/>
          </a:xfrm>
        </p:spPr>
        <p:txBody>
          <a:bodyPr>
            <a:normAutofit/>
          </a:bodyPr>
          <a:lstStyle/>
          <a:p>
            <a:r>
              <a:rPr lang="zh-CN" altLang="en-US" dirty="0"/>
              <a:t>用户通过应用程序的</a:t>
            </a:r>
            <a:r>
              <a:rPr lang="en-US" altLang="zh-CN" dirty="0"/>
              <a:t>UI</a:t>
            </a:r>
            <a:r>
              <a:rPr lang="zh-CN" altLang="en-US" dirty="0"/>
              <a:t>来</a:t>
            </a:r>
            <a:r>
              <a:rPr lang="zh-CN" altLang="en-US" dirty="0">
                <a:solidFill>
                  <a:srgbClr val="FF0000"/>
                </a:solidFill>
              </a:rPr>
              <a:t>访问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增删改查</a:t>
            </a:r>
            <a:r>
              <a:rPr lang="zh-CN" altLang="en-US" dirty="0"/>
              <a:t>）数据库中的数据</a:t>
            </a:r>
            <a:endParaRPr lang="en-US" altLang="zh-CN" dirty="0"/>
          </a:p>
          <a:p>
            <a:r>
              <a:rPr lang="zh-CN" altLang="en-US" dirty="0"/>
              <a:t>中间件：为应用程序访问各类数据库提供统一接口的软件</a:t>
            </a:r>
            <a:endParaRPr lang="en-US" altLang="zh-CN" dirty="0"/>
          </a:p>
          <a:p>
            <a:r>
              <a:rPr lang="en-US" altLang="zh-CN" dirty="0"/>
              <a:t>DB</a:t>
            </a:r>
            <a:r>
              <a:rPr lang="zh-CN" altLang="en-US" dirty="0"/>
              <a:t>应用系统编程：嵌入式</a:t>
            </a:r>
            <a:r>
              <a:rPr lang="en-US" altLang="zh-CN" dirty="0"/>
              <a:t>SQL</a:t>
            </a:r>
            <a:r>
              <a:rPr lang="zh-CN" altLang="en-US" dirty="0"/>
              <a:t>、存储过程、</a:t>
            </a:r>
            <a:r>
              <a:rPr lang="en-US" altLang="zh-CN" dirty="0"/>
              <a:t>UI</a:t>
            </a:r>
            <a:r>
              <a:rPr lang="zh-CN" altLang="en-US" dirty="0"/>
              <a:t>端数据访问编程</a:t>
            </a:r>
            <a:endParaRPr lang="en-US" altLang="zh-CN" dirty="0"/>
          </a:p>
          <a:p>
            <a:r>
              <a:rPr lang="zh-CN" altLang="en-US" dirty="0"/>
              <a:t>本讲是数据库应用开发与运维的关键技术之一，是信息系统开发必备的知识，务必理解好</a:t>
            </a:r>
          </a:p>
        </p:txBody>
      </p:sp>
      <p:sp>
        <p:nvSpPr>
          <p:cNvPr id="4" name="矩形 3"/>
          <p:cNvSpPr/>
          <p:nvPr/>
        </p:nvSpPr>
        <p:spPr>
          <a:xfrm>
            <a:off x="8139165" y="5134707"/>
            <a:ext cx="3214635" cy="65314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基础和应用基础研究</a:t>
            </a:r>
          </a:p>
        </p:txBody>
      </p:sp>
      <p:sp>
        <p:nvSpPr>
          <p:cNvPr id="5" name="矩形 4"/>
          <p:cNvSpPr/>
          <p:nvPr/>
        </p:nvSpPr>
        <p:spPr>
          <a:xfrm>
            <a:off x="8139162" y="4240404"/>
            <a:ext cx="3214635" cy="65314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DBMS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平台研发</a:t>
            </a:r>
          </a:p>
        </p:txBody>
      </p:sp>
      <p:sp>
        <p:nvSpPr>
          <p:cNvPr id="6" name="矩形 5"/>
          <p:cNvSpPr/>
          <p:nvPr/>
        </p:nvSpPr>
        <p:spPr>
          <a:xfrm>
            <a:off x="8139161" y="3304326"/>
            <a:ext cx="3214635" cy="65314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DB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设计</a:t>
            </a:r>
          </a:p>
        </p:txBody>
      </p:sp>
      <p:sp>
        <p:nvSpPr>
          <p:cNvPr id="7" name="矩形 6"/>
          <p:cNvSpPr/>
          <p:nvPr/>
        </p:nvSpPr>
        <p:spPr>
          <a:xfrm>
            <a:off x="8139161" y="2368248"/>
            <a:ext cx="3214635" cy="65314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应用开发与运维</a:t>
            </a:r>
          </a:p>
        </p:txBody>
      </p:sp>
      <p:sp>
        <p:nvSpPr>
          <p:cNvPr id="8" name="矩形 7"/>
          <p:cNvSpPr/>
          <p:nvPr/>
        </p:nvSpPr>
        <p:spPr>
          <a:xfrm>
            <a:off x="8139160" y="1439847"/>
            <a:ext cx="3214635" cy="65314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UI</a:t>
            </a:r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完成业务工作</a:t>
            </a:r>
          </a:p>
        </p:txBody>
      </p:sp>
      <p:sp>
        <p:nvSpPr>
          <p:cNvPr id="9" name="矩形 8"/>
          <p:cNvSpPr/>
          <p:nvPr/>
        </p:nvSpPr>
        <p:spPr>
          <a:xfrm>
            <a:off x="7445829" y="1432170"/>
            <a:ext cx="683284" cy="435568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相关职业</a:t>
            </a:r>
          </a:p>
        </p:txBody>
      </p:sp>
    </p:spTree>
    <p:extLst>
      <p:ext uri="{BB962C8B-B14F-4D97-AF65-F5344CB8AC3E}">
        <p14:creationId xmlns:p14="http://schemas.microsoft.com/office/powerpoint/2010/main" val="4174296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数据管理程序的技术发展历史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6C49A5-F713-658A-6A62-857F3D582264}"/>
              </a:ext>
            </a:extLst>
          </p:cNvPr>
          <p:cNvSpPr txBox="1"/>
          <p:nvPr/>
        </p:nvSpPr>
        <p:spPr>
          <a:xfrm>
            <a:off x="838200" y="1349123"/>
            <a:ext cx="5385391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第一阶段：手工管理数据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1950</a:t>
            </a: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年代中期前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</a:p>
        </p:txBody>
      </p:sp>
      <p:pic>
        <p:nvPicPr>
          <p:cNvPr id="1028" name="Picture 4" descr="交互掠影｜人机交互的开端：穿孔卡片 | 人人都是产品经理">
            <a:extLst>
              <a:ext uri="{FF2B5EF4-FFF2-40B4-BE49-F238E27FC236}">
                <a16:creationId xmlns:a16="http://schemas.microsoft.com/office/drawing/2014/main" id="{0C335DAF-CAD1-8A2C-0E85-434BF5E0C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00503"/>
            <a:ext cx="6002867" cy="3113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交互掠影｜人机交互的开端：穿孔卡片 | 人人都是产品经理">
            <a:extLst>
              <a:ext uri="{FF2B5EF4-FFF2-40B4-BE49-F238E27FC236}">
                <a16:creationId xmlns:a16="http://schemas.microsoft.com/office/drawing/2014/main" id="{E238E48F-CE73-20AD-6F98-DED5B0B65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880" y="3850449"/>
            <a:ext cx="5709920" cy="2962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34735AF-0D8E-31BE-9CFF-E623069123C5}"/>
              </a:ext>
            </a:extLst>
          </p:cNvPr>
          <p:cNvSpPr txBox="1"/>
          <p:nvPr/>
        </p:nvSpPr>
        <p:spPr>
          <a:xfrm>
            <a:off x="838200" y="5778493"/>
            <a:ext cx="3760893" cy="6649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  <a:defRPr b="1">
                <a:solidFill>
                  <a:srgbClr val="0F1115"/>
                </a:solidFill>
                <a:effectLst/>
                <a:latin typeface="quote-cjk-patch"/>
              </a:defRPr>
            </a:lvl1pPr>
          </a:lstStyle>
          <a:p>
            <a:r>
              <a:rPr lang="zh-CN" altLang="en-US" b="0" dirty="0"/>
              <a:t>穿孔卡片和磁带系统。程序和数据紧密绑定，硬件几乎没有操作系统。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724638-741E-E642-378E-AEC2526D9390}"/>
              </a:ext>
            </a:extLst>
          </p:cNvPr>
          <p:cNvSpPr txBox="1"/>
          <p:nvPr/>
        </p:nvSpPr>
        <p:spPr>
          <a:xfrm>
            <a:off x="7132320" y="2000503"/>
            <a:ext cx="42214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核心技术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：穿孔卡片、磁带。</a:t>
            </a:r>
            <a:endParaRPr lang="en-US" altLang="zh-CN" sz="1600" b="0" i="0" dirty="0">
              <a:solidFill>
                <a:srgbClr val="0F1115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l">
              <a:spcAft>
                <a:spcPts val="600"/>
              </a:spcAft>
            </a:pP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关键特点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：数据不共享，一个程序专属一组数据；程序和数据之间缺乏独立性与持久性。</a:t>
            </a:r>
          </a:p>
          <a:p>
            <a:pPr algn="l">
              <a:spcAft>
                <a:spcPts val="600"/>
              </a:spcAft>
            </a:pP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主要痛点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：数据极度冗余，程序之间无法协同，硬件昂贵且读写顺序。</a:t>
            </a:r>
          </a:p>
        </p:txBody>
      </p:sp>
    </p:spTree>
    <p:extLst>
      <p:ext uri="{BB962C8B-B14F-4D97-AF65-F5344CB8AC3E}">
        <p14:creationId xmlns:p14="http://schemas.microsoft.com/office/powerpoint/2010/main" val="4074089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F84E2-D8CE-3B9B-7D28-DCA4118E5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7736993-0EAD-FDA8-13B3-B299CC10F1CF}"/>
              </a:ext>
            </a:extLst>
          </p:cNvPr>
          <p:cNvSpPr txBox="1"/>
          <p:nvPr/>
        </p:nvSpPr>
        <p:spPr>
          <a:xfrm>
            <a:off x="887819" y="661835"/>
            <a:ext cx="7208520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第二阶段：文件系统阶段（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1950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年代后期至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1960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年代中期）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AAF447E-014E-620C-77FB-1CA693A3B019}"/>
              </a:ext>
            </a:extLst>
          </p:cNvPr>
          <p:cNvSpPr txBox="1"/>
          <p:nvPr/>
        </p:nvSpPr>
        <p:spPr>
          <a:xfrm>
            <a:off x="887819" y="4799572"/>
            <a:ext cx="3246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/>
            </a:lvl1pPr>
          </a:lstStyle>
          <a:p>
            <a:r>
              <a:rPr lang="zh-CN" altLang="en-US" dirty="0"/>
              <a:t>操作系统出现后，文件系统开始管理数据。典型应用：账务管理系统。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42C50A-AFBD-EC0E-B261-03758A7C5E63}"/>
              </a:ext>
            </a:extLst>
          </p:cNvPr>
          <p:cNvSpPr txBox="1"/>
          <p:nvPr/>
        </p:nvSpPr>
        <p:spPr>
          <a:xfrm>
            <a:off x="8374046" y="1395163"/>
            <a:ext cx="3029372" cy="4106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  <a:spcAft>
                <a:spcPts val="600"/>
              </a:spcAft>
            </a:pP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核心技术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：顺序文件、索引文件（如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ISAM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）、磁带、磁盘。</a:t>
            </a:r>
            <a:endParaRPr lang="en-US" altLang="zh-CN" sz="1600" b="0" i="0" dirty="0">
              <a:solidFill>
                <a:srgbClr val="0F1115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14000"/>
              </a:lnSpc>
              <a:spcAft>
                <a:spcPts val="600"/>
              </a:spcAft>
            </a:pP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关键特点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：数据可以长期保存，可跨程序共享（以文件为单位），程序通过简单的文件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API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（如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语言的</a:t>
            </a:r>
            <a:r>
              <a:rPr lang="en-US" altLang="zh-CN" sz="1600" b="0" i="0" dirty="0" err="1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fread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 </a:t>
            </a:r>
            <a:r>
              <a:rPr lang="en-US" altLang="zh-CN" sz="1600" b="0" i="0" dirty="0" err="1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fwrite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）访问。</a:t>
            </a:r>
          </a:p>
          <a:p>
            <a:pPr algn="just">
              <a:lnSpc>
                <a:spcPct val="114000"/>
              </a:lnSpc>
              <a:spcAft>
                <a:spcPts val="600"/>
              </a:spcAft>
            </a:pP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主要痛点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600" b="0" i="0" dirty="0">
              <a:solidFill>
                <a:srgbClr val="0F1115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FF000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数据独立性差：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文件结构改变，应用程序必须修改。</a:t>
            </a:r>
            <a:endParaRPr lang="en-US" altLang="zh-CN" sz="1600" b="0" i="0" dirty="0">
              <a:solidFill>
                <a:srgbClr val="0F1115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FF000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缺乏原子性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：系统崩溃可能使文件内容不完整。</a:t>
            </a:r>
            <a:endParaRPr lang="en-US" altLang="zh-CN" sz="1600" b="0" i="0" dirty="0">
              <a:solidFill>
                <a:srgbClr val="0F1115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FF000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查询能力弱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：无法进行高灵活性的关联查询。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F757EC-F3B2-1B1B-8DAD-237159AFC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20" y="1374441"/>
            <a:ext cx="3699480" cy="311816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4053736-9EF7-CFA9-5AB1-CA6FE851C1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148"/>
          <a:stretch>
            <a:fillRect/>
          </a:stretch>
        </p:blipFill>
        <p:spPr>
          <a:xfrm>
            <a:off x="4669484" y="1415481"/>
            <a:ext cx="3426855" cy="46288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29782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6B457-0DDF-039D-37ED-F25AA1C0F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E9604CC-0A44-F7C6-913C-2692E7B2FEE2}"/>
              </a:ext>
            </a:extLst>
          </p:cNvPr>
          <p:cNvSpPr txBox="1"/>
          <p:nvPr/>
        </p:nvSpPr>
        <p:spPr>
          <a:xfrm>
            <a:off x="788581" y="803318"/>
            <a:ext cx="7228368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第三阶段：数据库管理阶段（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1960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年代末至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2000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年代初）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B57DBD-C39E-5A36-039A-F3FB7848B45F}"/>
              </a:ext>
            </a:extLst>
          </p:cNvPr>
          <p:cNvSpPr txBox="1"/>
          <p:nvPr/>
        </p:nvSpPr>
        <p:spPr>
          <a:xfrm>
            <a:off x="675167" y="4510564"/>
            <a:ext cx="54775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/>
            </a:lvl1pPr>
          </a:lstStyle>
          <a:p>
            <a:r>
              <a:rPr lang="zh-CN" altLang="en-US" dirty="0"/>
              <a:t>现代数据管理的核心，关系型数据库成为绝对主流。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应用程序和数据库分离！！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0A1541-9BE8-02EB-C748-B02E0B63BEEB}"/>
              </a:ext>
            </a:extLst>
          </p:cNvPr>
          <p:cNvSpPr txBox="1"/>
          <p:nvPr/>
        </p:nvSpPr>
        <p:spPr>
          <a:xfrm>
            <a:off x="6559887" y="1507549"/>
            <a:ext cx="4782880" cy="487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  <a:spcAft>
                <a:spcPts val="600"/>
              </a:spcAft>
            </a:pP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核心技术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600" b="0" i="0" dirty="0">
              <a:solidFill>
                <a:srgbClr val="0F1115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algn="just">
              <a:lnSpc>
                <a:spcPct val="114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网状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层次数据库 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(20</a:t>
            </a: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世纪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60</a:t>
            </a: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年代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IMS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IBM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信息管理系统）等。解决了文件系统的关联问题，但数据访问路径需预先指定，不够灵活。</a:t>
            </a:r>
          </a:p>
          <a:p>
            <a:pPr marL="342900" indent="-342900" algn="just">
              <a:lnSpc>
                <a:spcPct val="114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关系型数据库 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(RDBMS</a:t>
            </a: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，自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1970</a:t>
            </a: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Oracle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DB2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SQL Server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MySQL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PostgreSQL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等。基于数学集合论，使用结构化查询语言（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SQL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 进行声明式操作，极大隔离了物理存储细节。</a:t>
            </a:r>
          </a:p>
          <a:p>
            <a:pPr algn="just">
              <a:lnSpc>
                <a:spcPct val="114000"/>
              </a:lnSpc>
              <a:spcAft>
                <a:spcPts val="600"/>
              </a:spcAft>
            </a:pP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关键飞跃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ACID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（原子性、一致性、隔离性、持久性）保证、数据的逻辑与物理独立性、标准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SQL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接口、索引与查询优化器。</a:t>
            </a:r>
          </a:p>
          <a:p>
            <a:pPr algn="just">
              <a:lnSpc>
                <a:spcPct val="114000"/>
              </a:lnSpc>
              <a:spcAft>
                <a:spcPts val="600"/>
              </a:spcAft>
            </a:pPr>
            <a:r>
              <a:rPr lang="zh-CN" altLang="en-US" sz="1600" b="1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主要</a:t>
            </a: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痛点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：面对世纪之交的互联网爆发（海量数据、高并发写入），传统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RDBMS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在水平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横向扩展（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Scale-Out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）方面遇到瓶颈，且对非结构化数据（文本、日志、图片等）不友好。</a:t>
            </a:r>
          </a:p>
        </p:txBody>
      </p:sp>
      <p:pic>
        <p:nvPicPr>
          <p:cNvPr id="3078" name="Picture 6" descr="数据库学习_数据库系统概述_01_数据库系统举例-CSDN博客">
            <a:extLst>
              <a:ext uri="{FF2B5EF4-FFF2-40B4-BE49-F238E27FC236}">
                <a16:creationId xmlns:a16="http://schemas.microsoft.com/office/drawing/2014/main" id="{5714223F-88A8-099F-DB73-2D7D6708D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81" y="1615206"/>
            <a:ext cx="4782879" cy="253597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62EB6B9-4806-83D0-22EA-F0E98672BECF}"/>
              </a:ext>
            </a:extLst>
          </p:cNvPr>
          <p:cNvSpPr txBox="1"/>
          <p:nvPr/>
        </p:nvSpPr>
        <p:spPr>
          <a:xfrm>
            <a:off x="2594344" y="161520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管理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DBDE11-9FAB-474B-F505-51F99800917F}"/>
              </a:ext>
            </a:extLst>
          </p:cNvPr>
          <p:cNvSpPr txBox="1"/>
          <p:nvPr/>
        </p:nvSpPr>
        <p:spPr>
          <a:xfrm>
            <a:off x="1219200" y="161520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存储</a:t>
            </a:r>
          </a:p>
        </p:txBody>
      </p:sp>
    </p:spTree>
    <p:extLst>
      <p:ext uri="{BB962C8B-B14F-4D97-AF65-F5344CB8AC3E}">
        <p14:creationId xmlns:p14="http://schemas.microsoft.com/office/powerpoint/2010/main" val="880327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C4681-93A5-B1DE-E9AC-9BA901759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什么是分布式系统，如何学习分布式系统_什么是分布式度量-CSDN博客">
            <a:extLst>
              <a:ext uri="{FF2B5EF4-FFF2-40B4-BE49-F238E27FC236}">
                <a16:creationId xmlns:a16="http://schemas.microsoft.com/office/drawing/2014/main" id="{C81B1E7D-91B3-E53D-2B7A-9CBB604B4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475" y="943765"/>
            <a:ext cx="6989136" cy="532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0A3D5D6-38A9-5EE2-9102-8F995EE0F474}"/>
              </a:ext>
            </a:extLst>
          </p:cNvPr>
          <p:cNvSpPr txBox="1"/>
          <p:nvPr/>
        </p:nvSpPr>
        <p:spPr>
          <a:xfrm>
            <a:off x="788580" y="271690"/>
            <a:ext cx="8284536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第四阶段：分布式数据管理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大数据时代（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21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世纪初至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2010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年代中期）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D7E9E4-844B-A969-8132-F2B48F7E8C38}"/>
              </a:ext>
            </a:extLst>
          </p:cNvPr>
          <p:cNvSpPr txBox="1"/>
          <p:nvPr/>
        </p:nvSpPr>
        <p:spPr>
          <a:xfrm>
            <a:off x="788580" y="981283"/>
            <a:ext cx="51302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/>
            </a:lvl1pPr>
          </a:lstStyle>
          <a:p>
            <a:pPr algn="just"/>
            <a:r>
              <a:rPr lang="zh-CN" altLang="en-US" dirty="0"/>
              <a:t>谷歌论文（</a:t>
            </a:r>
            <a:r>
              <a:rPr lang="en-US" altLang="zh-CN" dirty="0"/>
              <a:t>GFS</a:t>
            </a:r>
            <a:r>
              <a:rPr lang="zh-CN" altLang="en-US" dirty="0"/>
              <a:t>、</a:t>
            </a:r>
            <a:r>
              <a:rPr lang="en-US" altLang="zh-CN" dirty="0"/>
              <a:t>MapReduce</a:t>
            </a:r>
            <a:r>
              <a:rPr lang="zh-CN" altLang="en-US" dirty="0"/>
              <a:t>、</a:t>
            </a:r>
            <a:r>
              <a:rPr lang="en-US" altLang="zh-CN" dirty="0"/>
              <a:t>Bigtable</a:t>
            </a:r>
            <a:r>
              <a:rPr lang="zh-CN" altLang="en-US" dirty="0"/>
              <a:t>）引领了这场革命，旨在用廉价商用机集群处理海量数据。</a:t>
            </a:r>
          </a:p>
        </p:txBody>
      </p:sp>
      <p:pic>
        <p:nvPicPr>
          <p:cNvPr id="5122" name="Picture 2" descr="【大数据发展篇】分布式技术_分布式大数据处理技术-CSDN博客">
            <a:extLst>
              <a:ext uri="{FF2B5EF4-FFF2-40B4-BE49-F238E27FC236}">
                <a16:creationId xmlns:a16="http://schemas.microsoft.com/office/drawing/2014/main" id="{90DA2F74-5C75-A529-8E7C-D3C0D0432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80" y="3836781"/>
            <a:ext cx="4591494" cy="218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945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B24F1-B013-113A-AC9B-49FA62926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BD1966-948E-FADB-5F7E-2BF480315134}"/>
              </a:ext>
            </a:extLst>
          </p:cNvPr>
          <p:cNvSpPr txBox="1"/>
          <p:nvPr/>
        </p:nvSpPr>
        <p:spPr>
          <a:xfrm>
            <a:off x="788580" y="271690"/>
            <a:ext cx="8284536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第四阶段：分布式数据管理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大数据时代（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21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世纪初至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2010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年代中期）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2D2564E-932A-3ECD-DFC2-F9099B6206D9}"/>
              </a:ext>
            </a:extLst>
          </p:cNvPr>
          <p:cNvSpPr txBox="1"/>
          <p:nvPr/>
        </p:nvSpPr>
        <p:spPr>
          <a:xfrm>
            <a:off x="6096000" y="1161919"/>
            <a:ext cx="5365898" cy="4618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  <a:spcAft>
                <a:spcPts val="600"/>
              </a:spcAft>
            </a:pP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核心技术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600" b="0" i="0" dirty="0">
              <a:solidFill>
                <a:srgbClr val="0F1115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NoSQL</a:t>
            </a: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Not Only SQL</a:t>
            </a: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）：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键值存储（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Redis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）、文档存储（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MongoDB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）、列族存储（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Cassandra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 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HBase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）、图数据库（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Neo4j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）。</a:t>
            </a:r>
          </a:p>
          <a:p>
            <a:pPr marL="342900" indent="-34290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大数据计算框架：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Hadoop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HDFS + MapReduce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）、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Spark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 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Flink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algn="just">
              <a:lnSpc>
                <a:spcPct val="114000"/>
              </a:lnSpc>
              <a:spcAft>
                <a:spcPts val="600"/>
              </a:spcAft>
            </a:pP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关键特点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600" b="0" i="0" dirty="0">
              <a:solidFill>
                <a:srgbClr val="0F1115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放弃部分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ACID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（特别是强一致性），换取高可用与水平扩展能力（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CAP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定理）。</a:t>
            </a:r>
          </a:p>
          <a:p>
            <a:pPr marL="285750" indent="-28575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接受最终一致性（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Eventual Consistency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）。</a:t>
            </a:r>
          </a:p>
          <a:p>
            <a:pPr marL="285750" indent="-28575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支持非结构化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半结构化数据（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JSON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 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XML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）。</a:t>
            </a:r>
          </a:p>
          <a:p>
            <a:pPr marL="285750" indent="-28575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计算与存储初步分离。</a:t>
            </a:r>
          </a:p>
          <a:p>
            <a:pPr algn="just">
              <a:lnSpc>
                <a:spcPct val="114000"/>
              </a:lnSpc>
              <a:spcAft>
                <a:spcPts val="600"/>
              </a:spcAft>
            </a:pPr>
            <a:r>
              <a:rPr lang="zh-CN" altLang="en-US" sz="1600" b="1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主要</a:t>
            </a: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痛点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NoSQL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查询能力弱（缺乏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Join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和复杂聚合），缺乏统一标准，多系统数据孤岛再现，运营复杂度过高。</a:t>
            </a:r>
          </a:p>
        </p:txBody>
      </p:sp>
      <p:pic>
        <p:nvPicPr>
          <p:cNvPr id="5126" name="Picture 6" descr="大数据概念解析：分布式计算与服务器集群-CSDN博客">
            <a:extLst>
              <a:ext uri="{FF2B5EF4-FFF2-40B4-BE49-F238E27FC236}">
                <a16:creationId xmlns:a16="http://schemas.microsoft.com/office/drawing/2014/main" id="{85723834-87E1-5675-AC90-65390E1E3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80" y="1161919"/>
            <a:ext cx="4721742" cy="314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081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8C415-0F4B-0A31-D691-21FD0816A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2964221-ACF8-86AC-E7E3-57B61F93DEB6}"/>
              </a:ext>
            </a:extLst>
          </p:cNvPr>
          <p:cNvSpPr txBox="1"/>
          <p:nvPr/>
        </p:nvSpPr>
        <p:spPr>
          <a:xfrm>
            <a:off x="788580" y="271690"/>
            <a:ext cx="5328703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第五阶段：云原生与融合时代（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2015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年至今）</a:t>
            </a:r>
          </a:p>
        </p:txBody>
      </p:sp>
      <p:pic>
        <p:nvPicPr>
          <p:cNvPr id="7172" name="Picture 4" descr="构建高性能云原生大数据处理平台：融合人工智能优化数据分析流程_云原生和人工智能大数据训练-CSDN博客">
            <a:extLst>
              <a:ext uri="{FF2B5EF4-FFF2-40B4-BE49-F238E27FC236}">
                <a16:creationId xmlns:a16="http://schemas.microsoft.com/office/drawing/2014/main" id="{054B5966-34DA-B806-61C3-EA01309C14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8"/>
          <a:stretch>
            <a:fillRect/>
          </a:stretch>
        </p:blipFill>
        <p:spPr bwMode="auto">
          <a:xfrm>
            <a:off x="788580" y="1003556"/>
            <a:ext cx="10531550" cy="5582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163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97470-4D49-EABD-C360-20EE14581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2E7416C-8580-2B5C-567C-926D42767A62}"/>
              </a:ext>
            </a:extLst>
          </p:cNvPr>
          <p:cNvSpPr txBox="1"/>
          <p:nvPr/>
        </p:nvSpPr>
        <p:spPr>
          <a:xfrm>
            <a:off x="788580" y="271690"/>
            <a:ext cx="5328703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第五阶段：云原生与融合时代（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2015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年至今）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7F728F8-1979-670D-7D21-A5B82E42F27D}"/>
              </a:ext>
            </a:extLst>
          </p:cNvPr>
          <p:cNvSpPr txBox="1"/>
          <p:nvPr/>
        </p:nvSpPr>
        <p:spPr>
          <a:xfrm>
            <a:off x="4834270" y="1161919"/>
            <a:ext cx="6854456" cy="4975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  <a:spcAft>
                <a:spcPts val="600"/>
              </a:spcAft>
            </a:pP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核心技术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600" b="0" i="0" dirty="0">
              <a:solidFill>
                <a:srgbClr val="0F1115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云原生数据库：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Aurora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 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Spanner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 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Snowflake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 </a:t>
            </a:r>
            <a:r>
              <a:rPr lang="en-US" altLang="zh-CN" sz="1600" dirty="0" err="1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TiDB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。实现存储与计算彻底分离，可独立弹性伸缩。</a:t>
            </a:r>
          </a:p>
          <a:p>
            <a:pPr marL="285750" indent="-28575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NewSQL</a:t>
            </a: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兼具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NoSQL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的水平扩展性与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RDBMS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ACID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与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SQL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能力（如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Google Spanner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1600" dirty="0" err="1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CockroachDB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）。</a:t>
            </a:r>
          </a:p>
          <a:p>
            <a:pPr marL="285750" indent="-28575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湖仓一体：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数据湖（廉价存储原始格式数据）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 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数据仓库（高性能结构化查询）融合，代表：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Iceberg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 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Hudi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 </a:t>
            </a:r>
            <a:r>
              <a:rPr lang="en-US" altLang="zh-CN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Delta Lake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285750" indent="-28575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数据虚拟化：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通过统一查询层访问异构数据源，而不需物理搬迁数据。</a:t>
            </a:r>
          </a:p>
          <a:p>
            <a:pPr marL="285750" indent="-28575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智能化：引入机器学习进行自动调参、索引推荐、查询优化和异常检测。</a:t>
            </a:r>
            <a:endParaRPr lang="en-US" altLang="zh-CN" sz="1600" dirty="0">
              <a:solidFill>
                <a:srgbClr val="0F1115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14000"/>
              </a:lnSpc>
              <a:spcAft>
                <a:spcPts val="600"/>
              </a:spcAft>
            </a:pP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关键趋势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600" b="0" i="0" dirty="0">
              <a:solidFill>
                <a:srgbClr val="0F1115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Serverless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（无服务器）：完全托管，按实际使用量（查询次数、存储量）计费，无需关心底层服务器。</a:t>
            </a:r>
          </a:p>
          <a:p>
            <a:pPr marL="285750" indent="-28575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实时化：流批一体，从“批处理”演进到“实时或近实时”数据处理。</a:t>
            </a:r>
          </a:p>
          <a:p>
            <a:pPr marL="285750" indent="-285750" algn="just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治理自动化：主动元数据管理、数据血缘、合规与隐私保护（如数据脱敏）集成到核心引擎中。</a:t>
            </a:r>
          </a:p>
        </p:txBody>
      </p:sp>
      <p:pic>
        <p:nvPicPr>
          <p:cNvPr id="8194" name="Picture 2" descr="云原生与边缘计算的融合：架构、应用与挑战_云边端融合的数据传输与延迟问题-CSDN博客">
            <a:extLst>
              <a:ext uri="{FF2B5EF4-FFF2-40B4-BE49-F238E27FC236}">
                <a16:creationId xmlns:a16="http://schemas.microsoft.com/office/drawing/2014/main" id="{65DA14F9-06F4-2970-7ED6-C597DA550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1" t="5859" r="13668" b="5465"/>
          <a:stretch>
            <a:fillRect/>
          </a:stretch>
        </p:blipFill>
        <p:spPr bwMode="auto">
          <a:xfrm>
            <a:off x="788580" y="1169581"/>
            <a:ext cx="3409508" cy="344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EFC82B8-6FED-0F92-ED60-844BBDB0E082}"/>
              </a:ext>
            </a:extLst>
          </p:cNvPr>
          <p:cNvSpPr txBox="1"/>
          <p:nvPr/>
        </p:nvSpPr>
        <p:spPr>
          <a:xfrm>
            <a:off x="788580" y="4998252"/>
            <a:ext cx="3409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核心是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让数据管理回归简单与智能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，融合前几个阶段的优点，并利用云基础架构的弹性。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473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88DCD-C047-2671-2377-BDBDAF7C1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D50683C-FB7C-6284-581E-8F8B05E9929D}"/>
              </a:ext>
            </a:extLst>
          </p:cNvPr>
          <p:cNvSpPr txBox="1"/>
          <p:nvPr/>
        </p:nvSpPr>
        <p:spPr>
          <a:xfrm>
            <a:off x="788580" y="845848"/>
            <a:ext cx="1210588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总结对比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8515134-6D67-4DA7-093D-B51EF107F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674674"/>
              </p:ext>
            </p:extLst>
          </p:nvPr>
        </p:nvGraphicFramePr>
        <p:xfrm>
          <a:off x="788580" y="1519735"/>
          <a:ext cx="10368518" cy="317855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021840">
                  <a:extLst>
                    <a:ext uri="{9D8B030D-6E8A-4147-A177-3AD203B41FA5}">
                      <a16:colId xmlns:a16="http://schemas.microsoft.com/office/drawing/2014/main" val="1852316631"/>
                    </a:ext>
                  </a:extLst>
                </a:gridCol>
                <a:gridCol w="2401888">
                  <a:extLst>
                    <a:ext uri="{9D8B030D-6E8A-4147-A177-3AD203B41FA5}">
                      <a16:colId xmlns:a16="http://schemas.microsoft.com/office/drawing/2014/main" val="3785214707"/>
                    </a:ext>
                  </a:extLst>
                </a:gridCol>
                <a:gridCol w="2765876">
                  <a:extLst>
                    <a:ext uri="{9D8B030D-6E8A-4147-A177-3AD203B41FA5}">
                      <a16:colId xmlns:a16="http://schemas.microsoft.com/office/drawing/2014/main" val="220486968"/>
                    </a:ext>
                  </a:extLst>
                </a:gridCol>
                <a:gridCol w="3178914">
                  <a:extLst>
                    <a:ext uri="{9D8B030D-6E8A-4147-A177-3AD203B41FA5}">
                      <a16:colId xmlns:a16="http://schemas.microsoft.com/office/drawing/2014/main" val="589388057"/>
                    </a:ext>
                  </a:extLst>
                </a:gridCol>
              </a:tblGrid>
              <a:tr h="22163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阶段</a:t>
                      </a:r>
                      <a:endParaRPr lang="zh-CN" altLang="en-US" sz="2000" b="1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存储介质</a:t>
                      </a:r>
                      <a:r>
                        <a:rPr lang="en-US" altLang="zh-CN" sz="2000" b="1" dirty="0">
                          <a:effectLst/>
                        </a:rPr>
                        <a:t>/</a:t>
                      </a:r>
                      <a:r>
                        <a:rPr lang="zh-CN" altLang="en-US" sz="2000" b="1" dirty="0">
                          <a:effectLst/>
                        </a:rPr>
                        <a:t>模型</a:t>
                      </a:r>
                      <a:endParaRPr lang="zh-CN" altLang="en-US" sz="2000" b="1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关键特性</a:t>
                      </a:r>
                      <a:endParaRPr lang="zh-CN" altLang="en-US" sz="2000" b="1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核心挑战</a:t>
                      </a:r>
                      <a:endParaRPr lang="zh-CN" altLang="en-US" sz="2000" b="1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2052237394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人工管理</a:t>
                      </a:r>
                      <a:endParaRPr lang="zh-CN" altLang="en-US" sz="2000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卡片、磁带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程序与数据强绑定，无</a:t>
                      </a:r>
                      <a:r>
                        <a:rPr lang="en-US" altLang="zh-CN" b="0" dirty="0">
                          <a:effectLst/>
                        </a:rPr>
                        <a:t>OS</a:t>
                      </a:r>
                      <a:r>
                        <a:rPr lang="zh-CN" altLang="en-US" b="0" dirty="0">
                          <a:effectLst/>
                        </a:rPr>
                        <a:t>管理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无法共享，高度冗余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323141920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文件系统</a:t>
                      </a:r>
                      <a:endParaRPr lang="zh-CN" altLang="en-US" sz="2000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磁盘、顺序</a:t>
                      </a:r>
                      <a:r>
                        <a:rPr lang="en-US" altLang="zh-CN" b="0">
                          <a:effectLst/>
                        </a:rPr>
                        <a:t>/</a:t>
                      </a:r>
                      <a:r>
                        <a:rPr lang="zh-CN" altLang="en-US" b="0">
                          <a:effectLst/>
                        </a:rPr>
                        <a:t>索引文件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持久化，简单</a:t>
                      </a:r>
                      <a:r>
                        <a:rPr lang="en-US" altLang="zh-CN" b="0">
                          <a:effectLst/>
                        </a:rPr>
                        <a:t>API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依赖性强，一致性差，查询弱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150270762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数据库 </a:t>
                      </a:r>
                      <a:r>
                        <a:rPr lang="en-US" altLang="zh-CN" sz="2000" b="1" dirty="0">
                          <a:effectLst/>
                        </a:rPr>
                        <a:t>(</a:t>
                      </a:r>
                      <a:r>
                        <a:rPr lang="en-US" sz="2000" b="1" dirty="0">
                          <a:effectLst/>
                        </a:rPr>
                        <a:t>RDBMS)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关系模型，</a:t>
                      </a:r>
                      <a:r>
                        <a:rPr lang="en-US" b="0">
                          <a:effectLst/>
                        </a:rPr>
                        <a:t>SQL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ACID</a:t>
                      </a:r>
                      <a:r>
                        <a:rPr lang="zh-CN" altLang="en-US" b="0">
                          <a:effectLst/>
                        </a:rPr>
                        <a:t>强一致，逻辑独立性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扩展成本高，非结构化数据不友好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199293329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大数据 </a:t>
                      </a:r>
                      <a:r>
                        <a:rPr lang="en-US" altLang="zh-CN" sz="2000" b="1" dirty="0">
                          <a:effectLst/>
                        </a:rPr>
                        <a:t>(</a:t>
                      </a:r>
                      <a:r>
                        <a:rPr lang="en-US" sz="2000" b="1" dirty="0">
                          <a:effectLst/>
                        </a:rPr>
                        <a:t>NoSQL)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键值</a:t>
                      </a:r>
                      <a:r>
                        <a:rPr lang="en-US" altLang="zh-CN" b="0">
                          <a:effectLst/>
                        </a:rPr>
                        <a:t>/</a:t>
                      </a:r>
                      <a:r>
                        <a:rPr lang="zh-CN" altLang="en-US" b="0">
                          <a:effectLst/>
                        </a:rPr>
                        <a:t>文档</a:t>
                      </a:r>
                      <a:r>
                        <a:rPr lang="en-US" altLang="zh-CN" b="0">
                          <a:effectLst/>
                        </a:rPr>
                        <a:t>/</a:t>
                      </a:r>
                      <a:r>
                        <a:rPr lang="zh-CN" altLang="en-US" b="0">
                          <a:effectLst/>
                        </a:rPr>
                        <a:t>列族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水平扩展，高可用，最终一致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查询能力弱，缺乏事务，运维复杂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290493666"/>
                  </a:ext>
                </a:extLst>
              </a:tr>
              <a:tr h="2216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云原生与融合</a:t>
                      </a:r>
                      <a:endParaRPr lang="zh-CN" altLang="en-US" sz="2000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存算分离，湖仓一体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弹性伸缩，全场景融合，自动化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技术选型复杂，跨云治理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312434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1844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8D014-E565-2CD8-59DB-AEDA35955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2ED0E1-A95B-9472-B86B-31CE70CF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数据库应用程序的结构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5DAA61-CAB7-FEAF-3199-820A3D5FA2B9}"/>
              </a:ext>
            </a:extLst>
          </p:cNvPr>
          <p:cNvSpPr/>
          <p:nvPr/>
        </p:nvSpPr>
        <p:spPr>
          <a:xfrm>
            <a:off x="838200" y="1356333"/>
            <a:ext cx="7448107" cy="461665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应用结构：</a:t>
            </a:r>
            <a:r>
              <a:rPr lang="zh-CN" altLang="en-US" sz="2400" dirty="0">
                <a:solidFill>
                  <a:schemeClr val="tx1"/>
                </a:solidFill>
              </a:rPr>
              <a:t>用户通过应用程序的</a:t>
            </a:r>
            <a:r>
              <a:rPr lang="en-US" altLang="zh-CN" sz="2400" dirty="0">
                <a:solidFill>
                  <a:schemeClr val="tx1"/>
                </a:solidFill>
              </a:rPr>
              <a:t>UI</a:t>
            </a:r>
            <a:r>
              <a:rPr lang="zh-CN" altLang="en-US" sz="2400" dirty="0">
                <a:solidFill>
                  <a:schemeClr val="tx1"/>
                </a:solidFill>
              </a:rPr>
              <a:t>来访问数据库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DD670D5-7FC1-858F-B83E-5D9DAC33D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42241"/>
            <a:ext cx="3434885" cy="32270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A3BC74E-77CB-86BB-B103-41A917B45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604" y="2255086"/>
            <a:ext cx="4888196" cy="380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76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21496"/>
            <a:ext cx="2095919" cy="226633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231" y="1383387"/>
            <a:ext cx="5905841" cy="23425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1231" y="4186457"/>
            <a:ext cx="7704978" cy="221034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1A9142F-CC5D-B888-C212-DC678F99DFE1}"/>
              </a:ext>
            </a:extLst>
          </p:cNvPr>
          <p:cNvSpPr/>
          <p:nvPr/>
        </p:nvSpPr>
        <p:spPr>
          <a:xfrm>
            <a:off x="838200" y="461202"/>
            <a:ext cx="7448107" cy="461665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逻辑结构：</a:t>
            </a:r>
            <a:r>
              <a:rPr lang="zh-CN" altLang="en-US" sz="2400" dirty="0">
                <a:solidFill>
                  <a:schemeClr val="tx1"/>
                </a:solidFill>
              </a:rPr>
              <a:t>应用程序 通过 </a:t>
            </a:r>
            <a:r>
              <a:rPr lang="zh-CN" altLang="en-US" sz="2400" b="1" dirty="0">
                <a:solidFill>
                  <a:schemeClr val="tx1"/>
                </a:solidFill>
              </a:rPr>
              <a:t>中间件</a:t>
            </a:r>
            <a:r>
              <a:rPr lang="zh-CN" altLang="en-US" sz="2400" dirty="0">
                <a:solidFill>
                  <a:schemeClr val="tx1"/>
                </a:solidFill>
              </a:rPr>
              <a:t> 访问数据库</a:t>
            </a:r>
          </a:p>
        </p:txBody>
      </p:sp>
    </p:spTree>
    <p:extLst>
      <p:ext uri="{BB962C8B-B14F-4D97-AF65-F5344CB8AC3E}">
        <p14:creationId xmlns:p14="http://schemas.microsoft.com/office/powerpoint/2010/main" val="2927242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DB</a:t>
            </a:r>
            <a:r>
              <a:rPr lang="zh-CN" altLang="en-US" dirty="0"/>
              <a:t>中间件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应用程序直接访问数据库的问题：</a:t>
            </a:r>
            <a:r>
              <a:rPr lang="zh-CN" altLang="en-US" sz="2400" dirty="0">
                <a:solidFill>
                  <a:srgbClr val="7030A0"/>
                </a:solidFill>
              </a:rPr>
              <a:t>不同类型的</a:t>
            </a:r>
            <a:r>
              <a:rPr lang="en-US" altLang="zh-CN" sz="2400" dirty="0">
                <a:solidFill>
                  <a:srgbClr val="7030A0"/>
                </a:solidFill>
              </a:rPr>
              <a:t>DBMS</a:t>
            </a:r>
            <a:r>
              <a:rPr lang="zh-CN" altLang="en-US" sz="2400" dirty="0">
                <a:solidFill>
                  <a:srgbClr val="7030A0"/>
                </a:solidFill>
              </a:rPr>
              <a:t>提供的访问接口不同，学习成本太高</a:t>
            </a:r>
            <a:r>
              <a:rPr lang="zh-CN" altLang="en-US" sz="2400" dirty="0"/>
              <a:t>！</a:t>
            </a:r>
            <a:endParaRPr lang="en-US" altLang="zh-CN" sz="2400" dirty="0"/>
          </a:p>
          <a:p>
            <a:r>
              <a:rPr lang="en-US" altLang="zh-CN" sz="2400" dirty="0"/>
              <a:t>DB</a:t>
            </a:r>
            <a:r>
              <a:rPr lang="zh-CN" altLang="en-US" sz="2400" dirty="0"/>
              <a:t>中间件软件：</a:t>
            </a:r>
            <a:r>
              <a:rPr lang="zh-CN" altLang="en-US" sz="2400" dirty="0">
                <a:solidFill>
                  <a:srgbClr val="FF0000"/>
                </a:solidFill>
              </a:rPr>
              <a:t>为应用程序访问各类数据库提供统一的接口</a:t>
            </a:r>
            <a:br>
              <a:rPr lang="en-US" altLang="zh-CN" sz="2400" dirty="0">
                <a:solidFill>
                  <a:srgbClr val="FF0000"/>
                </a:solidFill>
              </a:rPr>
            </a:br>
            <a:r>
              <a:rPr lang="zh-CN" altLang="en-US" sz="2400" dirty="0">
                <a:solidFill>
                  <a:srgbClr val="FF0000"/>
                </a:solidFill>
              </a:rPr>
              <a:t>降低学习成本！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/>
              <a:t>应用程序使用中间件提供的接口，发送数据库访问请求给中间件，中间件负责访问相应的</a:t>
            </a:r>
            <a:r>
              <a:rPr lang="en-US" altLang="zh-CN" sz="2400" dirty="0"/>
              <a:t>DB</a:t>
            </a:r>
            <a:r>
              <a:rPr lang="zh-CN" altLang="en-US" sz="2400" dirty="0"/>
              <a:t>，返回访问结果给应用程序。</a:t>
            </a:r>
          </a:p>
        </p:txBody>
      </p:sp>
      <p:pic>
        <p:nvPicPr>
          <p:cNvPr id="11" name="内容占位符 1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01767" y="1543910"/>
            <a:ext cx="4752033" cy="397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873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30F28344-1011-D40A-32EC-49374F8D9A3C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577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 baseline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j-cs"/>
              </a:defRPr>
            </a:lvl1pPr>
          </a:lstStyle>
          <a:p>
            <a:r>
              <a:rPr lang="zh-CN" altLang="en-US" sz="2400" dirty="0">
                <a:solidFill>
                  <a:schemeClr val="tx1"/>
                </a:solidFill>
              </a:rPr>
              <a:t>应用程序通过中间件访问数据库的常见架构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7828DD-766C-421D-1765-3763D2FB5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78624"/>
            <a:ext cx="6255936" cy="434485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BE996F8-8035-12F6-4CB7-CA8BCE923CFB}"/>
              </a:ext>
            </a:extLst>
          </p:cNvPr>
          <p:cNvSpPr/>
          <p:nvPr/>
        </p:nvSpPr>
        <p:spPr>
          <a:xfrm>
            <a:off x="8467576" y="2462859"/>
            <a:ext cx="2662813" cy="177638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各种中间件的软件架构相似，给应用程序提供访问数据库的接口大致相同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8BF7F5-5661-E057-2741-7DA0AC5B979F}"/>
              </a:ext>
            </a:extLst>
          </p:cNvPr>
          <p:cNvSpPr txBox="1"/>
          <p:nvPr/>
        </p:nvSpPr>
        <p:spPr>
          <a:xfrm>
            <a:off x="8690987" y="14369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hlinkClick r:id="rId3"/>
              </a:rPr>
              <a:t>代码示例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F4E25C-6B20-881A-0846-EFB5DF5D4988}"/>
              </a:ext>
            </a:extLst>
          </p:cNvPr>
          <p:cNvSpPr/>
          <p:nvPr/>
        </p:nvSpPr>
        <p:spPr>
          <a:xfrm>
            <a:off x="838200" y="5672221"/>
            <a:ext cx="6255936" cy="46006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.Net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应用程序访问数据库的体系结构</a:t>
            </a:r>
          </a:p>
        </p:txBody>
      </p:sp>
    </p:spTree>
    <p:extLst>
      <p:ext uri="{BB962C8B-B14F-4D97-AF65-F5344CB8AC3E}">
        <p14:creationId xmlns:p14="http://schemas.microsoft.com/office/powerpoint/2010/main" val="633423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嵌入式</a:t>
            </a:r>
            <a:r>
              <a:rPr lang="en-US" altLang="zh-CN" dirty="0"/>
              <a:t>SQL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altLang="zh-CN" dirty="0"/>
              <a:t>SQL</a:t>
            </a:r>
            <a:r>
              <a:rPr lang="zh-CN" altLang="en-US" dirty="0"/>
              <a:t>的两种类型</a:t>
            </a:r>
            <a:endParaRPr lang="en-US" altLang="zh-CN" dirty="0"/>
          </a:p>
          <a:p>
            <a:pPr lvl="1"/>
            <a:r>
              <a:rPr lang="zh-CN" altLang="en-US" dirty="0"/>
              <a:t>交互式：在</a:t>
            </a:r>
            <a:r>
              <a:rPr lang="en-US" altLang="zh-CN" dirty="0"/>
              <a:t>DBMS</a:t>
            </a:r>
            <a:r>
              <a:rPr lang="zh-CN" altLang="en-US" dirty="0"/>
              <a:t>平台上直接运行</a:t>
            </a:r>
            <a:endParaRPr lang="en-US" altLang="zh-CN" dirty="0"/>
          </a:p>
          <a:p>
            <a:pPr lvl="1"/>
            <a:r>
              <a:rPr lang="zh-CN" altLang="en-US" dirty="0"/>
              <a:t>嵌入式：把</a:t>
            </a:r>
            <a:r>
              <a:rPr lang="en-US" altLang="zh-CN" dirty="0"/>
              <a:t>SQL</a:t>
            </a:r>
            <a:r>
              <a:rPr lang="zh-CN" altLang="en-US" dirty="0"/>
              <a:t>代码嵌入到应用程序的代码中来存取</a:t>
            </a:r>
            <a:r>
              <a:rPr lang="en-US" altLang="zh-CN" dirty="0"/>
              <a:t>DB</a:t>
            </a:r>
          </a:p>
          <a:p>
            <a:r>
              <a:rPr lang="zh-CN" altLang="en-US" dirty="0">
                <a:solidFill>
                  <a:srgbClr val="7030A0"/>
                </a:solidFill>
              </a:rPr>
              <a:t>嵌入式</a:t>
            </a:r>
            <a:r>
              <a:rPr lang="en-US" altLang="zh-CN" dirty="0">
                <a:solidFill>
                  <a:srgbClr val="7030A0"/>
                </a:solidFill>
              </a:rPr>
              <a:t>SQL</a:t>
            </a:r>
            <a:r>
              <a:rPr lang="zh-CN" altLang="en-US" dirty="0">
                <a:solidFill>
                  <a:srgbClr val="7030A0"/>
                </a:solidFill>
              </a:rPr>
              <a:t>需要解决的问题</a:t>
            </a:r>
            <a:endParaRPr lang="en-US" altLang="zh-CN" dirty="0">
              <a:solidFill>
                <a:srgbClr val="7030A0"/>
              </a:solidFill>
            </a:endParaRPr>
          </a:p>
          <a:p>
            <a:pPr lvl="1"/>
            <a:r>
              <a:rPr lang="zh-CN" altLang="en-US" dirty="0">
                <a:solidFill>
                  <a:srgbClr val="7030A0"/>
                </a:solidFill>
              </a:rPr>
              <a:t>应用程序要使用</a:t>
            </a:r>
            <a:r>
              <a:rPr lang="en-US" altLang="zh-CN" dirty="0">
                <a:solidFill>
                  <a:srgbClr val="7030A0"/>
                </a:solidFill>
              </a:rPr>
              <a:t>DBMS</a:t>
            </a:r>
            <a:r>
              <a:rPr lang="zh-CN" altLang="en-US" dirty="0">
                <a:solidFill>
                  <a:srgbClr val="7030A0"/>
                </a:solidFill>
              </a:rPr>
              <a:t>厂商提供的</a:t>
            </a:r>
            <a:r>
              <a:rPr lang="en-US" altLang="zh-CN" dirty="0">
                <a:solidFill>
                  <a:srgbClr val="7030A0"/>
                </a:solidFill>
              </a:rPr>
              <a:t>DB</a:t>
            </a:r>
            <a:r>
              <a:rPr lang="zh-CN" altLang="en-US" dirty="0">
                <a:solidFill>
                  <a:srgbClr val="7030A0"/>
                </a:solidFill>
              </a:rPr>
              <a:t>存取接口或中间件厂商提供中间件标准接口来存取</a:t>
            </a:r>
            <a:r>
              <a:rPr lang="en-US" altLang="zh-CN" dirty="0">
                <a:solidFill>
                  <a:srgbClr val="7030A0"/>
                </a:solidFill>
              </a:rPr>
              <a:t>DB</a:t>
            </a:r>
          </a:p>
          <a:p>
            <a:pPr lvl="1"/>
            <a:r>
              <a:rPr lang="zh-CN" altLang="en-US" dirty="0">
                <a:solidFill>
                  <a:srgbClr val="7030A0"/>
                </a:solidFill>
              </a:rPr>
              <a:t>应用程序的代码和</a:t>
            </a:r>
            <a:r>
              <a:rPr lang="en-US" altLang="zh-CN" dirty="0">
                <a:solidFill>
                  <a:srgbClr val="7030A0"/>
                </a:solidFill>
              </a:rPr>
              <a:t>SQL</a:t>
            </a:r>
            <a:r>
              <a:rPr lang="zh-CN" altLang="en-US" dirty="0">
                <a:solidFill>
                  <a:srgbClr val="7030A0"/>
                </a:solidFill>
              </a:rPr>
              <a:t>之间必须能够互相传递数据或共享数据：应用程序编译器需要把嵌入式</a:t>
            </a:r>
            <a:r>
              <a:rPr lang="en-US" altLang="zh-CN" dirty="0">
                <a:solidFill>
                  <a:srgbClr val="7030A0"/>
                </a:solidFill>
              </a:rPr>
              <a:t>SQL</a:t>
            </a:r>
            <a:r>
              <a:rPr lang="zh-CN" altLang="en-US" dirty="0">
                <a:solidFill>
                  <a:srgbClr val="7030A0"/>
                </a:solidFill>
              </a:rPr>
              <a:t>的代码编译为可执行的交互式</a:t>
            </a:r>
            <a:r>
              <a:rPr lang="en-US" altLang="zh-CN" dirty="0">
                <a:solidFill>
                  <a:srgbClr val="7030A0"/>
                </a:solidFill>
              </a:rPr>
              <a:t>SQL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94231" y="1202267"/>
            <a:ext cx="4759569" cy="5059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dirty="0"/>
              <a:t>示例：嵌入了</a:t>
            </a:r>
            <a:r>
              <a:rPr lang="en-US" altLang="zh-CN" dirty="0"/>
              <a:t>SQL</a:t>
            </a:r>
            <a:r>
              <a:rPr lang="zh-CN" altLang="en-US" dirty="0"/>
              <a:t>的</a:t>
            </a:r>
            <a:r>
              <a:rPr lang="en-US" altLang="zh-CN" dirty="0"/>
              <a:t>C</a:t>
            </a:r>
            <a:r>
              <a:rPr lang="zh-CN" altLang="en-US" dirty="0"/>
              <a:t>程序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6675455" y="1877259"/>
            <a:ext cx="467834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//</a:t>
            </a:r>
            <a:r>
              <a:rPr lang="zh-CN" altLang="en-US" dirty="0">
                <a:latin typeface="Consolas" panose="020B0609020204030204" pitchFamily="49" charset="0"/>
              </a:rPr>
              <a:t>程序中使用的各种函数库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#include ……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//</a:t>
            </a:r>
            <a:r>
              <a:rPr lang="zh-CN" altLang="en-US" dirty="0">
                <a:latin typeface="Consolas" panose="020B0609020204030204" pitchFamily="49" charset="0"/>
              </a:rPr>
              <a:t>定义共享变量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EXEC SQL </a:t>
            </a:r>
            <a:r>
              <a:rPr lang="en-US" altLang="zh-CN">
                <a:latin typeface="Consolas" panose="020B0609020204030204" pitchFamily="49" charset="0"/>
              </a:rPr>
              <a:t>BEGIN DECLARE </a:t>
            </a:r>
            <a:r>
              <a:rPr lang="en-US" altLang="zh-CN" dirty="0">
                <a:latin typeface="Consolas" panose="020B0609020204030204" pitchFamily="49" charset="0"/>
              </a:rPr>
              <a:t>SECTION; 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</a:rPr>
              <a:t>char </a:t>
            </a:r>
            <a:r>
              <a:rPr lang="en-US" altLang="zh-CN" dirty="0" err="1">
                <a:latin typeface="Consolas" panose="020B0609020204030204" pitchFamily="49" charset="0"/>
              </a:rPr>
              <a:t>S_DeptName</a:t>
            </a:r>
            <a:r>
              <a:rPr lang="en-US" altLang="zh-CN" dirty="0">
                <a:latin typeface="Consolas" panose="020B0609020204030204" pitchFamily="49" charset="0"/>
              </a:rPr>
              <a:t>[64];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</a:rPr>
              <a:t>char </a:t>
            </a:r>
            <a:r>
              <a:rPr lang="en-US" altLang="zh-CN" dirty="0" err="1">
                <a:latin typeface="Consolas" panose="020B0609020204030204" pitchFamily="49" charset="0"/>
              </a:rPr>
              <a:t>S_StdID</a:t>
            </a:r>
            <a:r>
              <a:rPr lang="en-US" altLang="zh-CN" dirty="0">
                <a:latin typeface="Consolas" panose="020B0609020204030204" pitchFamily="49" charset="0"/>
              </a:rPr>
              <a:t>[64];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</a:rPr>
              <a:t>char </a:t>
            </a:r>
            <a:r>
              <a:rPr lang="en-US" altLang="zh-CN" dirty="0" err="1">
                <a:latin typeface="Consolas" panose="020B0609020204030204" pitchFamily="49" charset="0"/>
              </a:rPr>
              <a:t>S_StdName</a:t>
            </a:r>
            <a:r>
              <a:rPr lang="en-US" altLang="zh-CN" dirty="0">
                <a:latin typeface="Consolas" panose="020B0609020204030204" pitchFamily="49" charset="0"/>
              </a:rPr>
              <a:t>[64]; 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</a:rPr>
              <a:t>char </a:t>
            </a:r>
            <a:r>
              <a:rPr lang="en-US" altLang="zh-CN" dirty="0" err="1">
                <a:latin typeface="Consolas" panose="020B0609020204030204" pitchFamily="49" charset="0"/>
              </a:rPr>
              <a:t>S_StdSex</a:t>
            </a:r>
            <a:r>
              <a:rPr lang="en-US" altLang="zh-CN" dirty="0">
                <a:latin typeface="Consolas" panose="020B0609020204030204" pitchFamily="49" charset="0"/>
              </a:rPr>
              <a:t>[64];</a:t>
            </a:r>
          </a:p>
          <a:p>
            <a:pPr lvl="1"/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 </a:t>
            </a:r>
            <a:r>
              <a:rPr lang="en-US" altLang="zh-CN" dirty="0" err="1">
                <a:latin typeface="Consolas" panose="020B0609020204030204" pitchFamily="49" charset="0"/>
              </a:rPr>
              <a:t>S_StdAge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	 </a:t>
            </a:r>
            <a:r>
              <a:rPr lang="en-US" altLang="zh-CN" dirty="0" err="1">
                <a:latin typeface="Consolas" panose="020B0609020204030204" pitchFamily="49" charset="0"/>
              </a:rPr>
              <a:t>S_NewAge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EXEC SQL END DECLARE SECTION; 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//</a:t>
            </a:r>
            <a:r>
              <a:rPr lang="zh-CN" altLang="en-US" dirty="0">
                <a:latin typeface="Consolas" panose="020B0609020204030204" pitchFamily="49" charset="0"/>
              </a:rPr>
              <a:t>定义</a:t>
            </a:r>
            <a:r>
              <a:rPr lang="en-US" altLang="zh-CN" dirty="0">
                <a:latin typeface="Consolas" panose="020B0609020204030204" pitchFamily="49" charset="0"/>
              </a:rPr>
              <a:t>SQL</a:t>
            </a:r>
            <a:r>
              <a:rPr lang="zh-CN" altLang="en-US" dirty="0">
                <a:latin typeface="Consolas" panose="020B0609020204030204" pitchFamily="49" charset="0"/>
              </a:rPr>
              <a:t>通信区（缓冲区）：结构体变量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EXEC SQL INCLUDE </a:t>
            </a:r>
            <a:r>
              <a:rPr lang="en-US" altLang="zh-CN" dirty="0" err="1"/>
              <a:t>sqlca</a:t>
            </a:r>
            <a:r>
              <a:rPr lang="en-US" altLang="zh-CN" dirty="0">
                <a:latin typeface="Consolas" panose="020B0609020204030204" pitchFamily="49" charset="0"/>
              </a:rPr>
              <a:t>;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702597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38200" y="1133681"/>
            <a:ext cx="9485644" cy="4829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main(void) {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Count = 0;	//</a:t>
            </a:r>
            <a:r>
              <a:rPr lang="zh-CN" altLang="en-US" dirty="0">
                <a:latin typeface="Consolas" panose="020B0609020204030204" pitchFamily="49" charset="0"/>
              </a:rPr>
              <a:t>计数用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onsolas" panose="020B0609020204030204" pitchFamily="49" charset="0"/>
              </a:rPr>
              <a:t>char </a:t>
            </a:r>
            <a:r>
              <a:rPr lang="en-US" altLang="zh-CN" dirty="0" err="1">
                <a:latin typeface="Consolas" panose="020B0609020204030204" pitchFamily="49" charset="0"/>
              </a:rPr>
              <a:t>yn</a:t>
            </a:r>
            <a:r>
              <a:rPr lang="en-US" altLang="zh-CN" dirty="0">
                <a:latin typeface="Consolas" panose="020B0609020204030204" pitchFamily="49" charset="0"/>
              </a:rPr>
              <a:t>; 		//</a:t>
            </a:r>
            <a:r>
              <a:rPr lang="zh-CN" altLang="en-US" dirty="0">
                <a:latin typeface="Consolas" panose="020B0609020204030204" pitchFamily="49" charset="0"/>
              </a:rPr>
              <a:t>是或否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onsolas" panose="020B0609020204030204" pitchFamily="49" charset="0"/>
              </a:rPr>
              <a:t>//</a:t>
            </a:r>
            <a:r>
              <a:rPr lang="zh-CN" altLang="en-US" dirty="0">
                <a:latin typeface="Consolas" panose="020B0609020204030204" pitchFamily="49" charset="0"/>
              </a:rPr>
              <a:t>输入所在系：用共享变量</a:t>
            </a:r>
            <a:r>
              <a:rPr lang="en-US" altLang="zh-CN" dirty="0" err="1">
                <a:latin typeface="Consolas" panose="020B0609020204030204" pitchFamily="49" charset="0"/>
              </a:rPr>
              <a:t>S_DeptName</a:t>
            </a:r>
            <a:r>
              <a:rPr lang="zh-CN" altLang="en-US" dirty="0">
                <a:latin typeface="Consolas" panose="020B0609020204030204" pitchFamily="49" charset="0"/>
              </a:rPr>
              <a:t>来存放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(“</a:t>
            </a:r>
            <a:r>
              <a:rPr lang="zh-CN" altLang="en-US" dirty="0">
                <a:latin typeface="Consolas" panose="020B0609020204030204" pitchFamily="49" charset="0"/>
              </a:rPr>
              <a:t>输入系简称</a:t>
            </a:r>
            <a:r>
              <a:rPr lang="en-US" altLang="zh-CN" dirty="0">
                <a:latin typeface="Consolas" panose="020B0609020204030204" pitchFamily="49" charset="0"/>
              </a:rPr>
              <a:t> (CS/MA/IS): "); </a:t>
            </a:r>
          </a:p>
          <a:p>
            <a:pPr lvl="1">
              <a:lnSpc>
                <a:spcPct val="90000"/>
              </a:lnSpc>
            </a:pPr>
            <a:r>
              <a:rPr lang="en-US" altLang="zh-CN" dirty="0" err="1">
                <a:latin typeface="Consolas" panose="020B0609020204030204" pitchFamily="49" charset="0"/>
              </a:rPr>
              <a:t>scanf</a:t>
            </a:r>
            <a:r>
              <a:rPr lang="en-US" altLang="zh-CN" dirty="0">
                <a:latin typeface="Consolas" panose="020B0609020204030204" pitchFamily="49" charset="0"/>
              </a:rPr>
              <a:t>("%s", </a:t>
            </a:r>
            <a:r>
              <a:rPr lang="en-US" altLang="zh-CN" dirty="0" err="1">
                <a:latin typeface="Consolas" panose="020B0609020204030204" pitchFamily="49" charset="0"/>
              </a:rPr>
              <a:t>S_DeptName</a:t>
            </a:r>
            <a:r>
              <a:rPr lang="en-US" altLang="zh-CN" dirty="0">
                <a:latin typeface="Consolas" panose="020B0609020204030204" pitchFamily="49" charset="0"/>
              </a:rPr>
              <a:t>);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//</a:t>
            </a:r>
            <a:r>
              <a:rPr lang="zh-CN" altLang="en-US" dirty="0">
                <a:latin typeface="Consolas" panose="020B0609020204030204" pitchFamily="49" charset="0"/>
              </a:rPr>
              <a:t>连接数据库</a:t>
            </a:r>
            <a:r>
              <a:rPr lang="en-US" altLang="zh-CN" dirty="0">
                <a:latin typeface="Consolas" panose="020B0609020204030204" pitchFamily="49" charset="0"/>
              </a:rPr>
              <a:t>TEST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onsolas" panose="020B0609020204030204" pitchFamily="49" charset="0"/>
              </a:rPr>
              <a:t>EXEC SQL CONNECT TO TEST@localhost:54321 USER "SYSTEM" /"MANAGER";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//</a:t>
            </a:r>
            <a:r>
              <a:rPr lang="zh-CN" altLang="en-US" dirty="0">
                <a:latin typeface="Consolas" panose="020B0609020204030204" pitchFamily="49" charset="0"/>
              </a:rPr>
              <a:t>定义游标</a:t>
            </a:r>
            <a:r>
              <a:rPr lang="en-US" altLang="zh-CN" dirty="0">
                <a:latin typeface="Consolas" panose="020B0609020204030204" pitchFamily="49" charset="0"/>
              </a:rPr>
              <a:t>SX(</a:t>
            </a:r>
            <a:r>
              <a:rPr lang="zh-CN" altLang="en-US" dirty="0">
                <a:latin typeface="Consolas" panose="020B0609020204030204" pitchFamily="49" charset="0"/>
              </a:rPr>
              <a:t>存放嵌入式</a:t>
            </a:r>
            <a:r>
              <a:rPr lang="en-US" altLang="zh-CN" dirty="0">
                <a:latin typeface="Consolas" panose="020B0609020204030204" pitchFamily="49" charset="0"/>
              </a:rPr>
              <a:t>SQL</a:t>
            </a:r>
            <a:r>
              <a:rPr lang="zh-CN" altLang="en-US" dirty="0">
                <a:latin typeface="Consolas" panose="020B0609020204030204" pitchFamily="49" charset="0"/>
              </a:rPr>
              <a:t>查询结果（集合数据）的缓冲区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onsolas" panose="020B0609020204030204" pitchFamily="49" charset="0"/>
              </a:rPr>
              <a:t>EXEC SQL DECLARE SX CURSOR FOR  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onsolas" panose="020B0609020204030204" pitchFamily="49" charset="0"/>
              </a:rPr>
              <a:t>	SELECT ID, Name, Sex, Age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onsolas" panose="020B0609020204030204" pitchFamily="49" charset="0"/>
              </a:rPr>
              <a:t>FROM Student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onsolas" panose="020B0609020204030204" pitchFamily="49" charset="0"/>
              </a:rPr>
              <a:t>	WHERE </a:t>
            </a:r>
            <a:r>
              <a:rPr lang="en-US" altLang="zh-CN" dirty="0" err="1">
                <a:latin typeface="Consolas" panose="020B0609020204030204" pitchFamily="49" charset="0"/>
              </a:rPr>
              <a:t>Dept</a:t>
            </a:r>
            <a:r>
              <a:rPr lang="en-US" altLang="zh-CN" dirty="0">
                <a:latin typeface="Consolas" panose="020B0609020204030204" pitchFamily="49" charset="0"/>
              </a:rPr>
              <a:t> =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S_DeptName</a:t>
            </a:r>
            <a:r>
              <a:rPr lang="en-US" altLang="zh-CN" dirty="0">
                <a:latin typeface="Consolas" panose="020B0609020204030204" pitchFamily="49" charset="0"/>
              </a:rPr>
              <a:t>; //</a:t>
            </a:r>
            <a:r>
              <a:rPr lang="zh-CN" altLang="en-US" dirty="0">
                <a:latin typeface="Consolas" panose="020B0609020204030204" pitchFamily="49" charset="0"/>
              </a:rPr>
              <a:t>条件由共享变量提供数据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//</a:t>
            </a:r>
            <a:r>
              <a:rPr lang="zh-CN" altLang="en-US" dirty="0">
                <a:latin typeface="Consolas" panose="020B0609020204030204" pitchFamily="49" charset="0"/>
              </a:rPr>
              <a:t>打开游标</a:t>
            </a:r>
            <a:r>
              <a:rPr lang="en-US" altLang="zh-CN" dirty="0">
                <a:latin typeface="Consolas" panose="020B0609020204030204" pitchFamily="49" charset="0"/>
              </a:rPr>
              <a:t>SX</a:t>
            </a:r>
            <a:r>
              <a:rPr lang="zh-CN" altLang="en-US" dirty="0">
                <a:latin typeface="Consolas" panose="020B0609020204030204" pitchFamily="49" charset="0"/>
              </a:rPr>
              <a:t>，游标指针指向查询结果的第一行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Consolas" panose="020B0609020204030204" pitchFamily="49" charset="0"/>
              </a:rPr>
              <a:t>EXEC SQL OPEN SX; </a:t>
            </a:r>
          </a:p>
        </p:txBody>
      </p:sp>
      <p:sp>
        <p:nvSpPr>
          <p:cNvPr id="2" name="内容占位符 3">
            <a:extLst>
              <a:ext uri="{FF2B5EF4-FFF2-40B4-BE49-F238E27FC236}">
                <a16:creationId xmlns:a16="http://schemas.microsoft.com/office/drawing/2014/main" id="{CFEB7FFA-A44F-4B8D-B366-B964EF8CB190}"/>
              </a:ext>
            </a:extLst>
          </p:cNvPr>
          <p:cNvSpPr txBox="1">
            <a:spLocks/>
          </p:cNvSpPr>
          <p:nvPr/>
        </p:nvSpPr>
        <p:spPr>
          <a:xfrm>
            <a:off x="838200" y="389352"/>
            <a:ext cx="4759569" cy="50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示例：嵌入了</a:t>
            </a:r>
            <a:r>
              <a:rPr lang="en-US" altLang="zh-CN" dirty="0"/>
              <a:t>SQL</a:t>
            </a:r>
            <a:r>
              <a:rPr lang="zh-CN" altLang="en-US" dirty="0"/>
              <a:t>的</a:t>
            </a:r>
            <a:r>
              <a:rPr lang="en-US" altLang="zh-CN" dirty="0"/>
              <a:t>C</a:t>
            </a:r>
            <a:r>
              <a:rPr lang="zh-CN" altLang="en-US" dirty="0"/>
              <a:t>程序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24460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38200" y="1123633"/>
            <a:ext cx="1059096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/*</a:t>
            </a:r>
            <a:r>
              <a:rPr lang="zh-CN" altLang="en-US" dirty="0">
                <a:latin typeface="Consolas" panose="020B0609020204030204" pitchFamily="49" charset="0"/>
              </a:rPr>
              <a:t>用循环结构逐条处理结果集中的记录*</a:t>
            </a:r>
            <a:r>
              <a:rPr lang="en-US" altLang="zh-CN" dirty="0">
                <a:latin typeface="Consolas" panose="020B0609020204030204" pitchFamily="49" charset="0"/>
              </a:rPr>
              <a:t>/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while(1)</a:t>
            </a:r>
            <a:r>
              <a:rPr lang="zh-CN" altLang="en-US" dirty="0">
                <a:latin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</a:rPr>
              <a:t>{ 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/*</a:t>
            </a:r>
            <a:r>
              <a:rPr lang="zh-CN" altLang="en-US" dirty="0">
                <a:latin typeface="Consolas" panose="020B0609020204030204" pitchFamily="49" charset="0"/>
              </a:rPr>
              <a:t>把游标指针指向的数据写到共享变量中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zh-CN" altLang="en-US" dirty="0">
                <a:latin typeface="Consolas" panose="020B0609020204030204" pitchFamily="49" charset="0"/>
              </a:rPr>
              <a:t>执行成功否的消息会写到</a:t>
            </a:r>
            <a:r>
              <a:rPr lang="en-US" altLang="zh-CN" dirty="0">
                <a:latin typeface="Consolas" panose="020B0609020204030204" pitchFamily="49" charset="0"/>
              </a:rPr>
              <a:t>SQL</a:t>
            </a:r>
            <a:r>
              <a:rPr lang="zh-CN" altLang="en-US" dirty="0">
                <a:latin typeface="Consolas" panose="020B0609020204030204" pitchFamily="49" charset="0"/>
              </a:rPr>
              <a:t>通信区*</a:t>
            </a:r>
            <a:r>
              <a:rPr lang="en-US" altLang="zh-CN" dirty="0">
                <a:latin typeface="Consolas" panose="020B0609020204030204" pitchFamily="49" charset="0"/>
              </a:rPr>
              <a:t>/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EXEC SQL FETCH SX INTO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:S_SID, :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S_SName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, :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S_SSex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, :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S_SAge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ct val="90000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if (</a:t>
            </a:r>
            <a:r>
              <a:rPr lang="en-US" altLang="zh-CN" dirty="0" err="1">
                <a:latin typeface="Consolas" panose="020B0609020204030204" pitchFamily="49" charset="0"/>
              </a:rPr>
              <a:t>sqlca.sqlcode</a:t>
            </a:r>
            <a:r>
              <a:rPr lang="en-US" altLang="zh-CN" dirty="0">
                <a:latin typeface="Consolas" panose="020B0609020204030204" pitchFamily="49" charset="0"/>
              </a:rPr>
              <a:t> != 0) break;  //</a:t>
            </a:r>
            <a:r>
              <a:rPr lang="zh-CN" altLang="en-US" dirty="0">
                <a:latin typeface="Consolas" panose="020B0609020204030204" pitchFamily="49" charset="0"/>
              </a:rPr>
              <a:t>从游标读取数据操作失败，退出死循环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count++; //</a:t>
            </a:r>
            <a:r>
              <a:rPr lang="zh-CN" altLang="en-US" dirty="0">
                <a:latin typeface="Consolas" panose="020B0609020204030204" pitchFamily="49" charset="0"/>
              </a:rPr>
              <a:t>人数</a:t>
            </a:r>
            <a:r>
              <a:rPr lang="en-US" altLang="zh-CN" dirty="0">
                <a:latin typeface="Consolas" panose="020B0609020204030204" pitchFamily="49" charset="0"/>
              </a:rPr>
              <a:t>+1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//</a:t>
            </a:r>
            <a:r>
              <a:rPr lang="zh-CN" altLang="en-US" dirty="0">
                <a:latin typeface="Consolas" panose="020B0609020204030204" pitchFamily="49" charset="0"/>
              </a:rPr>
              <a:t>第一行，输出表头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if(count == 1)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(“%-10s %-20s %-10s %-10s\n”, “</a:t>
            </a:r>
            <a:r>
              <a:rPr lang="zh-CN" altLang="en-US" dirty="0">
                <a:latin typeface="Consolas" panose="020B0609020204030204" pitchFamily="49" charset="0"/>
              </a:rPr>
              <a:t>学号</a:t>
            </a:r>
            <a:r>
              <a:rPr lang="en-US" altLang="zh-CN" dirty="0">
                <a:latin typeface="Consolas" panose="020B0609020204030204" pitchFamily="49" charset="0"/>
              </a:rPr>
              <a:t>”, “</a:t>
            </a:r>
            <a:r>
              <a:rPr lang="zh-CN" altLang="en-US" dirty="0">
                <a:latin typeface="Consolas" panose="020B0609020204030204" pitchFamily="49" charset="0"/>
              </a:rPr>
              <a:t>姓名</a:t>
            </a:r>
            <a:r>
              <a:rPr lang="en-US" altLang="zh-CN" dirty="0">
                <a:latin typeface="Consolas" panose="020B0609020204030204" pitchFamily="49" charset="0"/>
              </a:rPr>
              <a:t>”, “”, “”);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//</a:t>
            </a:r>
            <a:r>
              <a:rPr lang="zh-CN" altLang="en-US" dirty="0">
                <a:latin typeface="Consolas" panose="020B0609020204030204" pitchFamily="49" charset="0"/>
              </a:rPr>
              <a:t>输出学生信息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(“%-10s %-20s %-10s %-10d\n”, S_SID, </a:t>
            </a:r>
            <a:r>
              <a:rPr lang="en-US" altLang="zh-CN" dirty="0" err="1">
                <a:latin typeface="Consolas" panose="020B0609020204030204" pitchFamily="49" charset="0"/>
              </a:rPr>
              <a:t>S_SName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S_SSex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S_SAge</a:t>
            </a:r>
            <a:r>
              <a:rPr lang="en-US" altLang="zh-CN" dirty="0">
                <a:latin typeface="Consolas" panose="020B0609020204030204" pitchFamily="49" charset="0"/>
              </a:rPr>
              <a:t>);  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/*</a:t>
            </a:r>
            <a:r>
              <a:rPr lang="zh-CN" altLang="en-US" dirty="0">
                <a:latin typeface="Consolas" panose="020B0609020204030204" pitchFamily="49" charset="0"/>
              </a:rPr>
              <a:t>询问用户是否要更新该学生的年龄*</a:t>
            </a:r>
            <a:r>
              <a:rPr lang="en-US" altLang="zh-CN" dirty="0">
                <a:latin typeface="Consolas" panose="020B0609020204030204" pitchFamily="49" charset="0"/>
              </a:rPr>
              <a:t>/</a:t>
            </a:r>
          </a:p>
          <a:p>
            <a:pPr lvl="2">
              <a:lnSpc>
                <a:spcPct val="90000"/>
              </a:lnSpc>
            </a:pP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(“</a:t>
            </a:r>
            <a:r>
              <a:rPr lang="zh-CN" altLang="en-US" dirty="0">
                <a:latin typeface="Consolas" panose="020B0609020204030204" pitchFamily="49" charset="0"/>
              </a:rPr>
              <a:t>修改年龄否</a:t>
            </a:r>
            <a:r>
              <a:rPr lang="en-US" altLang="zh-CN" dirty="0">
                <a:latin typeface="Consolas" panose="020B0609020204030204" pitchFamily="49" charset="0"/>
              </a:rPr>
              <a:t>(y/n)?"); 	 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do{                     </a:t>
            </a:r>
          </a:p>
          <a:p>
            <a:pPr lvl="3">
              <a:lnSpc>
                <a:spcPct val="90000"/>
              </a:lnSpc>
            </a:pPr>
            <a:r>
              <a:rPr lang="en-US" altLang="zh-CN" dirty="0" err="1">
                <a:latin typeface="Consolas" panose="020B0609020204030204" pitchFamily="49" charset="0"/>
              </a:rPr>
              <a:t>scanf</a:t>
            </a:r>
            <a:r>
              <a:rPr lang="en-US" altLang="zh-CN" dirty="0">
                <a:latin typeface="Consolas" panose="020B0609020204030204" pitchFamily="49" charset="0"/>
              </a:rPr>
              <a:t>(“%c”, &amp;</a:t>
            </a:r>
            <a:r>
              <a:rPr lang="en-US" altLang="zh-CN" dirty="0" err="1">
                <a:latin typeface="Consolas" panose="020B0609020204030204" pitchFamily="49" charset="0"/>
              </a:rPr>
              <a:t>yn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} while(</a:t>
            </a:r>
            <a:r>
              <a:rPr lang="en-US" altLang="zh-CN" dirty="0" err="1">
                <a:latin typeface="Consolas" panose="020B0609020204030204" pitchFamily="49" charset="0"/>
              </a:rPr>
              <a:t>yn</a:t>
            </a:r>
            <a:r>
              <a:rPr lang="en-US" altLang="zh-CN" dirty="0">
                <a:latin typeface="Consolas" panose="020B0609020204030204" pitchFamily="49" charset="0"/>
              </a:rPr>
              <a:t> != ‘N’ &amp;&amp; </a:t>
            </a:r>
            <a:r>
              <a:rPr lang="en-US" altLang="zh-CN" dirty="0" err="1">
                <a:latin typeface="Consolas" panose="020B0609020204030204" pitchFamily="49" charset="0"/>
              </a:rPr>
              <a:t>yn</a:t>
            </a:r>
            <a:r>
              <a:rPr lang="en-US" altLang="zh-CN" dirty="0">
                <a:latin typeface="Consolas" panose="020B0609020204030204" pitchFamily="49" charset="0"/>
              </a:rPr>
              <a:t> != ‘n’ &amp;&amp; </a:t>
            </a:r>
            <a:r>
              <a:rPr lang="en-US" altLang="zh-CN" dirty="0" err="1">
                <a:latin typeface="Consolas" panose="020B0609020204030204" pitchFamily="49" charset="0"/>
              </a:rPr>
              <a:t>yn</a:t>
            </a:r>
            <a:r>
              <a:rPr lang="en-US" altLang="zh-CN" dirty="0">
                <a:latin typeface="Consolas" panose="020B0609020204030204" pitchFamily="49" charset="0"/>
              </a:rPr>
              <a:t> != ‘Y’ &amp;&amp; </a:t>
            </a:r>
            <a:r>
              <a:rPr lang="en-US" altLang="zh-CN" dirty="0" err="1">
                <a:latin typeface="Consolas" panose="020B0609020204030204" pitchFamily="49" charset="0"/>
              </a:rPr>
              <a:t>yn</a:t>
            </a:r>
            <a:r>
              <a:rPr lang="en-US" altLang="zh-CN" dirty="0">
                <a:latin typeface="Consolas" panose="020B0609020204030204" pitchFamily="49" charset="0"/>
              </a:rPr>
              <a:t> != ‘y’);</a:t>
            </a:r>
          </a:p>
          <a:p>
            <a:pPr lvl="1">
              <a:lnSpc>
                <a:spcPct val="90000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3" name="内容占位符 3">
            <a:extLst>
              <a:ext uri="{FF2B5EF4-FFF2-40B4-BE49-F238E27FC236}">
                <a16:creationId xmlns:a16="http://schemas.microsoft.com/office/drawing/2014/main" id="{825414A2-F718-AE8B-0677-C8B557E53646}"/>
              </a:ext>
            </a:extLst>
          </p:cNvPr>
          <p:cNvSpPr txBox="1">
            <a:spLocks/>
          </p:cNvSpPr>
          <p:nvPr/>
        </p:nvSpPr>
        <p:spPr>
          <a:xfrm>
            <a:off x="838200" y="389352"/>
            <a:ext cx="4759569" cy="50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/>
              <a:t>示例：嵌入了</a:t>
            </a:r>
            <a:r>
              <a:rPr lang="en-US" altLang="zh-CN"/>
              <a:t>SQL</a:t>
            </a:r>
            <a:r>
              <a:rPr lang="zh-CN" altLang="en-US"/>
              <a:t>的</a:t>
            </a:r>
            <a:r>
              <a:rPr lang="en-US" altLang="zh-CN"/>
              <a:t>C</a:t>
            </a:r>
            <a:r>
              <a:rPr lang="zh-CN" altLang="en-US"/>
              <a:t>程序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8975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38201" y="1103536"/>
            <a:ext cx="10515600" cy="482901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2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/*</a:t>
            </a:r>
            <a:r>
              <a:rPr lang="zh-CN" altLang="en-US" dirty="0">
                <a:latin typeface="Consolas" panose="020B0609020204030204" pitchFamily="49" charset="0"/>
              </a:rPr>
              <a:t>修改年龄*</a:t>
            </a:r>
            <a:r>
              <a:rPr lang="en-US" altLang="zh-CN" dirty="0">
                <a:latin typeface="Consolas" panose="020B0609020204030204" pitchFamily="49" charset="0"/>
              </a:rPr>
              <a:t>/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if(</a:t>
            </a:r>
            <a:r>
              <a:rPr lang="en-US" altLang="zh-CN" dirty="0" err="1">
                <a:latin typeface="Consolas" panose="020B0609020204030204" pitchFamily="49" charset="0"/>
              </a:rPr>
              <a:t>yn</a:t>
            </a:r>
            <a:r>
              <a:rPr lang="en-US" altLang="zh-CN" dirty="0">
                <a:latin typeface="Consolas" panose="020B0609020204030204" pitchFamily="49" charset="0"/>
              </a:rPr>
              <a:t> == ‘y’ || </a:t>
            </a:r>
            <a:r>
              <a:rPr lang="en-US" altLang="zh-CN" dirty="0" err="1">
                <a:latin typeface="Consolas" panose="020B0609020204030204" pitchFamily="49" charset="0"/>
              </a:rPr>
              <a:t>yn</a:t>
            </a:r>
            <a:r>
              <a:rPr lang="en-US" altLang="zh-CN" dirty="0">
                <a:latin typeface="Consolas" panose="020B0609020204030204" pitchFamily="49" charset="0"/>
              </a:rPr>
              <a:t> == ‘Y’) {</a:t>
            </a:r>
          </a:p>
          <a:p>
            <a:pPr lvl="3">
              <a:lnSpc>
                <a:spcPct val="90000"/>
              </a:lnSpc>
            </a:pP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(“</a:t>
            </a:r>
            <a:r>
              <a:rPr lang="zh-CN" altLang="en-US" dirty="0">
                <a:latin typeface="Consolas" panose="020B0609020204030204" pitchFamily="49" charset="0"/>
              </a:rPr>
              <a:t>输入新的年龄：</a:t>
            </a:r>
            <a:r>
              <a:rPr lang="en-US" altLang="zh-CN" dirty="0">
                <a:latin typeface="Consolas" panose="020B0609020204030204" pitchFamily="49" charset="0"/>
              </a:rPr>
              <a:t>");</a:t>
            </a:r>
          </a:p>
          <a:p>
            <a:pPr lvl="3">
              <a:lnSpc>
                <a:spcPct val="90000"/>
              </a:lnSpc>
            </a:pPr>
            <a:r>
              <a:rPr lang="en-US" altLang="zh-CN" dirty="0" err="1">
                <a:latin typeface="Consolas" panose="020B0609020204030204" pitchFamily="49" charset="0"/>
              </a:rPr>
              <a:t>scanf</a:t>
            </a:r>
            <a:r>
              <a:rPr lang="en-US" altLang="zh-CN" dirty="0">
                <a:latin typeface="Consolas" panose="020B0609020204030204" pitchFamily="49" charset="0"/>
              </a:rPr>
              <a:t>(“%d”, &amp;</a:t>
            </a:r>
            <a:r>
              <a:rPr lang="en-US" altLang="zh-CN" dirty="0" err="1">
                <a:latin typeface="Consolas" panose="020B0609020204030204" pitchFamily="49" charset="0"/>
              </a:rPr>
              <a:t>S_NewAge</a:t>
            </a:r>
            <a:r>
              <a:rPr lang="en-US" altLang="zh-CN" dirty="0">
                <a:latin typeface="Consolas" panose="020B0609020204030204" pitchFamily="49" charset="0"/>
              </a:rPr>
              <a:t>); 		 </a:t>
            </a:r>
          </a:p>
          <a:p>
            <a:pPr lvl="3">
              <a:lnSpc>
                <a:spcPct val="90000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 lvl="3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//</a:t>
            </a:r>
            <a:r>
              <a:rPr lang="zh-CN" altLang="en-US" dirty="0">
                <a:latin typeface="Consolas" panose="020B0609020204030204" pitchFamily="49" charset="0"/>
              </a:rPr>
              <a:t>嵌入式</a:t>
            </a:r>
            <a:r>
              <a:rPr lang="en-US" altLang="zh-CN" dirty="0">
                <a:latin typeface="Consolas" panose="020B0609020204030204" pitchFamily="49" charset="0"/>
              </a:rPr>
              <a:t>SQL</a:t>
            </a:r>
            <a:r>
              <a:rPr lang="zh-CN" altLang="en-US" dirty="0">
                <a:latin typeface="Consolas" panose="020B0609020204030204" pitchFamily="49" charset="0"/>
              </a:rPr>
              <a:t>：修改当前游标指向的学生年龄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3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EXEC SQL </a:t>
            </a:r>
          </a:p>
          <a:p>
            <a:pPr lvl="3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UPDATE Student          	 </a:t>
            </a:r>
          </a:p>
          <a:p>
            <a:pPr lvl="3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SET Sage =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S_NewAge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3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WHERE CURRENT OF SX ;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}</a:t>
            </a:r>
          </a:p>
          <a:p>
            <a:pPr lvl="1">
              <a:lnSpc>
                <a:spcPct val="90000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}//while(1)</a:t>
            </a:r>
            <a:r>
              <a:rPr lang="zh-CN" altLang="en-US" dirty="0">
                <a:latin typeface="Consolas" panose="020B0609020204030204" pitchFamily="49" charset="0"/>
              </a:rPr>
              <a:t>结束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EXEC SQL CLOSE SX;     	//</a:t>
            </a:r>
            <a:r>
              <a:rPr lang="zh-CN" altLang="en-US" dirty="0">
                <a:latin typeface="Consolas" panose="020B0609020204030204" pitchFamily="49" charset="0"/>
              </a:rPr>
              <a:t>关闭游标缓冲区</a:t>
            </a:r>
            <a:r>
              <a:rPr lang="en-US" altLang="zh-CN" dirty="0">
                <a:latin typeface="Consolas" panose="020B0609020204030204" pitchFamily="49" charset="0"/>
              </a:rPr>
              <a:t>SX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EXEC SQL COMMIT WORK; 	//</a:t>
            </a:r>
            <a:r>
              <a:rPr lang="zh-CN" altLang="en-US" dirty="0">
                <a:latin typeface="Consolas" panose="020B0609020204030204" pitchFamily="49" charset="0"/>
              </a:rPr>
              <a:t>提交更新操作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EXEC SQL DISCONNECT TEST;	//</a:t>
            </a:r>
            <a:r>
              <a:rPr lang="zh-CN" altLang="en-US" dirty="0">
                <a:latin typeface="Consolas" panose="020B0609020204030204" pitchFamily="49" charset="0"/>
              </a:rPr>
              <a:t>断开数据库连接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}</a:t>
            </a:r>
          </a:p>
          <a:p>
            <a:pPr lvl="1">
              <a:lnSpc>
                <a:spcPct val="90000"/>
              </a:lnSpc>
            </a:pP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3" name="内容占位符 3">
            <a:extLst>
              <a:ext uri="{FF2B5EF4-FFF2-40B4-BE49-F238E27FC236}">
                <a16:creationId xmlns:a16="http://schemas.microsoft.com/office/drawing/2014/main" id="{8181FFED-AD81-BD1D-3F42-2F8A25848C88}"/>
              </a:ext>
            </a:extLst>
          </p:cNvPr>
          <p:cNvSpPr txBox="1">
            <a:spLocks/>
          </p:cNvSpPr>
          <p:nvPr/>
        </p:nvSpPr>
        <p:spPr>
          <a:xfrm>
            <a:off x="838200" y="389352"/>
            <a:ext cx="4759569" cy="50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/>
              <a:t>示例：嵌入了</a:t>
            </a:r>
            <a:r>
              <a:rPr lang="en-US" altLang="zh-CN"/>
              <a:t>SQL</a:t>
            </a:r>
            <a:r>
              <a:rPr lang="zh-CN" altLang="en-US"/>
              <a:t>的</a:t>
            </a:r>
            <a:r>
              <a:rPr lang="en-US" altLang="zh-CN"/>
              <a:t>C</a:t>
            </a:r>
            <a:r>
              <a:rPr lang="zh-CN" altLang="en-US"/>
              <a:t>程序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69844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914400" y="1201738"/>
            <a:ext cx="4444409" cy="4975225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嵌入式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的应用程序：将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语句嵌入应用程序代码中。被嵌入的程序设计语言，如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C++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Java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，称为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宿主语言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所有嵌入式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语句必须加前缀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EXEC SQL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，以 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;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结束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b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EXEC SQL &lt;SQL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&gt;;</a:t>
            </a:r>
          </a:p>
          <a:p>
            <a:pPr lvl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嵌入式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：操纵数据库</a:t>
            </a:r>
          </a:p>
          <a:p>
            <a:pPr lvl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高级语言语句：控制程序流程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4294967295"/>
          </p:nvPr>
        </p:nvSpPr>
        <p:spPr>
          <a:xfrm>
            <a:off x="6655980" y="1201737"/>
            <a:ext cx="4706679" cy="4975225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嵌入式</a:t>
            </a:r>
            <a:r>
              <a:rPr lang="en-US" altLang="zh-CN" sz="24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4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和主语言之间通信</a:t>
            </a:r>
            <a:endParaRPr lang="en-US" altLang="zh-CN" sz="2400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通信区（缓冲区）：向主语言传递</a:t>
            </a:r>
            <a:r>
              <a:rPr lang="en-US" altLang="zh-CN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语句的执行状态信息；使主语言能够据此控制程序流程</a:t>
            </a:r>
          </a:p>
          <a:p>
            <a:pPr lvl="1"/>
            <a:r>
              <a:rPr lang="zh-CN" altLang="en-US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共享变量：主语言向</a:t>
            </a:r>
            <a:r>
              <a:rPr lang="en-US" altLang="zh-CN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语句提供参数；将</a:t>
            </a:r>
            <a:r>
              <a:rPr lang="en-US" altLang="zh-CN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语句查询数据库的结果交主语言进一步处理</a:t>
            </a:r>
            <a:endParaRPr lang="en-US" altLang="zh-CN" sz="2000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游标</a:t>
            </a:r>
            <a:r>
              <a:rPr lang="en-US" altLang="zh-CN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</a:t>
            </a:r>
            <a:r>
              <a:rPr lang="en-US" altLang="zh-CN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放</a:t>
            </a:r>
            <a:r>
              <a:rPr lang="en-US" altLang="zh-CN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查询结果集的缓冲区</a:t>
            </a:r>
            <a:r>
              <a:rPr lang="en-US" altLang="zh-CN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：解决集合性操作语言</a:t>
            </a:r>
            <a:r>
              <a:rPr lang="en-US" altLang="zh-CN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与过程性操作语言</a:t>
            </a:r>
            <a:r>
              <a:rPr lang="en-US" altLang="zh-CN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宿主语言</a:t>
            </a:r>
            <a:r>
              <a:rPr lang="en-US" altLang="zh-CN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处理集合数据的不匹配问题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D668AF3C-DA7F-FE7C-C107-DB39F5300519}"/>
              </a:ext>
            </a:extLst>
          </p:cNvPr>
          <p:cNvSpPr txBox="1">
            <a:spLocks/>
          </p:cNvSpPr>
          <p:nvPr/>
        </p:nvSpPr>
        <p:spPr>
          <a:xfrm>
            <a:off x="914400" y="428060"/>
            <a:ext cx="4759569" cy="50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FF0000"/>
                </a:solidFill>
              </a:rPr>
              <a:t>嵌入了</a:t>
            </a:r>
            <a:r>
              <a:rPr lang="en-US" altLang="zh-CN" dirty="0">
                <a:solidFill>
                  <a:srgbClr val="FF0000"/>
                </a:solidFill>
              </a:rPr>
              <a:t>SQL</a:t>
            </a:r>
            <a:r>
              <a:rPr lang="zh-CN" altLang="en-US" dirty="0">
                <a:solidFill>
                  <a:srgbClr val="FF0000"/>
                </a:solidFill>
              </a:rPr>
              <a:t>的应用程序关键技术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074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58" y="1088961"/>
            <a:ext cx="2990222" cy="5277184"/>
          </a:xfrm>
          <a:prstGeom prst="rect">
            <a:avLst/>
          </a:prstGeom>
        </p:spPr>
      </p:pic>
      <p:sp>
        <p:nvSpPr>
          <p:cNvPr id="3" name="内容占位符 3">
            <a:extLst>
              <a:ext uri="{FF2B5EF4-FFF2-40B4-BE49-F238E27FC236}">
                <a16:creationId xmlns:a16="http://schemas.microsoft.com/office/drawing/2014/main" id="{B03395CF-13D6-379C-8030-C237610AF653}"/>
              </a:ext>
            </a:extLst>
          </p:cNvPr>
          <p:cNvSpPr txBox="1">
            <a:spLocks/>
          </p:cNvSpPr>
          <p:nvPr/>
        </p:nvSpPr>
        <p:spPr>
          <a:xfrm>
            <a:off x="914400" y="428060"/>
            <a:ext cx="4759569" cy="50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FF0000"/>
                </a:solidFill>
              </a:rPr>
              <a:t>嵌入了</a:t>
            </a:r>
            <a:r>
              <a:rPr lang="en-US" altLang="zh-CN" dirty="0">
                <a:solidFill>
                  <a:srgbClr val="FF0000"/>
                </a:solidFill>
              </a:rPr>
              <a:t>SQL</a:t>
            </a:r>
            <a:r>
              <a:rPr lang="zh-CN" altLang="en-US" dirty="0">
                <a:solidFill>
                  <a:srgbClr val="FF0000"/>
                </a:solidFill>
              </a:rPr>
              <a:t>的应用程序关键技术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51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AB222-7E08-7970-DA4F-D100F8E07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内容占位符 20">
            <a:extLst>
              <a:ext uri="{FF2B5EF4-FFF2-40B4-BE49-F238E27FC236}">
                <a16:creationId xmlns:a16="http://schemas.microsoft.com/office/drawing/2014/main" id="{E88E2525-ED37-2326-DDCC-5EA8E421258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070345" y="1247304"/>
            <a:ext cx="4657060" cy="4975225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动态嵌入式</a:t>
            </a:r>
            <a:r>
              <a:rPr lang="en-US" altLang="zh-CN" sz="2400" dirty="0"/>
              <a:t>SQL</a:t>
            </a:r>
            <a:r>
              <a:rPr lang="zh-CN" altLang="en-US" sz="2400" dirty="0"/>
              <a:t>：程序运行过程中根据需要组装出</a:t>
            </a:r>
            <a:r>
              <a:rPr lang="en-US" altLang="zh-CN" sz="2400" dirty="0"/>
              <a:t>SQL</a:t>
            </a:r>
            <a:r>
              <a:rPr lang="zh-CN" altLang="en-US" sz="2400" dirty="0"/>
              <a:t>语句。</a:t>
            </a:r>
            <a:endParaRPr lang="en-US" altLang="zh-CN" sz="2400" dirty="0"/>
          </a:p>
          <a:p>
            <a:r>
              <a:rPr lang="zh-CN" altLang="en-US" sz="2000" dirty="0"/>
              <a:t>组装的</a:t>
            </a:r>
            <a:r>
              <a:rPr lang="en-US" altLang="zh-CN" sz="2000" dirty="0"/>
              <a:t>SQL</a:t>
            </a:r>
            <a:r>
              <a:rPr lang="zh-CN" altLang="en-US" sz="2000" dirty="0"/>
              <a:t>语句</a:t>
            </a:r>
            <a:endParaRPr lang="en-US" altLang="zh-CN" sz="2000" dirty="0"/>
          </a:p>
          <a:p>
            <a:r>
              <a:rPr lang="zh-CN" altLang="en-US" sz="2000" dirty="0"/>
              <a:t>带参数的</a:t>
            </a:r>
            <a:r>
              <a:rPr lang="en-US" altLang="zh-CN" sz="2000" dirty="0"/>
              <a:t>SQL</a:t>
            </a:r>
            <a:r>
              <a:rPr lang="zh-CN" altLang="en-US" sz="2000" dirty="0"/>
              <a:t>语句</a:t>
            </a:r>
            <a:endParaRPr lang="en-US" altLang="zh-CN" sz="2000" dirty="0"/>
          </a:p>
          <a:p>
            <a:endParaRPr lang="zh-CN" altLang="en-US" sz="2000" dirty="0"/>
          </a:p>
          <a:p>
            <a:pPr marL="0" lvl="1" indent="0">
              <a:lnSpc>
                <a:spcPct val="114000"/>
              </a:lnSpc>
              <a:spcBef>
                <a:spcPts val="1000"/>
              </a:spcBef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①运行时组装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语句字符串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529BD9D-F7F9-7D4D-7652-5D483E056C6D}"/>
              </a:ext>
            </a:extLst>
          </p:cNvPr>
          <p:cNvSpPr/>
          <p:nvPr/>
        </p:nvSpPr>
        <p:spPr>
          <a:xfrm>
            <a:off x="621519" y="4093387"/>
            <a:ext cx="426237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Font typeface="Wingdings" panose="05000000000000000000" pitchFamily="2" charset="2"/>
              <a:buNone/>
            </a:pPr>
            <a:r>
              <a:rPr lang="en-US" altLang="zh-CN" dirty="0"/>
              <a:t>EXEC SQL BEGIN DECLARE SECTION;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/>
              <a:t>	char </a:t>
            </a:r>
            <a:r>
              <a:rPr lang="en-US" altLang="zh-CN" dirty="0" err="1"/>
              <a:t>stmt</a:t>
            </a:r>
            <a:r>
              <a:rPr lang="en-US" altLang="zh-CN" dirty="0"/>
              <a:t>[500]; 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/>
              <a:t>	……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/>
              <a:t>EXEC SQL END DECLARE SECTION;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/>
              <a:t>......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 err="1"/>
              <a:t>strcpy</a:t>
            </a:r>
            <a:r>
              <a:rPr lang="en-US" altLang="zh-CN" dirty="0"/>
              <a:t>(</a:t>
            </a:r>
            <a:r>
              <a:rPr lang="en-US" altLang="zh-CN" dirty="0" err="1"/>
              <a:t>stmt</a:t>
            </a:r>
            <a:r>
              <a:rPr lang="en-US" altLang="zh-CN" dirty="0"/>
              <a:t>, “insert into Student…….”);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/>
              <a:t>EXEC SQL </a:t>
            </a:r>
            <a:r>
              <a:rPr lang="en-US" altLang="zh-CN" dirty="0">
                <a:solidFill>
                  <a:srgbClr val="FF0000"/>
                </a:solidFill>
              </a:rPr>
              <a:t>EXECUTE IMMEDIATE :</a:t>
            </a:r>
            <a:r>
              <a:rPr lang="en-US" altLang="zh-CN" dirty="0" err="1">
                <a:solidFill>
                  <a:srgbClr val="FF0000"/>
                </a:solidFill>
              </a:rPr>
              <a:t>stmt</a:t>
            </a:r>
            <a:r>
              <a:rPr lang="en-US" altLang="zh-CN" dirty="0"/>
              <a:t>;	</a:t>
            </a:r>
            <a:endParaRPr lang="zh-CN" altLang="en-US" dirty="0"/>
          </a:p>
        </p:txBody>
      </p:sp>
      <p:sp>
        <p:nvSpPr>
          <p:cNvPr id="3" name="内容占位符 3">
            <a:extLst>
              <a:ext uri="{FF2B5EF4-FFF2-40B4-BE49-F238E27FC236}">
                <a16:creationId xmlns:a16="http://schemas.microsoft.com/office/drawing/2014/main" id="{4781041C-3E86-DA4D-7412-501E3FD93F58}"/>
              </a:ext>
            </a:extLst>
          </p:cNvPr>
          <p:cNvSpPr txBox="1">
            <a:spLocks/>
          </p:cNvSpPr>
          <p:nvPr/>
        </p:nvSpPr>
        <p:spPr>
          <a:xfrm>
            <a:off x="914400" y="428060"/>
            <a:ext cx="4759569" cy="50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FF0000"/>
                </a:solidFill>
              </a:rPr>
              <a:t>嵌入了</a:t>
            </a:r>
            <a:r>
              <a:rPr lang="en-US" altLang="zh-CN" dirty="0">
                <a:solidFill>
                  <a:srgbClr val="FF0000"/>
                </a:solidFill>
              </a:rPr>
              <a:t>SQL</a:t>
            </a:r>
            <a:r>
              <a:rPr lang="zh-CN" altLang="en-US" dirty="0">
                <a:solidFill>
                  <a:srgbClr val="FF0000"/>
                </a:solidFill>
              </a:rPr>
              <a:t>的应用程序关键技术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20" name="内容占位符 19"/>
          <p:cNvSpPr txBox="1">
            <a:spLocks/>
          </p:cNvSpPr>
          <p:nvPr/>
        </p:nvSpPr>
        <p:spPr>
          <a:xfrm>
            <a:off x="6790660" y="1336417"/>
            <a:ext cx="4486940" cy="49752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②带参数的嵌入式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占位符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表示该位置的数据在运行时给定，不是编译时绑定。</a:t>
            </a:r>
          </a:p>
        </p:txBody>
      </p:sp>
      <p:sp>
        <p:nvSpPr>
          <p:cNvPr id="2" name="矩形 1"/>
          <p:cNvSpPr/>
          <p:nvPr/>
        </p:nvSpPr>
        <p:spPr>
          <a:xfrm>
            <a:off x="6790660" y="2715093"/>
            <a:ext cx="506520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EXEC SQL BEGIN DECLARE SECTION;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/>
              <a:t>char *</a:t>
            </a:r>
            <a:r>
              <a:rPr lang="en-US" altLang="zh-CN" dirty="0" err="1"/>
              <a:t>sqlstr</a:t>
            </a:r>
            <a:r>
              <a:rPr lang="en-US" altLang="zh-CN" dirty="0"/>
              <a:t> = "INSERT INTO test VALUES(</a:t>
            </a:r>
            <a:r>
              <a:rPr lang="en-US" altLang="zh-CN" dirty="0">
                <a:solidFill>
                  <a:srgbClr val="FF0000"/>
                </a:solidFill>
              </a:rPr>
              <a:t>?,?</a:t>
            </a:r>
            <a:r>
              <a:rPr lang="en-US" altLang="zh-CN" dirty="0"/>
              <a:t>)";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EXEC SQL END DECLARE SECTION;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... ...</a:t>
            </a:r>
          </a:p>
          <a:p>
            <a:r>
              <a:rPr lang="en-US" altLang="zh-CN" dirty="0"/>
              <a:t>// </a:t>
            </a:r>
            <a:r>
              <a:rPr lang="zh-CN" altLang="en-US" dirty="0"/>
              <a:t>准备：把字符串</a:t>
            </a:r>
            <a:r>
              <a:rPr lang="en-US" altLang="zh-CN" dirty="0" err="1"/>
              <a:t>sqlstr</a:t>
            </a:r>
            <a:r>
              <a:rPr lang="zh-CN" altLang="en-US" dirty="0"/>
              <a:t>处理为</a:t>
            </a:r>
            <a:r>
              <a:rPr lang="en-US" altLang="zh-CN" dirty="0"/>
              <a:t>SQL</a:t>
            </a:r>
            <a:r>
              <a:rPr lang="zh-CN" altLang="en-US" dirty="0"/>
              <a:t>语句</a:t>
            </a:r>
            <a:r>
              <a:rPr lang="en-US" altLang="zh-CN" dirty="0" err="1"/>
              <a:t>stmt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EXEC SQL </a:t>
            </a:r>
            <a:r>
              <a:rPr lang="en-US" altLang="zh-CN" dirty="0">
                <a:solidFill>
                  <a:srgbClr val="FF0000"/>
                </a:solidFill>
              </a:rPr>
              <a:t>PREPARE </a:t>
            </a:r>
            <a:r>
              <a:rPr lang="en-US" altLang="zh-CN" dirty="0" err="1">
                <a:solidFill>
                  <a:srgbClr val="FF0000"/>
                </a:solidFill>
              </a:rPr>
              <a:t>stmt</a:t>
            </a:r>
            <a:r>
              <a:rPr lang="en-US" altLang="zh-CN" dirty="0">
                <a:solidFill>
                  <a:srgbClr val="FF0000"/>
                </a:solidFill>
              </a:rPr>
              <a:t> FROM :</a:t>
            </a:r>
            <a:r>
              <a:rPr lang="en-US" altLang="zh-CN" dirty="0"/>
              <a:t> </a:t>
            </a:r>
            <a:r>
              <a:rPr lang="en-US" altLang="zh-CN" dirty="0" err="1"/>
              <a:t>sqlstr</a:t>
            </a:r>
            <a:r>
              <a:rPr lang="en-US" altLang="zh-CN" dirty="0"/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... ...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//</a:t>
            </a:r>
            <a:r>
              <a:rPr lang="zh-CN" altLang="en-US" dirty="0"/>
              <a:t>执行</a:t>
            </a:r>
            <a:r>
              <a:rPr lang="en-US" altLang="zh-CN" dirty="0" err="1"/>
              <a:t>stmt</a:t>
            </a:r>
            <a:r>
              <a:rPr lang="zh-CN" altLang="en-US" dirty="0"/>
              <a:t>语句，用</a:t>
            </a:r>
            <a:r>
              <a:rPr lang="en-US" altLang="zh-CN" dirty="0"/>
              <a:t>USING</a:t>
            </a:r>
            <a:r>
              <a:rPr lang="zh-CN" altLang="en-US" dirty="0"/>
              <a:t>后给出的数据替换</a:t>
            </a:r>
            <a:r>
              <a:rPr lang="en-US" altLang="zh-CN" dirty="0"/>
              <a:t>?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EXEC SQL </a:t>
            </a:r>
            <a:r>
              <a:rPr lang="en-US" altLang="zh-CN" dirty="0">
                <a:solidFill>
                  <a:srgbClr val="FF0000"/>
                </a:solidFill>
              </a:rPr>
              <a:t>EXECUTE </a:t>
            </a:r>
            <a:r>
              <a:rPr lang="en-US" altLang="zh-CN" dirty="0" err="1">
                <a:solidFill>
                  <a:srgbClr val="FF0000"/>
                </a:solidFill>
              </a:rPr>
              <a:t>stmt</a:t>
            </a:r>
            <a:r>
              <a:rPr lang="en-US" altLang="zh-CN" dirty="0">
                <a:solidFill>
                  <a:srgbClr val="FF0000"/>
                </a:solidFill>
              </a:rPr>
              <a:t> USING  1, ‘A’</a:t>
            </a:r>
            <a:r>
              <a:rPr lang="en-US" altLang="zh-CN" dirty="0"/>
              <a:t>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EXEC SQL EXECUTE </a:t>
            </a:r>
            <a:r>
              <a:rPr lang="en-US" altLang="zh-CN" dirty="0" err="1"/>
              <a:t>mystmt</a:t>
            </a:r>
            <a:r>
              <a:rPr lang="en-US" altLang="zh-CN" dirty="0"/>
              <a:t> USING 2, ‘B’;   </a:t>
            </a:r>
          </a:p>
        </p:txBody>
      </p:sp>
    </p:spTree>
    <p:extLst>
      <p:ext uri="{BB962C8B-B14F-4D97-AF65-F5344CB8AC3E}">
        <p14:creationId xmlns:p14="http://schemas.microsoft.com/office/powerpoint/2010/main" val="754440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6A5FF-844B-08D4-6B4F-E611AD25E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3">
            <a:extLst>
              <a:ext uri="{FF2B5EF4-FFF2-40B4-BE49-F238E27FC236}">
                <a16:creationId xmlns:a16="http://schemas.microsoft.com/office/drawing/2014/main" id="{4B9837B7-C40A-0C9A-E36A-8403B4ECB89A}"/>
              </a:ext>
            </a:extLst>
          </p:cNvPr>
          <p:cNvSpPr txBox="1">
            <a:spLocks/>
          </p:cNvSpPr>
          <p:nvPr/>
        </p:nvSpPr>
        <p:spPr>
          <a:xfrm>
            <a:off x="914400" y="428060"/>
            <a:ext cx="4759569" cy="50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示例：</a:t>
            </a:r>
            <a:r>
              <a:rPr lang="en-US" altLang="zh-CN" b="1" dirty="0">
                <a:solidFill>
                  <a:srgbClr val="FF0000"/>
                </a:solidFill>
              </a:rPr>
              <a:t>Node.js + MySQL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97AA82-AB47-767E-5001-0EEFB16E74FE}"/>
              </a:ext>
            </a:extLst>
          </p:cNvPr>
          <p:cNvSpPr txBox="1"/>
          <p:nvPr/>
        </p:nvSpPr>
        <p:spPr>
          <a:xfrm>
            <a:off x="5380539" y="496370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Node.js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是一个基于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Chrome V8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引擎的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JavaScript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运行时环境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9A6780-6D83-FD20-90E6-61C19B36DE6F}"/>
              </a:ext>
            </a:extLst>
          </p:cNvPr>
          <p:cNvSpPr txBox="1"/>
          <p:nvPr/>
        </p:nvSpPr>
        <p:spPr>
          <a:xfrm>
            <a:off x="914400" y="1287348"/>
            <a:ext cx="370669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Node.js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程序中，建立数据库连接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97C868B-078E-73BF-E4C4-EBB7BB886696}"/>
              </a:ext>
            </a:extLst>
          </p:cNvPr>
          <p:cNvSpPr txBox="1"/>
          <p:nvPr/>
        </p:nvSpPr>
        <p:spPr>
          <a:xfrm>
            <a:off x="914400" y="1796987"/>
            <a:ext cx="458427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Consolas" panose="020B0609020204030204" pitchFamily="49" charset="0"/>
              </a:rPr>
              <a:t>const mysql = require('mysql2');</a:t>
            </a:r>
          </a:p>
          <a:p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// 创建连接池（推荐生产环境使用）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const pool = mysql.createPool({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host: 'localhost',     // 数据库服务器地址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user: 'root',          // 数据库用户名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password: 'password',  // 数据库密码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database: 'test_db',   // 要连接的数据库名称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waitForConnections: true,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connectionLimit: 10,   // 连接池最大连接数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queueLimit: 0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});</a:t>
            </a:r>
          </a:p>
          <a:p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</a:rPr>
              <a:t>// 获取一个 Promise 版本的连接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const </a:t>
            </a:r>
            <a:r>
              <a:rPr lang="zh-CN" alt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promisePool</a:t>
            </a:r>
            <a:r>
              <a:rPr lang="zh-CN" altLang="en-US" sz="1400" dirty="0">
                <a:latin typeface="Consolas" panose="020B0609020204030204" pitchFamily="49" charset="0"/>
              </a:rPr>
              <a:t> = pool.promise();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D4437E-95AB-DDEA-3F6F-E7E9CF319763}"/>
              </a:ext>
            </a:extLst>
          </p:cNvPr>
          <p:cNvSpPr txBox="1"/>
          <p:nvPr/>
        </p:nvSpPr>
        <p:spPr>
          <a:xfrm>
            <a:off x="6161459" y="1287348"/>
            <a:ext cx="531610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ts val="150"/>
              </a:spcBef>
              <a:spcAft>
                <a:spcPts val="150"/>
              </a:spcAft>
              <a:buNone/>
              <a:defRPr b="1" i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查询数据（</a:t>
            </a:r>
            <a:r>
              <a:rPr lang="en-US" altLang="zh-CN" dirty="0"/>
              <a:t>SELECT</a:t>
            </a:r>
            <a:r>
              <a:rPr lang="zh-CN" altLang="en-US" dirty="0"/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500572-D784-D27B-79B8-996461649941}"/>
              </a:ext>
            </a:extLst>
          </p:cNvPr>
          <p:cNvSpPr txBox="1"/>
          <p:nvPr/>
        </p:nvSpPr>
        <p:spPr>
          <a:xfrm>
            <a:off x="6219429" y="1872886"/>
            <a:ext cx="531610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latin typeface="Consolas" panose="020B0609020204030204" pitchFamily="49" charset="0"/>
              </a:defRPr>
            </a:lvl1pPr>
          </a:lstStyle>
          <a:p>
            <a:r>
              <a:rPr lang="zh-CN" altLang="en-US" dirty="0"/>
              <a:t>async function getUsers() {</a:t>
            </a:r>
          </a:p>
          <a:p>
            <a:r>
              <a:rPr lang="zh-CN" altLang="en-US" dirty="0"/>
              <a:t>  try {</a:t>
            </a:r>
          </a:p>
          <a:p>
            <a:r>
              <a:rPr lang="zh-CN" altLang="en-US" dirty="0"/>
              <a:t>    const [rows, fields] = await </a:t>
            </a:r>
            <a:r>
              <a:rPr lang="zh-CN" altLang="en-US" dirty="0">
                <a:highlight>
                  <a:srgbClr val="FFFF00"/>
                </a:highlight>
              </a:rPr>
              <a:t>promisePool</a:t>
            </a:r>
            <a:r>
              <a:rPr lang="zh-CN" altLang="en-US" dirty="0"/>
              <a:t>.query(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>
                <a:solidFill>
                  <a:srgbClr val="FF0000"/>
                </a:solidFill>
              </a:rPr>
              <a:t>'SELECT * FROM users’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/>
              <a:t>);</a:t>
            </a:r>
          </a:p>
          <a:p>
            <a:r>
              <a:rPr lang="zh-CN" altLang="en-US" dirty="0"/>
              <a:t>    console.log(rows);</a:t>
            </a:r>
          </a:p>
          <a:p>
            <a:r>
              <a:rPr lang="zh-CN" altLang="en-US" dirty="0"/>
              <a:t>    return rows;</a:t>
            </a:r>
          </a:p>
          <a:p>
            <a:r>
              <a:rPr lang="zh-CN" altLang="en-US" dirty="0"/>
              <a:t>  } catch (err) {</a:t>
            </a:r>
          </a:p>
          <a:p>
            <a:r>
              <a:rPr lang="zh-CN" altLang="en-US" dirty="0"/>
              <a:t>    console.error('查询出错:', err);</a:t>
            </a:r>
          </a:p>
          <a:p>
            <a:r>
              <a:rPr lang="zh-CN" altLang="en-US" dirty="0"/>
              <a:t>    throw err;</a:t>
            </a:r>
          </a:p>
          <a:p>
            <a:r>
              <a:rPr lang="zh-CN" altLang="en-US" dirty="0"/>
              <a:t>  }</a:t>
            </a:r>
          </a:p>
          <a:p>
            <a:r>
              <a:rPr lang="zh-CN" alt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7150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41A0E-8B65-DF8B-D090-1E76374BE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6940424-6D38-8AD8-12EF-4BF2598451EB}"/>
              </a:ext>
            </a:extLst>
          </p:cNvPr>
          <p:cNvSpPr txBox="1"/>
          <p:nvPr/>
        </p:nvSpPr>
        <p:spPr>
          <a:xfrm>
            <a:off x="900853" y="1267028"/>
            <a:ext cx="470746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插入数据（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INSERT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84D986-0CEE-D455-5AB0-BB0722ED2018}"/>
              </a:ext>
            </a:extLst>
          </p:cNvPr>
          <p:cNvSpPr txBox="1"/>
          <p:nvPr/>
        </p:nvSpPr>
        <p:spPr>
          <a:xfrm>
            <a:off x="900853" y="1776667"/>
            <a:ext cx="477311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</a:rPr>
              <a:t>async function </a:t>
            </a:r>
            <a:r>
              <a:rPr lang="en-US" altLang="zh-CN" sz="1400" dirty="0" err="1">
                <a:latin typeface="Consolas" panose="020B0609020204030204" pitchFamily="49" charset="0"/>
              </a:rPr>
              <a:t>addUser</a:t>
            </a:r>
            <a:r>
              <a:rPr lang="en-US" altLang="zh-CN" sz="1400" dirty="0">
                <a:latin typeface="Consolas" panose="020B0609020204030204" pitchFamily="49" charset="0"/>
              </a:rPr>
              <a:t>(user)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try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const [result] = await </a:t>
            </a:r>
            <a:r>
              <a:rPr lang="en-US" altLang="zh-CN" sz="1400" dirty="0" err="1">
                <a:highlight>
                  <a:srgbClr val="FFFF00"/>
                </a:highlight>
                <a:latin typeface="Consolas" panose="020B0609020204030204" pitchFamily="49" charset="0"/>
              </a:rPr>
              <a:t>promisePool</a:t>
            </a:r>
            <a:r>
              <a:rPr lang="en-US" altLang="zh-CN" sz="1400" dirty="0" err="1">
                <a:latin typeface="Consolas" panose="020B0609020204030204" pitchFamily="49" charset="0"/>
              </a:rPr>
              <a:t>.query</a:t>
            </a:r>
            <a:r>
              <a:rPr lang="en-US" altLang="zh-CN" sz="1400" dirty="0">
                <a:latin typeface="Consolas" panose="020B0609020204030204" pitchFamily="49" charset="0"/>
              </a:rPr>
              <a:t>('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      INSERT INTO users</a:t>
            </a:r>
            <a:b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      (name, email) 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      VALUES (?, ?)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1400" dirty="0">
                <a:latin typeface="Consolas" panose="020B0609020204030204" pitchFamily="49" charset="0"/>
              </a:rPr>
              <a:t>',</a:t>
            </a:r>
            <a:r>
              <a:rPr lang="en-US" altLang="zh-CN" sz="1400" b="1" dirty="0"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400" b="1" dirty="0">
                <a:latin typeface="Consolas" panose="020B0609020204030204" pitchFamily="49" charset="0"/>
              </a:rPr>
              <a:t>      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页面程序中给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个占位符？数据的变量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[user.name, </a:t>
            </a:r>
            <a:r>
              <a:rPr lang="en-US" altLang="zh-CN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user.email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console.log('</a:t>
            </a:r>
            <a:r>
              <a:rPr lang="zh-CN" altLang="en-US" sz="1400" dirty="0">
                <a:latin typeface="Consolas" panose="020B0609020204030204" pitchFamily="49" charset="0"/>
              </a:rPr>
              <a:t>插入</a:t>
            </a:r>
            <a:r>
              <a:rPr lang="en-US" altLang="zh-CN" sz="1400" dirty="0">
                <a:latin typeface="Consolas" panose="020B0609020204030204" pitchFamily="49" charset="0"/>
              </a:rPr>
              <a:t>ID:', </a:t>
            </a:r>
            <a:r>
              <a:rPr lang="en-US" altLang="zh-CN" sz="1400" dirty="0" err="1">
                <a:latin typeface="Consolas" panose="020B0609020204030204" pitchFamily="49" charset="0"/>
              </a:rPr>
              <a:t>result.insertId</a:t>
            </a:r>
            <a:r>
              <a:rPr lang="en-US" altLang="zh-CN" sz="14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return result;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} catch (err)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</a:rPr>
              <a:t>console.error</a:t>
            </a:r>
            <a:r>
              <a:rPr lang="en-US" altLang="zh-CN" sz="1400" dirty="0">
                <a:latin typeface="Consolas" panose="020B0609020204030204" pitchFamily="49" charset="0"/>
              </a:rPr>
              <a:t>('</a:t>
            </a:r>
            <a:r>
              <a:rPr lang="zh-CN" altLang="en-US" sz="1400" dirty="0">
                <a:latin typeface="Consolas" panose="020B0609020204030204" pitchFamily="49" charset="0"/>
              </a:rPr>
              <a:t>插入出错</a:t>
            </a:r>
            <a:r>
              <a:rPr lang="en-US" altLang="zh-CN" sz="1400" dirty="0">
                <a:latin typeface="Consolas" panose="020B0609020204030204" pitchFamily="49" charset="0"/>
              </a:rPr>
              <a:t>:', err);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throw err;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}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}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397DF3-D7A7-2015-39AD-C95A939015AE}"/>
              </a:ext>
            </a:extLst>
          </p:cNvPr>
          <p:cNvSpPr txBox="1"/>
          <p:nvPr/>
        </p:nvSpPr>
        <p:spPr>
          <a:xfrm>
            <a:off x="6518033" y="1267028"/>
            <a:ext cx="456198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ts val="150"/>
              </a:spcBef>
              <a:spcAft>
                <a:spcPts val="150"/>
              </a:spcAft>
              <a:buNone/>
              <a:defRPr b="1" i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更新数据（</a:t>
            </a:r>
            <a:r>
              <a:rPr lang="en-US" altLang="zh-CN" dirty="0"/>
              <a:t>UPDATE</a:t>
            </a:r>
            <a:r>
              <a:rPr lang="zh-CN" altLang="en-US" dirty="0"/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5ADB799-B3CA-B5AD-AA78-44328BFE9C1C}"/>
              </a:ext>
            </a:extLst>
          </p:cNvPr>
          <p:cNvSpPr txBox="1"/>
          <p:nvPr/>
        </p:nvSpPr>
        <p:spPr>
          <a:xfrm>
            <a:off x="6518033" y="1836098"/>
            <a:ext cx="50399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latin typeface="Consolas" panose="020B0609020204030204" pitchFamily="49" charset="0"/>
              </a:defRPr>
            </a:lvl1pPr>
          </a:lstStyle>
          <a:p>
            <a:r>
              <a:rPr lang="en-US" altLang="zh-CN" dirty="0"/>
              <a:t>async function </a:t>
            </a:r>
            <a:r>
              <a:rPr lang="en-US" altLang="zh-CN" dirty="0" err="1"/>
              <a:t>updateUser</a:t>
            </a:r>
            <a:r>
              <a:rPr lang="en-US" altLang="zh-CN" dirty="0"/>
              <a:t>(id, updates) {</a:t>
            </a:r>
          </a:p>
          <a:p>
            <a:r>
              <a:rPr lang="en-US" altLang="zh-CN" dirty="0"/>
              <a:t>  try {</a:t>
            </a:r>
          </a:p>
          <a:p>
            <a:r>
              <a:rPr lang="en-US" altLang="zh-CN" dirty="0"/>
              <a:t>    const [result] = await </a:t>
            </a:r>
            <a:r>
              <a:rPr lang="en-US" altLang="zh-CN" dirty="0" err="1"/>
              <a:t>promisePool.query</a:t>
            </a:r>
            <a:r>
              <a:rPr lang="en-US" altLang="zh-CN" dirty="0"/>
              <a:t>('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  UPDATE users 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  SET name = ?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  , email = ? 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  WHERE id = ?</a:t>
            </a:r>
          </a:p>
          <a:p>
            <a:r>
              <a:rPr lang="en-US" altLang="zh-CN" dirty="0"/>
              <a:t>      ',</a:t>
            </a:r>
            <a:r>
              <a:rPr lang="en-US" altLang="zh-CN" b="1" dirty="0"/>
              <a:t> </a:t>
            </a:r>
          </a:p>
          <a:p>
            <a:r>
              <a:rPr lang="en-US" altLang="zh-CN" b="1" dirty="0"/>
              <a:t>      </a:t>
            </a:r>
            <a:r>
              <a:rPr lang="en-US" altLang="zh-CN" b="1" dirty="0">
                <a:solidFill>
                  <a:srgbClr val="FF0000"/>
                </a:solidFill>
              </a:rPr>
              <a:t>//</a:t>
            </a:r>
            <a:r>
              <a:rPr lang="zh-CN" altLang="en-US" b="1" dirty="0">
                <a:solidFill>
                  <a:srgbClr val="FF0000"/>
                </a:solidFill>
              </a:rPr>
              <a:t>页面程序中给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zh-CN" altLang="en-US" b="1" dirty="0">
                <a:solidFill>
                  <a:srgbClr val="FF0000"/>
                </a:solidFill>
              </a:rPr>
              <a:t>个占位符？数据的变量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  [updates.name, </a:t>
            </a:r>
            <a:r>
              <a:rPr lang="en-US" altLang="zh-CN" dirty="0" err="1">
                <a:solidFill>
                  <a:srgbClr val="FF0000"/>
                </a:solidFill>
              </a:rPr>
              <a:t>updates.email</a:t>
            </a:r>
            <a:r>
              <a:rPr lang="en-US" altLang="zh-CN" dirty="0">
                <a:solidFill>
                  <a:srgbClr val="FF0000"/>
                </a:solidFill>
              </a:rPr>
              <a:t>, id]</a:t>
            </a:r>
          </a:p>
          <a:p>
            <a:r>
              <a:rPr lang="en-US" altLang="zh-CN" dirty="0"/>
              <a:t>    );</a:t>
            </a:r>
          </a:p>
          <a:p>
            <a:r>
              <a:rPr lang="en-US" altLang="zh-CN" dirty="0"/>
              <a:t>    console.log('</a:t>
            </a:r>
            <a:r>
              <a:rPr lang="zh-CN" altLang="en-US" dirty="0"/>
              <a:t>影响行数</a:t>
            </a:r>
            <a:r>
              <a:rPr lang="en-US" altLang="zh-CN" dirty="0"/>
              <a:t>:', </a:t>
            </a:r>
            <a:r>
              <a:rPr lang="en-US" altLang="zh-CN" dirty="0" err="1"/>
              <a:t>result.affectedRows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return result;</a:t>
            </a:r>
          </a:p>
          <a:p>
            <a:r>
              <a:rPr lang="en-US" altLang="zh-CN" dirty="0"/>
              <a:t>  } catch (err) 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console.error</a:t>
            </a:r>
            <a:r>
              <a:rPr lang="en-US" altLang="zh-CN" dirty="0"/>
              <a:t>('</a:t>
            </a:r>
            <a:r>
              <a:rPr lang="zh-CN" altLang="en-US" dirty="0"/>
              <a:t>更新出错</a:t>
            </a:r>
            <a:r>
              <a:rPr lang="en-US" altLang="zh-CN" dirty="0"/>
              <a:t>:', err);</a:t>
            </a:r>
          </a:p>
          <a:p>
            <a:r>
              <a:rPr lang="en-US" altLang="zh-CN" dirty="0"/>
              <a:t>    throw err;</a:t>
            </a:r>
          </a:p>
          <a:p>
            <a:r>
              <a:rPr lang="en-US" altLang="zh-CN" dirty="0"/>
              <a:t>  }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B2A3B229-8F3A-AE7D-1F4F-DDD69AFCAC73}"/>
              </a:ext>
            </a:extLst>
          </p:cNvPr>
          <p:cNvSpPr txBox="1">
            <a:spLocks/>
          </p:cNvSpPr>
          <p:nvPr/>
        </p:nvSpPr>
        <p:spPr>
          <a:xfrm>
            <a:off x="914400" y="428060"/>
            <a:ext cx="4759569" cy="50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示例：</a:t>
            </a:r>
            <a:r>
              <a:rPr lang="en-US" altLang="zh-CN" b="1" dirty="0"/>
              <a:t>Node.js + MySQL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688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5CDA1-3625-9D96-BDE3-CEAE50DB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27BA6D8-7E92-20CF-FA61-E91B02635B43}"/>
              </a:ext>
            </a:extLst>
          </p:cNvPr>
          <p:cNvSpPr txBox="1"/>
          <p:nvPr/>
        </p:nvSpPr>
        <p:spPr>
          <a:xfrm>
            <a:off x="900853" y="1267028"/>
            <a:ext cx="470746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删除数据（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DELETE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E37808-8F81-44F5-78F4-F41307449313}"/>
              </a:ext>
            </a:extLst>
          </p:cNvPr>
          <p:cNvSpPr txBox="1"/>
          <p:nvPr/>
        </p:nvSpPr>
        <p:spPr>
          <a:xfrm>
            <a:off x="900853" y="1776667"/>
            <a:ext cx="51003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</a:rPr>
              <a:t>async function </a:t>
            </a:r>
            <a:r>
              <a:rPr lang="en-US" altLang="zh-CN" sz="1400" dirty="0" err="1">
                <a:latin typeface="Consolas" panose="020B0609020204030204" pitchFamily="49" charset="0"/>
              </a:rPr>
              <a:t>deleteUser</a:t>
            </a:r>
            <a:r>
              <a:rPr lang="en-US" altLang="zh-CN" sz="1400" dirty="0">
                <a:latin typeface="Consolas" panose="020B0609020204030204" pitchFamily="49" charset="0"/>
              </a:rPr>
              <a:t>(id)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try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const [result] = await </a:t>
            </a:r>
            <a:r>
              <a:rPr lang="en-US" altLang="zh-CN" sz="1400" dirty="0" err="1">
                <a:latin typeface="Consolas" panose="020B0609020204030204" pitchFamily="49" charset="0"/>
              </a:rPr>
              <a:t>promisePool.query</a:t>
            </a:r>
            <a:r>
              <a:rPr lang="en-US" altLang="zh-CN" sz="1400" dirty="0">
                <a:latin typeface="Consolas" panose="020B0609020204030204" pitchFamily="49" charset="0"/>
              </a:rPr>
              <a:t>('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DELETE FROM users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      WHERE id = ?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',</a:t>
            </a:r>
            <a:r>
              <a:rPr lang="en-US" altLang="zh-CN" sz="1400" b="1" dirty="0"/>
              <a:t> 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</a:t>
            </a:r>
            <a:r>
              <a:rPr lang="en-US" altLang="zh-CN" sz="1400" dirty="0">
                <a:solidFill>
                  <a:srgbClr val="FF0000"/>
                </a:solidFill>
              </a:rPr>
              <a:t>//</a:t>
            </a:r>
            <a:r>
              <a:rPr lang="zh-CN" altLang="en-US" sz="1400" dirty="0">
                <a:solidFill>
                  <a:srgbClr val="FF0000"/>
                </a:solidFill>
              </a:rPr>
              <a:t>页面程序中给</a:t>
            </a:r>
            <a:r>
              <a:rPr lang="en-US" altLang="zh-CN" sz="1400" dirty="0">
                <a:solidFill>
                  <a:srgbClr val="FF0000"/>
                </a:solidFill>
              </a:rPr>
              <a:t>1</a:t>
            </a:r>
            <a:r>
              <a:rPr lang="zh-CN" altLang="en-US" sz="1400" dirty="0">
                <a:solidFill>
                  <a:srgbClr val="FF0000"/>
                </a:solidFill>
              </a:rPr>
              <a:t>个占位符？数据的变量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      [id]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console.log('</a:t>
            </a:r>
            <a:r>
              <a:rPr lang="zh-CN" altLang="en-US" sz="1400" dirty="0">
                <a:latin typeface="Consolas" panose="020B0609020204030204" pitchFamily="49" charset="0"/>
              </a:rPr>
              <a:t>删除行数</a:t>
            </a:r>
            <a:r>
              <a:rPr lang="en-US" altLang="zh-CN" sz="1400" dirty="0">
                <a:latin typeface="Consolas" panose="020B0609020204030204" pitchFamily="49" charset="0"/>
              </a:rPr>
              <a:t>:', </a:t>
            </a:r>
            <a:r>
              <a:rPr lang="en-US" altLang="zh-CN" sz="1400" dirty="0" err="1">
                <a:latin typeface="Consolas" panose="020B0609020204030204" pitchFamily="49" charset="0"/>
              </a:rPr>
              <a:t>result.affectedRows</a:t>
            </a:r>
            <a:r>
              <a:rPr lang="en-US" altLang="zh-CN" sz="14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return result;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} catch (err)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</a:rPr>
              <a:t>console.error</a:t>
            </a:r>
            <a:r>
              <a:rPr lang="en-US" altLang="zh-CN" sz="1400" dirty="0">
                <a:latin typeface="Consolas" panose="020B0609020204030204" pitchFamily="49" charset="0"/>
              </a:rPr>
              <a:t>('</a:t>
            </a:r>
            <a:r>
              <a:rPr lang="zh-CN" altLang="en-US" sz="1400" dirty="0">
                <a:latin typeface="Consolas" panose="020B0609020204030204" pitchFamily="49" charset="0"/>
              </a:rPr>
              <a:t>删除出错</a:t>
            </a:r>
            <a:r>
              <a:rPr lang="en-US" altLang="zh-CN" sz="1400" dirty="0">
                <a:latin typeface="Consolas" panose="020B0609020204030204" pitchFamily="49" charset="0"/>
              </a:rPr>
              <a:t>:', err);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throw err;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}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}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FC3A5D-9E49-C5CE-0FBE-7827E7CC8888}"/>
              </a:ext>
            </a:extLst>
          </p:cNvPr>
          <p:cNvSpPr txBox="1"/>
          <p:nvPr/>
        </p:nvSpPr>
        <p:spPr>
          <a:xfrm>
            <a:off x="6518033" y="1267028"/>
            <a:ext cx="456198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ts val="150"/>
              </a:spcBef>
              <a:spcAft>
                <a:spcPts val="150"/>
              </a:spcAft>
              <a:buNone/>
              <a:defRPr b="1" i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预处理语句</a:t>
            </a:r>
            <a:r>
              <a:rPr lang="en-US" altLang="zh-CN" dirty="0"/>
              <a:t>【</a:t>
            </a:r>
            <a:r>
              <a:rPr lang="zh-CN" altLang="en-US" dirty="0"/>
              <a:t>需要用这个技术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8DA5A05-641D-EC0B-F8D5-11EFE54EB694}"/>
              </a:ext>
            </a:extLst>
          </p:cNvPr>
          <p:cNvSpPr txBox="1"/>
          <p:nvPr/>
        </p:nvSpPr>
        <p:spPr>
          <a:xfrm>
            <a:off x="6518033" y="1836098"/>
            <a:ext cx="503990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latin typeface="Consolas" panose="020B0609020204030204" pitchFamily="49" charset="0"/>
              </a:defRPr>
            </a:lvl1pPr>
          </a:lstStyle>
          <a:p>
            <a:r>
              <a:rPr lang="en-US" altLang="zh-CN" dirty="0"/>
              <a:t>async function </a:t>
            </a:r>
            <a:r>
              <a:rPr lang="en-US" altLang="zh-CN" dirty="0" err="1"/>
              <a:t>getUserById</a:t>
            </a:r>
            <a:r>
              <a:rPr lang="en-US" altLang="zh-CN" dirty="0"/>
              <a:t>(id) {</a:t>
            </a:r>
          </a:p>
          <a:p>
            <a:r>
              <a:rPr lang="en-US" altLang="zh-CN" dirty="0"/>
              <a:t>  try {</a:t>
            </a:r>
          </a:p>
          <a:p>
            <a:r>
              <a:rPr lang="en-US" altLang="zh-CN" dirty="0"/>
              <a:t>    // </a:t>
            </a:r>
            <a:r>
              <a:rPr lang="zh-CN" altLang="en-US" dirty="0"/>
              <a:t>准备预处理语句</a:t>
            </a:r>
          </a:p>
          <a:p>
            <a:r>
              <a:rPr lang="zh-CN" altLang="en-US" dirty="0"/>
              <a:t>    </a:t>
            </a:r>
            <a:r>
              <a:rPr lang="en-US" altLang="zh-CN" b="1" dirty="0"/>
              <a:t>const [rows] </a:t>
            </a:r>
            <a:r>
              <a:rPr lang="en-US" altLang="zh-CN" dirty="0"/>
              <a:t>= await </a:t>
            </a:r>
            <a:r>
              <a:rPr lang="en-US" altLang="zh-CN" dirty="0" err="1"/>
              <a:t>promisePool.execute</a:t>
            </a:r>
            <a:r>
              <a:rPr lang="en-US" altLang="zh-CN" dirty="0"/>
              <a:t>('</a:t>
            </a:r>
          </a:p>
          <a:p>
            <a:r>
              <a:rPr lang="en-US" altLang="zh-CN" dirty="0"/>
              <a:t>      </a:t>
            </a:r>
            <a:r>
              <a:rPr lang="en-US" altLang="zh-CN" dirty="0">
                <a:solidFill>
                  <a:srgbClr val="FF0000"/>
                </a:solidFill>
              </a:rPr>
              <a:t>SELECT * 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  FROM users 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  WHERE id = ?</a:t>
            </a:r>
          </a:p>
          <a:p>
            <a:r>
              <a:rPr lang="en-US" altLang="zh-CN" dirty="0"/>
              <a:t>      ',</a:t>
            </a:r>
          </a:p>
          <a:p>
            <a:r>
              <a:rPr lang="en-US" altLang="zh-CN" dirty="0"/>
              <a:t>      [id]</a:t>
            </a:r>
          </a:p>
          <a:p>
            <a:r>
              <a:rPr lang="en-US" altLang="zh-CN" dirty="0"/>
              <a:t>    );</a:t>
            </a:r>
          </a:p>
          <a:p>
            <a:r>
              <a:rPr lang="en-US" altLang="zh-CN" dirty="0"/>
              <a:t>    </a:t>
            </a:r>
            <a:r>
              <a:rPr lang="en-US" altLang="zh-CN" b="1" dirty="0"/>
              <a:t>return rows[0];</a:t>
            </a:r>
          </a:p>
          <a:p>
            <a:r>
              <a:rPr lang="en-US" altLang="zh-CN" dirty="0"/>
              <a:t>  } catch (err) 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console.error</a:t>
            </a:r>
            <a:r>
              <a:rPr lang="en-US" altLang="zh-CN" dirty="0"/>
              <a:t>('</a:t>
            </a:r>
            <a:r>
              <a:rPr lang="zh-CN" altLang="en-US" dirty="0"/>
              <a:t>查询出错</a:t>
            </a:r>
            <a:r>
              <a:rPr lang="en-US" altLang="zh-CN" dirty="0"/>
              <a:t>:', err);</a:t>
            </a:r>
          </a:p>
          <a:p>
            <a:r>
              <a:rPr lang="en-US" altLang="zh-CN" dirty="0"/>
              <a:t>    throw err;</a:t>
            </a:r>
          </a:p>
          <a:p>
            <a:r>
              <a:rPr lang="en-US" altLang="zh-CN" dirty="0"/>
              <a:t>  }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129CF096-A6CF-1042-CECE-FE76C9794483}"/>
              </a:ext>
            </a:extLst>
          </p:cNvPr>
          <p:cNvSpPr txBox="1">
            <a:spLocks/>
          </p:cNvSpPr>
          <p:nvPr/>
        </p:nvSpPr>
        <p:spPr>
          <a:xfrm>
            <a:off x="914400" y="428060"/>
            <a:ext cx="4759569" cy="50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示例：</a:t>
            </a:r>
            <a:r>
              <a:rPr lang="en-US" altLang="zh-CN" b="1" dirty="0"/>
              <a:t>Node.js + MySQL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81487E-3A89-4D09-0938-C5880963F9ED}"/>
              </a:ext>
            </a:extLst>
          </p:cNvPr>
          <p:cNvSpPr txBox="1"/>
          <p:nvPr/>
        </p:nvSpPr>
        <p:spPr>
          <a:xfrm>
            <a:off x="6518033" y="5454841"/>
            <a:ext cx="4561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预处理语句：提高性能</a:t>
            </a:r>
            <a:r>
              <a:rPr lang="zh-CN" altLang="en-US" dirty="0">
                <a:solidFill>
                  <a:srgbClr val="333333"/>
                </a:solidFill>
                <a:latin typeface="-apple-system"/>
              </a:rPr>
              <a:t>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防止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SQL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注入。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3544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CE7A-92A0-2676-44FB-D1961E9F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3">
            <a:extLst>
              <a:ext uri="{FF2B5EF4-FFF2-40B4-BE49-F238E27FC236}">
                <a16:creationId xmlns:a16="http://schemas.microsoft.com/office/drawing/2014/main" id="{68C13AF3-2973-1218-EF8B-A1BCE5B6141D}"/>
              </a:ext>
            </a:extLst>
          </p:cNvPr>
          <p:cNvSpPr txBox="1">
            <a:spLocks/>
          </p:cNvSpPr>
          <p:nvPr/>
        </p:nvSpPr>
        <p:spPr>
          <a:xfrm>
            <a:off x="914400" y="428060"/>
            <a:ext cx="4759569" cy="50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示例：</a:t>
            </a:r>
            <a:r>
              <a:rPr lang="en-US" altLang="zh-CN" b="1" dirty="0">
                <a:solidFill>
                  <a:srgbClr val="FF0000"/>
                </a:solidFill>
              </a:rPr>
              <a:t>PHP + MySQL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453081-429C-50BE-6719-366FF04FC017}"/>
              </a:ext>
            </a:extLst>
          </p:cNvPr>
          <p:cNvSpPr txBox="1"/>
          <p:nvPr/>
        </p:nvSpPr>
        <p:spPr>
          <a:xfrm>
            <a:off x="5380539" y="496370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PHP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是一种流行的服务器端脚本语言，特别适合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Web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开发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4F3FDA-61BF-E12C-3959-FCA3873EA416}"/>
              </a:ext>
            </a:extLst>
          </p:cNvPr>
          <p:cNvSpPr txBox="1"/>
          <p:nvPr/>
        </p:nvSpPr>
        <p:spPr>
          <a:xfrm>
            <a:off x="914400" y="1287348"/>
            <a:ext cx="370669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PHP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程序中，建立数据库连接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9801F4-BF1C-3620-15F5-0E86C3324DFC}"/>
              </a:ext>
            </a:extLst>
          </p:cNvPr>
          <p:cNvSpPr txBox="1"/>
          <p:nvPr/>
        </p:nvSpPr>
        <p:spPr>
          <a:xfrm>
            <a:off x="914399" y="1796987"/>
            <a:ext cx="877146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</a:rPr>
              <a:t>&lt;?</a:t>
            </a:r>
            <a:r>
              <a:rPr lang="en-US" altLang="zh-CN" sz="1400" dirty="0" err="1">
                <a:latin typeface="Consolas" panose="020B0609020204030204" pitchFamily="49" charset="0"/>
              </a:rPr>
              <a:t>php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try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$conn = new PDO("</a:t>
            </a:r>
            <a:r>
              <a:rPr lang="en-US" altLang="zh-CN" sz="1400" dirty="0" err="1">
                <a:latin typeface="Consolas" panose="020B0609020204030204" pitchFamily="49" charset="0"/>
              </a:rPr>
              <a:t>mysql:host</a:t>
            </a:r>
            <a:r>
              <a:rPr lang="en-US" altLang="zh-CN" sz="1400" dirty="0">
                <a:latin typeface="Consolas" panose="020B0609020204030204" pitchFamily="49" charset="0"/>
              </a:rPr>
              <a:t>=$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servername</a:t>
            </a:r>
            <a:r>
              <a:rPr lang="en-US" altLang="zh-CN" sz="1400" dirty="0" err="1">
                <a:latin typeface="Consolas" panose="020B0609020204030204" pitchFamily="49" charset="0"/>
              </a:rPr>
              <a:t>;dbname</a:t>
            </a:r>
            <a:r>
              <a:rPr lang="en-US" altLang="zh-CN" sz="1400" dirty="0">
                <a:latin typeface="Consolas" panose="020B0609020204030204" pitchFamily="49" charset="0"/>
              </a:rPr>
              <a:t>=$</a:t>
            </a:r>
            <a:r>
              <a:rPr lang="en-US" altLang="zh-CN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dbname</a:t>
            </a:r>
            <a:r>
              <a:rPr lang="en-US" altLang="zh-CN" sz="1400" dirty="0">
                <a:latin typeface="Consolas" panose="020B0609020204030204" pitchFamily="49" charset="0"/>
              </a:rPr>
              <a:t>", $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username</a:t>
            </a:r>
            <a:r>
              <a:rPr lang="en-US" altLang="zh-CN" sz="1400" dirty="0">
                <a:latin typeface="Consolas" panose="020B0609020204030204" pitchFamily="49" charset="0"/>
              </a:rPr>
              <a:t>, $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password</a:t>
            </a:r>
            <a:r>
              <a:rPr lang="en-US" altLang="zh-CN" sz="14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// </a:t>
            </a:r>
            <a:r>
              <a:rPr lang="zh-CN" altLang="en-US" sz="1400" dirty="0">
                <a:latin typeface="Consolas" panose="020B0609020204030204" pitchFamily="49" charset="0"/>
              </a:rPr>
              <a:t>设置 </a:t>
            </a:r>
            <a:r>
              <a:rPr lang="en-US" altLang="zh-CN" sz="1400" dirty="0">
                <a:latin typeface="Consolas" panose="020B0609020204030204" pitchFamily="49" charset="0"/>
              </a:rPr>
              <a:t>PDO </a:t>
            </a:r>
            <a:r>
              <a:rPr lang="zh-CN" altLang="en-US" sz="1400" dirty="0">
                <a:latin typeface="Consolas" panose="020B0609020204030204" pitchFamily="49" charset="0"/>
              </a:rPr>
              <a:t>错误模式为异常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latin typeface="Consolas" panose="020B0609020204030204" pitchFamily="49" charset="0"/>
              </a:rPr>
              <a:t>$conn-&gt;</a:t>
            </a:r>
            <a:r>
              <a:rPr lang="en-US" altLang="zh-CN" sz="1400" dirty="0" err="1">
                <a:latin typeface="Consolas" panose="020B0609020204030204" pitchFamily="49" charset="0"/>
              </a:rPr>
              <a:t>setAttribute</a:t>
            </a:r>
            <a:r>
              <a:rPr lang="en-US" altLang="zh-CN" sz="1400" dirty="0">
                <a:latin typeface="Consolas" panose="020B0609020204030204" pitchFamily="49" charset="0"/>
              </a:rPr>
              <a:t>(PDO::ATTR_ERRMODE, PDO::ERRMODE_EXCEPTION);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echo "</a:t>
            </a:r>
            <a:r>
              <a:rPr lang="zh-CN" altLang="en-US" sz="1400" dirty="0">
                <a:latin typeface="Consolas" panose="020B0609020204030204" pitchFamily="49" charset="0"/>
              </a:rPr>
              <a:t>连接成功</a:t>
            </a:r>
            <a:r>
              <a:rPr lang="en-US" altLang="zh-CN" sz="1400" dirty="0">
                <a:latin typeface="Consolas" panose="020B0609020204030204" pitchFamily="49" charset="0"/>
              </a:rPr>
              <a:t>"; 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catch(</a:t>
            </a:r>
            <a:r>
              <a:rPr lang="en-US" altLang="zh-CN" sz="1400" dirty="0" err="1">
                <a:latin typeface="Consolas" panose="020B0609020204030204" pitchFamily="49" charset="0"/>
              </a:rPr>
              <a:t>PDOException</a:t>
            </a:r>
            <a:r>
              <a:rPr lang="en-US" altLang="zh-CN" sz="1400" dirty="0">
                <a:latin typeface="Consolas" panose="020B0609020204030204" pitchFamily="49" charset="0"/>
              </a:rPr>
              <a:t> $e)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echo "</a:t>
            </a:r>
            <a:r>
              <a:rPr lang="zh-CN" altLang="en-US" sz="1400" dirty="0">
                <a:latin typeface="Consolas" panose="020B0609020204030204" pitchFamily="49" charset="0"/>
              </a:rPr>
              <a:t>连接失败</a:t>
            </a:r>
            <a:r>
              <a:rPr lang="en-US" altLang="zh-CN" sz="1400" dirty="0">
                <a:latin typeface="Consolas" panose="020B0609020204030204" pitchFamily="49" charset="0"/>
              </a:rPr>
              <a:t>: " . $e-&gt;</a:t>
            </a:r>
            <a:r>
              <a:rPr lang="en-US" altLang="zh-CN" sz="1400" dirty="0" err="1">
                <a:latin typeface="Consolas" panose="020B0609020204030204" pitchFamily="49" charset="0"/>
              </a:rPr>
              <a:t>getMessage</a:t>
            </a:r>
            <a:r>
              <a:rPr lang="en-US" altLang="zh-CN" sz="1400" dirty="0"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?&gt;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7B050F-190F-ABDA-9A44-F21036EC5499}"/>
              </a:ext>
            </a:extLst>
          </p:cNvPr>
          <p:cNvSpPr txBox="1"/>
          <p:nvPr/>
        </p:nvSpPr>
        <p:spPr>
          <a:xfrm>
            <a:off x="5608320" y="410651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latin typeface="Consolas" panose="020B0609020204030204" pitchFamily="49" charset="0"/>
              </a:defRPr>
            </a:lvl1pPr>
          </a:lstStyle>
          <a:p>
            <a:r>
              <a:rPr lang="zh-CN" altLang="en-US" dirty="0"/>
              <a:t>$stmt = $conn-&gt;prepare("</a:t>
            </a:r>
            <a:r>
              <a:rPr lang="zh-CN" altLang="en-US" dirty="0">
                <a:solidFill>
                  <a:srgbClr val="FF0000"/>
                </a:solidFill>
              </a:rPr>
              <a:t>SELECT id, name, email FROM users</a:t>
            </a:r>
            <a:r>
              <a:rPr lang="zh-CN" altLang="en-US" dirty="0"/>
              <a:t>"); </a:t>
            </a:r>
          </a:p>
          <a:p>
            <a:r>
              <a:rPr lang="zh-CN" altLang="en-US" dirty="0"/>
              <a:t>$stmt-&gt;execute();</a:t>
            </a:r>
          </a:p>
          <a:p>
            <a:endParaRPr lang="zh-CN" altLang="en-US" dirty="0"/>
          </a:p>
          <a:p>
            <a:r>
              <a:rPr lang="zh-CN" altLang="en-US" dirty="0"/>
              <a:t>// 设置结果集为关联数组</a:t>
            </a:r>
          </a:p>
          <a:p>
            <a:r>
              <a:rPr lang="zh-CN" altLang="en-US" dirty="0"/>
              <a:t>$result = $stmt-&gt;setFetchMode(PDO::FETCH_ASSOC); </a:t>
            </a:r>
          </a:p>
          <a:p>
            <a:r>
              <a:rPr lang="zh-CN" altLang="en-US" dirty="0"/>
              <a:t>foreach($stmt-&gt;fetchAll() as $row) {</a:t>
            </a:r>
          </a:p>
          <a:p>
            <a:r>
              <a:rPr lang="zh-CN" altLang="en-US" dirty="0"/>
              <a:t>    echo "id: " . $row["id"]. " - Name: " . $row["name"]. " - Email: " . $row["email"]. "&lt;br&gt;";</a:t>
            </a:r>
          </a:p>
          <a:p>
            <a:r>
              <a:rPr lang="zh-CN" altLang="en-US" dirty="0"/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DF6D26-F94E-F768-0046-5E55A880451D}"/>
              </a:ext>
            </a:extLst>
          </p:cNvPr>
          <p:cNvSpPr txBox="1"/>
          <p:nvPr/>
        </p:nvSpPr>
        <p:spPr>
          <a:xfrm>
            <a:off x="5673969" y="3556415"/>
            <a:ext cx="588133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查询用户数据，把用户数据绑定给网页中的对象数组上</a:t>
            </a:r>
          </a:p>
        </p:txBody>
      </p:sp>
    </p:spTree>
    <p:extLst>
      <p:ext uri="{BB962C8B-B14F-4D97-AF65-F5344CB8AC3E}">
        <p14:creationId xmlns:p14="http://schemas.microsoft.com/office/powerpoint/2010/main" val="1169458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F9703-594D-CE5B-5297-E6B3C5F18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3">
            <a:extLst>
              <a:ext uri="{FF2B5EF4-FFF2-40B4-BE49-F238E27FC236}">
                <a16:creationId xmlns:a16="http://schemas.microsoft.com/office/drawing/2014/main" id="{CE3572ED-0484-459D-570A-63F90D802037}"/>
              </a:ext>
            </a:extLst>
          </p:cNvPr>
          <p:cNvSpPr txBox="1">
            <a:spLocks/>
          </p:cNvSpPr>
          <p:nvPr/>
        </p:nvSpPr>
        <p:spPr>
          <a:xfrm>
            <a:off x="914400" y="428060"/>
            <a:ext cx="4759569" cy="50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示例：</a:t>
            </a:r>
            <a:r>
              <a:rPr lang="en-US" altLang="zh-CN" b="1" dirty="0">
                <a:solidFill>
                  <a:srgbClr val="FF0000"/>
                </a:solidFill>
              </a:rPr>
              <a:t>Python + MySQL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6F44BD-B821-5216-FD0B-44E66D01E7E5}"/>
              </a:ext>
            </a:extLst>
          </p:cNvPr>
          <p:cNvSpPr txBox="1"/>
          <p:nvPr/>
        </p:nvSpPr>
        <p:spPr>
          <a:xfrm>
            <a:off x="5380539" y="496370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Python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是当今最受欢迎的编程语言之一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1C3E28-3A9A-62A9-23A7-8F79FA1D6ADC}"/>
              </a:ext>
            </a:extLst>
          </p:cNvPr>
          <p:cNvSpPr txBox="1"/>
          <p:nvPr/>
        </p:nvSpPr>
        <p:spPr>
          <a:xfrm>
            <a:off x="914400" y="1287348"/>
            <a:ext cx="370669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程序中，建立数据库连接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852B7E-E773-DB51-FC70-B3D5302FB190}"/>
              </a:ext>
            </a:extLst>
          </p:cNvPr>
          <p:cNvSpPr txBox="1"/>
          <p:nvPr/>
        </p:nvSpPr>
        <p:spPr>
          <a:xfrm>
            <a:off x="914399" y="1796987"/>
            <a:ext cx="370669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</a:rPr>
              <a:t>import </a:t>
            </a:r>
            <a:r>
              <a:rPr lang="en-US" altLang="zh-CN" sz="1400" dirty="0" err="1">
                <a:latin typeface="Consolas" panose="020B0609020204030204" pitchFamily="49" charset="0"/>
              </a:rPr>
              <a:t>mysql.connector</a:t>
            </a:r>
            <a:endParaRPr lang="en-US" altLang="zh-CN" sz="1400" dirty="0">
              <a:latin typeface="Consolas" panose="020B0609020204030204" pitchFamily="49" charset="0"/>
            </a:endParaRPr>
          </a:p>
          <a:p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latin typeface="Consolas" panose="020B0609020204030204" pitchFamily="49" charset="0"/>
              </a:rPr>
              <a:t>创建数据库连接</a:t>
            </a:r>
          </a:p>
          <a:p>
            <a:r>
              <a:rPr lang="en-US" altLang="zh-CN" sz="1400" dirty="0" err="1">
                <a:latin typeface="Consolas" panose="020B0609020204030204" pitchFamily="49" charset="0"/>
              </a:rPr>
              <a:t>db</a:t>
            </a:r>
            <a:r>
              <a:rPr lang="en-US" altLang="zh-CN" sz="1400" dirty="0"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latin typeface="Consolas" panose="020B0609020204030204" pitchFamily="49" charset="0"/>
              </a:rPr>
              <a:t>mysql.connector.connect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host="localhost",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user="</a:t>
            </a:r>
            <a:r>
              <a:rPr lang="en-US" altLang="zh-CN" sz="1400" dirty="0" err="1">
                <a:latin typeface="Consolas" panose="020B0609020204030204" pitchFamily="49" charset="0"/>
              </a:rPr>
              <a:t>yourusername</a:t>
            </a:r>
            <a:r>
              <a:rPr lang="en-US" altLang="zh-CN" sz="1400" dirty="0">
                <a:latin typeface="Consolas" panose="020B0609020204030204" pitchFamily="49" charset="0"/>
              </a:rPr>
              <a:t>",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password="</a:t>
            </a:r>
            <a:r>
              <a:rPr lang="en-US" altLang="zh-CN" sz="1400" dirty="0" err="1">
                <a:latin typeface="Consolas" panose="020B0609020204030204" pitchFamily="49" charset="0"/>
              </a:rPr>
              <a:t>yourpassword</a:t>
            </a:r>
            <a:r>
              <a:rPr lang="en-US" altLang="zh-CN" sz="1400" dirty="0">
                <a:latin typeface="Consolas" panose="020B0609020204030204" pitchFamily="49" charset="0"/>
              </a:rPr>
              <a:t>",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database="</a:t>
            </a:r>
            <a:r>
              <a:rPr lang="en-US" altLang="zh-CN" sz="1400" dirty="0" err="1">
                <a:latin typeface="Consolas" panose="020B0609020204030204" pitchFamily="49" charset="0"/>
              </a:rPr>
              <a:t>yourdatabase</a:t>
            </a:r>
            <a:r>
              <a:rPr lang="en-US" altLang="zh-CN" sz="1400" dirty="0">
                <a:latin typeface="Consolas" panose="020B0609020204030204" pitchFamily="49" charset="0"/>
              </a:rPr>
              <a:t>"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)</a:t>
            </a:r>
          </a:p>
          <a:p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print("</a:t>
            </a:r>
            <a:r>
              <a:rPr lang="zh-CN" altLang="en-US" sz="1400" dirty="0">
                <a:latin typeface="Consolas" panose="020B0609020204030204" pitchFamily="49" charset="0"/>
              </a:rPr>
              <a:t>数据库连接成功</a:t>
            </a:r>
            <a:r>
              <a:rPr lang="en-US" altLang="zh-CN" sz="1400" dirty="0">
                <a:latin typeface="Consolas" panose="020B0609020204030204" pitchFamily="49" charset="0"/>
              </a:rPr>
              <a:t>!")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36C7CD-D164-32CA-6F82-D2E0F2DCDCB9}"/>
              </a:ext>
            </a:extLst>
          </p:cNvPr>
          <p:cNvSpPr txBox="1"/>
          <p:nvPr/>
        </p:nvSpPr>
        <p:spPr>
          <a:xfrm>
            <a:off x="6096000" y="1851174"/>
            <a:ext cx="35331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latin typeface="Consolas" panose="020B0609020204030204" pitchFamily="49" charset="0"/>
              </a:defRPr>
            </a:lvl1pPr>
          </a:lstStyle>
          <a:p>
            <a:r>
              <a:rPr lang="en-US" altLang="zh-CN" dirty="0"/>
              <a:t>cursor = </a:t>
            </a:r>
            <a:r>
              <a:rPr lang="en-US" altLang="zh-CN" dirty="0" err="1"/>
              <a:t>db.cursor</a:t>
            </a:r>
            <a:r>
              <a:rPr lang="en-US" altLang="zh-CN" dirty="0"/>
              <a:t>()</a:t>
            </a:r>
          </a:p>
          <a:p>
            <a:endParaRPr lang="en-US" altLang="zh-CN" dirty="0"/>
          </a:p>
          <a:p>
            <a:r>
              <a:rPr lang="en-US" altLang="zh-CN" dirty="0" err="1"/>
              <a:t>cursor.execute</a:t>
            </a:r>
            <a:r>
              <a:rPr lang="en-US" altLang="zh-CN" dirty="0"/>
              <a:t>("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SELECT * 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FROM </a:t>
            </a:r>
            <a:r>
              <a:rPr lang="en-US" altLang="zh-CN" dirty="0" err="1">
                <a:solidFill>
                  <a:srgbClr val="FF0000"/>
                </a:solidFill>
              </a:rPr>
              <a:t>your_table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")</a:t>
            </a:r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获取所有结果</a:t>
            </a:r>
          </a:p>
          <a:p>
            <a:r>
              <a:rPr lang="en-US" altLang="zh-CN" dirty="0"/>
              <a:t>results = </a:t>
            </a:r>
            <a:r>
              <a:rPr lang="en-US" altLang="zh-CN" dirty="0" err="1"/>
              <a:t>cursor.fetchall</a:t>
            </a:r>
            <a:r>
              <a:rPr lang="en-US" altLang="zh-CN" dirty="0"/>
              <a:t>()</a:t>
            </a:r>
          </a:p>
          <a:p>
            <a:endParaRPr lang="en-US" altLang="zh-CN" dirty="0"/>
          </a:p>
          <a:p>
            <a:r>
              <a:rPr lang="en-US" altLang="zh-CN" dirty="0"/>
              <a:t>for row in results:</a:t>
            </a:r>
          </a:p>
          <a:p>
            <a:r>
              <a:rPr lang="en-US" altLang="zh-CN" dirty="0"/>
              <a:t>    print(row)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0DB388-3CFC-70F7-3614-F0F698FE723D}"/>
              </a:ext>
            </a:extLst>
          </p:cNvPr>
          <p:cNvSpPr txBox="1"/>
          <p:nvPr/>
        </p:nvSpPr>
        <p:spPr>
          <a:xfrm>
            <a:off x="6096000" y="1341535"/>
            <a:ext cx="35331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查询数据，把数据打印在屏幕上</a:t>
            </a:r>
          </a:p>
        </p:txBody>
      </p:sp>
    </p:spTree>
    <p:extLst>
      <p:ext uri="{BB962C8B-B14F-4D97-AF65-F5344CB8AC3E}">
        <p14:creationId xmlns:p14="http://schemas.microsoft.com/office/powerpoint/2010/main" val="771209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45722-3FFD-E73F-67CA-31696055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3">
            <a:extLst>
              <a:ext uri="{FF2B5EF4-FFF2-40B4-BE49-F238E27FC236}">
                <a16:creationId xmlns:a16="http://schemas.microsoft.com/office/drawing/2014/main" id="{D3BE6189-B63D-CAD9-E283-22DFFE1193FB}"/>
              </a:ext>
            </a:extLst>
          </p:cNvPr>
          <p:cNvSpPr txBox="1">
            <a:spLocks/>
          </p:cNvSpPr>
          <p:nvPr/>
        </p:nvSpPr>
        <p:spPr>
          <a:xfrm>
            <a:off x="914400" y="428060"/>
            <a:ext cx="4759569" cy="50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示例：</a:t>
            </a:r>
            <a:r>
              <a:rPr lang="en-US" altLang="zh-CN" b="1" dirty="0">
                <a:solidFill>
                  <a:srgbClr val="FF0000"/>
                </a:solidFill>
              </a:rPr>
              <a:t>Java + MySQL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D8A635-771D-9F9B-723D-59482C86D4DE}"/>
              </a:ext>
            </a:extLst>
          </p:cNvPr>
          <p:cNvSpPr txBox="1"/>
          <p:nvPr/>
        </p:nvSpPr>
        <p:spPr>
          <a:xfrm>
            <a:off x="5380539" y="496370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Java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是企业级应用开发中最常用的编程语言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18CBA3-CB39-4048-8566-F2FE79FBA919}"/>
              </a:ext>
            </a:extLst>
          </p:cNvPr>
          <p:cNvSpPr txBox="1"/>
          <p:nvPr/>
        </p:nvSpPr>
        <p:spPr>
          <a:xfrm>
            <a:off x="914400" y="1287348"/>
            <a:ext cx="370669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Java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程序中，建立数据库连接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447389-3BCA-2548-ADF7-9835519A87B6}"/>
              </a:ext>
            </a:extLst>
          </p:cNvPr>
          <p:cNvSpPr txBox="1"/>
          <p:nvPr/>
        </p:nvSpPr>
        <p:spPr>
          <a:xfrm>
            <a:off x="914399" y="1796987"/>
            <a:ext cx="936752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</a:rPr>
              <a:t>String </a:t>
            </a:r>
            <a:r>
              <a:rPr lang="en-US" altLang="zh-CN" sz="1400" dirty="0" err="1">
                <a:latin typeface="Consolas" panose="020B0609020204030204" pitchFamily="49" charset="0"/>
              </a:rPr>
              <a:t>url</a:t>
            </a:r>
            <a:r>
              <a:rPr lang="en-US" altLang="zh-CN" sz="1400" dirty="0">
                <a:latin typeface="Consolas" panose="020B0609020204030204" pitchFamily="49" charset="0"/>
              </a:rPr>
              <a:t> = "</a:t>
            </a:r>
            <a:r>
              <a:rPr lang="en-US" altLang="zh-CN" sz="1400" dirty="0" err="1">
                <a:latin typeface="Consolas" panose="020B0609020204030204" pitchFamily="49" charset="0"/>
              </a:rPr>
              <a:t>jdbc:mysql</a:t>
            </a:r>
            <a:r>
              <a:rPr lang="en-US" altLang="zh-CN" sz="1400" dirty="0">
                <a:latin typeface="Consolas" panose="020B0609020204030204" pitchFamily="49" charset="0"/>
              </a:rPr>
              <a:t>://localhost:3306/</a:t>
            </a:r>
            <a:r>
              <a:rPr lang="zh-CN" altLang="en-US" sz="1400" dirty="0">
                <a:latin typeface="Consolas" panose="020B0609020204030204" pitchFamily="49" charset="0"/>
              </a:rPr>
              <a:t>你的数据库名</a:t>
            </a:r>
            <a:r>
              <a:rPr lang="en-US" altLang="zh-CN" sz="1400" dirty="0">
                <a:latin typeface="Consolas" panose="020B0609020204030204" pitchFamily="49" charset="0"/>
              </a:rPr>
              <a:t>?</a:t>
            </a:r>
            <a:r>
              <a:rPr lang="en-US" altLang="zh-CN" sz="1400" dirty="0" err="1">
                <a:latin typeface="Consolas" panose="020B0609020204030204" pitchFamily="49" charset="0"/>
              </a:rPr>
              <a:t>useSSL</a:t>
            </a:r>
            <a:r>
              <a:rPr lang="en-US" altLang="zh-CN" sz="1400" dirty="0">
                <a:latin typeface="Consolas" panose="020B0609020204030204" pitchFamily="49" charset="0"/>
              </a:rPr>
              <a:t>=</a:t>
            </a:r>
            <a:r>
              <a:rPr lang="en-US" altLang="zh-CN" sz="1400" dirty="0" err="1">
                <a:latin typeface="Consolas" panose="020B0609020204030204" pitchFamily="49" charset="0"/>
              </a:rPr>
              <a:t>false&amp;serverTimezone</a:t>
            </a:r>
            <a:r>
              <a:rPr lang="en-US" altLang="zh-CN" sz="1400" dirty="0">
                <a:latin typeface="Consolas" panose="020B0609020204030204" pitchFamily="49" charset="0"/>
              </a:rPr>
              <a:t>=UTC";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String username = "</a:t>
            </a:r>
            <a:r>
              <a:rPr lang="zh-CN" altLang="en-US" sz="1400" dirty="0">
                <a:latin typeface="Consolas" panose="020B0609020204030204" pitchFamily="49" charset="0"/>
              </a:rPr>
              <a:t>你的用户名</a:t>
            </a:r>
            <a:r>
              <a:rPr lang="en-US" altLang="zh-CN" sz="1400" dirty="0">
                <a:latin typeface="Consolas" panose="020B0609020204030204" pitchFamily="49" charset="0"/>
              </a:rPr>
              <a:t>";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String password = "</a:t>
            </a:r>
            <a:r>
              <a:rPr lang="zh-CN" altLang="en-US" sz="1400" dirty="0">
                <a:latin typeface="Consolas" panose="020B0609020204030204" pitchFamily="49" charset="0"/>
              </a:rPr>
              <a:t>你的密码</a:t>
            </a:r>
            <a:r>
              <a:rPr lang="en-US" altLang="zh-CN" sz="1400" dirty="0">
                <a:latin typeface="Consolas" panose="020B0609020204030204" pitchFamily="49" charset="0"/>
              </a:rPr>
              <a:t>";</a:t>
            </a:r>
          </a:p>
          <a:p>
            <a:endParaRPr lang="en-US" altLang="zh-CN" sz="1400" dirty="0"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try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Connection </a:t>
            </a:r>
            <a:r>
              <a:rPr lang="en-US" altLang="zh-CN" sz="1400" dirty="0" err="1">
                <a:latin typeface="Consolas" panose="020B0609020204030204" pitchFamily="49" charset="0"/>
              </a:rPr>
              <a:t>connection</a:t>
            </a:r>
            <a:r>
              <a:rPr lang="en-US" altLang="zh-CN" sz="1400" dirty="0"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latin typeface="Consolas" panose="020B0609020204030204" pitchFamily="49" charset="0"/>
              </a:rPr>
              <a:t>DriverManager.getConnection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url</a:t>
            </a:r>
            <a:r>
              <a:rPr lang="en-US" altLang="zh-CN" sz="1400" dirty="0">
                <a:latin typeface="Consolas" panose="020B0609020204030204" pitchFamily="49" charset="0"/>
              </a:rPr>
              <a:t>, username, password);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</a:rPr>
              <a:t>System.out.println</a:t>
            </a:r>
            <a:r>
              <a:rPr lang="en-US" altLang="zh-CN" sz="1400" dirty="0">
                <a:latin typeface="Consolas" panose="020B0609020204030204" pitchFamily="49" charset="0"/>
              </a:rPr>
              <a:t>("</a:t>
            </a:r>
            <a:r>
              <a:rPr lang="zh-CN" altLang="en-US" sz="1400" dirty="0">
                <a:latin typeface="Consolas" panose="020B0609020204030204" pitchFamily="49" charset="0"/>
              </a:rPr>
              <a:t>数据库连接成功！</a:t>
            </a:r>
            <a:r>
              <a:rPr lang="en-US" altLang="zh-CN" sz="1400" dirty="0">
                <a:latin typeface="Consolas" panose="020B0609020204030204" pitchFamily="49" charset="0"/>
              </a:rPr>
              <a:t>");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} catch (</a:t>
            </a:r>
            <a:r>
              <a:rPr lang="en-US" altLang="zh-CN" sz="1400" dirty="0" err="1">
                <a:latin typeface="Consolas" panose="020B0609020204030204" pitchFamily="49" charset="0"/>
              </a:rPr>
              <a:t>SQLException</a:t>
            </a:r>
            <a:r>
              <a:rPr lang="en-US" altLang="zh-CN" sz="1400" dirty="0">
                <a:latin typeface="Consolas" panose="020B0609020204030204" pitchFamily="49" charset="0"/>
              </a:rPr>
              <a:t> e)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</a:rPr>
              <a:t>System.out.println</a:t>
            </a:r>
            <a:r>
              <a:rPr lang="en-US" altLang="zh-CN" sz="1400" dirty="0">
                <a:latin typeface="Consolas" panose="020B0609020204030204" pitchFamily="49" charset="0"/>
              </a:rPr>
              <a:t>("</a:t>
            </a:r>
            <a:r>
              <a:rPr lang="zh-CN" altLang="en-US" sz="1400" dirty="0">
                <a:latin typeface="Consolas" panose="020B0609020204030204" pitchFamily="49" charset="0"/>
              </a:rPr>
              <a:t>数据库连接失败</a:t>
            </a:r>
            <a:r>
              <a:rPr lang="en-US" altLang="zh-CN" sz="1400" dirty="0">
                <a:latin typeface="Consolas" panose="020B0609020204030204" pitchFamily="49" charset="0"/>
              </a:rPr>
              <a:t>");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latin typeface="Consolas" panose="020B0609020204030204" pitchFamily="49" charset="0"/>
              </a:rPr>
              <a:t>e.printStackTrace</a:t>
            </a:r>
            <a:r>
              <a:rPr lang="en-US" altLang="zh-CN" sz="1400" dirty="0"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}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3D898D-6093-1D15-1720-9E829F377753}"/>
              </a:ext>
            </a:extLst>
          </p:cNvPr>
          <p:cNvSpPr txBox="1"/>
          <p:nvPr/>
        </p:nvSpPr>
        <p:spPr>
          <a:xfrm>
            <a:off x="5533450" y="4439556"/>
            <a:ext cx="5791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latin typeface="Consolas" panose="020B0609020204030204" pitchFamily="49" charset="0"/>
              </a:defRPr>
            </a:lvl1pPr>
          </a:lstStyle>
          <a:p>
            <a:r>
              <a:rPr lang="en-US" altLang="zh-CN" dirty="0"/>
              <a:t>Statement </a:t>
            </a:r>
            <a:r>
              <a:rPr lang="en-US" altLang="zh-CN" dirty="0" err="1"/>
              <a:t>statement</a:t>
            </a:r>
            <a:r>
              <a:rPr lang="en-US" altLang="zh-CN" dirty="0"/>
              <a:t> = </a:t>
            </a:r>
            <a:r>
              <a:rPr lang="en-US" altLang="zh-CN" dirty="0" err="1"/>
              <a:t>connection.createStatement</a:t>
            </a:r>
            <a:r>
              <a:rPr lang="en-US" altLang="zh-CN" dirty="0"/>
              <a:t>();</a:t>
            </a:r>
          </a:p>
          <a:p>
            <a:endParaRPr lang="en-US" altLang="zh-CN" dirty="0"/>
          </a:p>
          <a:p>
            <a:r>
              <a:rPr lang="en-US" altLang="zh-CN" dirty="0"/>
              <a:t>String </a:t>
            </a:r>
            <a:r>
              <a:rPr lang="en-US" altLang="zh-CN" dirty="0" err="1"/>
              <a:t>sql</a:t>
            </a:r>
            <a:r>
              <a:rPr lang="en-US" altLang="zh-CN" dirty="0"/>
              <a:t> = "</a:t>
            </a:r>
            <a:r>
              <a:rPr lang="en-US" altLang="zh-CN" dirty="0">
                <a:solidFill>
                  <a:srgbClr val="FF0000"/>
                </a:solidFill>
              </a:rPr>
              <a:t>SELECT * FROM </a:t>
            </a:r>
            <a:r>
              <a:rPr lang="zh-CN" altLang="en-US" dirty="0">
                <a:solidFill>
                  <a:srgbClr val="FF0000"/>
                </a:solidFill>
              </a:rPr>
              <a:t>表名</a:t>
            </a:r>
            <a:r>
              <a:rPr lang="en-US" altLang="zh-CN" dirty="0"/>
              <a:t>";</a:t>
            </a:r>
          </a:p>
          <a:p>
            <a:r>
              <a:rPr lang="en-US" altLang="zh-CN" dirty="0" err="1"/>
              <a:t>ResultSet</a:t>
            </a:r>
            <a:r>
              <a:rPr lang="en-US" altLang="zh-CN" dirty="0"/>
              <a:t> </a:t>
            </a:r>
            <a:r>
              <a:rPr lang="en-US" altLang="zh-CN" dirty="0" err="1"/>
              <a:t>resultSet</a:t>
            </a:r>
            <a:r>
              <a:rPr lang="en-US" altLang="zh-CN" dirty="0"/>
              <a:t> = </a:t>
            </a:r>
            <a:r>
              <a:rPr lang="en-US" altLang="zh-CN" dirty="0" err="1"/>
              <a:t>statement.executeQuery</a:t>
            </a:r>
            <a:r>
              <a:rPr lang="en-US" altLang="zh-CN" dirty="0"/>
              <a:t>(</a:t>
            </a:r>
            <a:r>
              <a:rPr lang="en-US" altLang="zh-CN" dirty="0" err="1"/>
              <a:t>sql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while (</a:t>
            </a:r>
            <a:r>
              <a:rPr lang="en-US" altLang="zh-CN" dirty="0" err="1"/>
              <a:t>resultSet.next</a:t>
            </a:r>
            <a:r>
              <a:rPr lang="en-US" altLang="zh-CN" dirty="0"/>
              <a:t>()) {</a:t>
            </a:r>
          </a:p>
          <a:p>
            <a:r>
              <a:rPr lang="en-US" altLang="zh-CN" dirty="0"/>
              <a:t>    int id = </a:t>
            </a:r>
            <a:r>
              <a:rPr lang="en-US" altLang="zh-CN" dirty="0" err="1"/>
              <a:t>resultSet.getInt</a:t>
            </a:r>
            <a:r>
              <a:rPr lang="en-US" altLang="zh-CN" dirty="0"/>
              <a:t>("id");</a:t>
            </a:r>
          </a:p>
          <a:p>
            <a:r>
              <a:rPr lang="en-US" altLang="zh-CN" dirty="0"/>
              <a:t>    String name = </a:t>
            </a:r>
            <a:r>
              <a:rPr lang="en-US" altLang="zh-CN" dirty="0" err="1"/>
              <a:t>resultSet.getString</a:t>
            </a:r>
            <a:r>
              <a:rPr lang="en-US" altLang="zh-CN" dirty="0"/>
              <a:t>("name");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("ID: " + id + ", Name: " + name);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F92FB2-DD86-F2A6-67FB-1B15736A0133}"/>
              </a:ext>
            </a:extLst>
          </p:cNvPr>
          <p:cNvSpPr txBox="1"/>
          <p:nvPr/>
        </p:nvSpPr>
        <p:spPr>
          <a:xfrm>
            <a:off x="5598159" y="3980046"/>
            <a:ext cx="35331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查询数据，把数据打印在屏幕上</a:t>
            </a:r>
          </a:p>
        </p:txBody>
      </p:sp>
    </p:spTree>
    <p:extLst>
      <p:ext uri="{BB962C8B-B14F-4D97-AF65-F5344CB8AC3E}">
        <p14:creationId xmlns:p14="http://schemas.microsoft.com/office/powerpoint/2010/main" val="1278557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</a:t>
            </a:r>
            <a:r>
              <a:rPr lang="zh-CN" altLang="en-US" dirty="0"/>
              <a:t>编程：语言要素，存储过程、函数和触发器编程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46276" y="1202267"/>
            <a:ext cx="4707523" cy="4974696"/>
          </a:xfr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存储过程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200" dirty="0">
                <a:solidFill>
                  <a:srgbClr val="FF0000"/>
                </a:solidFill>
                <a:ea typeface="黑体" panose="02010609060101010101" pitchFamily="49" charset="-122"/>
              </a:rPr>
              <a:t>Stored Procedure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900" dirty="0">
                <a:latin typeface="黑体" panose="02010609060101010101" pitchFamily="49" charset="-122"/>
                <a:ea typeface="黑体" panose="02010609060101010101" pitchFamily="49" charset="-122"/>
              </a:rPr>
              <a:t>完成特定数据处理和数据操作任务（完成特定业务逻辑）的</a:t>
            </a:r>
            <a:r>
              <a:rPr lang="en-US" altLang="zh-CN" sz="19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1900" dirty="0">
                <a:latin typeface="黑体" panose="02010609060101010101" pitchFamily="49" charset="-122"/>
                <a:ea typeface="黑体" panose="02010609060101010101" pitchFamily="49" charset="-122"/>
              </a:rPr>
              <a:t>程序，经编译和优化后作为数据库对象存储在数据库服务器中，可直接执行或被应用程序调用。</a:t>
            </a:r>
            <a:endParaRPr lang="en-US" altLang="zh-CN" sz="19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(Function)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900" dirty="0">
                <a:latin typeface="黑体" panose="02010609060101010101" pitchFamily="49" charset="-122"/>
                <a:ea typeface="黑体" panose="02010609060101010101" pitchFamily="49" charset="-122"/>
              </a:rPr>
              <a:t>与存储过程相似，但不能被应用程序直接调用，只能在</a:t>
            </a:r>
            <a:r>
              <a:rPr lang="en-US" altLang="zh-CN" sz="19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1900" dirty="0">
                <a:latin typeface="黑体" panose="02010609060101010101" pitchFamily="49" charset="-122"/>
                <a:ea typeface="黑体" panose="02010609060101010101" pitchFamily="49" charset="-122"/>
              </a:rPr>
              <a:t>程序中使用。</a:t>
            </a:r>
            <a:endParaRPr lang="en-US" altLang="zh-CN" sz="19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(Trigger)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900" dirty="0">
                <a:latin typeface="黑体" panose="02010609060101010101" pitchFamily="49" charset="-122"/>
                <a:ea typeface="黑体" panose="02010609060101010101" pitchFamily="49" charset="-122"/>
              </a:rPr>
              <a:t>实现数据库完整性约束的</a:t>
            </a:r>
            <a:r>
              <a:rPr lang="en-US" altLang="zh-CN" sz="19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1900" dirty="0">
                <a:latin typeface="黑体" panose="02010609060101010101" pitchFamily="49" charset="-122"/>
                <a:ea typeface="黑体" panose="02010609060101010101" pitchFamily="49" charset="-122"/>
              </a:rPr>
              <a:t>程序，分为 修改模式 和 更新表数据 触发两类。</a:t>
            </a:r>
            <a:endParaRPr lang="en-US" altLang="zh-CN" sz="19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1198732"/>
            <a:ext cx="4329223" cy="4974696"/>
          </a:xfr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为了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提升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DBMS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处理数据的能力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，各数据库服务器厂商在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DBMS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平台上都对标准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做了扩展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ea typeface="黑体" panose="02010609060101010101" pitchFamily="49" charset="-122"/>
              </a:rPr>
              <a:t>SQL Server</a:t>
            </a:r>
            <a:r>
              <a:rPr lang="zh-CN" altLang="en-US" sz="2200" dirty="0">
                <a:ea typeface="黑体" panose="02010609060101010101" pitchFamily="49" charset="-122"/>
              </a:rPr>
              <a:t>：</a:t>
            </a:r>
            <a:r>
              <a:rPr lang="en-US" altLang="zh-CN" sz="2200" dirty="0" err="1">
                <a:solidFill>
                  <a:srgbClr val="FF0000"/>
                </a:solidFill>
                <a:ea typeface="黑体" panose="02010609060101010101" pitchFamily="49" charset="-122"/>
              </a:rPr>
              <a:t>T</a:t>
            </a:r>
            <a:r>
              <a:rPr lang="en-US" altLang="zh-CN" sz="2200" dirty="0" err="1">
                <a:ea typeface="黑体" panose="02010609060101010101" pitchFamily="49" charset="-122"/>
              </a:rPr>
              <a:t>ranacstion</a:t>
            </a:r>
            <a:r>
              <a:rPr lang="en-US" altLang="zh-CN" sz="2200" dirty="0">
                <a:ea typeface="黑体" panose="02010609060101010101" pitchFamily="49" charset="-122"/>
              </a:rPr>
              <a:t>-</a:t>
            </a:r>
            <a:r>
              <a:rPr lang="en-US" altLang="zh-CN" sz="2200" dirty="0">
                <a:solidFill>
                  <a:srgbClr val="FF0000"/>
                </a:solidFill>
                <a:ea typeface="黑体" panose="02010609060101010101" pitchFamily="49" charset="-122"/>
              </a:rPr>
              <a:t>SQL</a:t>
            </a:r>
          </a:p>
          <a:p>
            <a:pPr lvl="1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ea typeface="黑体" panose="02010609060101010101" pitchFamily="49" charset="-122"/>
              </a:rPr>
              <a:t>Oracle</a:t>
            </a:r>
            <a:r>
              <a:rPr lang="zh-CN" altLang="en-US" sz="2200" dirty="0">
                <a:ea typeface="黑体" panose="02010609060101010101" pitchFamily="49" charset="-122"/>
              </a:rPr>
              <a:t>：</a:t>
            </a:r>
            <a:r>
              <a:rPr lang="en-US" altLang="zh-CN" sz="2200" dirty="0">
                <a:ea typeface="黑体" panose="02010609060101010101" pitchFamily="49" charset="-122"/>
              </a:rPr>
              <a:t>PL/SQL</a:t>
            </a:r>
          </a:p>
          <a:p>
            <a:pPr lvl="1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ea typeface="黑体" panose="02010609060101010101" pitchFamily="49" charset="-122"/>
              </a:rPr>
              <a:t>MySQL</a:t>
            </a:r>
            <a:r>
              <a:rPr lang="zh-CN" altLang="en-US" sz="2200" dirty="0">
                <a:ea typeface="黑体" panose="02010609060101010101" pitchFamily="49" charset="-122"/>
              </a:rPr>
              <a:t>：</a:t>
            </a:r>
            <a:r>
              <a:rPr lang="en-US" altLang="zh-CN" sz="2200" dirty="0">
                <a:ea typeface="黑体" panose="02010609060101010101" pitchFamily="49" charset="-122"/>
              </a:rPr>
              <a:t>MySQL</a:t>
            </a:r>
          </a:p>
          <a:p>
            <a:pPr lvl="1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ea typeface="黑体" panose="02010609060101010101" pitchFamily="49" charset="-122"/>
              </a:rPr>
              <a:t>……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扩展的</a:t>
            </a:r>
            <a:r>
              <a:rPr lang="en-US" altLang="zh-CN" sz="22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2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语言具备类似于</a:t>
            </a:r>
            <a:r>
              <a:rPr lang="en-US" altLang="zh-CN" sz="22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2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语言等过程程序设计语言特性：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数据类型，常量和变量，顺序、选择和循环结构，</a:t>
            </a:r>
            <a:r>
              <a: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内置函数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自定义函数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等，因此，</a:t>
            </a:r>
            <a:r>
              <a:rPr lang="en-US" altLang="zh-CN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程序可实现复杂的数据处理任务。</a:t>
            </a:r>
          </a:p>
        </p:txBody>
      </p:sp>
    </p:spTree>
    <p:extLst>
      <p:ext uri="{BB962C8B-B14F-4D97-AF65-F5344CB8AC3E}">
        <p14:creationId xmlns:p14="http://schemas.microsoft.com/office/powerpoint/2010/main" val="1714695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D31D7-337E-1077-29F1-BD94B6C85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内容占位符 20">
            <a:extLst>
              <a:ext uri="{FF2B5EF4-FFF2-40B4-BE49-F238E27FC236}">
                <a16:creationId xmlns:a16="http://schemas.microsoft.com/office/drawing/2014/main" id="{EB0AD8CC-1290-7975-879D-95552C31910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31305" y="1199890"/>
            <a:ext cx="2804002" cy="4975225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基本要素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数据类型（前面讲过）。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内置函数。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变量。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流程控制语句。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自定义函数。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存储过程。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触发器。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3">
            <a:extLst>
              <a:ext uri="{FF2B5EF4-FFF2-40B4-BE49-F238E27FC236}">
                <a16:creationId xmlns:a16="http://schemas.microsoft.com/office/drawing/2014/main" id="{DF8034BA-86CC-5DF6-2BFF-9CA3DFE4BC08}"/>
              </a:ext>
            </a:extLst>
          </p:cNvPr>
          <p:cNvSpPr txBox="1">
            <a:spLocks/>
          </p:cNvSpPr>
          <p:nvPr/>
        </p:nvSpPr>
        <p:spPr>
          <a:xfrm>
            <a:off x="914400" y="428060"/>
            <a:ext cx="4759569" cy="50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MySQL</a:t>
            </a:r>
            <a:r>
              <a:rPr lang="zh-CN" altLang="en-US" dirty="0">
                <a:solidFill>
                  <a:srgbClr val="FF0000"/>
                </a:solidFill>
              </a:rPr>
              <a:t>编程技术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630ACA-9660-6EDA-563F-8F91886D2D6C}"/>
              </a:ext>
            </a:extLst>
          </p:cNvPr>
          <p:cNvSpPr txBox="1"/>
          <p:nvPr/>
        </p:nvSpPr>
        <p:spPr>
          <a:xfrm>
            <a:off x="5080000" y="124730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MySQL</a:t>
            </a:r>
            <a:r>
              <a:rPr lang="zh-CN" altLang="en-US" sz="2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内置函数</a:t>
            </a:r>
            <a:endParaRPr lang="zh-CN" altLang="en-US" sz="2000" dirty="0">
              <a:highlight>
                <a:srgbClr val="FFFF00"/>
              </a:highlight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3DCAD6-DE6B-A40B-7B35-CB27D5E8A95E}"/>
              </a:ext>
            </a:extLst>
          </p:cNvPr>
          <p:cNvSpPr txBox="1"/>
          <p:nvPr/>
        </p:nvSpPr>
        <p:spPr>
          <a:xfrm>
            <a:off x="5080000" y="17760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https://www.runoob.com/mysql/mysql-functions.html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B761F7-E2A4-5304-03AB-A5743A536F2F}"/>
              </a:ext>
            </a:extLst>
          </p:cNvPr>
          <p:cNvSpPr txBox="1"/>
          <p:nvPr/>
        </p:nvSpPr>
        <p:spPr>
          <a:xfrm>
            <a:off x="5080000" y="2273996"/>
            <a:ext cx="6096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字符串函数</a:t>
            </a:r>
            <a:endParaRPr lang="en-US" altLang="zh-CN" b="1" dirty="0">
              <a:solidFill>
                <a:srgbClr val="333333"/>
              </a:solidFill>
              <a:latin typeface="-apple-system"/>
            </a:endParaRPr>
          </a:p>
          <a:p>
            <a:pPr algn="l">
              <a:spcBef>
                <a:spcPts val="150"/>
              </a:spcBef>
              <a:spcAft>
                <a:spcPts val="150"/>
              </a:spcAft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数字函数</a:t>
            </a:r>
            <a:endParaRPr lang="en-US" altLang="zh-CN" b="1" i="0" dirty="0">
              <a:solidFill>
                <a:srgbClr val="333333"/>
              </a:solidFill>
              <a:effectLst/>
              <a:latin typeface="-apple-system"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zh-CN" altLang="en-US" b="1" dirty="0"/>
              <a:t>日期函数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zh-CN" altLang="en-US" b="1" dirty="0"/>
              <a:t>高级函数</a:t>
            </a:r>
            <a:endParaRPr lang="zh-CN" altLang="en-US" b="1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513369E-410D-32E7-95AE-BCE045E93F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531"/>
          <a:stretch>
            <a:fillRect/>
          </a:stretch>
        </p:blipFill>
        <p:spPr>
          <a:xfrm>
            <a:off x="5080000" y="3819192"/>
            <a:ext cx="6403092" cy="249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540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DC6DE-B1E9-70C5-0055-BC9E935E6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3">
            <a:extLst>
              <a:ext uri="{FF2B5EF4-FFF2-40B4-BE49-F238E27FC236}">
                <a16:creationId xmlns:a16="http://schemas.microsoft.com/office/drawing/2014/main" id="{B5D91ADC-1D40-F202-746B-BB432CD4605B}"/>
              </a:ext>
            </a:extLst>
          </p:cNvPr>
          <p:cNvSpPr txBox="1">
            <a:spLocks/>
          </p:cNvSpPr>
          <p:nvPr/>
        </p:nvSpPr>
        <p:spPr>
          <a:xfrm>
            <a:off x="914400" y="428060"/>
            <a:ext cx="4759569" cy="50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MySQL</a:t>
            </a:r>
            <a:r>
              <a:rPr lang="zh-CN" altLang="en-US" dirty="0">
                <a:solidFill>
                  <a:srgbClr val="FF0000"/>
                </a:solidFill>
              </a:rPr>
              <a:t>编程技术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A12F08-17DC-CD5B-CB3A-3B9E99D49344}"/>
              </a:ext>
            </a:extLst>
          </p:cNvPr>
          <p:cNvSpPr txBox="1"/>
          <p:nvPr/>
        </p:nvSpPr>
        <p:spPr>
          <a:xfrm>
            <a:off x="3738880" y="480981"/>
            <a:ext cx="303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MySQL</a:t>
            </a:r>
            <a:r>
              <a:rPr lang="zh-CN" altLang="en-US" sz="2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存储过程代码示例</a:t>
            </a:r>
            <a:endParaRPr lang="zh-CN" altLang="en-US" sz="2000" dirty="0">
              <a:highlight>
                <a:srgbClr val="FFFF00"/>
              </a:highlight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4FDA6F-1505-3340-1473-3FB49D394556}"/>
              </a:ext>
            </a:extLst>
          </p:cNvPr>
          <p:cNvSpPr txBox="1"/>
          <p:nvPr/>
        </p:nvSpPr>
        <p:spPr>
          <a:xfrm>
            <a:off x="914400" y="1104817"/>
            <a:ext cx="109795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功能：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计算 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 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到 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 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的整数中</a:t>
            </a:r>
            <a:r>
              <a:rPr lang="zh-CN" altLang="en-US" sz="1600" dirty="0">
                <a:solidFill>
                  <a:srgbClr val="0F11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所有数的总和、所有偶数的和、所有奇数的和、所有能被 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 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整除的数的和。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925692-773E-CE27-C32D-C143AECF6F63}"/>
              </a:ext>
            </a:extLst>
          </p:cNvPr>
          <p:cNvSpPr txBox="1"/>
          <p:nvPr/>
        </p:nvSpPr>
        <p:spPr>
          <a:xfrm>
            <a:off x="914400" y="1543219"/>
            <a:ext cx="4849708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</a:rPr>
              <a:t>DELIMITER //  --</a:t>
            </a:r>
            <a:r>
              <a:rPr lang="zh-CN" altLang="en-US" sz="1200" dirty="0">
                <a:latin typeface="Consolas" panose="020B0609020204030204" pitchFamily="49" charset="0"/>
              </a:rPr>
              <a:t>更改语句结束符，以便在存储过程中编写多条</a:t>
            </a:r>
            <a:r>
              <a:rPr lang="en-US" altLang="zh-CN" sz="1200" dirty="0">
                <a:latin typeface="Consolas" panose="020B0609020204030204" pitchFamily="49" charset="0"/>
              </a:rPr>
              <a:t>SQL</a:t>
            </a:r>
          </a:p>
          <a:p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CREATE PROCEDURE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</a:rPr>
              <a:t>CalculateSums</a:t>
            </a:r>
            <a:r>
              <a:rPr lang="en-US" altLang="zh-CN" sz="1200" dirty="0">
                <a:latin typeface="Consolas" panose="020B0609020204030204" pitchFamily="49" charset="0"/>
              </a:rPr>
              <a:t>(</a:t>
            </a:r>
          </a:p>
          <a:p>
            <a:r>
              <a:rPr lang="en-US" altLang="zh-CN" sz="1200" dirty="0">
                <a:latin typeface="Consolas" panose="020B0609020204030204" pitchFamily="49" charset="0"/>
              </a:rPr>
              <a:t>    IN </a:t>
            </a:r>
            <a:r>
              <a:rPr lang="en-US" altLang="zh-CN" sz="1200" dirty="0" err="1">
                <a:latin typeface="Consolas" panose="020B0609020204030204" pitchFamily="49" charset="0"/>
              </a:rPr>
              <a:t>p_n</a:t>
            </a:r>
            <a:r>
              <a:rPr lang="en-US" altLang="zh-CN" sz="1200" dirty="0">
                <a:latin typeface="Consolas" panose="020B0609020204030204" pitchFamily="49" charset="0"/>
              </a:rPr>
              <a:t> INT,          -- </a:t>
            </a:r>
            <a:r>
              <a:rPr lang="zh-CN" altLang="en-US" sz="1200" dirty="0">
                <a:latin typeface="Consolas" panose="020B0609020204030204" pitchFamily="49" charset="0"/>
              </a:rPr>
              <a:t>输入参数：上限值 </a:t>
            </a:r>
            <a:r>
              <a:rPr lang="en-US" altLang="zh-CN" sz="1200" dirty="0">
                <a:latin typeface="Consolas" panose="020B0609020204030204" pitchFamily="49" charset="0"/>
              </a:rPr>
              <a:t>N</a:t>
            </a:r>
          </a:p>
          <a:p>
            <a:r>
              <a:rPr lang="en-US" altLang="zh-CN" sz="1200" dirty="0">
                <a:latin typeface="Consolas" panose="020B0609020204030204" pitchFamily="49" charset="0"/>
              </a:rPr>
              <a:t>    OUT </a:t>
            </a:r>
            <a:r>
              <a:rPr lang="en-US" altLang="zh-CN" sz="1200" dirty="0" err="1">
                <a:latin typeface="Consolas" panose="020B0609020204030204" pitchFamily="49" charset="0"/>
              </a:rPr>
              <a:t>p_total_sum</a:t>
            </a:r>
            <a:r>
              <a:rPr lang="en-US" altLang="zh-CN" sz="1200" dirty="0">
                <a:latin typeface="Consolas" panose="020B0609020204030204" pitchFamily="49" charset="0"/>
              </a:rPr>
              <a:t> INT, -- </a:t>
            </a:r>
            <a:r>
              <a:rPr lang="zh-CN" altLang="en-US" sz="1200" dirty="0">
                <a:latin typeface="Consolas" panose="020B0609020204030204" pitchFamily="49" charset="0"/>
              </a:rPr>
              <a:t>输出参数：总和</a:t>
            </a:r>
          </a:p>
          <a:p>
            <a:r>
              <a:rPr lang="zh-CN" altLang="en-US" sz="1200" dirty="0">
                <a:latin typeface="Consolas" panose="020B0609020204030204" pitchFamily="49" charset="0"/>
              </a:rPr>
              <a:t>    </a:t>
            </a:r>
            <a:r>
              <a:rPr lang="en-US" altLang="zh-CN" sz="1200" dirty="0">
                <a:latin typeface="Consolas" panose="020B0609020204030204" pitchFamily="49" charset="0"/>
              </a:rPr>
              <a:t>OUT </a:t>
            </a:r>
            <a:r>
              <a:rPr lang="en-US" altLang="zh-CN" sz="1200" dirty="0" err="1">
                <a:latin typeface="Consolas" panose="020B0609020204030204" pitchFamily="49" charset="0"/>
              </a:rPr>
              <a:t>p_even_sum</a:t>
            </a:r>
            <a:r>
              <a:rPr lang="en-US" altLang="zh-CN" sz="1200" dirty="0">
                <a:latin typeface="Consolas" panose="020B0609020204030204" pitchFamily="49" charset="0"/>
              </a:rPr>
              <a:t> INT,  -- </a:t>
            </a:r>
            <a:r>
              <a:rPr lang="zh-CN" altLang="en-US" sz="1200" dirty="0">
                <a:latin typeface="Consolas" panose="020B0609020204030204" pitchFamily="49" charset="0"/>
              </a:rPr>
              <a:t>输出参数：偶数和</a:t>
            </a:r>
          </a:p>
          <a:p>
            <a:r>
              <a:rPr lang="zh-CN" altLang="en-US" sz="1200" dirty="0">
                <a:latin typeface="Consolas" panose="020B0609020204030204" pitchFamily="49" charset="0"/>
              </a:rPr>
              <a:t>    </a:t>
            </a:r>
            <a:r>
              <a:rPr lang="en-US" altLang="zh-CN" sz="1200" dirty="0">
                <a:latin typeface="Consolas" panose="020B0609020204030204" pitchFamily="49" charset="0"/>
              </a:rPr>
              <a:t>OUT </a:t>
            </a:r>
            <a:r>
              <a:rPr lang="en-US" altLang="zh-CN" sz="1200" dirty="0" err="1">
                <a:latin typeface="Consolas" panose="020B0609020204030204" pitchFamily="49" charset="0"/>
              </a:rPr>
              <a:t>p_odd_sum</a:t>
            </a:r>
            <a:r>
              <a:rPr lang="en-US" altLang="zh-CN" sz="1200" dirty="0">
                <a:latin typeface="Consolas" panose="020B0609020204030204" pitchFamily="49" charset="0"/>
              </a:rPr>
              <a:t> INT,   -- </a:t>
            </a:r>
            <a:r>
              <a:rPr lang="zh-CN" altLang="en-US" sz="1200" dirty="0">
                <a:latin typeface="Consolas" panose="020B0609020204030204" pitchFamily="49" charset="0"/>
              </a:rPr>
              <a:t>输出参数：奇数和</a:t>
            </a:r>
          </a:p>
          <a:p>
            <a:r>
              <a:rPr lang="zh-CN" altLang="en-US" sz="1200" dirty="0">
                <a:latin typeface="Consolas" panose="020B0609020204030204" pitchFamily="49" charset="0"/>
              </a:rPr>
              <a:t>    </a:t>
            </a:r>
            <a:r>
              <a:rPr lang="en-US" altLang="zh-CN" sz="1200" dirty="0">
                <a:latin typeface="Consolas" panose="020B0609020204030204" pitchFamily="49" charset="0"/>
              </a:rPr>
              <a:t>OUT p_div3_sum INT   -- </a:t>
            </a:r>
            <a:r>
              <a:rPr lang="zh-CN" altLang="en-US" sz="1200" dirty="0">
                <a:latin typeface="Consolas" panose="020B0609020204030204" pitchFamily="49" charset="0"/>
              </a:rPr>
              <a:t>输出参数：能被 </a:t>
            </a:r>
            <a:r>
              <a:rPr lang="en-US" altLang="zh-CN" sz="1200" dirty="0">
                <a:latin typeface="Consolas" panose="020B0609020204030204" pitchFamily="49" charset="0"/>
              </a:rPr>
              <a:t>3 </a:t>
            </a:r>
            <a:r>
              <a:rPr lang="zh-CN" altLang="en-US" sz="1200" dirty="0">
                <a:latin typeface="Consolas" panose="020B0609020204030204" pitchFamily="49" charset="0"/>
              </a:rPr>
              <a:t>整除的数的和</a:t>
            </a:r>
          </a:p>
          <a:p>
            <a:r>
              <a:rPr lang="en-US" altLang="zh-CN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 dirty="0">
                <a:latin typeface="Consolas" panose="020B0609020204030204" pitchFamily="49" charset="0"/>
              </a:rPr>
              <a:t>BEGIN</a:t>
            </a:r>
          </a:p>
          <a:p>
            <a:r>
              <a:rPr lang="en-US" altLang="zh-CN" sz="1200" dirty="0">
                <a:latin typeface="Consolas" panose="020B0609020204030204" pitchFamily="49" charset="0"/>
              </a:rPr>
              <a:t>    -- 1. </a:t>
            </a:r>
            <a:r>
              <a:rPr lang="zh-CN" altLang="en-US" sz="1200" dirty="0">
                <a:latin typeface="Consolas" panose="020B0609020204030204" pitchFamily="49" charset="0"/>
              </a:rPr>
              <a:t>声明局部变量</a:t>
            </a:r>
          </a:p>
          <a:p>
            <a:r>
              <a:rPr lang="zh-CN" altLang="en-US" sz="1200" dirty="0">
                <a:latin typeface="Consolas" panose="020B0609020204030204" pitchFamily="49" charset="0"/>
              </a:rPr>
              <a:t>    </a:t>
            </a:r>
            <a:r>
              <a:rPr lang="en-US" altLang="zh-CN" sz="1200" dirty="0">
                <a:latin typeface="Consolas" panose="020B0609020204030204" pitchFamily="49" charset="0"/>
              </a:rPr>
              <a:t>DECLARE </a:t>
            </a:r>
            <a:r>
              <a:rPr lang="en-US" altLang="zh-CN" sz="1200" dirty="0" err="1">
                <a:latin typeface="Consolas" panose="020B0609020204030204" pitchFamily="49" charset="0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</a:rPr>
              <a:t> INT DEFAULT 1;        -- </a:t>
            </a:r>
            <a:r>
              <a:rPr lang="zh-CN" altLang="en-US" sz="1200" dirty="0">
                <a:latin typeface="Consolas" panose="020B0609020204030204" pitchFamily="49" charset="0"/>
              </a:rPr>
              <a:t>循环计数器</a:t>
            </a:r>
          </a:p>
          <a:p>
            <a:r>
              <a:rPr lang="zh-CN" altLang="en-US" sz="1200" dirty="0">
                <a:latin typeface="Consolas" panose="020B0609020204030204" pitchFamily="49" charset="0"/>
              </a:rPr>
              <a:t>    </a:t>
            </a:r>
            <a:r>
              <a:rPr lang="en-US" altLang="zh-CN" sz="1200" dirty="0">
                <a:latin typeface="Consolas" panose="020B0609020204030204" pitchFamily="49" charset="0"/>
              </a:rPr>
              <a:t>DECLARE total INT DEFAULT 0;    -- </a:t>
            </a:r>
            <a:r>
              <a:rPr lang="zh-CN" altLang="en-US" sz="1200" dirty="0">
                <a:latin typeface="Consolas" panose="020B0609020204030204" pitchFamily="49" charset="0"/>
              </a:rPr>
              <a:t>累加总和</a:t>
            </a:r>
          </a:p>
          <a:p>
            <a:r>
              <a:rPr lang="zh-CN" altLang="en-US" sz="1200" dirty="0">
                <a:latin typeface="Consolas" panose="020B0609020204030204" pitchFamily="49" charset="0"/>
              </a:rPr>
              <a:t>    </a:t>
            </a:r>
            <a:r>
              <a:rPr lang="en-US" altLang="zh-CN" sz="1200" dirty="0">
                <a:latin typeface="Consolas" panose="020B0609020204030204" pitchFamily="49" charset="0"/>
              </a:rPr>
              <a:t>DECLARE </a:t>
            </a:r>
            <a:r>
              <a:rPr lang="en-US" altLang="zh-CN" sz="1200" dirty="0" err="1">
                <a:latin typeface="Consolas" panose="020B0609020204030204" pitchFamily="49" charset="0"/>
              </a:rPr>
              <a:t>even_total</a:t>
            </a:r>
            <a:r>
              <a:rPr lang="en-US" altLang="zh-CN" sz="1200" dirty="0">
                <a:latin typeface="Consolas" panose="020B0609020204030204" pitchFamily="49" charset="0"/>
              </a:rPr>
              <a:t> INT DEFAULT 0;</a:t>
            </a:r>
          </a:p>
          <a:p>
            <a:r>
              <a:rPr lang="en-US" altLang="zh-CN" sz="1200" dirty="0">
                <a:latin typeface="Consolas" panose="020B0609020204030204" pitchFamily="49" charset="0"/>
              </a:rPr>
              <a:t>    DECLARE </a:t>
            </a:r>
            <a:r>
              <a:rPr lang="en-US" altLang="zh-CN" sz="1200" dirty="0" err="1">
                <a:latin typeface="Consolas" panose="020B0609020204030204" pitchFamily="49" charset="0"/>
              </a:rPr>
              <a:t>odd_total</a:t>
            </a:r>
            <a:r>
              <a:rPr lang="en-US" altLang="zh-CN" sz="1200" dirty="0">
                <a:latin typeface="Consolas" panose="020B0609020204030204" pitchFamily="49" charset="0"/>
              </a:rPr>
              <a:t> INT DEFAULT 0;</a:t>
            </a:r>
          </a:p>
          <a:p>
            <a:r>
              <a:rPr lang="en-US" altLang="zh-CN" sz="1200" dirty="0">
                <a:latin typeface="Consolas" panose="020B0609020204030204" pitchFamily="49" charset="0"/>
              </a:rPr>
              <a:t>    DECLARE div3_total INT DEFAULT 0;</a:t>
            </a:r>
          </a:p>
          <a:p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 -- 2. </a:t>
            </a:r>
            <a:r>
              <a:rPr lang="zh-CN" altLang="en-US" sz="1200" dirty="0">
                <a:latin typeface="Consolas" panose="020B0609020204030204" pitchFamily="49" charset="0"/>
              </a:rPr>
              <a:t>循环处理（</a:t>
            </a:r>
            <a:r>
              <a:rPr lang="en-US" altLang="zh-CN" sz="1200" dirty="0">
                <a:latin typeface="Consolas" panose="020B0609020204030204" pitchFamily="49" charset="0"/>
              </a:rPr>
              <a:t>WHILE </a:t>
            </a:r>
            <a:r>
              <a:rPr lang="zh-CN" altLang="en-US" sz="1200" dirty="0">
                <a:latin typeface="Consolas" panose="020B0609020204030204" pitchFamily="49" charset="0"/>
              </a:rPr>
              <a:t>结构）</a:t>
            </a:r>
          </a:p>
          <a:p>
            <a:r>
              <a:rPr lang="zh-CN" altLang="en-US" sz="1200" dirty="0">
                <a:latin typeface="Consolas" panose="020B0609020204030204" pitchFamily="49" charset="0"/>
              </a:rPr>
              <a:t>    </a:t>
            </a:r>
            <a:r>
              <a:rPr lang="en-US" altLang="zh-CN" sz="1200" dirty="0">
                <a:latin typeface="Consolas" panose="020B0609020204030204" pitchFamily="49" charset="0"/>
              </a:rPr>
              <a:t>WHILE </a:t>
            </a:r>
            <a:r>
              <a:rPr lang="en-US" altLang="zh-CN" sz="1200" dirty="0" err="1">
                <a:latin typeface="Consolas" panose="020B0609020204030204" pitchFamily="49" charset="0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</a:rPr>
              <a:t> &lt;= </a:t>
            </a:r>
            <a:r>
              <a:rPr lang="en-US" altLang="zh-CN" sz="1200" dirty="0" err="1">
                <a:latin typeface="Consolas" panose="020B0609020204030204" pitchFamily="49" charset="0"/>
              </a:rPr>
              <a:t>p_n</a:t>
            </a:r>
            <a:r>
              <a:rPr lang="en-US" altLang="zh-CN" sz="1200" dirty="0">
                <a:latin typeface="Consolas" panose="020B0609020204030204" pitchFamily="49" charset="0"/>
              </a:rPr>
              <a:t> DO</a:t>
            </a:r>
          </a:p>
          <a:p>
            <a:r>
              <a:rPr lang="en-US" altLang="zh-CN" sz="1200" dirty="0">
                <a:latin typeface="Consolas" panose="020B0609020204030204" pitchFamily="49" charset="0"/>
              </a:rPr>
              <a:t>        SET total = total + </a:t>
            </a:r>
            <a:r>
              <a:rPr lang="en-US" altLang="zh-CN" sz="1200" dirty="0" err="1">
                <a:latin typeface="Consolas" panose="020B0609020204030204" pitchFamily="49" charset="0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</a:rPr>
              <a:t>; -- </a:t>
            </a:r>
            <a:r>
              <a:rPr lang="zh-CN" altLang="en-US" sz="1200" dirty="0">
                <a:latin typeface="Consolas" panose="020B0609020204030204" pitchFamily="49" charset="0"/>
              </a:rPr>
              <a:t>累加总和</a:t>
            </a:r>
          </a:p>
          <a:p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     -- </a:t>
            </a:r>
            <a:r>
              <a:rPr lang="zh-CN" altLang="en-US" sz="1200" dirty="0">
                <a:latin typeface="Consolas" panose="020B0609020204030204" pitchFamily="49" charset="0"/>
              </a:rPr>
              <a:t>条件判断：偶数 </a:t>
            </a:r>
            <a:r>
              <a:rPr lang="en-US" altLang="zh-CN" sz="1200" dirty="0">
                <a:latin typeface="Consolas" panose="020B0609020204030204" pitchFamily="49" charset="0"/>
              </a:rPr>
              <a:t>/ </a:t>
            </a:r>
            <a:r>
              <a:rPr lang="zh-CN" altLang="en-US" sz="1200" dirty="0">
                <a:latin typeface="Consolas" panose="020B0609020204030204" pitchFamily="49" charset="0"/>
              </a:rPr>
              <a:t>奇数（使用 </a:t>
            </a:r>
            <a:r>
              <a:rPr lang="en-US" altLang="zh-CN" sz="1200" dirty="0">
                <a:latin typeface="Consolas" panose="020B0609020204030204" pitchFamily="49" charset="0"/>
              </a:rPr>
              <a:t>IF</a:t>
            </a:r>
            <a:r>
              <a:rPr lang="zh-CN" altLang="en-US" sz="1200" dirty="0">
                <a:latin typeface="Consolas" panose="020B0609020204030204" pitchFamily="49" charset="0"/>
              </a:rPr>
              <a:t>）</a:t>
            </a:r>
          </a:p>
          <a:p>
            <a:r>
              <a:rPr lang="zh-CN" altLang="en-US" sz="1200" dirty="0">
                <a:latin typeface="Consolas" panose="020B0609020204030204" pitchFamily="49" charset="0"/>
              </a:rPr>
              <a:t>        </a:t>
            </a:r>
            <a:r>
              <a:rPr lang="en-US" altLang="zh-CN" sz="1200" dirty="0">
                <a:latin typeface="Consolas" panose="020B0609020204030204" pitchFamily="49" charset="0"/>
              </a:rPr>
              <a:t>IF </a:t>
            </a:r>
            <a:r>
              <a:rPr lang="en-US" altLang="zh-CN" sz="1200" dirty="0" err="1">
                <a:latin typeface="Consolas" panose="020B0609020204030204" pitchFamily="49" charset="0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</a:rPr>
              <a:t> % 2 = 0 THEN</a:t>
            </a:r>
          </a:p>
          <a:p>
            <a:r>
              <a:rPr lang="en-US" altLang="zh-CN" sz="1200" dirty="0">
                <a:latin typeface="Consolas" panose="020B0609020204030204" pitchFamily="49" charset="0"/>
              </a:rPr>
              <a:t>            SET </a:t>
            </a:r>
            <a:r>
              <a:rPr lang="en-US" altLang="zh-CN" sz="1200" dirty="0" err="1">
                <a:latin typeface="Consolas" panose="020B0609020204030204" pitchFamily="49" charset="0"/>
              </a:rPr>
              <a:t>even_total</a:t>
            </a:r>
            <a:r>
              <a:rPr lang="en-US" altLang="zh-CN" sz="1200" dirty="0">
                <a:latin typeface="Consolas" panose="020B0609020204030204" pitchFamily="49" charset="0"/>
              </a:rPr>
              <a:t> = </a:t>
            </a:r>
            <a:r>
              <a:rPr lang="en-US" altLang="zh-CN" sz="1200" dirty="0" err="1">
                <a:latin typeface="Consolas" panose="020B0609020204030204" pitchFamily="49" charset="0"/>
              </a:rPr>
              <a:t>even_total</a:t>
            </a:r>
            <a:r>
              <a:rPr lang="en-US" altLang="zh-CN" sz="1200" dirty="0">
                <a:latin typeface="Consolas" panose="020B0609020204030204" pitchFamily="49" charset="0"/>
              </a:rPr>
              <a:t> + </a:t>
            </a:r>
            <a:r>
              <a:rPr lang="en-US" altLang="zh-CN" sz="1200" dirty="0" err="1">
                <a:latin typeface="Consolas" panose="020B0609020204030204" pitchFamily="49" charset="0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200" dirty="0">
                <a:latin typeface="Consolas" panose="020B0609020204030204" pitchFamily="49" charset="0"/>
              </a:rPr>
              <a:t>        ELSE</a:t>
            </a:r>
          </a:p>
          <a:p>
            <a:r>
              <a:rPr lang="en-US" altLang="zh-CN" sz="1200" dirty="0">
                <a:latin typeface="Consolas" panose="020B0609020204030204" pitchFamily="49" charset="0"/>
              </a:rPr>
              <a:t>            SET </a:t>
            </a:r>
            <a:r>
              <a:rPr lang="en-US" altLang="zh-CN" sz="1200" dirty="0" err="1">
                <a:latin typeface="Consolas" panose="020B0609020204030204" pitchFamily="49" charset="0"/>
              </a:rPr>
              <a:t>odd_total</a:t>
            </a:r>
            <a:r>
              <a:rPr lang="en-US" altLang="zh-CN" sz="1200" dirty="0">
                <a:latin typeface="Consolas" panose="020B0609020204030204" pitchFamily="49" charset="0"/>
              </a:rPr>
              <a:t> = </a:t>
            </a:r>
            <a:r>
              <a:rPr lang="en-US" altLang="zh-CN" sz="1200" dirty="0" err="1">
                <a:latin typeface="Consolas" panose="020B0609020204030204" pitchFamily="49" charset="0"/>
              </a:rPr>
              <a:t>odd_total</a:t>
            </a:r>
            <a:r>
              <a:rPr lang="en-US" altLang="zh-CN" sz="1200" dirty="0">
                <a:latin typeface="Consolas" panose="020B0609020204030204" pitchFamily="49" charset="0"/>
              </a:rPr>
              <a:t> + </a:t>
            </a:r>
            <a:r>
              <a:rPr lang="en-US" altLang="zh-CN" sz="1200" dirty="0" err="1">
                <a:latin typeface="Consolas" panose="020B0609020204030204" pitchFamily="49" charset="0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200" dirty="0">
                <a:latin typeface="Consolas" panose="020B0609020204030204" pitchFamily="49" charset="0"/>
              </a:rPr>
              <a:t>        END IF;</a:t>
            </a:r>
            <a:endParaRPr lang="en-US" altLang="zh-CN" sz="1400" dirty="0"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5FEF21-21EA-218E-FD39-81D20D309306}"/>
              </a:ext>
            </a:extLst>
          </p:cNvPr>
          <p:cNvSpPr txBox="1"/>
          <p:nvPr/>
        </p:nvSpPr>
        <p:spPr>
          <a:xfrm>
            <a:off x="6427894" y="1561254"/>
            <a:ext cx="4346062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200">
                <a:latin typeface="Consolas" panose="020B0609020204030204" pitchFamily="49" charset="0"/>
              </a:defRPr>
            </a:lvl1pPr>
          </a:lstStyle>
          <a:p>
            <a:r>
              <a:rPr lang="en-US" altLang="zh-CN" dirty="0"/>
              <a:t>        -- </a:t>
            </a:r>
            <a:r>
              <a:rPr lang="zh-CN" altLang="en-US" dirty="0"/>
              <a:t>条件判断：能否被 </a:t>
            </a:r>
            <a:r>
              <a:rPr lang="en-US" altLang="zh-CN" dirty="0"/>
              <a:t>3 </a:t>
            </a:r>
            <a:r>
              <a:rPr lang="zh-CN" altLang="en-US" dirty="0"/>
              <a:t>整除（使用 </a:t>
            </a:r>
            <a:r>
              <a:rPr lang="en-US" altLang="zh-CN" dirty="0"/>
              <a:t>CASE </a:t>
            </a:r>
            <a:r>
              <a:rPr lang="zh-CN" altLang="en-US" dirty="0"/>
              <a:t>结构）</a:t>
            </a:r>
          </a:p>
          <a:p>
            <a:r>
              <a:rPr lang="zh-CN" altLang="en-US" dirty="0"/>
              <a:t>        </a:t>
            </a:r>
            <a:r>
              <a:rPr lang="en-US" altLang="zh-CN" dirty="0"/>
              <a:t>CASE</a:t>
            </a:r>
          </a:p>
          <a:p>
            <a:r>
              <a:rPr lang="en-US" altLang="zh-CN" dirty="0"/>
              <a:t>            WHEN </a:t>
            </a:r>
            <a:r>
              <a:rPr lang="en-US" altLang="zh-CN" dirty="0" err="1"/>
              <a:t>i</a:t>
            </a:r>
            <a:r>
              <a:rPr lang="en-US" altLang="zh-CN" dirty="0"/>
              <a:t> % 3 = 0 THEN</a:t>
            </a:r>
          </a:p>
          <a:p>
            <a:r>
              <a:rPr lang="en-US" altLang="zh-CN" dirty="0"/>
              <a:t>                SET div3_total = div3_total +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        ELSE</a:t>
            </a:r>
            <a:endParaRPr lang="zh-CN" altLang="en-US" dirty="0"/>
          </a:p>
          <a:p>
            <a:r>
              <a:rPr lang="zh-CN" altLang="en-US" dirty="0"/>
              <a:t>                </a:t>
            </a:r>
            <a:r>
              <a:rPr lang="en-US" altLang="zh-CN" dirty="0"/>
              <a:t>BEGIN END;</a:t>
            </a:r>
          </a:p>
          <a:p>
            <a:r>
              <a:rPr lang="en-US" altLang="zh-CN" dirty="0"/>
              <a:t>        END CASE;</a:t>
            </a:r>
          </a:p>
          <a:p>
            <a:endParaRPr lang="en-US" altLang="zh-CN" dirty="0"/>
          </a:p>
          <a:p>
            <a:r>
              <a:rPr lang="en-US" altLang="zh-CN" dirty="0"/>
              <a:t>        -- </a:t>
            </a:r>
            <a:r>
              <a:rPr lang="zh-CN" altLang="en-US" dirty="0"/>
              <a:t>计数器递增</a:t>
            </a:r>
          </a:p>
          <a:p>
            <a:r>
              <a:rPr lang="zh-CN" altLang="en-US" dirty="0"/>
              <a:t>        </a:t>
            </a:r>
            <a:r>
              <a:rPr lang="en-US" altLang="zh-CN" dirty="0"/>
              <a:t>SET </a:t>
            </a: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i</a:t>
            </a:r>
            <a:r>
              <a:rPr lang="en-US" altLang="zh-CN" dirty="0"/>
              <a:t> + 1;</a:t>
            </a:r>
          </a:p>
          <a:p>
            <a:r>
              <a:rPr lang="en-US" altLang="zh-CN" dirty="0"/>
              <a:t>    END WHILE;</a:t>
            </a:r>
          </a:p>
          <a:p>
            <a:endParaRPr lang="en-US" altLang="zh-CN" dirty="0"/>
          </a:p>
          <a:p>
            <a:r>
              <a:rPr lang="en-US" altLang="zh-CN" dirty="0"/>
              <a:t>    -- 3. </a:t>
            </a:r>
            <a:r>
              <a:rPr lang="zh-CN" altLang="en-US" dirty="0"/>
              <a:t>将计算结果赋给输出参数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SET </a:t>
            </a:r>
            <a:r>
              <a:rPr lang="en-US" altLang="zh-CN" dirty="0" err="1"/>
              <a:t>p_total_sum</a:t>
            </a:r>
            <a:r>
              <a:rPr lang="en-US" altLang="zh-CN" dirty="0"/>
              <a:t> = total;</a:t>
            </a:r>
          </a:p>
          <a:p>
            <a:r>
              <a:rPr lang="en-US" altLang="zh-CN" dirty="0"/>
              <a:t>    SET </a:t>
            </a:r>
            <a:r>
              <a:rPr lang="en-US" altLang="zh-CN" dirty="0" err="1"/>
              <a:t>p_even_sum</a:t>
            </a:r>
            <a:r>
              <a:rPr lang="en-US" altLang="zh-CN" dirty="0"/>
              <a:t>  = </a:t>
            </a:r>
            <a:r>
              <a:rPr lang="en-US" altLang="zh-CN" dirty="0" err="1"/>
              <a:t>even_total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SET </a:t>
            </a:r>
            <a:r>
              <a:rPr lang="en-US" altLang="zh-CN" dirty="0" err="1"/>
              <a:t>p_odd_sum</a:t>
            </a:r>
            <a:r>
              <a:rPr lang="en-US" altLang="zh-CN" dirty="0"/>
              <a:t>   = </a:t>
            </a:r>
            <a:r>
              <a:rPr lang="en-US" altLang="zh-CN" dirty="0" err="1"/>
              <a:t>odd_total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SET p_div3_sum  = div3_total;</a:t>
            </a:r>
          </a:p>
          <a:p>
            <a:endParaRPr lang="en-US" altLang="zh-CN" dirty="0"/>
          </a:p>
          <a:p>
            <a:r>
              <a:rPr lang="en-US" altLang="zh-CN" dirty="0"/>
              <a:t>    -- 4. </a:t>
            </a:r>
            <a:r>
              <a:rPr lang="zh-CN" altLang="en-US" dirty="0"/>
              <a:t>可选：在调用时打印结果集（便于教学观察）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SELECT </a:t>
            </a:r>
          </a:p>
          <a:p>
            <a:r>
              <a:rPr lang="en-US" altLang="zh-CN" dirty="0"/>
              <a:t>        total AS '</a:t>
            </a:r>
            <a:r>
              <a:rPr lang="zh-CN" altLang="en-US" dirty="0"/>
              <a:t>总和</a:t>
            </a:r>
            <a:r>
              <a:rPr lang="en-US" altLang="zh-CN" dirty="0"/>
              <a:t>',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even_total</a:t>
            </a:r>
            <a:r>
              <a:rPr lang="en-US" altLang="zh-CN" dirty="0"/>
              <a:t> AS '</a:t>
            </a:r>
            <a:r>
              <a:rPr lang="zh-CN" altLang="en-US" dirty="0"/>
              <a:t>偶数和</a:t>
            </a:r>
            <a:r>
              <a:rPr lang="en-US" altLang="zh-CN" dirty="0"/>
              <a:t>',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odd_total</a:t>
            </a:r>
            <a:r>
              <a:rPr lang="en-US" altLang="zh-CN" dirty="0"/>
              <a:t> AS '</a:t>
            </a:r>
            <a:r>
              <a:rPr lang="zh-CN" altLang="en-US" dirty="0"/>
              <a:t>奇数和</a:t>
            </a:r>
            <a:r>
              <a:rPr lang="en-US" altLang="zh-CN" dirty="0"/>
              <a:t>',</a:t>
            </a:r>
          </a:p>
          <a:p>
            <a:r>
              <a:rPr lang="en-US" altLang="zh-CN" dirty="0"/>
              <a:t>        div3_total AS '</a:t>
            </a:r>
            <a:r>
              <a:rPr lang="zh-CN" altLang="en-US" dirty="0"/>
              <a:t>能被</a:t>
            </a:r>
            <a:r>
              <a:rPr lang="en-US" altLang="zh-CN" dirty="0"/>
              <a:t>3</a:t>
            </a:r>
            <a:r>
              <a:rPr lang="zh-CN" altLang="en-US" dirty="0"/>
              <a:t>整除的和</a:t>
            </a:r>
            <a:r>
              <a:rPr lang="en-US" altLang="zh-CN" dirty="0"/>
              <a:t>';</a:t>
            </a:r>
          </a:p>
          <a:p>
            <a:r>
              <a:rPr lang="en-US" altLang="zh-CN" dirty="0"/>
              <a:t>END //</a:t>
            </a:r>
          </a:p>
          <a:p>
            <a:endParaRPr lang="en-US" altLang="zh-CN" dirty="0"/>
          </a:p>
          <a:p>
            <a:r>
              <a:rPr lang="en-US" altLang="zh-CN" dirty="0"/>
              <a:t>DELIMITER ;	-- </a:t>
            </a:r>
            <a:r>
              <a:rPr lang="zh-CN" altLang="en-US" dirty="0"/>
              <a:t>恢复默认结束符</a:t>
            </a:r>
          </a:p>
        </p:txBody>
      </p:sp>
    </p:spTree>
    <p:extLst>
      <p:ext uri="{BB962C8B-B14F-4D97-AF65-F5344CB8AC3E}">
        <p14:creationId xmlns:p14="http://schemas.microsoft.com/office/powerpoint/2010/main" val="1007515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6380703" y="554412"/>
            <a:ext cx="4913644" cy="5717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存储过程的优点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运行效率高：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已编译和优化后以二进制可执行代码形式存储在服务器，可直接执行；其它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代码要先编译在执行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降低客户客户端应用程序和数据库服务器之间的通信量：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不传递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代码，只传递存储过程相关标识和参数等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提升数据库应用系统安全性：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应用程序中没有嵌入式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代码，应用程序与数据库服务器之间不传递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代码，保证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代码不外泄，避免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攻击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减低用户交互与数据处理功能耦合性：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应用程序负责用户交互（可用性），</a:t>
            </a:r>
            <a:b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存储过程负责数据处理（高效与正确）</a:t>
            </a:r>
          </a:p>
        </p:txBody>
      </p:sp>
      <p:sp>
        <p:nvSpPr>
          <p:cNvPr id="2" name="内容占位符 3">
            <a:extLst>
              <a:ext uri="{FF2B5EF4-FFF2-40B4-BE49-F238E27FC236}">
                <a16:creationId xmlns:a16="http://schemas.microsoft.com/office/drawing/2014/main" id="{1A355608-C121-B2AB-2B25-789E6A655FF6}"/>
              </a:ext>
            </a:extLst>
          </p:cNvPr>
          <p:cNvSpPr txBox="1">
            <a:spLocks/>
          </p:cNvSpPr>
          <p:nvPr/>
        </p:nvSpPr>
        <p:spPr>
          <a:xfrm>
            <a:off x="914400" y="428060"/>
            <a:ext cx="4759569" cy="50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1pPr>
            <a:lvl2pPr marL="4492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2pPr>
            <a:lvl3pPr marL="627063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3pPr>
            <a:lvl4pPr marL="8969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4pPr>
            <a:lvl5pPr marL="1074738" indent="-1778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onsolas" panose="020B0609020204030204" pitchFamily="49" charset="0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MySQL</a:t>
            </a:r>
            <a:r>
              <a:rPr lang="zh-CN" altLang="en-US" dirty="0">
                <a:solidFill>
                  <a:srgbClr val="FF0000"/>
                </a:solidFill>
              </a:rPr>
              <a:t>编程技术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403500-E393-8050-EACD-6E18182EDAE4}"/>
              </a:ext>
            </a:extLst>
          </p:cNvPr>
          <p:cNvSpPr txBox="1"/>
          <p:nvPr/>
        </p:nvSpPr>
        <p:spPr>
          <a:xfrm>
            <a:off x="914400" y="998433"/>
            <a:ext cx="303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MySQL</a:t>
            </a:r>
            <a:r>
              <a:rPr lang="zh-CN" altLang="en-US" sz="2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存储过程代码示例</a:t>
            </a:r>
            <a:endParaRPr lang="zh-CN" altLang="en-US" sz="2000" dirty="0">
              <a:highlight>
                <a:srgbClr val="FFFF00"/>
              </a:highlight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D18ACC-7529-6564-DE4C-E79C59E51ACA}"/>
              </a:ext>
            </a:extLst>
          </p:cNvPr>
          <p:cNvSpPr txBox="1"/>
          <p:nvPr/>
        </p:nvSpPr>
        <p:spPr>
          <a:xfrm>
            <a:off x="914400" y="1554166"/>
            <a:ext cx="4373526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latin typeface="Consolas" panose="020B0609020204030204" pitchFamily="49" charset="0"/>
              </a:defRPr>
            </a:lvl1pPr>
          </a:lstStyle>
          <a:p>
            <a:r>
              <a:rPr lang="en-US" altLang="zh-CN" dirty="0"/>
              <a:t>-- </a:t>
            </a:r>
            <a:r>
              <a:rPr lang="zh-CN" altLang="en-US" dirty="0"/>
              <a:t>声明用户变量接收输出参数</a:t>
            </a:r>
          </a:p>
          <a:p>
            <a:r>
              <a:rPr lang="en-US" altLang="zh-CN" dirty="0"/>
              <a:t>CALL </a:t>
            </a:r>
            <a:r>
              <a:rPr lang="en-US" altLang="zh-CN" dirty="0" err="1"/>
              <a:t>CalculateSums</a:t>
            </a:r>
            <a:r>
              <a:rPr lang="en-US" altLang="zh-CN" dirty="0"/>
              <a:t>(10, @sum, @even, @odd, @div3);</a:t>
            </a:r>
          </a:p>
          <a:p>
            <a:endParaRPr lang="en-US" altLang="zh-CN" dirty="0"/>
          </a:p>
          <a:p>
            <a:r>
              <a:rPr lang="en-US" altLang="zh-CN" dirty="0"/>
              <a:t>-- </a:t>
            </a:r>
            <a:r>
              <a:rPr lang="zh-CN" altLang="en-US" dirty="0"/>
              <a:t>查看输出参数的值</a:t>
            </a:r>
          </a:p>
          <a:p>
            <a:r>
              <a:rPr lang="en-US" altLang="zh-CN" dirty="0"/>
              <a:t>SELECT @sum AS '</a:t>
            </a:r>
            <a:r>
              <a:rPr lang="zh-CN" altLang="en-US" dirty="0"/>
              <a:t>总和</a:t>
            </a:r>
            <a:r>
              <a:rPr lang="en-US" altLang="zh-CN" dirty="0"/>
              <a:t>'</a:t>
            </a:r>
          </a:p>
          <a:p>
            <a:r>
              <a:rPr lang="en-US" altLang="zh-CN" dirty="0"/>
              <a:t>  , @even AS '</a:t>
            </a:r>
            <a:r>
              <a:rPr lang="zh-CN" altLang="en-US" dirty="0"/>
              <a:t>偶数和</a:t>
            </a:r>
            <a:r>
              <a:rPr lang="en-US" altLang="zh-CN" dirty="0"/>
              <a:t>'</a:t>
            </a:r>
          </a:p>
          <a:p>
            <a:r>
              <a:rPr lang="en-US" altLang="zh-CN" dirty="0"/>
              <a:t>  , @odd AS '</a:t>
            </a:r>
            <a:r>
              <a:rPr lang="zh-CN" altLang="en-US" dirty="0"/>
              <a:t>奇数和</a:t>
            </a:r>
            <a:r>
              <a:rPr lang="en-US" altLang="zh-CN" dirty="0"/>
              <a:t>'</a:t>
            </a:r>
          </a:p>
          <a:p>
            <a:r>
              <a:rPr lang="en-US" altLang="zh-CN" dirty="0"/>
              <a:t>  , @div3 AS '</a:t>
            </a:r>
            <a:r>
              <a:rPr lang="zh-CN" altLang="en-US" dirty="0"/>
              <a:t>能被</a:t>
            </a:r>
            <a:r>
              <a:rPr lang="en-US" altLang="zh-CN" dirty="0"/>
              <a:t>3</a:t>
            </a:r>
            <a:r>
              <a:rPr lang="zh-CN" altLang="en-US" dirty="0"/>
              <a:t>整除的和</a:t>
            </a:r>
            <a:r>
              <a:rPr lang="en-US" altLang="zh-CN" dirty="0"/>
              <a:t>';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9482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内存数据库：</a:t>
            </a:r>
            <a:r>
              <a:rPr lang="en-US" altLang="zh-CN" dirty="0"/>
              <a:t>SQLite</a:t>
            </a:r>
            <a:r>
              <a:rPr lang="zh-CN" altLang="en-US" dirty="0"/>
              <a:t>等嵌入到应用程序中的数据库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内存数据库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将数据放在内存中直接操作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抛弃了磁盘数据管理的传统方式，基于全部数据都在内存中重新设计了体系结构，并且在数据缓存、快速算法、并行操作方面也进行了相应的改进，所以数据处理速度比传统数据库的数据处理速度要快很多，一般都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倍以上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高性能要求，数据量不是特别大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应用广泛：手机通讯录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常用内存数据库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SQLite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：一个小型的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程序库，实现了独立的，可嵌入的，零配置的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数据库引擎。支持很多种语言的编程接口，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C/C++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Java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Python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.Net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Ruby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Perl</a:t>
            </a:r>
          </a:p>
          <a:p>
            <a:pPr lvl="1"/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Altibase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Oracle Berkeley DB</a:t>
            </a:r>
          </a:p>
          <a:p>
            <a:pPr lvl="1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Oracle 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TimesTen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eXtremeDB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H2 Database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13373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93800"/>
            <a:ext cx="5703277" cy="4983163"/>
          </a:xfrm>
        </p:spPr>
        <p:txBody>
          <a:bodyPr>
            <a:normAutofit/>
          </a:bodyPr>
          <a:lstStyle/>
          <a:p>
            <a:r>
              <a:rPr lang="zh-CN" altLang="en-US" dirty="0"/>
              <a:t>用户通过应用程序的</a:t>
            </a:r>
            <a:r>
              <a:rPr lang="en-US" altLang="zh-CN" dirty="0"/>
              <a:t>UI</a:t>
            </a:r>
            <a:r>
              <a:rPr lang="zh-CN" altLang="en-US" dirty="0"/>
              <a:t>来</a:t>
            </a:r>
            <a:r>
              <a:rPr lang="zh-CN" altLang="en-US" dirty="0">
                <a:solidFill>
                  <a:srgbClr val="FF0000"/>
                </a:solidFill>
              </a:rPr>
              <a:t>访问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增删改查</a:t>
            </a:r>
            <a:r>
              <a:rPr lang="zh-CN" altLang="en-US" dirty="0"/>
              <a:t>）数据库中的数据</a:t>
            </a:r>
            <a:endParaRPr lang="en-US" altLang="zh-CN" dirty="0"/>
          </a:p>
          <a:p>
            <a:r>
              <a:rPr lang="zh-CN" altLang="en-US" dirty="0"/>
              <a:t>中间件：为应用程序访问各类数据库提供统一接口的软件</a:t>
            </a:r>
            <a:endParaRPr lang="en-US" altLang="zh-CN" dirty="0"/>
          </a:p>
          <a:p>
            <a:r>
              <a:rPr lang="en-US" altLang="zh-CN" dirty="0"/>
              <a:t>DB</a:t>
            </a:r>
            <a:r>
              <a:rPr lang="zh-CN" altLang="en-US" dirty="0"/>
              <a:t>应用系统编程：嵌入式</a:t>
            </a:r>
            <a:r>
              <a:rPr lang="en-US" altLang="zh-CN" dirty="0"/>
              <a:t>SQL</a:t>
            </a:r>
            <a:r>
              <a:rPr lang="zh-CN" altLang="en-US" dirty="0"/>
              <a:t>、存储过程、</a:t>
            </a:r>
            <a:r>
              <a:rPr lang="en-US" altLang="zh-CN" dirty="0"/>
              <a:t>UI</a:t>
            </a:r>
            <a:r>
              <a:rPr lang="zh-CN" altLang="en-US" dirty="0"/>
              <a:t>端数据访问编程</a:t>
            </a:r>
            <a:endParaRPr lang="en-US" altLang="zh-CN" dirty="0"/>
          </a:p>
          <a:p>
            <a:r>
              <a:rPr lang="zh-CN" altLang="en-US" dirty="0"/>
              <a:t>本讲是数据库应用开发与运维的关键技术之一，是信息系统开发必备的知识，务必理解好</a:t>
            </a:r>
          </a:p>
        </p:txBody>
      </p:sp>
      <p:sp>
        <p:nvSpPr>
          <p:cNvPr id="4" name="矩形 3"/>
          <p:cNvSpPr/>
          <p:nvPr/>
        </p:nvSpPr>
        <p:spPr>
          <a:xfrm>
            <a:off x="8139165" y="5134707"/>
            <a:ext cx="3214635" cy="65314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基础和应用基础研究</a:t>
            </a:r>
          </a:p>
        </p:txBody>
      </p:sp>
      <p:sp>
        <p:nvSpPr>
          <p:cNvPr id="5" name="矩形 4"/>
          <p:cNvSpPr/>
          <p:nvPr/>
        </p:nvSpPr>
        <p:spPr>
          <a:xfrm>
            <a:off x="8139162" y="4240404"/>
            <a:ext cx="3214635" cy="65314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DBMS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平台研发</a:t>
            </a:r>
          </a:p>
        </p:txBody>
      </p:sp>
      <p:sp>
        <p:nvSpPr>
          <p:cNvPr id="6" name="矩形 5"/>
          <p:cNvSpPr/>
          <p:nvPr/>
        </p:nvSpPr>
        <p:spPr>
          <a:xfrm>
            <a:off x="8139161" y="3304326"/>
            <a:ext cx="3214635" cy="65314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DB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设计</a:t>
            </a:r>
          </a:p>
        </p:txBody>
      </p:sp>
      <p:sp>
        <p:nvSpPr>
          <p:cNvPr id="7" name="矩形 6"/>
          <p:cNvSpPr/>
          <p:nvPr/>
        </p:nvSpPr>
        <p:spPr>
          <a:xfrm>
            <a:off x="8139161" y="2368248"/>
            <a:ext cx="3214635" cy="65314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应用开发与运维</a:t>
            </a:r>
          </a:p>
        </p:txBody>
      </p:sp>
      <p:sp>
        <p:nvSpPr>
          <p:cNvPr id="8" name="矩形 7"/>
          <p:cNvSpPr/>
          <p:nvPr/>
        </p:nvSpPr>
        <p:spPr>
          <a:xfrm>
            <a:off x="8139160" y="1439847"/>
            <a:ext cx="3214635" cy="65314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UI</a:t>
            </a:r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完成业务工作</a:t>
            </a:r>
          </a:p>
        </p:txBody>
      </p:sp>
      <p:sp>
        <p:nvSpPr>
          <p:cNvPr id="9" name="矩形 8"/>
          <p:cNvSpPr/>
          <p:nvPr/>
        </p:nvSpPr>
        <p:spPr>
          <a:xfrm>
            <a:off x="7445829" y="1432170"/>
            <a:ext cx="683284" cy="435568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相关职业</a:t>
            </a:r>
          </a:p>
        </p:txBody>
      </p:sp>
    </p:spTree>
    <p:extLst>
      <p:ext uri="{BB962C8B-B14F-4D97-AF65-F5344CB8AC3E}">
        <p14:creationId xmlns:p14="http://schemas.microsoft.com/office/powerpoint/2010/main" val="1707736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5844</TotalTime>
  <Words>4575</Words>
  <Application>Microsoft Office PowerPoint</Application>
  <PresentationFormat>宽屏</PresentationFormat>
  <Paragraphs>527</Paragraphs>
  <Slides>33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6" baseType="lpstr">
      <vt:lpstr>-apple-system</vt:lpstr>
      <vt:lpstr>quote-cjk-patch</vt:lpstr>
      <vt:lpstr>黑体</vt:lpstr>
      <vt:lpstr>楷体</vt:lpstr>
      <vt:lpstr>宋体</vt:lpstr>
      <vt:lpstr>微软雅黑 Light</vt:lpstr>
      <vt:lpstr>Arial</vt:lpstr>
      <vt:lpstr>Calibri</vt:lpstr>
      <vt:lpstr>Cambria Math</vt:lpstr>
      <vt:lpstr>Consolas</vt:lpstr>
      <vt:lpstr>Times New Roman</vt:lpstr>
      <vt:lpstr>Wingdings</vt:lpstr>
      <vt:lpstr>Office 主题</vt:lpstr>
      <vt:lpstr>第6讲 数据库应用系统</vt:lpstr>
      <vt:lpstr>教学目标</vt:lpstr>
      <vt:lpstr>数据管理程序的技术发展历史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数据库应用程序的结构</vt:lpstr>
      <vt:lpstr>PowerPoint 演示文稿</vt:lpstr>
      <vt:lpstr>DB中间件</vt:lpstr>
      <vt:lpstr>PowerPoint 演示文稿</vt:lpstr>
      <vt:lpstr>嵌入式SQL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SQL编程：语言要素，存储过程、函数和触发器编程</vt:lpstr>
      <vt:lpstr>PowerPoint 演示文稿</vt:lpstr>
      <vt:lpstr>PowerPoint 演示文稿</vt:lpstr>
      <vt:lpstr>PowerPoint 演示文稿</vt:lpstr>
      <vt:lpstr>内存数据库：SQLite等嵌入到应用程序中的数据库</vt:lpstr>
      <vt:lpstr>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数据库查询技术（潘文林）</dc:title>
  <dc:creator>潘文林</dc:creator>
  <cp:lastModifiedBy>文林 潘</cp:lastModifiedBy>
  <cp:revision>5420</cp:revision>
  <dcterms:created xsi:type="dcterms:W3CDTF">2017-03-26T02:38:44Z</dcterms:created>
  <dcterms:modified xsi:type="dcterms:W3CDTF">2026-05-04T19:42:37Z</dcterms:modified>
</cp:coreProperties>
</file>