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73"/>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1" r:id="rId17"/>
    <p:sldId id="272" r:id="rId18"/>
    <p:sldId id="323"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326"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24" r:id="rId49"/>
    <p:sldId id="301" r:id="rId50"/>
    <p:sldId id="302" r:id="rId51"/>
    <p:sldId id="303" r:id="rId52"/>
    <p:sldId id="304" r:id="rId53"/>
    <p:sldId id="305" r:id="rId54"/>
    <p:sldId id="306" r:id="rId55"/>
    <p:sldId id="307" r:id="rId56"/>
    <p:sldId id="308" r:id="rId57"/>
    <p:sldId id="309" r:id="rId58"/>
    <p:sldId id="310" r:id="rId59"/>
    <p:sldId id="311" r:id="rId60"/>
    <p:sldId id="312" r:id="rId61"/>
    <p:sldId id="313" r:id="rId62"/>
    <p:sldId id="314" r:id="rId63"/>
    <p:sldId id="315" r:id="rId64"/>
    <p:sldId id="316" r:id="rId65"/>
    <p:sldId id="317" r:id="rId66"/>
    <p:sldId id="318" r:id="rId67"/>
    <p:sldId id="319" r:id="rId68"/>
    <p:sldId id="320" r:id="rId69"/>
    <p:sldId id="321" r:id="rId70"/>
    <p:sldId id="322" r:id="rId71"/>
    <p:sldId id="325" r:id="rId72"/>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474"/>
    <a:srgbClr val="A3DBFF"/>
    <a:srgbClr val="C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2886" autoAdjust="0"/>
  </p:normalViewPr>
  <p:slideViewPr>
    <p:cSldViewPr snapToGrid="0">
      <p:cViewPr varScale="1">
        <p:scale>
          <a:sx n="90" d="100"/>
          <a:sy n="90" d="100"/>
        </p:scale>
        <p:origin x="96" y="388"/>
      </p:cViewPr>
      <p:guideLst>
        <p:guide orient="horz" pos="162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16" Type="http://schemas.openxmlformats.org/officeDocument/2006/relationships/slide" Target="slides/slide1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slide" Target="slides/slide67.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slide" Target="slides/slide70.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slide" Target="slides/slide68.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 Id="rId71" Type="http://schemas.openxmlformats.org/officeDocument/2006/relationships/slide" Target="slides/slide69.xml"/><Relationship Id="rId2" Type="http://schemas.openxmlformats.org/officeDocument/2006/relationships/slideMaster" Target="slideMasters/slideMaster2.xml"/><Relationship Id="rId29"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07.05.2026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来到数据库系列课程的第七讲。今天我们将深入探讨一个非常重要的话题——关系数据库的规范化设计。这一章是数据库设计的核心理论基础，它将帮助我们理解如何设计出结构合理、数据冗余少、操作高效的数据库。</a:t>
            </a:r>
            <a:r>
              <a:rPr lang="zh-CN" altLang="en-US" sz="1400" b="0" i="0" u="none" strike="noStrike">
                <a:solidFill>
                  <a:srgbClr val="000000"/>
                </a:solidFill>
              </a:rPr>
              <a:t>本讲</a:t>
            </a:r>
            <a:r>
              <a:rPr lang="en-US" sz="1400" b="0" i="0" u="none" strike="noStrike">
                <a:solidFill>
                  <a:srgbClr val="000000"/>
                </a:solidFill>
              </a:rPr>
              <a:t>内容较为抽象，希望大家能跟上思路，我们将从问题的提出开始，逐步深入到函数依赖、范式等核心概念。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在开始之前，我们先明确一下</a:t>
            </a:r>
            <a:r>
              <a:rPr lang="zh-CN" altLang="en-US" sz="1400" b="0" i="0" u="none" strike="noStrike">
                <a:solidFill>
                  <a:srgbClr val="000000"/>
                </a:solidFill>
              </a:rPr>
              <a:t>本讲</a:t>
            </a:r>
            <a:r>
              <a:rPr lang="en-US" sz="1400" b="0" i="0" u="none" strike="noStrike">
                <a:solidFill>
                  <a:srgbClr val="000000"/>
                </a:solidFill>
              </a:rPr>
              <a:t>需要掌握的几个核心概念。首先是关系模式设计中常见的冗余和异常问题，这是我们学习规范化理论的出发点。接着，我们会深入学习函数依赖（FD）的相关理论，包括它的定义、推理规则和闭包等。然后，我们将探讨模式分解的两个重要特性：无损分解和保持依赖。在此基础上，我们将学习从第一范式到BCNF的各级范式，并掌握相关的分解算法。最后，我们会简要介绍多值依赖和更高阶的范式。希望通过</a:t>
            </a:r>
            <a:r>
              <a:rPr lang="zh-CN" altLang="en-US" sz="1400" b="0" i="0" u="none" strike="noStrike">
                <a:solidFill>
                  <a:srgbClr val="000000"/>
                </a:solidFill>
              </a:rPr>
              <a:t>本讲</a:t>
            </a:r>
            <a:r>
              <a:rPr lang="en-US" sz="1400" b="0" i="0" u="none" strike="noStrike">
                <a:solidFill>
                  <a:srgbClr val="000000"/>
                </a:solidFill>
              </a:rPr>
              <a:t>的学习，大家能建立起一套科学的数据库设计思想。</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本讲</a:t>
            </a:r>
            <a:r>
              <a:rPr lang="en-US" sz="1400" b="0" i="0" u="none" strike="noStrike">
                <a:solidFill>
                  <a:srgbClr val="000000"/>
                </a:solidFill>
              </a:rPr>
              <a:t>的内容结构非常清晰。我们将首先在4.1节中探讨关系模式设计中存在的实际问题，即数据冗余和操作异常。然后在4.2节，我们将引入核心理论工具——函数依赖。有了理论基础后，4.3节将讨论如何通过模式分解来解决这些问题，并引出无损分解和保持依赖的概念。4.4节是</a:t>
            </a:r>
            <a:r>
              <a:rPr lang="zh-CN" altLang="en-US" sz="1400" b="0" i="0" u="none" strike="noStrike">
                <a:solidFill>
                  <a:srgbClr val="000000"/>
                </a:solidFill>
              </a:rPr>
              <a:t>本讲</a:t>
            </a:r>
            <a:r>
              <a:rPr lang="en-US" sz="1400" b="0" i="0" u="none" strike="noStrike">
                <a:solidFill>
                  <a:srgbClr val="000000"/>
                </a:solidFill>
              </a:rPr>
              <a:t>的重点，我们将详细讲解从第一范式到BCNF的各级范式标准。最后，在4.5节，我们会简单介绍多值依赖和更高阶的范式。让我们开始吧。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首先，我们来了解一下什么是规范化设计理论。简单来说，它就是一套指导我们如何设计出“好”的关系数据库模式的理论体系。这个理论主要包含三个部分：数据依赖、范式和模式设计方法。数据依赖描述了数据之间内在的联系，是整个理论的基石。范式则定义了不同级别的设计标准，我们可以用它来衡量一个设计的优劣。而模式设计方法则提供了具体的步骤和算法，帮助我们将一个不够好的设计转化为符合范式要求的设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第一节，探讨关系模式设计中遇到的具体问题。在这一节，我们将首先区分关系模型的外延和内涵，理解数据完整性约束的重要性。然后，我们会通过一个具体的例子，详细分析设计不当会导致的数据冗余和插入、删除、修改等操作异常。接着，我们会总结出几条非形式化的设计准则，作为我们设计时的参考。最后，为了方便后续的学习，我们会统一</a:t>
            </a:r>
            <a:r>
              <a:rPr lang="zh-CN" altLang="en-US" sz="1400" b="0" i="0" u="none" strike="noStrike">
                <a:solidFill>
                  <a:srgbClr val="000000"/>
                </a:solidFill>
              </a:rPr>
              <a:t>本讲</a:t>
            </a:r>
            <a:r>
              <a:rPr lang="en-US" sz="1400" b="0" i="0" u="none" strike="noStrike">
                <a:solidFill>
                  <a:srgbClr val="000000"/>
                </a:solidFill>
              </a:rPr>
              <a:t>将要使用的符号规定。</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讨论设计问题之前，我们需要明确两个基本概念：外延和内涵。外延，简单说就是我们实际看到的、存储在数据库里的那张表，它是数据的具体实例。而内涵，则是定义这张表结构和规则的元数据，包括表有哪些列，主键是什么，以及数据之间必须满足哪些约束。内涵是稳定的，而外延是随时间变化的。我们</a:t>
            </a:r>
            <a:r>
              <a:rPr lang="zh-CN" altLang="en-US" sz="1400" b="0" i="0" u="none" strike="noStrike">
                <a:solidFill>
                  <a:srgbClr val="000000"/>
                </a:solidFill>
              </a:rPr>
              <a:t>本讲</a:t>
            </a:r>
            <a:r>
              <a:rPr lang="en-US" sz="1400" b="0" i="0" u="none" strike="noStrike">
                <a:solidFill>
                  <a:srgbClr val="000000"/>
                </a:solidFill>
              </a:rPr>
              <a:t>关注的重点，就是内涵中的静态约束，特别是数据依赖，因为它直接关系到我们设计的好坏。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直观地理解设计问题，我们来看一个例子。假设我们设计了一个关系模式，用来记录学生选课信息。这个表包含了学生号、课程号、课程名和教师名。大家观察这张表，可以发现什么问题？比如，课程号C4对应的课程名是PASCAL，任课教师是WEN。当有多个学生（如S2, S4, S6）选修这门课时，课程名和教师名就被重复存储了多次。这就是典型的数据冗余。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数据冗余不仅仅是浪费存储空间，更严重的是它会引发一系列操作异常。首先是修改异常，比如要修改一门课的教师，我们必须找到所有选了这门课的学生记录并逐一修改，非常容易出错。其次是插入异常，如果一门新课还没有人选，我们就无法把它的信息存进数据库。最后是删除异常，如果删除某个学生的选课记录，可能会连带把课程本身的信息也删掉。这些问题的根源，就是我们把学生选课和课程信息这两个不同的主题，硬塞进了一个关系模式里。</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解决这些问题的方法就是进行模式分解。我们把原来的大表拆分成两个小表。一个表R1只记录学生和课程的联系，也就是谁选了什么课。另一个表R2专门记录课程的详细信息，包括课程号、课程名和教师名。这样一来，课程信息只存储一次，避免了冗余。修改教师信息时，只需在R2中改一条记录。插入新课或删除学生选课记录，也不会互相影响。这就是规范化设计的基本思想：让一个关系只描述一个主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Noto Sans SC"/>
                <a:ea typeface="Noto Sans SC"/>
                <a:cs typeface="Noto Sans SC"/>
                <a:sym typeface="Noto Sans SC"/>
              </a:rPr>
              <a:t>从刚才的例子中，我们可以提炼出几条设计关系模式时应遵循的非形式化准则。第一条，也是最重要的一条，就是“一事一地”原则，一个关系只做一件事，只描述一个实体或一种联系。第二条，设计要能避免我们刚才提到的那些操作异常。第三条，尽量不要在表中设置那些大部分时间都是空值的字段。第四条，当需要连接多个表时，应该通过主键和外键进行，并且要保证连接后的结果是正确的，不会产生多余的、错误的数据。这些准则将指导我们后续的设计工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SimHei"/>
                <a:ea typeface="SimHei"/>
                <a:cs typeface="SimHei"/>
                <a:sym typeface="SimHei"/>
              </a:rPr>
              <a:t>在我们深入学习理论之前，先统一一下</a:t>
            </a:r>
            <a:r>
              <a:rPr lang="zh-CN" altLang="en-US" sz="1400" b="0" i="0" u="none" strike="noStrike">
                <a:solidFill>
                  <a:srgbClr val="000000"/>
                </a:solidFill>
                <a:latin typeface="SimHei"/>
                <a:ea typeface="SimHei"/>
                <a:cs typeface="SimHei"/>
                <a:sym typeface="SimHei"/>
              </a:rPr>
              <a:t>本讲</a:t>
            </a:r>
            <a:r>
              <a:rPr lang="en-US" sz="1400" b="0" i="0" u="none" strike="noStrike">
                <a:solidFill>
                  <a:srgbClr val="000000"/>
                </a:solidFill>
                <a:latin typeface="SimHei"/>
                <a:ea typeface="SimHei"/>
                <a:cs typeface="SimHei"/>
                <a:sym typeface="SimHei"/>
              </a:rPr>
              <a:t>要用到的符号。这对于准确地理解和表达概念至关重要。我们用A、B、C这样的字母代表单个属性，用X、Y、Z代表属性的集合。关系模式用R表示，具体的数据表用r表示。为了简洁，我们会把属性集的并集直接连写，比如X并Y就写成XY。请大家熟悉这些符号，这将帮助我们更清晰地理解后面的函数依赖和范式定义。</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a:t>
            </a:r>
            <a:r>
              <a:rPr lang="zh-CN" altLang="en-US" sz="1400" b="0" i="0" u="none" strike="noStrike">
                <a:solidFill>
                  <a:srgbClr val="000000"/>
                </a:solidFill>
              </a:rPr>
              <a:t>本讲</a:t>
            </a:r>
            <a:r>
              <a:rPr lang="en-US" sz="1400" b="0" i="0" u="none" strike="noStrike">
                <a:solidFill>
                  <a:srgbClr val="000000"/>
                </a:solidFill>
              </a:rPr>
              <a:t>的核心理论部分——函数依赖，简称FD。函数依赖是规范化设计的理论基石，它精确地描述了关系中属性之间的依赖关系。在这一节，我们将学习函数依赖的严格定义，了解如何从已知的依赖推导出未知的依赖（逻辑蕴涵），掌握一套完整的推理规则。我们还会探讨函数依赖与候选键之间的密切关系，并学习如何计算属性集的闭包。最后，我们会了解推理规则的完备性，并学习如何找到一个最小化的函数依赖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首先来看函数依赖的严格定义。函数依赖是一个形如X箭头Y的命题。它的意思是，在一个关系表中，如果任意两个记录在X属性（或属性组）上的值是相同的，那么它们在Y属性（或属性组）上的值也必须是相同的。换句话说，知道了X的值，就能唯一确定Y的值。比如在学生表中，学号可以唯一确定学生姓名，我们就说“学号函数决定姓名”，记作“学号→姓名”。这个定义是理解后续所有内容的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我们通过一个例子来加深理解。看左边的表，对于属性A的每一个值，比如a1，它对应的B值始终是b1。这就满足了函数依赖的定义，所以我们说A→B在这个关系中成立。</a:t>
            </a:r>
          </a:p>
          <a:p>
            <a:pPr indent="0" algn="l">
              <a:lnSpc>
                <a:spcPct val="100000"/>
              </a:lnSpc>
            </a:pPr>
            <a:r>
              <a:rPr lang="en-US" sz="1400" b="0" i="0" u="none" strike="noStrike">
                <a:solidFill>
                  <a:srgbClr val="000000"/>
                </a:solidFill>
              </a:rPr>
              <a:t>再看中间的表，当A的值是a1时，对应的B值有b1和b2两种。这就违反了“X唯一确定Y”的原则，因此在这个关系中，A→B不成立。</a:t>
            </a:r>
          </a:p>
          <a:p>
            <a:pPr indent="0" algn="l">
              <a:lnSpc>
                <a:spcPct val="100000"/>
              </a:lnSpc>
            </a:pPr>
            <a:r>
              <a:rPr lang="en-US" sz="1400" b="0" i="0" u="none" strike="noStrike">
                <a:solidFill>
                  <a:srgbClr val="000000"/>
                </a:solidFill>
              </a:rPr>
              <a:t>右侧我为大家总结了一个核心口诀：“一个X，一个Y”，即X相同Y必须相同。只要找到任何一个反例，就能立刻推翻一个函数依赖关系。请大家仔细体会这两个例子的区别，掌握这个判断方法。</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看一个更贴近实际的复杂例子。假设我们有一个关系模式，它混合了学生、课程和教师的信息。根据我们对现实世界的理解，可以写出一系列函数依赖。比如，学号可以决定学生的姓名、年龄和性别。课程号可以决定课程名和任课教师的教师号。而教师号又可以决定教师的姓名和职称。学生的成绩则需要由学号和课程号共同决定。这些函数依赖准确地描述了数据之间的内在联系，是我们进行模式分解的依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我们可以用一个关系图来直观地表示刚才例子中的函数依赖关系，箭头表示决定关系。比如，从S#出发有箭头指向SNAME、AGE、SEX。从C#出发有箭头指向CNAME和T#，等等。这种图有助于我们快速把握整体的依赖结构。</a:t>
            </a:r>
          </a:p>
          <a:p>
            <a:pPr indent="0" algn="l">
              <a:lnSpc>
                <a:spcPct val="100000"/>
              </a:lnSpc>
            </a:pPr>
            <a:r>
              <a:rPr lang="en-US" sz="1400" b="0" i="0" u="none" strike="noStrike">
                <a:solidFill>
                  <a:srgbClr val="000000"/>
                </a:solidFill>
              </a:rPr>
              <a:t>另外，如果两个属性或属性集之间是相互决定的，比如身份证号和姓名（假设姓名唯一），我们就说它们是等价依赖，记作X双向箭头Y。这表示它们之间是一一对应的关系。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D6C1BB-FB27-A765-517E-748CF7E64C2B}"/>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C9346A94-E0AF-DA88-4B44-2AF50D3C80D7}"/>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046A4D54-FFDA-D8FF-E5BC-89C43C68284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495C80CF-517A-4E53-CE4F-2F2D3F83C5D1}"/>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EEA6A772-E6A3-48C8-0AD3-0FE715561C48}"/>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我们可以用一个关系图来直观地表示刚才例子中的函数依赖关系，箭头表示决定关系。比如，从S#出发有箭头指向SNAME、AGE、SEX。从C#出发有箭头指向CNAME和T#，等等。这种图有助于我们快速把握整体的依赖结构。</a:t>
            </a:r>
          </a:p>
          <a:p>
            <a:pPr indent="0" algn="l">
              <a:lnSpc>
                <a:spcPct val="100000"/>
              </a:lnSpc>
            </a:pPr>
            <a:r>
              <a:rPr lang="en-US" sz="1400" b="0" i="0" u="none" strike="noStrike">
                <a:solidFill>
                  <a:srgbClr val="000000"/>
                </a:solidFill>
              </a:rPr>
              <a:t>另外，如果两个属性或属性集之间是相互决定的，比如身份证号和姓名（假设姓名唯一），我们就说它们是等价依赖，记作X双向箭头Y。这表示它们之间是一一对应的关系。</a:t>
            </a:r>
          </a:p>
        </p:txBody>
      </p:sp>
      <p:sp>
        <p:nvSpPr>
          <p:cNvPr id="6" name="Footer Placeholder 5">
            <a:extLst>
              <a:ext uri="{FF2B5EF4-FFF2-40B4-BE49-F238E27FC236}">
                <a16:creationId xmlns:a16="http://schemas.microsoft.com/office/drawing/2014/main" id="{28BAEC1B-DE2B-6E13-590E-F619B0936400}"/>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BDB8E3A-6EB6-02FA-E8A7-296ADBEF5727}"/>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40009805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讨论逻辑蕴涵和闭包的概念。逻辑蕴涵的意思是，如果一个函数依赖集F是成立的，那么是否必然导致另一个函数依赖X→Y也成立？如果是，我们就说F逻辑蕴涵X→Y。而一个函数依赖集F的闭包F+，就是所有被F逻辑蕴涵的函数依赖的集合。研究闭包的意义在于，它能帮助我们从已知的、显式的依赖关系，推导出所有未知的、隐式的依赖关系。我们的核心问题就是，如何系统地计算出一个给定FD集的闭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计算闭包的问题，Armstrong提出了一套公理系统，包含三条基本推理规则。第一条是自反性，很简单，如果Y是X的子集，那么X一定能决定Y。第二条是增广性，如果X能决定Y，那么给X和Y同时增加一个属性Z，依赖关系依然成立。第三条是传递性，这是最常用的，如果X决定Y，Y决定Z，那么X一定能决定Z。这三条规则是后续所有推导的基础，它们本身是正确的，并且组合起来是完备的，足以推导出所有被蕴涵的函数依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简单证明一下这三条规则的正确性。自反性是不言而喻的。对于增广性，我们可以用反证法：假设增广后的依赖不成立，会推导出与原依赖或前提条件相矛盾的结论，因此增广性成立。同理，对于传递性，我们也可以用反证法：假设传递后的依赖不成立，会推导出与X→Y或Y→Z相矛盾的结论，因此传递性也成立。这些证明保证了我们使用这些规则进行推导的可靠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利用三条基本规则，我们可以推导出更多实用的规则。比如合并规则，如果X能决定Y，也能决定Z，那么X就能决定Y和Z的组合。分解规则正好相反，如果X能决定Y和Z的组合，那么X也能分别决定Y和Z。还有伪传递规则和复合规则。其中，分解和合并规则非常重要，它告诉我们，任何一个函数依赖都可以等价地分解为右边是单个属性的多个函数依赖。这为我们后续寻找最小依赖集奠定了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我们来看一个计算闭包的例子。给定模式R(ABC)和依赖集F={A→B, B→C}，我们可以利用推理规则推导出所有被F蕴涵的依赖。比如，通过传递性得到A→C；通过合并规则得到A→BC；还有各种平凡依赖和增广后的依赖。</a:t>
            </a:r>
          </a:p>
          <a:p>
            <a:pPr indent="0" algn="l">
              <a:lnSpc>
                <a:spcPct val="100000"/>
              </a:lnSpc>
            </a:pPr>
            <a:r>
              <a:rPr lang="en-US" sz="1400" b="0" i="0" u="none" strike="noStrike">
                <a:solidFill>
                  <a:srgbClr val="000000"/>
                </a:solidFill>
              </a:rPr>
              <a:t>可以看到，即使是一个非常简单的例子，其闭包F+也包含了大量的依赖。这说明直接枚举F+是不可行的。我们需要寻找一种更高效的方法来判断某个特定的依赖是否被F蕴涵，而不是生成整个闭包。</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之前提到了推理规则的正确性和完备性。正确性保证了我们推出的结论都是正确的，而完备性则保证了我们能够推出所有正确的结论。这三条规则构成的公理系统是完备的。证明完备性的思路比较巧妙，它通过构造一个反例来证明：如果一个依赖X→Y不能被规则推导出来，那么我们一定能构造出一个具体的关系实例，在这个实例中，F里的所有依赖都满足，但X→Y不满足。这就说明X→Y并不是F逻辑蕴涵的，从而证明了规则的完备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就是用来证明完备性的那个特殊关系r。它只有两行数据。第一行所有属性都是1。第二行，在X的闭包中的属性值为1，其他属性值为0。通过分析可以证明，F中的所有依赖在这个关系上都成立，但我们假设无法推出的那个依赖X→Y，在这个关系上是不成立的。因为Y不在X的闭包里，所以t1和t2在X上的值相等，但在Y上的值不等。这就构成了一个完美的反例，证明了规则的完备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解决之前提出的效率问题。为了避免直接计算庞大的F+，我们引入了“属性集闭包”的概念。给定一个属性集X和一个依赖集F，X的闭包X+就是所有能被X决定的属性的集合。这个概念非常重要，因为它提供了一个判断函数依赖是否成立的简便方法：要判断X→Y是否被F蕴涵，我们只需要计算出X的闭包X+，然后检查Y中的所有属性是不是都在X+里面。如果是，就成立；如果不是，就不成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是计算属性集闭包的标准算法。算法的思想很直观：我们从属性集X本身开始，然后反复检查F中的每一个函数依赖。如果某个依赖Y→Z的左边Y已经全部包含在当前的闭包中，我们就把它的右边Z也加入到闭包中。这个过程不断重复，直到闭包不再增大为止。我们来看一个例子，计算A的闭包和AD的闭包。通过一步步迭代，我们可以清晰地看到闭包是如何逐步扩大的。这个算法的效率很高，是多项式时间复杂度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有时候，一个函数依赖集可能包含冗余信息。为了得到最简洁的表示，我们需要寻找它的最小依赖集。一个最小依赖集需要满足三个条件：第一，每个依赖的右边都必须是单个属性；第二，集合中不能有任何一个依赖是多余的，删掉它之后集合的闭包会改变；第三，每个依赖的左边也不能有多余的属性，去掉任何一个属性都会改变该依赖的含义。找到最小依赖集，有助于我们更清晰地理解数据依赖的本质，并为后续的模式分解做准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通过一个例子来演示如何求最小依赖集。这个过程通常分三步。第一步，利用分解规则，把所有依赖的右边都变成单个属性。第二步，逐一检查每个依赖是否是冗余的。方法是，暂时去掉这个依赖，然后看它的左边的闭包是否还包含右边。如果包含，说明这个依赖是多余的。第三步，检查每个依赖的左边是否有多余的属性。方法是，尝试去掉左边的某个属性，看剩下的部分是否还能决定右边。如果能，说明该属性是冗余的。通过这三步，我们就能得到一个最小依赖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函数依赖与候选键有着密切的关系。候选键是能够唯一标识关系中每一个元组的最小属性集。利用函数依赖理论，我们可以系统地找到一个关系模式的候选键。基本思路是：首先，那些只在依赖左边出现的属性（L类）和不出现的属性（N类），一定是候选键的一部分。我们先把它们组合起来，计算其闭包。如果闭包就是全部属性U，那它就是候选键。如果不是，我们就需要从那些在依赖两边都出现的属性（LR类）中挑选，与已有部分组合，直到找到最小的能决定全部属性的属性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我们来看一个求候选键的例子。给定模式R(ABC)和依赖集F。首先，我们求出它的最小依赖集是{A→B, B→C}。然后分析属性类型，发现A只在依赖的左边出现，所以它一定是候选键的成员。我们计算A的闭包，发现A的闭包就是ABC，也就是全部属性。因此，A就是这个关系模式的唯一候选键。这个过程清晰地展示了如何利用函数依赖理论来确定候选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611E4-9829-6739-E31C-9D3F0D4F1F6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108C5BAB-A207-D013-6A4E-E786C3076A0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497CBA89-12D3-719A-9F7D-F45A76242807}"/>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BA28C2D1-0A6A-CDB8-3F7C-F0A612B3266A}"/>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BDB99408-32A1-5101-8AF6-8A6C081C1265}"/>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本讲</a:t>
            </a:r>
            <a:r>
              <a:rPr lang="en-US" sz="1400" b="0" i="0" u="none" strike="noStrike">
                <a:solidFill>
                  <a:srgbClr val="000000"/>
                </a:solidFill>
              </a:rPr>
              <a:t>我们系统学习了关系数据库的规范化设计理论。我们从最基础的函数依赖出发，依次学习了第一范式到BCNF的定义和分解方法。随后，我们探讨了更复杂的多值依赖和第四范式，以及连接依赖和第五范式。这些理论共同构成了数据库设计的核心原则。在实际应用中，我们需要根据具体情况，在规范化带来的数据一致性和查询带来的性能之间找到最佳平衡点，通常3NF和BCNF是实践中最常用的目标。</a:t>
            </a:r>
          </a:p>
        </p:txBody>
      </p:sp>
      <p:sp>
        <p:nvSpPr>
          <p:cNvPr id="6" name="Footer Placeholder 5">
            <a:extLst>
              <a:ext uri="{FF2B5EF4-FFF2-40B4-BE49-F238E27FC236}">
                <a16:creationId xmlns:a16="http://schemas.microsoft.com/office/drawing/2014/main" id="{617EF61E-1076-0994-7526-07D5D6730D8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3E39515-41E1-FB19-17D0-211640E9DA68}"/>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7917416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掌握了函数依赖理论后，我们现在可以正式讨论如何进行模式分解了。在这一节，我们将首先明确模式分解的定义。然后，我们将学习衡量分解好坏的两个最重要的标准：无损分解和保持函数依赖。我们会详细探讨什么是无损分解，为什么它很重要，以及如何测试一个分解是否是无损的。接着，我们会学习什么是保持函数依赖的分解。最后，我们将综合这两个标准，讨论模式分解的等价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式分解的定义很简单，就是把一个大的关系模式R，拆分成一组小的关系模式。这些小模式的属性合起来要和原来的大模式完全一样。分解的目的是为了解决数据冗余和操作异常。但分解不是随意的，我们需要保证分解是“好”的。评价一个分解好坏有两个核心标准：第一，数据等价，也就是说，分解后的小表通过自然连接能否精确地恢复出原来的大表，这就是无损分解的概念。第二，依赖等价，也就是说，原来的函数依赖关系在分解后是否依然被保持，这就是保持依赖的概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无损分解是我们对模式分解的第一个基本要求。它的定义是，将一个关系r分解到各个小模式上，得到一系列投影，然后将这些投影进行自然连接，得到的结果必须和原来的r完全一样。如果连接后的结果包含了一些原表中没有的、错误的元组，我们就称之为寄生元组，这样的分解就是损失分解。无损分解保证了我们在分解和重构数据的过程中不会丢失信息，也不会产生错误信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通过两个例子来直观感受无损分解和损失分解的区别。在第一个例子中，关系r被分解成r1和r2，然后再连接起来，得到的结果和原来的r完全一样，这就是无损分解。在第二个例子中，连接后的结果比原来的r多出了两个元组，这两个就是寄生元组，它们是错误的，因此这是一个损失分解。这个例子清楚地告诉我们，并非所有分解都是安全的，我们必须确保分解是无损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模式分解既有优点也有缺点。优点是显而易见的，它能消除数据冗余和操作异常，并且能让我们存储一些在原模式中无法存储的信息，比如新课信息。然而，分解也带来了一些问题。最主要的是查询时需要进行连接，这会增加数据库的负担。此外，如果分解不当，还可能产生寄生元组或悬挂元组，导致数据错误或不完整。因此，我们需要科学的方法来指导分解过程，以最大化优点，最小化缺点。</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现在我们学习一个非常重要的算法，叫做Chase过程，用来测试一个分解是否是无损的。这个算法的步骤很清晰。</a:t>
            </a:r>
          </a:p>
          <a:p>
            <a:pPr indent="0" algn="l">
              <a:lnSpc>
                <a:spcPct val="100000"/>
              </a:lnSpc>
            </a:pPr>
            <a:r>
              <a:rPr lang="en-US" sz="1400" b="0" i="0" u="none" strike="noStrike">
                <a:solidFill>
                  <a:srgbClr val="000000"/>
                </a:solidFill>
              </a:rPr>
              <a:t>首先，我们根据分解结果构造一个表格。然后，我们利用给定的函数依赖集F，反复地修改这个表格。修改的规则是，如果两行在某个依赖的左边X上的值相同，那么它们在右边Y上的值也必须变得相同。这个过程一直持续到表格不再变化。</a:t>
            </a:r>
          </a:p>
          <a:p>
            <a:pPr indent="0" algn="l">
              <a:lnSpc>
                <a:spcPct val="100000"/>
              </a:lnSpc>
            </a:pPr>
            <a:r>
              <a:rPr lang="en-US" sz="1400" b="0" i="0" u="none" strike="noStrike">
                <a:solidFill>
                  <a:srgbClr val="000000"/>
                </a:solidFill>
              </a:rPr>
              <a:t>最后，我们检查表格中是否有一行全部是字母a。如果有，说明分解是无损的；如果没有，就是损失的。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我们通过一个例子来走一遍Chase过程。假设我们把R(ABCD)分解成{AB, BC, CD}，依赖集是{F1={B→A, C→D}}。我们先画出初始表格。然后，应用第一个依赖B→A，我们发现第一行和第二行的B值相同，所以把它们的A值都改成a1。接着，应用第二个依赖C→D，第二行和第三行的C值相同，所以把它们的D值都改成a4。此时，第二行变成了a1,a2,a3,a4，全是a。因此，我们可以判定这个分解是无损的。</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无损分解，我们对模式分解的第二个要求是保持函数依赖。保持依赖的含义是，原来的函数依赖集F，必须能被分解后各个小模式上的函数依赖集共同逻辑蕴涵。换句话说，原有的数据约束关系不能因为分解而丢失。保持依赖非常重要，因为它保证了我们在更新数据时，依然可以检查数据的完整性，防止出现不一致的情况。如果一个分解不保持依赖，我们可能需要跨多个表进行复杂的检查，这会大大增加数据库维护的难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一个不保持依赖的例子。假设我们有一个模式，记录教师号、职称和工资，并且有依赖“教师号决定职称”和“职称决定工资”。如果我们把它分解成“教师号-职称”和“教师号-工资”两个表，那么原有的依赖“职称决定工资”就丢失了。因为在任何一个分解后的表中，都无法找到这个依赖。</a:t>
            </a:r>
          </a:p>
          <a:p>
            <a:pPr indent="0" algn="l">
              <a:lnSpc>
                <a:spcPct val="100000"/>
              </a:lnSpc>
            </a:pPr>
            <a:r>
              <a:rPr lang="en-US" sz="1400" b="0" i="0" u="none" strike="noStrike">
                <a:solidFill>
                  <a:srgbClr val="000000"/>
                </a:solidFill>
              </a:rPr>
              <a:t>这会导致什么问题呢？我们可能会在数据库中存入同一个职称对应不同工资的错误数据，比如表中显示的，同为教授的T1和T2工资却不同，而数据库系统无法自动检测到这种错误，这破坏了数据的一致性。因此，在进行模式分解时，我们必须关注是否保持了原有的函数依赖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模式分解的等价问题包含两个层面：数据等价和依赖等价。数据等价由无损分解来保证，它确保了数据的准确性。依赖等价由保持依赖的分解来保证，它确保了数据的完整性和一致性。一个理想的分解应该同时满足这两个条件。如果只能二选一，通常优先保证无损分解，因为数据的准确性是第一位的。但最好的设计是能够找到既无损又保持依赖的分解方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现在我们进入</a:t>
            </a:r>
            <a:r>
              <a:rPr lang="zh-CN" altLang="en-US" sz="1400" b="0" i="0" u="none" strike="noStrike">
                <a:solidFill>
                  <a:srgbClr val="000000"/>
                </a:solidFill>
              </a:rPr>
              <a:t>本讲</a:t>
            </a:r>
            <a:r>
              <a:rPr lang="en-US" sz="1400" b="0" i="0" u="none" strike="noStrike">
                <a:solidFill>
                  <a:srgbClr val="000000"/>
                </a:solidFill>
              </a:rPr>
              <a:t>最核心的部分——范式。范式是衡量关系模式设计好坏的标准。范式的级别越高，通常意味着数据冗余越少，操作异常越少。在这一节，我们将从最基础的第一范式开始，逐步学习第二范式、第三范式，以及更高级的BCNF。我们会详细讲解每一级范式的定义、判断方法，以及如何通过算法将一个低范式的模式分解成高范式的模式集。最后，我们会总结模式设计的基本原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第一范式，简称1NF，是对关系模式的最基本要求。它的定义非常简单：表中的每一个属性值都必须是原子的，不可再分的。也就是说，不能在一个单元格里存储一个列表或者一个集合。</a:t>
            </a:r>
          </a:p>
          <a:p>
            <a:pPr indent="0" algn="l">
              <a:lnSpc>
                <a:spcPct val="100000"/>
              </a:lnSpc>
            </a:pPr>
            <a:r>
              <a:rPr lang="en-US" sz="1400" b="0" i="0" u="none" strike="noStrike">
                <a:solidFill>
                  <a:srgbClr val="000000"/>
                </a:solidFill>
              </a:rPr>
              <a:t>比如，一个人有多个电话号码，不能把它们用逗号隔开存在一个字段里，而应该为每个号码创建一条独立的记录。满足1NF是关系数据库的入门条件，任何不满足1NF的设计都不能称为关系数据库。</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范式，2NF，建立在1NF的基础之上。要理解2NF，我们需要先了解几个概念：完全依赖和局部依赖。完全依赖是指一个属性必须由整个候选键来决定，而不能由候选键的一部分来决定。局部依赖则相反。2NF的定义是：一个1NF的关系模式，如果它的所有非主属性都完全函数依赖于候选键，那么它就是2NF的。换句话说，2NF要求消除非主属性对候选键的局部依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一个违反2NF的经典例子。这个模式包含学生号、课程号、成绩、教师号和教师职称。它的候选键是学生号和课程号的组合。我们可以看到，成绩完全依赖于这个组合键。但是，教师号和职称只依赖于课程号，也就是候选键的一部分，这就是局部依赖。因此，这个模式不是2NF的。解决方法是进行分解，把课程信息单独拿出来形成一个表，剩下的学生选课信息形成另一个表。这样，两个新表都满足了2NF的要求。</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范式，3NF，是在2NF的基础上进一步提出的要求。它关注的是传递依赖。传递依赖指的是这样一种情况：X决定Y，Y又决定A，那么X就传递决定A。3NF的定义是：一个2NF的关系模式，如果它的所有非主属性都不传递依赖于候选键，那么它就是3NF的。换句话说，3NF要求我们消除非主属性对候选键的传递依赖。这是数据库设计中最常用、最重要的范式之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24A358-182F-E667-F5D0-C725C203B57E}"/>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4CBA1DB-6A9C-3790-1FD9-A6A9BB59CD9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1CC727E5-3C0D-4C49-32DB-9FD4B4C354B8}"/>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870D6934-DA6C-CB96-4212-C2C0C428BFD4}"/>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C266FB1D-0F96-FB79-8774-CF342A5E588E}"/>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范式，3NF，是在2NF的基础上进一步提出的要求。它关注的是传递依赖。传递依赖指的是这样一种情况：X决定Y，Y又决定A，那么X就传递决定A。3NF的定义是：一个2NF的关系模式，如果它的所有非主属性都不传递依赖于候选键，那么它就是3NF的。换句话说，3NF要求我们消除非主属性对候选键的传递依赖。这是数据库设计中最常用、最重要的范式之一。</a:t>
            </a:r>
          </a:p>
        </p:txBody>
      </p:sp>
      <p:sp>
        <p:nvSpPr>
          <p:cNvPr id="6" name="Footer Placeholder 5">
            <a:extLst>
              <a:ext uri="{FF2B5EF4-FFF2-40B4-BE49-F238E27FC236}">
                <a16:creationId xmlns:a16="http://schemas.microsoft.com/office/drawing/2014/main" id="{66562603-0C14-3F9D-CEDC-E3B5F68D7046}"/>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432EA101-EC98-2853-7FC4-0041EC6D9AA0}"/>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3483100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我们继续刚才的例子。我们已经将模式分解到了2NF，得到了R1(C#, T#, Title)。现在检查R1是否满足3NF。</a:t>
            </a:r>
          </a:p>
          <a:p>
            <a:pPr indent="0" algn="l">
              <a:lnSpc>
                <a:spcPct val="100000"/>
              </a:lnSpc>
            </a:pPr>
            <a:r>
              <a:rPr lang="en-US" sz="1400" b="0" i="0" u="none" strike="noStrike">
                <a:solidFill>
                  <a:srgbClr val="000000"/>
                </a:solidFill>
              </a:rPr>
              <a:t>R1的候选键是课程号C#。我们发现存在依赖C#→T#和T#→Title。这意味着，非主属性Title传递依赖于候选键C#。因此，R1不满足3NF。</a:t>
            </a:r>
          </a:p>
          <a:p>
            <a:pPr indent="0" algn="l">
              <a:lnSpc>
                <a:spcPct val="100000"/>
              </a:lnSpc>
            </a:pPr>
            <a:r>
              <a:rPr lang="en-US" sz="1400" b="0" i="0" u="none" strike="noStrike">
                <a:solidFill>
                  <a:srgbClr val="000000"/>
                </a:solidFill>
              </a:rPr>
              <a:t>我们需要进一步分解，把教师信息单独拿出来形成一个表R11，课程和教师的关联形成另一个表R12。这样，分解后的两个表都满足了3NF。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BCNF是比3NF更严格的范式，它解决了3NF未能解决的一些特殊问题。BCNF的定义非常简洁：对于关系模式中每一个非平凡的函数依赖X→Y，它的左边X都必须是一个超键。这个定义比3NF更强，因为它不仅关注非主属性，也关注主属性之间的依赖关系。可以证明，任何满足BCNF的模式一定满足3NF。BCNF是我们在数据库设计中追求的更高目标，它能最大程度地减少数据冗余和异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学习分解成BCNF模式集的算法。这个算法的核心思想是不断地对不满足BCNF条件的关系模式进行分解。具体来说，我们从原始的关系模式R开始，如果发现其中某个子模式Ri不满足BCNF，也就是说存在一个非平凡的函数依赖X→Y，而X不是超键，我们就把Ri分解成XY和Ri-Y两个新模式。这个过程会一直重复，直到所有的模式都满足BCNF。这个算法的优点是能保证分解是无损的，但缺点是不一定能保持原有的函数依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看如何分解成3NF模式集，这个算法可以同时保证无损分解和保持函数依赖。步骤分为三步：首先，找到函数依赖集F的最小依赖集，并合并左部相同的依赖。然后，为每一个最小依赖X→Y创建一个模式XY。最后，检查这些模式是否包含了关系的候选键，如果没有，就把候选键也作为一个独立的模式加进去。通过这种方法得到的分解结果，既能保证信息不丢失，又能保持原有的数据依赖关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我们通过一个例子来理解这个算法。假设有一个关系模式R(ABCDE)，它的最小函数依赖集是{A→B，C→D}。首先，我们可以确定它的候选键是ACE。根据算法，我们先为每个依赖创建模式，得到{AB, CD}。接着，我们检查发现这两个模式都不包含候选键ACE，所以我们需要把ACE也作为一个模式加进去。最终的分解结果就是{AB, CD, ACE}，这个分解既满足无损连接，又保持了函数依赖。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对模式设计方法进行一个小结。一个好的关系模式分解，通常希望满足三个特性：首先，分解后的模式都应该是BCNF或3NF；其次，分解必须是无损的，不能丢失信息；最后，最好能保持原有的函数依赖。在实际设计中，我们需要权衡这几点。理想情况下我们希望达到BCNF，但如果这会导致函数依赖丢失，那么退而求其次选择3NF也是一个很好的选择，因为3NF可以在保持无损分解和函数依赖的前提下，消除大部分冗余和异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再补充一点，模式分解不仅仅是从一个大的泛关系模式开始，也可以是对现有的数据库模式进行优化和转换。无论如何，关键在于“等价”分解，确保信息和语义的一致性。总结来说，一个好的模式设计应该遵循三条基本原则：表达性，即能够准确描述现实世界；分离性，即把不同实体和联系分开；以及最小冗余性，即尽量减少不必要的数据重复。</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到目前为止，我们讨论的规范化都是基于函数依赖的。但现实世界的数据联系更为复杂，有时候仅靠函数依赖不足以完全消除冗余。因此，我们需要引入更高级的数据依赖，进行进一步的规范化处理。接下来的章节，我们将学习多值依赖、第四范式、连接依赖以及第五范式等概念。</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回顾一下，函数依赖（FD）帮助我们解决了很多数据冗余的问题。但它并非万能。现实世界中还存在一些复杂的数据联系，比如一个实体可能对应多个值的情况，这就需要用多值依赖（MVD）来描述。此外，还有更复杂的连接依赖（JD）。在接下来的部分，我们将探讨这些更高级的数据依赖，以及它们对应的范式标准，如第四范式（4NF）和第五范式（5N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我们先来看一个多值依赖的例子。假设有一个关系模式R，包含课程、学生和先修课程三个属性。一门课程C4可能有多个学生选修，比如S1和S2；同时，这门课程也可能有多个先修课程，比如C1、C2、C3。</a:t>
            </a:r>
          </a:p>
          <a:p>
            <a:pPr indent="0" algn="l">
              <a:lnSpc>
                <a:spcPct val="100000"/>
              </a:lnSpc>
            </a:pPr>
            <a:r>
              <a:rPr lang="en-US" sz="1400" b="0" i="0" u="none" strike="noStrike">
                <a:solidFill>
                  <a:srgbClr val="000000"/>
                </a:solidFill>
              </a:rPr>
              <a:t>左侧展示了这种包含多值属性的原始设计，它在逻辑上是紧凑的，但不满足第一范式（1NF）的要求，因为属性值不是原子的。</a:t>
            </a:r>
          </a:p>
          <a:p>
            <a:pPr indent="0" algn="l">
              <a:lnSpc>
                <a:spcPct val="100000"/>
              </a:lnSpc>
            </a:pPr>
            <a:r>
              <a:rPr lang="en-US" sz="1400" b="0" i="0" u="none" strike="noStrike">
                <a:solidFill>
                  <a:srgbClr val="000000"/>
                </a:solidFill>
              </a:rPr>
              <a:t>为了满足第一范式，我们需要将这些多值属性“展开”，如右侧所示，最终形成了6个元组。可以看到，这种展开方式虽然解决了1NF的问题，但也导致了严重的数据冗余：每个学生都与每一门先修课程组合了一次，这完全是不必要的。这种冗余问题正是多值依赖（MVD）所要研究和解决的核心场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分析这个例子，我们发现虽然模式R已经满足BCNF，但数据冗余问题依然存在。解决方法很简单，就是把它分解成两个模式：R1(课程, 学生)和R2(课程, 先修课程)。这样就消除了冗余。问题的根源在于，学生和先修课程这两个属性之间并没有直接的联系，它们都只是依赖于课程。把这种有间接联系的属性放在同一个模式里，就会导致数据冗余。</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现在我们来正式定义多值依赖（MVD）。如果对于关系r中的任意两个元组，只要它们在X属性上的值相等，就可以交换它们在Y属性上的值，而得到的新元组仍然在r中，那么我们就说Y多值依赖于X，记为X→→Y。</a:t>
            </a:r>
          </a:p>
          <a:p>
            <a:pPr indent="0" algn="l">
              <a:lnSpc>
                <a:spcPct val="100000"/>
              </a:lnSpc>
            </a:pPr>
            <a:r>
              <a:rPr lang="en-US" sz="1400" b="0" i="0" u="none" strike="noStrike">
                <a:solidFill>
                  <a:srgbClr val="000000"/>
                </a:solidFill>
              </a:rPr>
              <a:t>回到我们的例子，课程决定了一组学生，也决定了一组先修课程，学生和先修课程之间可以自由组合，这就体现了多值依赖：课程多值决定学生，课程也多值决定先修课程。</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和函数依赖一样，多值依赖也有一套完整的推理规则。这里列出了FD规则、MVD规则以及它们之间的混合规则。值得注意的是复制性规则FM1，它说明任何一个函数依赖都是一个多值依赖。还有补规则M1，它指出如果X多值决定Y，那么X也多值决定Y的补集。这些规则共同构成了处理多值依赖的理论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同样可以定义平凡的多值依赖。如果Y是X的子集，或者Y包含了除X之外的所有属性，那么这个多值依赖就是平凡的。在同时存在FD和MVD的情况下，我们依然可以使用之前学过的chase过程来测试分解是否无损。另外，多值依赖和无损分解之间存在着深刻的联系：一个关系模式能够无损分解成两个模式，当且仅当存在一个对应的多值依赖。</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范式（4NF）是BCNF的进一步规范化。它的定义是：如果一个关系模式中，每一个非平凡的多值依赖的左部都是超键，那么这个模式就是4NF。回到我们的课程例子，关系模式R的键是全部三个属性的组合，而多值依赖COURSE→→STUDENT的左部COURSE并不是超键，所以R不满足4NF。而分解后的R1和R2，它们的多值依赖都变成了平凡的，因此都满足4N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可以证明，满足4NF的模式必然满足BCNF。因为如果一个模式不满足BCNF，就意味着存在一个非平凡的FD，其左部不是超键。根据复制性规则，这个FD也是一个非平凡的MVD，这就违反了4NF的定义。因此，4NF是比BCNF更严格的范式。分解成4NF的算法与分解成BCNF的算法类似，都是不断地对违反范式条件的模式进行分解，直到所有模式都满足4NF。</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接下来介绍一个更复杂的概念：嵌入多值依赖（EMVD）。</a:t>
            </a:r>
          </a:p>
          <a:p>
            <a:pPr indent="0" algn="l">
              <a:lnSpc>
                <a:spcPct val="100000"/>
              </a:lnSpc>
            </a:pPr>
            <a:r>
              <a:rPr lang="en-US" sz="1400" b="0" i="0" u="none" strike="noStrike">
                <a:solidFill>
                  <a:srgbClr val="000000"/>
                </a:solidFill>
              </a:rPr>
              <a:t>有时候，一个多值依赖在整个关系模式中并不成立，但在它的某个子集上却成立。这种情况就称为嵌入多值依赖。例如，模式R可能很大，但它的某个投影W上却存在一个MVD。</a:t>
            </a:r>
          </a:p>
          <a:p>
            <a:pPr indent="0" algn="l">
              <a:lnSpc>
                <a:spcPct val="100000"/>
              </a:lnSpc>
            </a:pPr>
            <a:r>
              <a:rPr lang="en-US" sz="1400" b="0" i="0" u="none" strike="noStrike">
                <a:solidFill>
                  <a:srgbClr val="000000"/>
                </a:solidFill>
              </a:rPr>
              <a:t>在设计数据库时，我们需要注意这种隐藏在子集中的依赖关系，因为它们也可能导致数据冗余，影响数据库的规范化程度。</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一个嵌入多值依赖的例子。假设有一个模式R(C,S,P,Y)，表示课程、学生、先修课和先修年份。它的关键码是CSP。我们可以把它分解成R1(CSP)和R2(SPY)。在整个模式R中，C并不多值决定S或P。但在子集R1(CSP)中，课程C确实多值决定学生S和先修课P。因此，C→→S和C→→P就是R上的嵌入多值依赖。正因为这个EMVD的存在，R1并不满足4NF，需要进一步分解成CS和CP。</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们来看看连接依赖（JD）和第五范式（5NF）。连接依赖是比多值依赖更一般化的概念。如果一个关系模式可以无损分解成多个投影，然后通过自然连接精确恢复，我们就说这个模式上存在一个连接依赖。第五范式，也叫投影连接范式，要求关系模式中所有的连接依赖都必须由候选键所蕴涵。这是目前规范化的最高级别。</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有一个经典的连接依赖的例子，称为“连接陷阱”。假设有一个关系SPJ，表示供应商、零件和项目之间的联系。我们将其分解为SP、PJ和JS三个投影。当我们把这三个投影进行自然连接时，得到的结果比原始关系多了一行（s2, p1, j2）。这说明原始关系上并不存在一个连接依赖*(SP, PJ, JS)，因为连接操作产生了寄生元组。这个例子也说明了，即使一个模式满足4NF，也可能存在连接依赖导致的冗余问题。</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这个“连接陷阱”会导致操作异常。比如，当我们想插入(s2,p1,j1)这个元组时，为了满足连接依赖*(SP, PJ, JS)，我们必须同时插入(s1,p1,j1)。但反过来，插入(s1,p1,j1)时却不需要插入(s2,p1,j1)。删除操作也存在类似的问题。这表明，即使一个模式满足4NF，也可能因为存在连接依赖而需要进一步分解，以达到5NF，从而彻底消除这些异常。</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本讲</a:t>
            </a:r>
            <a:r>
              <a:rPr lang="en-US" sz="1400" b="0" i="0" u="none" strike="noStrike">
                <a:solidFill>
                  <a:srgbClr val="000000"/>
                </a:solidFill>
              </a:rPr>
              <a:t>我们系统学习了关系数据库的规范化设计理论。我们从最基础的函数依赖出发，依次学习了第一范式到BCNF的定义和分解方法。随后，我们探讨了更复杂的多值依赖和第四范式，以及连接依赖和第五范式。这些理论共同构成了数据库设计的核心原则。在实际应用中，我们需要根据具体情况，在规范化带来的数据一致性和查询带来的性能之间找到最佳平衡点，通常3NF和BCNF是实践中最常用的目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8F02C-5BCD-304D-0776-BBF40044F6D0}"/>
            </a:ext>
          </a:extLst>
        </p:cNvPr>
        <p:cNvGrpSpPr/>
        <p:nvPr/>
      </p:nvGrpSpPr>
      <p:grpSpPr>
        <a:xfrm>
          <a:off x="0" y="0"/>
          <a:ext cx="0" cy="0"/>
          <a:chOff x="0" y="0"/>
          <a:chExt cx="0" cy="0"/>
        </a:xfrm>
      </p:grpSpPr>
      <p:sp>
        <p:nvSpPr>
          <p:cNvPr id="2" name="Header Placeholder 1">
            <a:extLst>
              <a:ext uri="{FF2B5EF4-FFF2-40B4-BE49-F238E27FC236}">
                <a16:creationId xmlns:a16="http://schemas.microsoft.com/office/drawing/2014/main" id="{5B08E26E-5D44-6D2D-3B96-88E0550A9E70}"/>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a:extLst>
              <a:ext uri="{FF2B5EF4-FFF2-40B4-BE49-F238E27FC236}">
                <a16:creationId xmlns:a16="http://schemas.microsoft.com/office/drawing/2014/main" id="{9D083DC8-68E9-BB93-3648-FE3E3F3CCE14}"/>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a:extLst>
              <a:ext uri="{FF2B5EF4-FFF2-40B4-BE49-F238E27FC236}">
                <a16:creationId xmlns:a16="http://schemas.microsoft.com/office/drawing/2014/main" id="{3948C415-2C62-A4ED-837F-DBAE8D5D3D63}"/>
              </a:ext>
            </a:extLst>
          </p:cNvPr>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a:extLst>
              <a:ext uri="{FF2B5EF4-FFF2-40B4-BE49-F238E27FC236}">
                <a16:creationId xmlns:a16="http://schemas.microsoft.com/office/drawing/2014/main" id="{7A87FF58-D413-E67B-D1BB-CB49948D589A}"/>
              </a:ext>
            </a:extLst>
          </p:cNvPr>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zh-CN" altLang="en-US" sz="1400" b="0" i="0" u="none" strike="noStrike">
                <a:solidFill>
                  <a:srgbClr val="000000"/>
                </a:solidFill>
              </a:rPr>
              <a:t>本讲</a:t>
            </a:r>
            <a:r>
              <a:rPr lang="en-US" sz="1400" b="0" i="0" u="none" strike="noStrike">
                <a:solidFill>
                  <a:srgbClr val="000000"/>
                </a:solidFill>
              </a:rPr>
              <a:t>我们系统学习了关系数据库的规范化设计理论。我们从最基础的函数依赖出发，依次学习了第一范式到BCNF的定义和分解方法。随后，我们探讨了更复杂的多值依赖和第四范式，以及连接依赖和第五范式。这些理论共同构成了数据库设计的核心原则。在实际应用中，我们需要根据具体情况，在规范化带来的数据一致性和查询带来的性能之间找到最佳平衡点，通常3NF和BCNF是实践中最常用的目标。</a:t>
            </a:r>
          </a:p>
        </p:txBody>
      </p:sp>
      <p:sp>
        <p:nvSpPr>
          <p:cNvPr id="6" name="Footer Placeholder 5">
            <a:extLst>
              <a:ext uri="{FF2B5EF4-FFF2-40B4-BE49-F238E27FC236}">
                <a16:creationId xmlns:a16="http://schemas.microsoft.com/office/drawing/2014/main" id="{30067279-C5CE-4365-ED04-DAD3DDDDA2BB}"/>
              </a:ext>
            </a:extLst>
          </p:cNvPr>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a:extLst>
              <a:ext uri="{FF2B5EF4-FFF2-40B4-BE49-F238E27FC236}">
                <a16:creationId xmlns:a16="http://schemas.microsoft.com/office/drawing/2014/main" id="{09F7E93C-40C8-3BAC-51DA-A54234D24AE5}"/>
              </a:ext>
            </a:extLst>
          </p:cNvPr>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251194175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4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5.xml"/><Relationship Id="rId1" Type="http://schemas.openxmlformats.org/officeDocument/2006/relationships/slideLayout" Target="../slideLayouts/slideLayout12.xml"/><Relationship Id="rId5" Type="http://schemas.openxmlformats.org/officeDocument/2006/relationships/image" Target="../media/image13.png"/><Relationship Id="rId4" Type="http://schemas.openxmlformats.org/officeDocument/2006/relationships/image" Target="../media/image12.png"/></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8.xml"/><Relationship Id="rId1" Type="http://schemas.openxmlformats.org/officeDocument/2006/relationships/slideLayout" Target="../slideLayouts/slideLayout12.xml"/><Relationship Id="rId5" Type="http://schemas.openxmlformats.org/officeDocument/2006/relationships/image" Target="../media/image17.png"/><Relationship Id="rId4" Type="http://schemas.openxmlformats.org/officeDocument/2006/relationships/image" Target="../media/image1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51.xml"/><Relationship Id="rId1" Type="http://schemas.openxmlformats.org/officeDocument/2006/relationships/slideLayout" Target="../slideLayouts/slideLayout12.xml"/><Relationship Id="rId5" Type="http://schemas.openxmlformats.org/officeDocument/2006/relationships/image" Target="../media/image20.svg"/><Relationship Id="rId4" Type="http://schemas.openxmlformats.org/officeDocument/2006/relationships/image" Target="../media/image19.svg"/></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65.xml"/><Relationship Id="rId1" Type="http://schemas.openxmlformats.org/officeDocument/2006/relationships/slideLayout" Target="../slideLayouts/slideLayout12.xml"/><Relationship Id="rId5" Type="http://schemas.openxmlformats.org/officeDocument/2006/relationships/image" Target="../media/image23.svg"/><Relationship Id="rId4" Type="http://schemas.openxmlformats.org/officeDocument/2006/relationships/image" Target="../media/image22.sv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524000" y="1117600"/>
            <a:ext cx="9144000" cy="2387600"/>
          </a:xfrm>
          <a:prstGeom prst="rect">
            <a:avLst/>
          </a:prstGeom>
          <a:solidFill>
            <a:srgbClr val="7030A0">
              <a:alpha val="100000"/>
            </a:srgbClr>
          </a:solidFill>
          <a:ln w="12700" cap="flat" cmpd="sng">
            <a:noFill/>
            <a:prstDash val="solid"/>
            <a:round/>
          </a:ln>
        </p:spPr>
        <p:txBody>
          <a:bodyPr vert="horz" wrap="square" lIns="88900" tIns="50800" rIns="88900" bIns="50800" rtlCol="0" anchor="ctr" anchorCtr="0"/>
          <a:lstStyle/>
          <a:p>
            <a:pPr indent="0" algn="ctr">
              <a:lnSpc>
                <a:spcPct val="150000"/>
              </a:lnSpc>
              <a:defRPr/>
            </a:pPr>
            <a:r>
              <a:rPr lang="en-US" sz="3200" b="1" i="0" u="none" strike="noStrike">
                <a:solidFill>
                  <a:srgbClr val="FFFFFF"/>
                </a:solidFill>
                <a:latin typeface="Noto Sans SC"/>
                <a:ea typeface="Noto Sans SC"/>
                <a:cs typeface="Noto Sans SC"/>
                <a:sym typeface="Noto Sans SC"/>
              </a:rPr>
              <a:t>第7讲</a:t>
            </a:r>
            <a:r>
              <a:rPr lang="zh-CN" altLang="en-US" sz="3200" b="1" i="0" u="none" strike="noStrike">
                <a:solidFill>
                  <a:srgbClr val="FFFFFF"/>
                </a:solidFill>
                <a:latin typeface="Noto Sans SC"/>
                <a:ea typeface="Noto Sans SC"/>
                <a:cs typeface="Noto Sans SC"/>
                <a:sym typeface="Noto Sans SC"/>
              </a:rPr>
              <a:t>（</a:t>
            </a:r>
            <a:r>
              <a:rPr lang="en-US" altLang="zh-CN" sz="3200" b="1" i="0" u="none" strike="noStrike">
                <a:solidFill>
                  <a:srgbClr val="FFFFFF"/>
                </a:solidFill>
                <a:latin typeface="Noto Sans SC"/>
                <a:ea typeface="Noto Sans SC"/>
                <a:cs typeface="Noto Sans SC"/>
                <a:sym typeface="Noto Sans SC"/>
              </a:rPr>
              <a:t>6</a:t>
            </a:r>
            <a:r>
              <a:rPr lang="zh-CN" altLang="en-US" sz="3200" b="1" i="0" u="none" strike="noStrike">
                <a:solidFill>
                  <a:srgbClr val="FFFFFF"/>
                </a:solidFill>
                <a:latin typeface="Noto Sans SC"/>
                <a:ea typeface="Noto Sans SC"/>
                <a:cs typeface="Noto Sans SC"/>
                <a:sym typeface="Noto Sans SC"/>
              </a:rPr>
              <a:t>学时）</a:t>
            </a:r>
            <a:br>
              <a:rPr lang="en-US" sz="4000" b="1" i="0" u="none" strike="noStrike">
                <a:solidFill>
                  <a:srgbClr val="FFFFFF"/>
                </a:solidFill>
                <a:latin typeface="Noto Sans SC"/>
                <a:ea typeface="Noto Sans SC"/>
                <a:cs typeface="Noto Sans SC"/>
                <a:sym typeface="Noto Sans SC"/>
              </a:rPr>
            </a:br>
            <a:r>
              <a:rPr lang="en-US" sz="3600" b="1" i="0" u="none" strike="noStrike">
                <a:solidFill>
                  <a:srgbClr val="FFFFFF"/>
                </a:solidFill>
                <a:latin typeface="Noto Sans SC"/>
                <a:ea typeface="Noto Sans SC"/>
                <a:cs typeface="Noto Sans SC"/>
                <a:sym typeface="Noto Sans SC"/>
              </a:rPr>
              <a:t>关系数据库的规范化设计理论</a:t>
            </a:r>
            <a:endParaRPr lang="en-US" sz="1100"/>
          </a:p>
        </p:txBody>
      </p:sp>
      <p:sp>
        <p:nvSpPr>
          <p:cNvPr id="3" name="AutoShape 3"/>
          <p:cNvSpPr/>
          <p:nvPr/>
        </p:nvSpPr>
        <p:spPr>
          <a:xfrm>
            <a:off x="1524000" y="3898900"/>
            <a:ext cx="9144000" cy="1295400"/>
          </a:xfrm>
          <a:prstGeom prst="rect">
            <a:avLst/>
          </a:prstGeom>
          <a:noFill/>
          <a:ln w="12700" cap="flat" cmpd="sng">
            <a:noFill/>
            <a:prstDash val="solid"/>
            <a:round/>
          </a:ln>
        </p:spPr>
        <p:txBody>
          <a:bodyPr vert="horz" wrap="square" lIns="88900" tIns="50800" rIns="88900" bIns="50800" rtlCol="0" anchor="t" anchorCtr="0"/>
          <a:lstStyle/>
          <a:p>
            <a:pPr indent="0" algn="ctr">
              <a:lnSpc>
                <a:spcPct val="116666"/>
              </a:lnSpc>
              <a:spcBef>
                <a:spcPts val="1000"/>
              </a:spcBef>
              <a:defRPr/>
            </a:pPr>
            <a:r>
              <a:rPr lang="en-US" sz="2400" b="0" i="0" u="none" strike="noStrike">
                <a:solidFill>
                  <a:srgbClr val="333333"/>
                </a:solidFill>
                <a:latin typeface="Noto Sans SC"/>
                <a:ea typeface="Noto Sans SC"/>
                <a:cs typeface="Noto Sans SC"/>
                <a:sym typeface="Noto Sans SC"/>
              </a:rPr>
              <a:t>云南民族大学 数学与计算机科学学院</a:t>
            </a:r>
            <a:endParaRPr lang="en-US" sz="1100"/>
          </a:p>
          <a:p>
            <a:pPr indent="0" algn="ctr">
              <a:lnSpc>
                <a:spcPct val="116666"/>
              </a:lnSpc>
              <a:spcBef>
                <a:spcPts val="800"/>
              </a:spcBef>
            </a:pPr>
            <a:r>
              <a:rPr lang="en-US" sz="2200" b="0" i="0" u="none" strike="noStrike">
                <a:solidFill>
                  <a:srgbClr val="333333"/>
                </a:solidFill>
                <a:latin typeface="Noto Sans SC"/>
                <a:ea typeface="Noto Sans SC"/>
                <a:cs typeface="Noto Sans SC"/>
                <a:sym typeface="Noto Sans SC"/>
              </a:rPr>
              <a:t>潘文林 博士/教授</a:t>
            </a:r>
          </a:p>
        </p:txBody>
      </p:sp>
      <p:sp>
        <p:nvSpPr>
          <p:cNvPr id="4" name="AutoShape 4"/>
          <p:cNvSpPr/>
          <p:nvPr/>
        </p:nvSpPr>
        <p:spPr>
          <a:xfrm>
            <a:off x="1270000" y="5359400"/>
            <a:ext cx="9652000" cy="635000"/>
          </a:xfrm>
          <a:prstGeom prst="roundRect">
            <a:avLst>
              <a:gd name="adj" fmla="val 0"/>
            </a:avLst>
          </a:prstGeom>
          <a:noFill/>
          <a:ln w="25400" cap="flat" cmpd="sng">
            <a:noFill/>
            <a:prstDash val="solid"/>
            <a:round/>
          </a:ln>
        </p:spPr>
        <p:txBody>
          <a:bodyPr vert="horz" wrap="none" lIns="88900" tIns="50800" rIns="88900" bIns="50800" rtlCol="0" anchor="ctr" anchorCtr="0"/>
          <a:lstStyle/>
          <a:p>
            <a:pPr indent="0" algn="ctr">
              <a:lnSpc>
                <a:spcPct val="100000"/>
              </a:lnSpc>
              <a:defRPr/>
            </a:pPr>
            <a:r>
              <a:rPr lang="en-US" sz="1800" b="0" i="0" u="none" strike="noStrike">
                <a:solidFill>
                  <a:srgbClr val="595959"/>
                </a:solidFill>
                <a:latin typeface="Noto Sans SC"/>
                <a:ea typeface="Noto Sans SC"/>
                <a:cs typeface="Noto Sans SC"/>
                <a:sym typeface="Noto Sans SC"/>
              </a:rPr>
              <a:t>©2026 潘文林 版权所有，</a:t>
            </a:r>
            <a:r>
              <a:rPr lang="en-US" sz="1800" b="0" i="0" u="none" strike="noStrike">
                <a:solidFill>
                  <a:srgbClr val="C82828"/>
                </a:solidFill>
                <a:latin typeface="Noto Sans SC"/>
                <a:ea typeface="Noto Sans SC"/>
                <a:cs typeface="Noto Sans SC"/>
                <a:sym typeface="Noto Sans SC"/>
              </a:rPr>
              <a:t>未经允许，不允许外传和供TA人使用</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30186"/>
            <a:ext cx="10515600" cy="635027"/>
          </a:xfrm>
          <a:prstGeom prst="rect">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zh-CN" altLang="en-US" sz="2800">
                <a:solidFill>
                  <a:srgbClr val="FFFFFF"/>
                </a:solidFill>
                <a:latin typeface="Noto Sans SC Black" panose="020B0200000000000000" pitchFamily="34" charset="-122"/>
                <a:ea typeface="Noto Sans SC Black" panose="020B0200000000000000" pitchFamily="34" charset="-122"/>
                <a:sym typeface="Noto Sans SC"/>
              </a:rPr>
              <a:t>本讲的</a:t>
            </a:r>
            <a:r>
              <a:rPr lang="en-US" sz="2800">
                <a:solidFill>
                  <a:srgbClr val="FFFFFF"/>
                </a:solidFill>
                <a:latin typeface="Noto Sans SC Black" panose="020B0200000000000000" pitchFamily="34" charset="-122"/>
                <a:ea typeface="Noto Sans SC Black" panose="020B0200000000000000" pitchFamily="34" charset="-122"/>
                <a:sym typeface="Noto Sans SC"/>
              </a:rPr>
              <a:t>重要概念与学习目标</a:t>
            </a:r>
            <a:endParaRPr lang="en-US" sz="2800">
              <a:solidFill>
                <a:srgbClr val="FFFFFF"/>
              </a:solidFill>
              <a:latin typeface="Noto Sans SC Black" panose="020B0200000000000000" pitchFamily="34" charset="-122"/>
              <a:ea typeface="Noto Sans SC Black" panose="020B0200000000000000" pitchFamily="34" charset="-122"/>
            </a:endParaRPr>
          </a:p>
        </p:txBody>
      </p:sp>
      <p:sp>
        <p:nvSpPr>
          <p:cNvPr id="3" name="AutoShape 3"/>
          <p:cNvSpPr/>
          <p:nvPr/>
        </p:nvSpPr>
        <p:spPr>
          <a:xfrm>
            <a:off x="838199" y="1435100"/>
            <a:ext cx="5083921" cy="4737100"/>
          </a:xfrm>
          <a:prstGeom prst="rect">
            <a:avLst/>
          </a:prstGeom>
          <a:noFill/>
          <a:ln w="12700" cap="flat" cmpd="sng">
            <a:noFill/>
            <a:prstDash val="solid"/>
            <a:round/>
          </a:ln>
        </p:spPr>
        <p:txBody>
          <a:bodyPr vert="horz" wrap="square" lIns="88900" tIns="127000" rIns="88900" bIns="0" rtlCol="0" anchor="t" anchorCtr="0"/>
          <a:lstStyle/>
          <a:p>
            <a:pPr indent="0" algn="just">
              <a:lnSpc>
                <a:spcPct val="100000"/>
              </a:lnSpc>
              <a:spcAft>
                <a:spcPts val="1200"/>
              </a:spcAft>
              <a:defRPr/>
            </a:pPr>
            <a:r>
              <a:rPr lang="en-US" sz="2000" b="1" i="0" u="none" strike="noStrike">
                <a:solidFill>
                  <a:srgbClr val="7030A0"/>
                </a:solidFill>
                <a:latin typeface="Noto Sans SC"/>
                <a:ea typeface="Noto Sans SC"/>
                <a:cs typeface="Noto Sans SC"/>
                <a:sym typeface="Noto Sans SC"/>
              </a:rPr>
              <a:t>▍</a:t>
            </a:r>
            <a:r>
              <a:rPr lang="zh-CN" altLang="en-US" sz="2000" b="1" i="0" u="none" strike="noStrike">
                <a:solidFill>
                  <a:srgbClr val="7030A0"/>
                </a:solidFill>
                <a:latin typeface="Noto Sans SC"/>
                <a:ea typeface="Noto Sans SC"/>
                <a:cs typeface="Noto Sans SC"/>
                <a:sym typeface="Noto Sans SC"/>
              </a:rPr>
              <a:t>本讲</a:t>
            </a:r>
            <a:r>
              <a:rPr lang="en-US" sz="2000" b="1" i="0" u="none" strike="noStrike">
                <a:solidFill>
                  <a:srgbClr val="7030A0"/>
                </a:solidFill>
                <a:latin typeface="Noto Sans SC"/>
                <a:ea typeface="Noto Sans SC"/>
                <a:cs typeface="Noto Sans SC"/>
                <a:sym typeface="Noto Sans SC"/>
              </a:rPr>
              <a:t>重要概念</a:t>
            </a:r>
            <a:endParaRPr lang="en-US"/>
          </a:p>
          <a:p>
            <a:pPr marL="342900" indent="-342900" algn="just">
              <a:lnSpc>
                <a:spcPct val="130000"/>
              </a:lnSpc>
              <a:spcAft>
                <a:spcPts val="600"/>
              </a:spcAft>
              <a:buFont typeface="+mj-lt"/>
              <a:buAutoNum type="arabicPeriod"/>
            </a:pPr>
            <a:r>
              <a:rPr lang="en-US" sz="1600" b="1" i="0" u="none" strike="noStrike" err="1">
                <a:solidFill>
                  <a:srgbClr val="333333"/>
                </a:solidFill>
                <a:latin typeface="Noto Sans SC"/>
                <a:ea typeface="Noto Sans SC"/>
                <a:cs typeface="Noto Sans SC"/>
                <a:sym typeface="Noto Sans SC"/>
              </a:rPr>
              <a:t>核心问题：</a:t>
            </a:r>
            <a:r>
              <a:rPr lang="en-US" sz="1600" b="0" i="0" u="none" strike="noStrike" err="1">
                <a:solidFill>
                  <a:srgbClr val="505050"/>
                </a:solidFill>
                <a:latin typeface="Noto Sans SC"/>
                <a:ea typeface="Noto Sans SC"/>
                <a:cs typeface="Noto Sans SC"/>
                <a:sym typeface="Noto Sans SC"/>
              </a:rPr>
              <a:t>深入理解关系模式设计中常见的数据冗余、插入异常、删除异常及更新异常问题</a:t>
            </a:r>
            <a:r>
              <a:rPr lang="en-US" sz="1600" b="0" i="0" u="none" strike="noStrike">
                <a:solidFill>
                  <a:srgbClr val="505050"/>
                </a:solidFill>
                <a:latin typeface="Noto Sans SC"/>
                <a:ea typeface="Noto Sans SC"/>
                <a:cs typeface="Noto Sans SC"/>
                <a:sym typeface="Noto Sans SC"/>
              </a:rPr>
              <a:t>。</a:t>
            </a:r>
          </a:p>
          <a:p>
            <a:pPr marL="342900" indent="-342900" algn="just">
              <a:lnSpc>
                <a:spcPct val="130000"/>
              </a:lnSpc>
              <a:spcAft>
                <a:spcPts val="600"/>
              </a:spcAft>
              <a:buFont typeface="+mj-lt"/>
              <a:buAutoNum type="arabicPeriod"/>
            </a:pPr>
            <a:r>
              <a:rPr lang="en-US" sz="1600" b="1" i="0" u="none" strike="noStrike" err="1">
                <a:solidFill>
                  <a:srgbClr val="333333"/>
                </a:solidFill>
                <a:latin typeface="Noto Sans SC"/>
                <a:ea typeface="Noto Sans SC"/>
                <a:cs typeface="Noto Sans SC"/>
                <a:sym typeface="Noto Sans SC"/>
              </a:rPr>
              <a:t>函数依赖</a:t>
            </a:r>
            <a:r>
              <a:rPr lang="en-US" sz="1600" b="1" i="0" u="none" strike="noStrike">
                <a:solidFill>
                  <a:srgbClr val="333333"/>
                </a:solidFill>
                <a:latin typeface="Noto Sans SC"/>
                <a:ea typeface="Noto Sans SC"/>
                <a:cs typeface="Noto Sans SC"/>
                <a:sym typeface="Noto Sans SC"/>
              </a:rPr>
              <a:t>(FD)：</a:t>
            </a:r>
            <a:r>
              <a:rPr lang="en-US" sz="1600" b="0" i="0" u="none" strike="noStrike" err="1">
                <a:solidFill>
                  <a:srgbClr val="505050"/>
                </a:solidFill>
                <a:latin typeface="Noto Sans SC"/>
                <a:ea typeface="Noto Sans SC"/>
                <a:cs typeface="Noto Sans SC"/>
                <a:sym typeface="Noto Sans SC"/>
              </a:rPr>
              <a:t>掌握FD的定义、逻辑蕴涵、闭包、Armstrong推理规则及与</a:t>
            </a:r>
            <a:r>
              <a:rPr lang="zh-CN" altLang="en-US" sz="1600" b="0" i="0" u="none" strike="noStrike">
                <a:solidFill>
                  <a:srgbClr val="505050"/>
                </a:solidFill>
                <a:latin typeface="Noto Sans SC"/>
                <a:ea typeface="Noto Sans SC"/>
                <a:cs typeface="Noto Sans SC"/>
                <a:sym typeface="Noto Sans SC"/>
              </a:rPr>
              <a:t>候选码</a:t>
            </a:r>
            <a:r>
              <a:rPr lang="en-US" sz="1600" b="0" i="0" u="none" strike="noStrike" err="1">
                <a:solidFill>
                  <a:srgbClr val="505050"/>
                </a:solidFill>
                <a:latin typeface="Noto Sans SC"/>
                <a:ea typeface="Noto Sans SC"/>
                <a:cs typeface="Noto Sans SC"/>
                <a:sym typeface="Noto Sans SC"/>
              </a:rPr>
              <a:t>的联系；理解平凡FD、属性集闭包、FD集等价</a:t>
            </a:r>
            <a:r>
              <a:rPr lang="zh-CN" altLang="en-US" sz="1600" b="0" i="0" u="none" strike="noStrike">
                <a:solidFill>
                  <a:srgbClr val="505050"/>
                </a:solidFill>
                <a:latin typeface="Noto Sans SC"/>
                <a:ea typeface="Noto Sans SC"/>
                <a:cs typeface="Noto Sans SC"/>
                <a:sym typeface="Noto Sans SC"/>
              </a:rPr>
              <a:t>、</a:t>
            </a:r>
            <a:r>
              <a:rPr lang="en-US" sz="1600" b="0" i="0" u="none" strike="noStrike" err="1">
                <a:solidFill>
                  <a:srgbClr val="505050"/>
                </a:solidFill>
                <a:latin typeface="Noto Sans SC"/>
                <a:ea typeface="Noto Sans SC"/>
                <a:cs typeface="Noto Sans SC"/>
                <a:sym typeface="Noto Sans SC"/>
              </a:rPr>
              <a:t>最小依赖集</a:t>
            </a:r>
            <a:r>
              <a:rPr lang="en-US" sz="1600" b="0" i="0" u="none" strike="noStrike">
                <a:solidFill>
                  <a:srgbClr val="505050"/>
                </a:solidFill>
                <a:latin typeface="Noto Sans SC"/>
                <a:ea typeface="Noto Sans SC"/>
                <a:cs typeface="Noto Sans SC"/>
                <a:sym typeface="Noto Sans SC"/>
              </a:rPr>
              <a:t>。</a:t>
            </a:r>
          </a:p>
          <a:p>
            <a:pPr marL="342900" indent="-342900" algn="just">
              <a:lnSpc>
                <a:spcPct val="130000"/>
              </a:lnSpc>
              <a:spcAft>
                <a:spcPts val="600"/>
              </a:spcAft>
              <a:buFont typeface="+mj-lt"/>
              <a:buAutoNum type="arabicPeriod"/>
            </a:pPr>
            <a:r>
              <a:rPr lang="en-US" sz="1600" b="1" i="0" u="none" strike="noStrike" err="1">
                <a:solidFill>
                  <a:srgbClr val="333333"/>
                </a:solidFill>
                <a:latin typeface="Noto Sans SC"/>
                <a:ea typeface="Noto Sans SC"/>
                <a:cs typeface="Noto Sans SC"/>
                <a:sym typeface="Noto Sans SC"/>
              </a:rPr>
              <a:t>模式分解：</a:t>
            </a:r>
            <a:r>
              <a:rPr lang="en-US" sz="1600" b="0" i="0" u="none" strike="noStrike" err="1">
                <a:solidFill>
                  <a:srgbClr val="505050"/>
                </a:solidFill>
                <a:latin typeface="Noto Sans SC"/>
                <a:ea typeface="Noto Sans SC"/>
                <a:cs typeface="Noto Sans SC"/>
                <a:sym typeface="Noto Sans SC"/>
              </a:rPr>
              <a:t>熟练掌握无损连接分解的定义、测试算法及保持函数依赖分解的判定方法</a:t>
            </a:r>
            <a:r>
              <a:rPr lang="en-US" sz="1600" b="0" i="0" u="none" strike="noStrike">
                <a:solidFill>
                  <a:srgbClr val="505050"/>
                </a:solidFill>
                <a:latin typeface="Noto Sans SC"/>
                <a:ea typeface="Noto Sans SC"/>
                <a:cs typeface="Noto Sans SC"/>
                <a:sym typeface="Noto Sans SC"/>
              </a:rPr>
              <a:t>。</a:t>
            </a:r>
          </a:p>
          <a:p>
            <a:pPr marL="342900" indent="-342900" algn="just">
              <a:lnSpc>
                <a:spcPct val="130000"/>
              </a:lnSpc>
              <a:spcAft>
                <a:spcPts val="600"/>
              </a:spcAft>
              <a:buFont typeface="+mj-lt"/>
              <a:buAutoNum type="arabicPeriod"/>
            </a:pPr>
            <a:r>
              <a:rPr lang="en-US" sz="1600" b="1" i="0" u="none" strike="noStrike">
                <a:solidFill>
                  <a:srgbClr val="333333"/>
                </a:solidFill>
                <a:latin typeface="Noto Sans SC"/>
                <a:ea typeface="Noto Sans SC"/>
                <a:cs typeface="Noto Sans SC"/>
                <a:sym typeface="Noto Sans SC"/>
              </a:rPr>
              <a:t>经典范式：</a:t>
            </a:r>
            <a:r>
              <a:rPr lang="en-US" sz="1600" b="0" i="0" u="none" strike="noStrike">
                <a:solidFill>
                  <a:srgbClr val="505050"/>
                </a:solidFill>
                <a:latin typeface="Noto Sans SC"/>
                <a:ea typeface="Noto Sans SC"/>
                <a:cs typeface="Noto Sans SC"/>
                <a:sym typeface="Noto Sans SC"/>
              </a:rPr>
              <a:t>透彻理解1NF、2NF、3NF、BCNF的定义及规范化过程；掌握将关系模式分解为2NF和3NF模式集的标准算法。</a:t>
            </a:r>
          </a:p>
          <a:p>
            <a:pPr marL="342900" indent="-342900" algn="just">
              <a:lnSpc>
                <a:spcPct val="130000"/>
              </a:lnSpc>
              <a:spcAft>
                <a:spcPts val="600"/>
              </a:spcAft>
              <a:buFont typeface="+mj-lt"/>
              <a:buAutoNum type="arabicPeriod"/>
            </a:pPr>
            <a:r>
              <a:rPr lang="en-US" sz="1600" b="1" i="0" u="none" strike="noStrike" err="1">
                <a:solidFill>
                  <a:srgbClr val="333333"/>
                </a:solidFill>
                <a:latin typeface="Noto Sans SC"/>
                <a:ea typeface="Noto Sans SC"/>
                <a:cs typeface="Noto Sans SC"/>
                <a:sym typeface="Noto Sans SC"/>
              </a:rPr>
              <a:t>高级范式：</a:t>
            </a:r>
            <a:r>
              <a:rPr lang="en-US" sz="1600" b="0" i="0" u="none" strike="noStrike" err="1">
                <a:solidFill>
                  <a:srgbClr val="505050"/>
                </a:solidFill>
                <a:latin typeface="Noto Sans SC"/>
                <a:ea typeface="Noto Sans SC"/>
                <a:cs typeface="Noto Sans SC"/>
                <a:sym typeface="Noto Sans SC"/>
              </a:rPr>
              <a:t>了解多值依赖</a:t>
            </a:r>
            <a:r>
              <a:rPr lang="en-US" sz="1600" b="0" i="0" u="none" strike="noStrike">
                <a:solidFill>
                  <a:srgbClr val="505050"/>
                </a:solidFill>
                <a:latin typeface="Noto Sans SC"/>
                <a:ea typeface="Noto Sans SC"/>
                <a:cs typeface="Noto Sans SC"/>
                <a:sym typeface="Noto Sans SC"/>
              </a:rPr>
              <a:t>(MVD)、</a:t>
            </a:r>
            <a:r>
              <a:rPr lang="en-US" sz="1600" b="0" i="0" u="none" strike="noStrike" err="1">
                <a:solidFill>
                  <a:srgbClr val="505050"/>
                </a:solidFill>
                <a:latin typeface="Noto Sans SC"/>
                <a:ea typeface="Noto Sans SC"/>
                <a:cs typeface="Noto Sans SC"/>
                <a:sym typeface="Noto Sans SC"/>
              </a:rPr>
              <a:t>连接依赖</a:t>
            </a:r>
            <a:r>
              <a:rPr lang="en-US" sz="1600" b="0" i="0" u="none" strike="noStrike">
                <a:solidFill>
                  <a:srgbClr val="505050"/>
                </a:solidFill>
                <a:latin typeface="Noto Sans SC"/>
                <a:ea typeface="Noto Sans SC"/>
                <a:cs typeface="Noto Sans SC"/>
                <a:sym typeface="Noto Sans SC"/>
              </a:rPr>
              <a:t>(JD)的概念及对应的4NF、5NF范式定义。</a:t>
            </a:r>
          </a:p>
        </p:txBody>
      </p:sp>
      <p:sp>
        <p:nvSpPr>
          <p:cNvPr id="4" name="AutoShape 4"/>
          <p:cNvSpPr/>
          <p:nvPr/>
        </p:nvSpPr>
        <p:spPr>
          <a:xfrm>
            <a:off x="7166343" y="1435100"/>
            <a:ext cx="588335" cy="43561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学习</a:t>
            </a:r>
            <a:br>
              <a:rPr lang="en-US" sz="1600" b="1" i="0" u="none" strike="noStrike">
                <a:solidFill>
                  <a:srgbClr val="FFFFFF"/>
                </a:solidFill>
                <a:latin typeface="Noto Sans SC"/>
                <a:ea typeface="Noto Sans SC"/>
                <a:cs typeface="Noto Sans SC"/>
                <a:sym typeface="Noto Sans SC"/>
              </a:rPr>
            </a:br>
            <a:r>
              <a:rPr lang="en-US" sz="1600" b="1" i="0" u="none" strike="noStrike">
                <a:solidFill>
                  <a:srgbClr val="FFFFFF"/>
                </a:solidFill>
                <a:latin typeface="Noto Sans SC"/>
                <a:ea typeface="Noto Sans SC"/>
                <a:cs typeface="Noto Sans SC"/>
                <a:sym typeface="Noto Sans SC"/>
              </a:rPr>
              <a:t>目标</a:t>
            </a:r>
            <a:endParaRPr lang="en-US" sz="1100"/>
          </a:p>
        </p:txBody>
      </p:sp>
      <p:sp>
        <p:nvSpPr>
          <p:cNvPr id="5" name="AutoShape 5"/>
          <p:cNvSpPr/>
          <p:nvPr/>
        </p:nvSpPr>
        <p:spPr>
          <a:xfrm>
            <a:off x="7754679" y="1435100"/>
            <a:ext cx="3599121" cy="647700"/>
          </a:xfrm>
          <a:prstGeom prst="roundRect">
            <a:avLst>
              <a:gd name="adj" fmla="val 0"/>
            </a:avLst>
          </a:prstGeom>
          <a:solidFill>
            <a:srgbClr val="1E3A8A">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 理解数据冗余与操作异常根源</a:t>
            </a:r>
            <a:endParaRPr lang="en-US"/>
          </a:p>
        </p:txBody>
      </p:sp>
      <p:sp>
        <p:nvSpPr>
          <p:cNvPr id="6" name="AutoShape 6"/>
          <p:cNvSpPr/>
          <p:nvPr/>
        </p:nvSpPr>
        <p:spPr>
          <a:xfrm>
            <a:off x="7754679" y="2362200"/>
            <a:ext cx="3599121" cy="647700"/>
          </a:xfrm>
          <a:prstGeom prst="roundRect">
            <a:avLst>
              <a:gd name="adj" fmla="val 0"/>
            </a:avLst>
          </a:prstGeom>
          <a:solidFill>
            <a:srgbClr val="1E3A8A">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 掌握函数依赖(FD)核心理论体系</a:t>
            </a:r>
            <a:endParaRPr lang="en-US"/>
          </a:p>
        </p:txBody>
      </p:sp>
      <p:sp>
        <p:nvSpPr>
          <p:cNvPr id="7" name="AutoShape 7"/>
          <p:cNvSpPr/>
          <p:nvPr/>
        </p:nvSpPr>
        <p:spPr>
          <a:xfrm>
            <a:off x="7754679" y="3302000"/>
            <a:ext cx="3599121" cy="647700"/>
          </a:xfrm>
          <a:prstGeom prst="roundRect">
            <a:avLst>
              <a:gd name="adj" fmla="val 0"/>
            </a:avLst>
          </a:prstGeom>
          <a:solidFill>
            <a:srgbClr val="1E3A8A">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 熟练判断无损与保持依赖分解</a:t>
            </a:r>
            <a:endParaRPr lang="en-US"/>
          </a:p>
        </p:txBody>
      </p:sp>
      <p:sp>
        <p:nvSpPr>
          <p:cNvPr id="8" name="AutoShape 8"/>
          <p:cNvSpPr/>
          <p:nvPr/>
        </p:nvSpPr>
        <p:spPr>
          <a:xfrm>
            <a:off x="7754679" y="4241800"/>
            <a:ext cx="3599121" cy="647700"/>
          </a:xfrm>
          <a:prstGeom prst="roundRect">
            <a:avLst>
              <a:gd name="adj" fmla="val 0"/>
            </a:avLst>
          </a:prstGeom>
          <a:solidFill>
            <a:srgbClr val="D97706">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 精通1NF到BCNF范式定义与应用</a:t>
            </a:r>
            <a:endParaRPr lang="en-US"/>
          </a:p>
        </p:txBody>
      </p:sp>
      <p:sp>
        <p:nvSpPr>
          <p:cNvPr id="9" name="AutoShape 9"/>
          <p:cNvSpPr/>
          <p:nvPr/>
        </p:nvSpPr>
        <p:spPr>
          <a:xfrm>
            <a:off x="7754679" y="5130800"/>
            <a:ext cx="3599121" cy="647700"/>
          </a:xfrm>
          <a:prstGeom prst="roundRect">
            <a:avLst>
              <a:gd name="adj" fmla="val 0"/>
            </a:avLst>
          </a:prstGeom>
          <a:solidFill>
            <a:srgbClr val="10B981">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 了解更高阶范式(4NF, 5NF)概念</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431753"/>
            <a:ext cx="10515600" cy="635092"/>
          </a:xfrm>
          <a:prstGeom prst="roundRect">
            <a:avLst>
              <a:gd name="adj" fmla="val 0"/>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en-US" altLang="zh-CN" sz="2800">
                <a:solidFill>
                  <a:srgbClr val="FFFFFF"/>
                </a:solidFill>
                <a:latin typeface="Noto Sans SC Black" panose="020B0200000000000000" pitchFamily="34" charset="-122"/>
                <a:ea typeface="Noto Sans SC Black" panose="020B0200000000000000" pitchFamily="34" charset="-122"/>
                <a:sym typeface="Noto Sans SC"/>
              </a:rPr>
              <a:t>第7讲 关系数据库的规范化设计</a:t>
            </a:r>
            <a:endParaRPr sz="2800">
              <a:solidFill>
                <a:srgbClr val="FFFFFF"/>
              </a:solidFill>
              <a:latin typeface="Noto Sans SC Black" panose="020B0200000000000000" pitchFamily="34" charset="-122"/>
              <a:ea typeface="Noto Sans SC Black" panose="020B0200000000000000" pitchFamily="34" charset="-122"/>
            </a:endParaRPr>
          </a:p>
        </p:txBody>
      </p:sp>
      <p:sp>
        <p:nvSpPr>
          <p:cNvPr id="6" name="AutoShape 6"/>
          <p:cNvSpPr/>
          <p:nvPr/>
        </p:nvSpPr>
        <p:spPr>
          <a:xfrm>
            <a:off x="838200" y="1867195"/>
            <a:ext cx="3302000" cy="1397000"/>
          </a:xfrm>
          <a:prstGeom prst="roundRect">
            <a:avLst>
              <a:gd name="adj" fmla="val 0"/>
            </a:avLst>
          </a:prstGeom>
          <a:solidFill>
            <a:srgbClr val="F5F0FA">
              <a:alpha val="100000"/>
            </a:srgbClr>
          </a:solidFill>
          <a:ln w="12700" cap="flat" cmpd="sng">
            <a:solidFill>
              <a:srgbClr val="7030A0">
                <a:alpha val="30000"/>
              </a:srgbClr>
            </a:solidFill>
            <a:prstDash val="solid"/>
            <a:round/>
          </a:ln>
        </p:spPr>
        <p:txBody>
          <a:bodyPr vert="horz" wrap="square" lIns="63500" tIns="63500" rIns="63500" bIns="63500" rtlCol="0" anchor="ctr"/>
          <a:lstStyle/>
          <a:p>
            <a:pPr algn="ctr">
              <a:defRPr/>
            </a:pPr>
            <a:endParaRPr/>
          </a:p>
        </p:txBody>
      </p:sp>
      <p:pic>
        <p:nvPicPr>
          <p:cNvPr id="7" name="Picture 7"/>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11695"/>
            <a:ext cx="508000" cy="508000"/>
          </a:xfrm>
          <a:prstGeom prst="rect">
            <a:avLst/>
          </a:prstGeom>
        </p:spPr>
      </p:pic>
      <p:sp>
        <p:nvSpPr>
          <p:cNvPr id="8" name="AutoShape 8"/>
          <p:cNvSpPr/>
          <p:nvPr/>
        </p:nvSpPr>
        <p:spPr>
          <a:xfrm>
            <a:off x="1601734" y="2057695"/>
            <a:ext cx="2460902"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030A0"/>
                </a:solidFill>
                <a:latin typeface="Noto Sans SC"/>
                <a:ea typeface="Noto Sans SC"/>
                <a:cs typeface="Noto Sans SC"/>
                <a:sym typeface="Noto Sans SC"/>
              </a:rPr>
              <a:t>7.1 关系模式的设计问题</a:t>
            </a:r>
            <a:endParaRPr lang="en-US" sz="1100"/>
          </a:p>
          <a:p>
            <a:pPr indent="0" algn="l">
              <a:lnSpc>
                <a:spcPct val="125000"/>
              </a:lnSpc>
            </a:pPr>
            <a:r>
              <a:rPr lang="en-US" sz="1300" b="0" i="0" u="none" strike="noStrike" err="1">
                <a:solidFill>
                  <a:srgbClr val="505050"/>
                </a:solidFill>
                <a:latin typeface="Noto Sans SC"/>
                <a:ea typeface="Noto Sans SC"/>
                <a:cs typeface="Noto Sans SC"/>
                <a:sym typeface="Noto Sans SC"/>
              </a:rPr>
              <a:t>剖析数据冗余与操作异常的根源</a:t>
            </a:r>
            <a:endParaRPr lang="en-US" sz="1300" b="0" i="0" u="none" strike="noStrike">
              <a:solidFill>
                <a:srgbClr val="505050"/>
              </a:solidFill>
              <a:latin typeface="Noto Sans SC"/>
              <a:ea typeface="Noto Sans SC"/>
              <a:cs typeface="Noto Sans SC"/>
              <a:sym typeface="Noto Sans SC"/>
            </a:endParaRPr>
          </a:p>
        </p:txBody>
      </p:sp>
      <p:sp>
        <p:nvSpPr>
          <p:cNvPr id="9" name="AutoShape 9"/>
          <p:cNvSpPr/>
          <p:nvPr/>
        </p:nvSpPr>
        <p:spPr>
          <a:xfrm>
            <a:off x="4445000" y="1867195"/>
            <a:ext cx="3302000" cy="1397000"/>
          </a:xfrm>
          <a:prstGeom prst="roundRect">
            <a:avLst>
              <a:gd name="adj" fmla="val 0"/>
            </a:avLst>
          </a:prstGeom>
          <a:solidFill>
            <a:srgbClr val="F5F0FA">
              <a:alpha val="100000"/>
            </a:srgbClr>
          </a:solidFill>
          <a:ln w="12700" cap="flat" cmpd="sng">
            <a:solidFill>
              <a:srgbClr val="7030A0">
                <a:alpha val="3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22800" y="2311695"/>
            <a:ext cx="508000" cy="508000"/>
          </a:xfrm>
          <a:prstGeom prst="rect">
            <a:avLst/>
          </a:prstGeom>
        </p:spPr>
      </p:pic>
      <p:sp>
        <p:nvSpPr>
          <p:cNvPr id="11" name="AutoShape 11"/>
          <p:cNvSpPr/>
          <p:nvPr/>
        </p:nvSpPr>
        <p:spPr>
          <a:xfrm>
            <a:off x="5321300" y="2057695"/>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95000"/>
                </a:solidFill>
                <a:latin typeface="Noto Sans SC"/>
                <a:ea typeface="Noto Sans SC"/>
                <a:cs typeface="Noto Sans SC"/>
                <a:sym typeface="Noto Sans SC"/>
              </a:rPr>
              <a:t>7.2 函数依赖</a:t>
            </a:r>
            <a:endParaRPr lang="en-US" sz="1100"/>
          </a:p>
          <a:p>
            <a:pPr indent="0" algn="l">
              <a:lnSpc>
                <a:spcPct val="125000"/>
              </a:lnSpc>
            </a:pPr>
            <a:r>
              <a:rPr lang="en-US" sz="1300" b="0" i="0" u="none" strike="noStrike" err="1">
                <a:solidFill>
                  <a:srgbClr val="505050"/>
                </a:solidFill>
                <a:latin typeface="Noto Sans SC"/>
                <a:ea typeface="Noto Sans SC"/>
                <a:cs typeface="Noto Sans SC"/>
                <a:sym typeface="Noto Sans SC"/>
              </a:rPr>
              <a:t>规范化设计的核心理论基础</a:t>
            </a:r>
            <a:endParaRPr lang="en-US" sz="1300" b="0" i="0" u="none" strike="noStrike">
              <a:solidFill>
                <a:srgbClr val="505050"/>
              </a:solidFill>
              <a:latin typeface="Noto Sans SC"/>
              <a:ea typeface="Noto Sans SC"/>
              <a:cs typeface="Noto Sans SC"/>
              <a:sym typeface="Noto Sans SC"/>
            </a:endParaRPr>
          </a:p>
        </p:txBody>
      </p:sp>
      <p:sp>
        <p:nvSpPr>
          <p:cNvPr id="12" name="AutoShape 12"/>
          <p:cNvSpPr/>
          <p:nvPr/>
        </p:nvSpPr>
        <p:spPr>
          <a:xfrm>
            <a:off x="8051800" y="1867195"/>
            <a:ext cx="3302000" cy="1397000"/>
          </a:xfrm>
          <a:prstGeom prst="roundRect">
            <a:avLst>
              <a:gd name="adj" fmla="val 0"/>
            </a:avLst>
          </a:prstGeom>
          <a:solidFill>
            <a:srgbClr val="F5F0FA">
              <a:alpha val="100000"/>
            </a:srgbClr>
          </a:solidFill>
          <a:ln w="12700" cap="flat" cmpd="sng">
            <a:solidFill>
              <a:srgbClr val="7030A0">
                <a:alpha val="30000"/>
              </a:srgbClr>
            </a:solidFill>
            <a:prstDash val="solid"/>
            <a:round/>
          </a:ln>
        </p:spPr>
        <p:txBody>
          <a:bodyPr vert="horz" wrap="square" lIns="63500" tIns="63500" rIns="63500" bIns="63500" rtlCol="0" anchor="ctr"/>
          <a:lstStyle/>
          <a:p>
            <a:pPr algn="ctr">
              <a:defRPr/>
            </a:pPr>
            <a:endParaRPr/>
          </a:p>
        </p:txBody>
      </p:sp>
      <p:pic>
        <p:nvPicPr>
          <p:cNvPr id="13" name="Picture 13"/>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229600" y="2311695"/>
            <a:ext cx="508000" cy="508000"/>
          </a:xfrm>
          <a:prstGeom prst="rect">
            <a:avLst/>
          </a:prstGeom>
        </p:spPr>
      </p:pic>
      <p:sp>
        <p:nvSpPr>
          <p:cNvPr id="14" name="AutoShape 14"/>
          <p:cNvSpPr/>
          <p:nvPr/>
        </p:nvSpPr>
        <p:spPr>
          <a:xfrm>
            <a:off x="9042400" y="2057695"/>
            <a:ext cx="20447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030A0"/>
                </a:solidFill>
                <a:latin typeface="Noto Sans SC"/>
                <a:ea typeface="Noto Sans SC"/>
                <a:cs typeface="Noto Sans SC"/>
                <a:sym typeface="Noto Sans SC"/>
              </a:rPr>
              <a:t>7.3 模式的分解特性</a:t>
            </a:r>
            <a:endParaRPr lang="en-US" sz="1100"/>
          </a:p>
          <a:p>
            <a:pPr indent="0" algn="l">
              <a:lnSpc>
                <a:spcPct val="125000"/>
              </a:lnSpc>
            </a:pPr>
            <a:r>
              <a:rPr lang="en-US" sz="1300" b="0" i="0" u="none" strike="noStrike" err="1">
                <a:solidFill>
                  <a:srgbClr val="505050"/>
                </a:solidFill>
                <a:latin typeface="Noto Sans SC"/>
                <a:ea typeface="Noto Sans SC"/>
                <a:cs typeface="Noto Sans SC"/>
                <a:sym typeface="Noto Sans SC"/>
              </a:rPr>
              <a:t>无损分解与保持依赖原则</a:t>
            </a:r>
            <a:endParaRPr lang="en-US" sz="1300" b="0" i="0" u="none" strike="noStrike">
              <a:solidFill>
                <a:srgbClr val="505050"/>
              </a:solidFill>
              <a:latin typeface="Noto Sans SC"/>
              <a:ea typeface="Noto Sans SC"/>
              <a:cs typeface="Noto Sans SC"/>
              <a:sym typeface="Noto Sans SC"/>
            </a:endParaRPr>
          </a:p>
        </p:txBody>
      </p:sp>
      <p:sp>
        <p:nvSpPr>
          <p:cNvPr id="15" name="AutoShape 15"/>
          <p:cNvSpPr/>
          <p:nvPr/>
        </p:nvSpPr>
        <p:spPr>
          <a:xfrm>
            <a:off x="838200" y="3645195"/>
            <a:ext cx="3302000" cy="1397000"/>
          </a:xfrm>
          <a:prstGeom prst="roundRect">
            <a:avLst>
              <a:gd name="adj" fmla="val 0"/>
            </a:avLst>
          </a:prstGeom>
          <a:solidFill>
            <a:srgbClr val="F5F0FA">
              <a:alpha val="100000"/>
            </a:srgbClr>
          </a:solidFill>
          <a:ln w="12700" cap="flat" cmpd="sng">
            <a:solidFill>
              <a:srgbClr val="7030A0">
                <a:alpha val="30000"/>
              </a:srgbClr>
            </a:solidFill>
            <a:prstDash val="solid"/>
            <a:round/>
          </a:ln>
        </p:spPr>
        <p:txBody>
          <a:bodyPr vert="horz" wrap="square" lIns="63500" tIns="63500" rIns="63500" bIns="63500" rtlCol="0" anchor="ctr"/>
          <a:lstStyle/>
          <a:p>
            <a:pPr algn="ctr">
              <a:defRPr/>
            </a:pPr>
            <a:endParaRPr/>
          </a:p>
        </p:txBody>
      </p:sp>
      <p:pic>
        <p:nvPicPr>
          <p:cNvPr id="16" name="Picture 1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5999" y="4089695"/>
            <a:ext cx="508000" cy="508000"/>
          </a:xfrm>
          <a:prstGeom prst="rect">
            <a:avLst/>
          </a:prstGeom>
        </p:spPr>
      </p:pic>
      <p:sp>
        <p:nvSpPr>
          <p:cNvPr id="17" name="AutoShape 17"/>
          <p:cNvSpPr/>
          <p:nvPr/>
        </p:nvSpPr>
        <p:spPr>
          <a:xfrm>
            <a:off x="1714499" y="3835695"/>
            <a:ext cx="2286767"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95000"/>
                </a:solidFill>
                <a:latin typeface="Noto Sans SC"/>
                <a:ea typeface="Noto Sans SC"/>
                <a:cs typeface="Noto Sans SC"/>
                <a:sym typeface="Noto Sans SC"/>
              </a:rPr>
              <a:t>7.4 关系模式的范式</a:t>
            </a:r>
            <a:endParaRPr lang="en-US" sz="1100"/>
          </a:p>
          <a:p>
            <a:pPr indent="0" algn="l">
              <a:lnSpc>
                <a:spcPct val="125000"/>
              </a:lnSpc>
            </a:pPr>
            <a:r>
              <a:rPr lang="en-US" sz="1200" b="0" i="0" u="none" strike="noStrike">
                <a:solidFill>
                  <a:srgbClr val="505050"/>
                </a:solidFill>
                <a:latin typeface="Noto Sans SC"/>
                <a:ea typeface="Noto Sans SC"/>
                <a:cs typeface="Noto Sans SC"/>
                <a:sym typeface="Noto Sans SC"/>
              </a:rPr>
              <a:t>从1NF到BCNF的逐级规范化标准</a:t>
            </a:r>
          </a:p>
        </p:txBody>
      </p:sp>
      <p:sp>
        <p:nvSpPr>
          <p:cNvPr id="18" name="AutoShape 18"/>
          <p:cNvSpPr/>
          <p:nvPr/>
        </p:nvSpPr>
        <p:spPr>
          <a:xfrm>
            <a:off x="4445000" y="3645195"/>
            <a:ext cx="3302000" cy="1397000"/>
          </a:xfrm>
          <a:prstGeom prst="roundRect">
            <a:avLst>
              <a:gd name="adj" fmla="val 0"/>
            </a:avLst>
          </a:prstGeom>
          <a:solidFill>
            <a:srgbClr val="F5F0FA">
              <a:alpha val="100000"/>
            </a:srgbClr>
          </a:solidFill>
          <a:ln w="12700" cap="flat" cmpd="sng">
            <a:solidFill>
              <a:srgbClr val="7030A0">
                <a:alpha val="30000"/>
              </a:srgbClr>
            </a:solidFill>
            <a:prstDash val="solid"/>
            <a:round/>
          </a:ln>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622800" y="3962695"/>
            <a:ext cx="508000" cy="508000"/>
          </a:xfrm>
          <a:prstGeom prst="rect">
            <a:avLst/>
          </a:prstGeom>
        </p:spPr>
      </p:pic>
      <p:sp>
        <p:nvSpPr>
          <p:cNvPr id="20" name="AutoShape 20"/>
          <p:cNvSpPr/>
          <p:nvPr/>
        </p:nvSpPr>
        <p:spPr>
          <a:xfrm>
            <a:off x="5321299" y="3835695"/>
            <a:ext cx="2245513"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030A0"/>
                </a:solidFill>
                <a:latin typeface="Noto Sans SC"/>
                <a:ea typeface="Noto Sans SC"/>
                <a:cs typeface="Noto Sans SC"/>
                <a:sym typeface="Noto Sans SC"/>
              </a:rPr>
              <a:t>7.5 进一步规范化处理</a:t>
            </a:r>
            <a:endParaRPr lang="en-US" sz="1100"/>
          </a:p>
          <a:p>
            <a:pPr indent="0" algn="l">
              <a:lnSpc>
                <a:spcPct val="125000"/>
              </a:lnSpc>
            </a:pPr>
            <a:r>
              <a:rPr lang="en-US" sz="1300" b="0" i="0" u="none" strike="noStrike">
                <a:solidFill>
                  <a:srgbClr val="505050"/>
                </a:solidFill>
                <a:latin typeface="Noto Sans SC"/>
                <a:ea typeface="Noto Sans SC"/>
                <a:cs typeface="Noto Sans SC"/>
                <a:sym typeface="Noto Sans SC"/>
              </a:rPr>
              <a:t>多值依赖与4NF的高阶应用</a:t>
            </a:r>
          </a:p>
        </p:txBody>
      </p:sp>
      <p:sp>
        <p:nvSpPr>
          <p:cNvPr id="21" name="AutoShape 21"/>
          <p:cNvSpPr/>
          <p:nvPr/>
        </p:nvSpPr>
        <p:spPr>
          <a:xfrm>
            <a:off x="8051800" y="3645195"/>
            <a:ext cx="3302000" cy="1397000"/>
          </a:xfrm>
          <a:prstGeom prst="roundRect">
            <a:avLst>
              <a:gd name="adj" fmla="val 0"/>
            </a:avLst>
          </a:prstGeom>
          <a:solidFill>
            <a:srgbClr val="F5F0FA">
              <a:alpha val="100000"/>
            </a:srgbClr>
          </a:solidFill>
          <a:ln w="12700" cap="flat" cmpd="sng">
            <a:solidFill>
              <a:srgbClr val="7030A0">
                <a:alpha val="30000"/>
              </a:srgbClr>
            </a:solidFill>
            <a:prstDash val="solid"/>
            <a:round/>
          </a:ln>
        </p:spPr>
        <p:txBody>
          <a:bodyPr vert="horz" wrap="square" lIns="63500" tIns="63500" rIns="63500" bIns="63500" rtlCol="0" anchor="ctr"/>
          <a:lstStyle/>
          <a:p>
            <a:pPr algn="ctr">
              <a:defRPr/>
            </a:pPr>
            <a:endParaRPr/>
          </a:p>
        </p:txBody>
      </p:sp>
      <p:pic>
        <p:nvPicPr>
          <p:cNvPr id="22" name="Picture 2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229600" y="4089695"/>
            <a:ext cx="508000" cy="508000"/>
          </a:xfrm>
          <a:prstGeom prst="rect">
            <a:avLst/>
          </a:prstGeom>
        </p:spPr>
      </p:pic>
      <p:sp>
        <p:nvSpPr>
          <p:cNvPr id="23" name="AutoShape 23"/>
          <p:cNvSpPr/>
          <p:nvPr/>
        </p:nvSpPr>
        <p:spPr>
          <a:xfrm>
            <a:off x="8928100" y="3835695"/>
            <a:ext cx="2159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D95000"/>
                </a:solidFill>
                <a:latin typeface="Noto Sans SC"/>
                <a:ea typeface="Noto Sans SC"/>
                <a:cs typeface="Noto Sans SC"/>
                <a:sym typeface="Noto Sans SC"/>
              </a:rPr>
              <a:t>7.6 </a:t>
            </a:r>
            <a:r>
              <a:rPr lang="zh-CN" altLang="en-US" sz="1800" b="1" i="0" u="none" strike="noStrike">
                <a:solidFill>
                  <a:srgbClr val="D95000"/>
                </a:solidFill>
                <a:latin typeface="Noto Sans SC"/>
                <a:ea typeface="Noto Sans SC"/>
                <a:cs typeface="Noto Sans SC"/>
                <a:sym typeface="Noto Sans SC"/>
              </a:rPr>
              <a:t>本讲</a:t>
            </a:r>
            <a:r>
              <a:rPr lang="en-US" sz="1800" b="1" i="0" u="none" strike="noStrike">
                <a:solidFill>
                  <a:srgbClr val="D95000"/>
                </a:solidFill>
                <a:latin typeface="Noto Sans SC"/>
                <a:ea typeface="Noto Sans SC"/>
                <a:cs typeface="Noto Sans SC"/>
                <a:sym typeface="Noto Sans SC"/>
              </a:rPr>
              <a:t>小结</a:t>
            </a:r>
            <a:endParaRPr lang="en-US" sz="1100"/>
          </a:p>
          <a:p>
            <a:pPr indent="0" algn="l">
              <a:lnSpc>
                <a:spcPct val="125000"/>
              </a:lnSpc>
            </a:pPr>
            <a:r>
              <a:rPr lang="en-US" sz="1300" b="0" i="0" u="none" strike="noStrike" err="1">
                <a:solidFill>
                  <a:srgbClr val="505050"/>
                </a:solidFill>
                <a:latin typeface="Noto Sans SC"/>
                <a:ea typeface="Noto Sans SC"/>
                <a:cs typeface="Noto Sans SC"/>
                <a:sym typeface="Noto Sans SC"/>
              </a:rPr>
              <a:t>回顾设计原则与范式选择策略</a:t>
            </a:r>
            <a:endParaRPr lang="en-US" sz="1300" b="0" i="0" u="none" strike="noStrike">
              <a:solidFill>
                <a:srgbClr val="505050"/>
              </a:solidFill>
              <a:latin typeface="Noto Sans SC"/>
              <a:ea typeface="Noto Sans SC"/>
              <a:cs typeface="Noto Sans SC"/>
              <a:sym typeface="Noto Sans SC"/>
            </a:endParaRPr>
          </a:p>
        </p:txBody>
      </p:sp>
      <p:sp>
        <p:nvSpPr>
          <p:cNvPr id="24" name="AutoShape 24"/>
          <p:cNvSpPr/>
          <p:nvPr/>
        </p:nvSpPr>
        <p:spPr>
          <a:xfrm>
            <a:off x="838200" y="5296195"/>
            <a:ext cx="10515600" cy="762000"/>
          </a:xfrm>
          <a:prstGeom prst="roundRect">
            <a:avLst>
              <a:gd name="adj" fmla="val 26666"/>
            </a:avLst>
          </a:prstGeom>
          <a:solidFill>
            <a:srgbClr val="FFF8F0">
              <a:alpha val="100000"/>
            </a:srgbClr>
          </a:solidFill>
          <a:ln w="127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838200" y="5296195"/>
            <a:ext cx="105156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500" b="1" i="0" u="none" strike="noStrike">
                <a:solidFill>
                  <a:srgbClr val="3C3C3C"/>
                </a:solidFill>
                <a:latin typeface="Noto Sans SC"/>
                <a:ea typeface="Noto Sans SC"/>
                <a:cs typeface="Noto Sans SC"/>
                <a:sym typeface="Noto Sans SC"/>
              </a:rPr>
              <a:t>学习路径： 发现问题 ➔ 掌握理论 ➔ 学习方法 ➔ 掌握标准 ➔ 进阶提升</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en-US" sz="2800">
                <a:solidFill>
                  <a:srgbClr val="FFFFFF"/>
                </a:solidFill>
                <a:latin typeface="Noto Sans SC Black" panose="020B0200000000000000" pitchFamily="34" charset="-122"/>
                <a:ea typeface="Noto Sans SC Black" panose="020B0200000000000000" pitchFamily="34" charset="-122"/>
                <a:sym typeface="Noto Sans SC"/>
              </a:rPr>
              <a:t>前言：规范化设计理论</a:t>
            </a:r>
            <a:endParaRPr lang="en-US" sz="2800">
              <a:solidFill>
                <a:srgbClr val="FFFFFF"/>
              </a:solidFill>
              <a:latin typeface="Noto Sans SC Black" panose="020B0200000000000000" pitchFamily="34" charset="-122"/>
              <a:ea typeface="Noto Sans SC Black" panose="020B0200000000000000" pitchFamily="34" charset="-122"/>
            </a:endParaRPr>
          </a:p>
        </p:txBody>
      </p:sp>
      <p:sp>
        <p:nvSpPr>
          <p:cNvPr id="3" name="AutoShape 3"/>
          <p:cNvSpPr/>
          <p:nvPr/>
        </p:nvSpPr>
        <p:spPr>
          <a:xfrm>
            <a:off x="838200" y="1397000"/>
            <a:ext cx="5702300" cy="4953000"/>
          </a:xfrm>
          <a:prstGeom prst="rect">
            <a:avLst/>
          </a:prstGeom>
          <a:noFill/>
          <a:ln w="12700" cap="flat" cmpd="sng">
            <a:noFill/>
            <a:prstDash val="solid"/>
            <a:round/>
          </a:ln>
        </p:spPr>
        <p:txBody>
          <a:bodyPr vert="horz" wrap="square" lIns="0" tIns="0" rIns="0" bIns="0" rtlCol="0" anchor="t" anchorCtr="0"/>
          <a:lstStyle/>
          <a:p>
            <a:pPr indent="0" algn="l">
              <a:lnSpc>
                <a:spcPct val="116666"/>
              </a:lnSpc>
              <a:spcBef>
                <a:spcPts val="1000"/>
              </a:spcBef>
              <a:defRPr/>
            </a:pPr>
            <a:r>
              <a:rPr lang="en-US" sz="1800" b="1" i="0" u="none" strike="noStrike">
                <a:solidFill>
                  <a:srgbClr val="000000"/>
                </a:solidFill>
                <a:latin typeface="Noto Sans SC"/>
                <a:ea typeface="Noto Sans SC"/>
                <a:cs typeface="Noto Sans SC"/>
                <a:sym typeface="Noto Sans SC"/>
              </a:rPr>
              <a:t>规范化设计理论</a:t>
            </a:r>
          </a:p>
          <a:p>
            <a:pPr indent="0" algn="l">
              <a:lnSpc>
                <a:spcPct val="130000"/>
              </a:lnSpc>
              <a:defRPr/>
            </a:pPr>
            <a:r>
              <a:rPr lang="en-US" sz="1600" b="0" i="0" u="none" strike="noStrike">
                <a:solidFill>
                  <a:srgbClr val="333333"/>
                </a:solidFill>
                <a:latin typeface="Noto Sans SC"/>
                <a:ea typeface="Noto Sans SC"/>
                <a:cs typeface="Noto Sans SC"/>
                <a:sym typeface="Noto Sans SC"/>
              </a:rPr>
              <a:t>基于业务规则及其数据管理需求，如何判断所设计的关系数据库逻辑结构达到什么程度的规范化要求，如何消除数据冗余、减少更新异常、保证数据的一致性和完整性？</a:t>
            </a:r>
            <a:endParaRPr lang="en-US" sz="1100"/>
          </a:p>
          <a:p>
            <a:pPr indent="0" algn="l">
              <a:lnSpc>
                <a:spcPct val="116666"/>
              </a:lnSpc>
              <a:spcBef>
                <a:spcPts val="1800"/>
              </a:spcBef>
            </a:pPr>
            <a:r>
              <a:rPr lang="en-US" sz="1800" b="1" i="0" u="none" strike="noStrike">
                <a:solidFill>
                  <a:srgbClr val="7030A0"/>
                </a:solidFill>
                <a:latin typeface="Noto Sans SC"/>
                <a:ea typeface="Noto Sans SC"/>
                <a:cs typeface="Noto Sans SC"/>
                <a:sym typeface="Noto Sans SC"/>
              </a:rPr>
              <a:t>理论构成</a:t>
            </a:r>
          </a:p>
          <a:p>
            <a:pPr algn="l">
              <a:lnSpc>
                <a:spcPct val="130000"/>
              </a:lnSpc>
              <a:buClr>
                <a:srgbClr val="000000"/>
              </a:buClr>
            </a:pPr>
            <a:r>
              <a:rPr lang="en-US" sz="1600" b="1" i="0" u="none" strike="noStrike">
                <a:solidFill>
                  <a:srgbClr val="000000"/>
                </a:solidFill>
                <a:latin typeface="Noto Sans SC"/>
                <a:ea typeface="Noto Sans SC"/>
                <a:cs typeface="Noto Sans SC"/>
                <a:sym typeface="Noto Sans SC"/>
              </a:rPr>
              <a:t>数据依赖：</a:t>
            </a:r>
            <a:r>
              <a:rPr lang="en-US" sz="1600" b="0" i="0" u="none" strike="noStrike">
                <a:solidFill>
                  <a:srgbClr val="000000"/>
                </a:solidFill>
                <a:latin typeface="Noto Sans SC"/>
                <a:ea typeface="Noto Sans SC"/>
                <a:cs typeface="Noto Sans SC"/>
                <a:sym typeface="Noto Sans SC"/>
              </a:rPr>
              <a:t>研究数据之间内在的逻辑联系，是规范化设计的理论基石。</a:t>
            </a:r>
          </a:p>
          <a:p>
            <a:pPr algn="l">
              <a:lnSpc>
                <a:spcPct val="130000"/>
              </a:lnSpc>
              <a:spcBef>
                <a:spcPts val="600"/>
              </a:spcBef>
              <a:buClr>
                <a:srgbClr val="000000"/>
              </a:buClr>
            </a:pPr>
            <a:r>
              <a:rPr lang="en-US" sz="1600" b="1" i="0" u="none" strike="noStrike">
                <a:solidFill>
                  <a:srgbClr val="000000"/>
                </a:solidFill>
                <a:latin typeface="Noto Sans SC"/>
                <a:ea typeface="Noto Sans SC"/>
                <a:cs typeface="Noto Sans SC"/>
                <a:sym typeface="Noto Sans SC"/>
              </a:rPr>
              <a:t>范式 (Normal Form)：</a:t>
            </a:r>
            <a:r>
              <a:rPr lang="en-US" sz="1600" b="0" i="0" u="none" strike="noStrike">
                <a:solidFill>
                  <a:srgbClr val="000000"/>
                </a:solidFill>
                <a:latin typeface="Noto Sans SC"/>
                <a:ea typeface="Noto Sans SC"/>
                <a:cs typeface="Noto Sans SC"/>
                <a:sym typeface="Noto Sans SC"/>
              </a:rPr>
              <a:t>衡量关系模式优劣的标准，定义了不同级别的规范化程度。</a:t>
            </a:r>
          </a:p>
          <a:p>
            <a:pPr algn="l">
              <a:lnSpc>
                <a:spcPct val="130000"/>
              </a:lnSpc>
              <a:spcBef>
                <a:spcPts val="600"/>
              </a:spcBef>
              <a:buClr>
                <a:srgbClr val="000000"/>
              </a:buClr>
            </a:pPr>
            <a:r>
              <a:rPr lang="en-US" sz="1600" b="1" i="0" u="none" strike="noStrike">
                <a:solidFill>
                  <a:srgbClr val="000000"/>
                </a:solidFill>
                <a:latin typeface="Noto Sans SC"/>
                <a:ea typeface="Noto Sans SC"/>
                <a:cs typeface="Noto Sans SC"/>
                <a:sym typeface="Noto Sans SC"/>
              </a:rPr>
              <a:t>模式设计方法：</a:t>
            </a:r>
            <a:r>
              <a:rPr lang="en-US" sz="1600" b="0" i="0" u="none" strike="noStrike">
                <a:solidFill>
                  <a:srgbClr val="000000"/>
                </a:solidFill>
                <a:latin typeface="Noto Sans SC"/>
                <a:ea typeface="Noto Sans SC"/>
                <a:cs typeface="Noto Sans SC"/>
                <a:sym typeface="Noto Sans SC"/>
              </a:rPr>
              <a:t>将非规范化的关系模式转化为符合范式要求的设计算法与操作指南。</a:t>
            </a:r>
          </a:p>
          <a:p>
            <a:pPr indent="0" algn="l">
              <a:lnSpc>
                <a:spcPct val="130000"/>
              </a:lnSpc>
              <a:spcBef>
                <a:spcPts val="1800"/>
              </a:spcBef>
            </a:pPr>
            <a:r>
              <a:rPr lang="en-US" sz="1700" b="1" i="0" u="none" strike="noStrike">
                <a:solidFill>
                  <a:srgbClr val="C00000"/>
                </a:solidFill>
                <a:latin typeface="Noto Sans SC"/>
                <a:ea typeface="Noto Sans SC"/>
                <a:cs typeface="Noto Sans SC"/>
                <a:sym typeface="Noto Sans SC"/>
              </a:rPr>
              <a:t>核心作用：</a:t>
            </a:r>
            <a:r>
              <a:rPr lang="en-US" sz="1600" b="0" i="0" u="none" strike="noStrike">
                <a:solidFill>
                  <a:srgbClr val="1F2329"/>
                </a:solidFill>
                <a:latin typeface="Noto Sans SC"/>
                <a:ea typeface="Noto Sans SC"/>
                <a:cs typeface="Noto Sans SC"/>
                <a:sym typeface="Noto Sans SC"/>
              </a:rPr>
              <a:t>数据依赖是核心，范式是评价标准，设计方法是实现路径，三者共同构建了关系数据库规范化设计的完整体系。</a:t>
            </a:r>
          </a:p>
        </p:txBody>
      </p:sp>
      <p:sp>
        <p:nvSpPr>
          <p:cNvPr id="4" name="AutoShape 4"/>
          <p:cNvSpPr/>
          <p:nvPr/>
        </p:nvSpPr>
        <p:spPr>
          <a:xfrm>
            <a:off x="7477051" y="1397000"/>
            <a:ext cx="637363" cy="46355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三大</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支柱</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与</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核心</a:t>
            </a:r>
            <a:endParaRPr lang="en-US" sz="1600" b="1">
              <a:solidFill>
                <a:srgbClr val="FFFFFF"/>
              </a:solidFill>
              <a:latin typeface="Noto Sans SC"/>
              <a:ea typeface="Noto Sans SC"/>
            </a:endParaRPr>
          </a:p>
        </p:txBody>
      </p:sp>
      <p:sp>
        <p:nvSpPr>
          <p:cNvPr id="5" name="AutoShape 5"/>
          <p:cNvSpPr/>
          <p:nvPr/>
        </p:nvSpPr>
        <p:spPr>
          <a:xfrm>
            <a:off x="8114414" y="1397000"/>
            <a:ext cx="3239386" cy="1016000"/>
          </a:xfrm>
          <a:prstGeom prst="roundRect">
            <a:avLst>
              <a:gd name="adj" fmla="val 0"/>
            </a:avLst>
          </a:prstGeom>
          <a:solidFill>
            <a:srgbClr val="2C3E50">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1. 数据依赖</a:t>
            </a:r>
            <a:endParaRPr lang="en-US" sz="1600"/>
          </a:p>
          <a:p>
            <a:pPr indent="0" algn="ctr">
              <a:lnSpc>
                <a:spcPct val="125000"/>
              </a:lnSpc>
              <a:spcBef>
                <a:spcPts val="500"/>
              </a:spcBef>
            </a:pPr>
            <a:r>
              <a:rPr lang="en-US" b="0" i="0" u="none" strike="noStrike">
                <a:solidFill>
                  <a:srgbClr val="DCDCDC"/>
                </a:solidFill>
                <a:latin typeface="Noto Sans SC"/>
                <a:ea typeface="Noto Sans SC"/>
                <a:cs typeface="Noto Sans SC"/>
                <a:sym typeface="Noto Sans SC"/>
              </a:rPr>
              <a:t>规范化设计的理论基石与核心依据</a:t>
            </a:r>
            <a:endParaRPr lang="en-US" sz="1300" b="0" i="0" u="none" strike="noStrike">
              <a:solidFill>
                <a:srgbClr val="DCDCDC"/>
              </a:solidFill>
              <a:latin typeface="Noto Sans SC"/>
              <a:ea typeface="Noto Sans SC"/>
              <a:cs typeface="Noto Sans SC"/>
              <a:sym typeface="Noto Sans SC"/>
            </a:endParaRPr>
          </a:p>
        </p:txBody>
      </p:sp>
      <p:sp>
        <p:nvSpPr>
          <p:cNvPr id="6" name="AutoShape 6"/>
          <p:cNvSpPr/>
          <p:nvPr/>
        </p:nvSpPr>
        <p:spPr>
          <a:xfrm>
            <a:off x="8114414" y="2603500"/>
            <a:ext cx="3239386" cy="1016000"/>
          </a:xfrm>
          <a:prstGeom prst="roundRect">
            <a:avLst>
              <a:gd name="adj" fmla="val 0"/>
            </a:avLst>
          </a:prstGeom>
          <a:solidFill>
            <a:srgbClr val="C0392B">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2. 范式 (NF)</a:t>
            </a:r>
            <a:endParaRPr lang="en-US" sz="1600"/>
          </a:p>
          <a:p>
            <a:pPr indent="0" algn="ctr">
              <a:lnSpc>
                <a:spcPct val="125000"/>
              </a:lnSpc>
              <a:spcBef>
                <a:spcPts val="500"/>
              </a:spcBef>
            </a:pPr>
            <a:r>
              <a:rPr lang="en-US" b="0" i="0" u="none" strike="noStrike">
                <a:solidFill>
                  <a:srgbClr val="FFF0F0"/>
                </a:solidFill>
                <a:latin typeface="Noto Sans SC"/>
                <a:ea typeface="Noto Sans SC"/>
                <a:cs typeface="Noto Sans SC"/>
                <a:sym typeface="Noto Sans SC"/>
              </a:rPr>
              <a:t>评价关系模式设计质量的</a:t>
            </a:r>
            <a:r>
              <a:rPr lang="en-US" sz="1300" b="0" i="0" u="none" strike="noStrike">
                <a:solidFill>
                  <a:srgbClr val="FFF0F0"/>
                </a:solidFill>
                <a:latin typeface="Noto Sans SC"/>
                <a:ea typeface="Noto Sans SC"/>
                <a:cs typeface="Noto Sans SC"/>
                <a:sym typeface="Noto Sans SC"/>
              </a:rPr>
              <a:t>“标尺”</a:t>
            </a:r>
          </a:p>
        </p:txBody>
      </p:sp>
      <p:sp>
        <p:nvSpPr>
          <p:cNvPr id="7" name="AutoShape 7"/>
          <p:cNvSpPr/>
          <p:nvPr/>
        </p:nvSpPr>
        <p:spPr>
          <a:xfrm>
            <a:off x="8114414" y="3810000"/>
            <a:ext cx="3239386" cy="1016000"/>
          </a:xfrm>
          <a:prstGeom prst="roundRect">
            <a:avLst>
              <a:gd name="adj" fmla="val 0"/>
            </a:avLst>
          </a:prstGeom>
          <a:solidFill>
            <a:srgbClr val="D35400">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3. 模式设计方法</a:t>
            </a:r>
            <a:endParaRPr lang="en-US" sz="1600"/>
          </a:p>
          <a:p>
            <a:pPr indent="0" algn="ctr">
              <a:lnSpc>
                <a:spcPct val="125000"/>
              </a:lnSpc>
              <a:spcBef>
                <a:spcPts val="500"/>
              </a:spcBef>
            </a:pPr>
            <a:r>
              <a:rPr lang="en-US" b="0" i="0" u="none" strike="noStrike">
                <a:solidFill>
                  <a:srgbClr val="FFF5E6"/>
                </a:solidFill>
                <a:latin typeface="Noto Sans SC"/>
                <a:ea typeface="Noto Sans SC"/>
                <a:cs typeface="Noto Sans SC"/>
                <a:sym typeface="Noto Sans SC"/>
              </a:rPr>
              <a:t>从理论到实践的操作指南与算法</a:t>
            </a:r>
            <a:endParaRPr lang="en-US" sz="1300" b="0" i="0" u="none" strike="noStrike">
              <a:solidFill>
                <a:srgbClr val="FFF5E6"/>
              </a:solidFill>
              <a:latin typeface="Noto Sans SC"/>
              <a:ea typeface="Noto Sans SC"/>
              <a:cs typeface="Noto Sans SC"/>
              <a:sym typeface="Noto Sans SC"/>
            </a:endParaRPr>
          </a:p>
        </p:txBody>
      </p:sp>
      <p:sp>
        <p:nvSpPr>
          <p:cNvPr id="8" name="AutoShape 8"/>
          <p:cNvSpPr/>
          <p:nvPr/>
        </p:nvSpPr>
        <p:spPr>
          <a:xfrm>
            <a:off x="8114414" y="5016500"/>
            <a:ext cx="3239386" cy="1016000"/>
          </a:xfrm>
          <a:prstGeom prst="roundRect">
            <a:avLst>
              <a:gd name="adj" fmla="val 0"/>
            </a:avLst>
          </a:prstGeom>
          <a:solidFill>
            <a:srgbClr val="27AE60">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最终目标</a:t>
            </a:r>
            <a:endParaRPr lang="en-US" sz="1600"/>
          </a:p>
          <a:p>
            <a:pPr indent="0" algn="ctr">
              <a:lnSpc>
                <a:spcPct val="125000"/>
              </a:lnSpc>
              <a:spcBef>
                <a:spcPts val="500"/>
              </a:spcBef>
            </a:pPr>
            <a:r>
              <a:rPr lang="en-US" b="0" i="0" u="none" strike="noStrike">
                <a:solidFill>
                  <a:srgbClr val="EBFAF0"/>
                </a:solidFill>
                <a:latin typeface="Noto Sans SC"/>
                <a:ea typeface="Noto Sans SC"/>
                <a:cs typeface="Noto Sans SC"/>
                <a:sym typeface="Noto Sans SC"/>
              </a:rPr>
              <a:t>构建冗余少、结构优、易维护的数据库</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431753"/>
            <a:ext cx="10515600" cy="635092"/>
          </a:xfrm>
          <a:prstGeom prst="roundRect">
            <a:avLst>
              <a:gd name="adj" fmla="val 0"/>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en-US" altLang="zh-CN" sz="2800">
                <a:solidFill>
                  <a:srgbClr val="FFFFFF"/>
                </a:solidFill>
                <a:latin typeface="Noto Sans SC Black" panose="020B0200000000000000" pitchFamily="34" charset="-122"/>
                <a:ea typeface="Noto Sans SC Black" panose="020B0200000000000000" pitchFamily="34" charset="-122"/>
                <a:sym typeface="Noto Sans SC"/>
              </a:rPr>
              <a:t>7.1 关系模式的设计问题</a:t>
            </a:r>
            <a:endParaRPr sz="2800">
              <a:solidFill>
                <a:srgbClr val="FFFFFF"/>
              </a:solidFill>
              <a:latin typeface="Noto Sans SC Black" panose="020B0200000000000000" pitchFamily="34" charset="-122"/>
              <a:ea typeface="Noto Sans SC Black" panose="020B0200000000000000" pitchFamily="34" charset="-122"/>
            </a:endParaRPr>
          </a:p>
        </p:txBody>
      </p:sp>
      <p:sp>
        <p:nvSpPr>
          <p:cNvPr id="4" name="AutoShape 4"/>
          <p:cNvSpPr/>
          <p:nvPr/>
        </p:nvSpPr>
        <p:spPr>
          <a:xfrm>
            <a:off x="838200" y="1524000"/>
            <a:ext cx="5207000" cy="2413000"/>
          </a:xfrm>
          <a:prstGeom prst="roundRect">
            <a:avLst>
              <a:gd name="adj" fmla="val 5263"/>
            </a:avLst>
          </a:prstGeom>
          <a:solidFill>
            <a:srgbClr val="F3F4F6">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nvSpPr>
        <p:spPr>
          <a:xfrm>
            <a:off x="838200" y="1524000"/>
            <a:ext cx="101600" cy="24130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143000" y="1714500"/>
            <a:ext cx="4699000" cy="203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900" b="1" i="0" u="none" strike="noStrike">
                <a:solidFill>
                  <a:srgbClr val="7030A0"/>
                </a:solidFill>
                <a:latin typeface="Noto Sans SC"/>
                <a:ea typeface="Noto Sans SC"/>
                <a:cs typeface="Noto Sans SC"/>
                <a:sym typeface="Noto Sans SC"/>
              </a:rPr>
              <a:t>7.1.1 关系模型的外延和内涵</a:t>
            </a:r>
            <a:endParaRPr lang="en-US" sz="1100"/>
          </a:p>
          <a:p>
            <a:pPr indent="0" algn="l">
              <a:lnSpc>
                <a:spcPct val="116666"/>
              </a:lnSpc>
              <a:spcBef>
                <a:spcPts val="1000"/>
              </a:spcBef>
            </a:pPr>
            <a:r>
              <a:rPr lang="en-US" sz="1400" b="0" i="0" u="none" strike="noStrike">
                <a:solidFill>
                  <a:srgbClr val="374151"/>
                </a:solidFill>
                <a:latin typeface="Noto Sans SC"/>
                <a:ea typeface="Noto Sans SC"/>
                <a:cs typeface="Noto Sans SC"/>
                <a:sym typeface="Noto Sans SC"/>
              </a:rPr>
              <a:t>明确关系模型中“外延”（具体数据实例）与“内涵”（数据结构与完整性约束）的定义与区别，理解约束条件如何保障数据库中的数据准确性与一致性。</a:t>
            </a:r>
          </a:p>
        </p:txBody>
      </p:sp>
      <p:sp>
        <p:nvSpPr>
          <p:cNvPr id="7" name="AutoShape 7"/>
          <p:cNvSpPr/>
          <p:nvPr/>
        </p:nvSpPr>
        <p:spPr>
          <a:xfrm>
            <a:off x="6223000" y="1524000"/>
            <a:ext cx="5207000" cy="2413000"/>
          </a:xfrm>
          <a:prstGeom prst="roundRect">
            <a:avLst>
              <a:gd name="adj" fmla="val 5263"/>
            </a:avLst>
          </a:prstGeom>
          <a:solidFill>
            <a:srgbClr val="F3F4F6">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8" name="AutoShape 8"/>
          <p:cNvSpPr/>
          <p:nvPr/>
        </p:nvSpPr>
        <p:spPr>
          <a:xfrm>
            <a:off x="6223000" y="1524000"/>
            <a:ext cx="101600" cy="2413000"/>
          </a:xfrm>
          <a:prstGeom prst="roundRect">
            <a:avLst>
              <a:gd name="adj" fmla="val 0"/>
            </a:avLst>
          </a:prstGeom>
          <a:solidFill>
            <a:srgbClr val="3B82F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6527800" y="1714500"/>
            <a:ext cx="4699000" cy="203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900" b="1" i="0" u="none" strike="noStrike">
                <a:solidFill>
                  <a:srgbClr val="7030A0"/>
                </a:solidFill>
                <a:latin typeface="Noto Sans SC"/>
                <a:ea typeface="Noto Sans SC"/>
                <a:cs typeface="Noto Sans SC"/>
                <a:sym typeface="Noto Sans SC"/>
              </a:rPr>
              <a:t>7.1.2 关系模式的冗余和异常问题</a:t>
            </a:r>
            <a:endParaRPr lang="en-US" sz="1100"/>
          </a:p>
          <a:p>
            <a:pPr indent="0" algn="l">
              <a:lnSpc>
                <a:spcPct val="116666"/>
              </a:lnSpc>
              <a:spcBef>
                <a:spcPts val="1000"/>
              </a:spcBef>
            </a:pPr>
            <a:r>
              <a:rPr lang="en-US" sz="1400" b="0" i="0" u="none" strike="noStrike">
                <a:solidFill>
                  <a:srgbClr val="374151"/>
                </a:solidFill>
                <a:latin typeface="Noto Sans SC"/>
                <a:ea typeface="Noto Sans SC"/>
                <a:cs typeface="Noto Sans SC"/>
                <a:sym typeface="Noto Sans SC"/>
              </a:rPr>
              <a:t>通过实例分析，探讨设计不当的关系模式中可能出现的数据冗余、插入异常、删除异常和修改异常，揭示进行关系模式规范化设计的迫切性与必要性。</a:t>
            </a:r>
          </a:p>
        </p:txBody>
      </p:sp>
      <p:sp>
        <p:nvSpPr>
          <p:cNvPr id="10" name="AutoShape 10"/>
          <p:cNvSpPr/>
          <p:nvPr/>
        </p:nvSpPr>
        <p:spPr>
          <a:xfrm>
            <a:off x="838200" y="4191000"/>
            <a:ext cx="5207000" cy="2413000"/>
          </a:xfrm>
          <a:prstGeom prst="roundRect">
            <a:avLst>
              <a:gd name="adj" fmla="val 5263"/>
            </a:avLst>
          </a:prstGeom>
          <a:solidFill>
            <a:srgbClr val="F3F4F6">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1" name="AutoShape 11"/>
          <p:cNvSpPr/>
          <p:nvPr/>
        </p:nvSpPr>
        <p:spPr>
          <a:xfrm>
            <a:off x="838200" y="4191000"/>
            <a:ext cx="101600" cy="2413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1143000" y="4381500"/>
            <a:ext cx="4699000" cy="203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900" b="1" i="0" u="none" strike="noStrike">
                <a:solidFill>
                  <a:srgbClr val="7030A0"/>
                </a:solidFill>
                <a:latin typeface="Noto Sans SC"/>
                <a:ea typeface="Noto Sans SC"/>
                <a:cs typeface="Noto Sans SC"/>
                <a:sym typeface="Noto Sans SC"/>
              </a:rPr>
              <a:t>7.1.3 关系模式的非形式化准则</a:t>
            </a:r>
            <a:endParaRPr lang="en-US" sz="1100"/>
          </a:p>
          <a:p>
            <a:pPr indent="0" algn="l">
              <a:lnSpc>
                <a:spcPct val="116666"/>
              </a:lnSpc>
              <a:spcBef>
                <a:spcPts val="1000"/>
              </a:spcBef>
            </a:pPr>
            <a:r>
              <a:rPr lang="en-US" sz="1400" b="0" i="0" u="none" strike="noStrike">
                <a:solidFill>
                  <a:srgbClr val="374151"/>
                </a:solidFill>
                <a:latin typeface="Noto Sans SC"/>
                <a:ea typeface="Noto Sans SC"/>
                <a:cs typeface="Noto Sans SC"/>
                <a:sym typeface="Noto Sans SC"/>
              </a:rPr>
              <a:t>归纳并掌握关系模式设计的非形式化评价准则，包括消除冗余、避免操作异常、语义表达清晰等，作为我们判断一个关系模式优劣的直观标准。</a:t>
            </a:r>
          </a:p>
        </p:txBody>
      </p:sp>
      <p:sp>
        <p:nvSpPr>
          <p:cNvPr id="13" name="AutoShape 13"/>
          <p:cNvSpPr/>
          <p:nvPr/>
        </p:nvSpPr>
        <p:spPr>
          <a:xfrm>
            <a:off x="6223000" y="4191000"/>
            <a:ext cx="5207000" cy="2413000"/>
          </a:xfrm>
          <a:prstGeom prst="roundRect">
            <a:avLst>
              <a:gd name="adj" fmla="val 5263"/>
            </a:avLst>
          </a:prstGeom>
          <a:solidFill>
            <a:srgbClr val="F3F4F6">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nvSpPr>
        <p:spPr>
          <a:xfrm>
            <a:off x="6223000" y="4191000"/>
            <a:ext cx="101600" cy="2413000"/>
          </a:xfrm>
          <a:prstGeom prst="roundRect">
            <a:avLst>
              <a:gd name="adj" fmla="val 0"/>
            </a:avLst>
          </a:prstGeom>
          <a:solidFill>
            <a:srgbClr val="EC48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527800" y="4381500"/>
            <a:ext cx="4699000" cy="2032000"/>
          </a:xfrm>
          <a:prstGeom prst="rect">
            <a:avLst/>
          </a:prstGeom>
          <a:noFill/>
          <a:ln w="12700" cap="flat" cmpd="sng">
            <a:noFill/>
            <a:prstDash val="solid"/>
            <a:round/>
          </a:ln>
        </p:spPr>
        <p:txBody>
          <a:bodyPr vert="horz" wrap="square" lIns="0" tIns="0" rIns="0" bIns="0" rtlCol="0" anchor="ctr" anchorCtr="0"/>
          <a:lstStyle/>
          <a:p>
            <a:pPr indent="0" algn="l">
              <a:lnSpc>
                <a:spcPct val="108333"/>
              </a:lnSpc>
              <a:defRPr/>
            </a:pPr>
            <a:r>
              <a:rPr lang="en-US" sz="1900" b="1" i="0" u="none" strike="noStrike">
                <a:solidFill>
                  <a:srgbClr val="7030A0"/>
                </a:solidFill>
                <a:latin typeface="Noto Sans SC"/>
                <a:ea typeface="Noto Sans SC"/>
                <a:cs typeface="Noto Sans SC"/>
                <a:sym typeface="Noto Sans SC"/>
              </a:rPr>
              <a:t>7.1.4 </a:t>
            </a:r>
            <a:r>
              <a:rPr lang="zh-CN" altLang="en-US" sz="1900" b="1" i="0" u="none" strike="noStrike">
                <a:solidFill>
                  <a:srgbClr val="7030A0"/>
                </a:solidFill>
                <a:latin typeface="Noto Sans SC"/>
                <a:ea typeface="Noto Sans SC"/>
                <a:cs typeface="Noto Sans SC"/>
                <a:sym typeface="Noto Sans SC"/>
              </a:rPr>
              <a:t>本讲</a:t>
            </a:r>
            <a:r>
              <a:rPr lang="en-US" sz="1900" b="1" i="0" u="none" strike="noStrike">
                <a:solidFill>
                  <a:srgbClr val="7030A0"/>
                </a:solidFill>
                <a:latin typeface="Noto Sans SC"/>
                <a:ea typeface="Noto Sans SC"/>
                <a:cs typeface="Noto Sans SC"/>
                <a:sym typeface="Noto Sans SC"/>
              </a:rPr>
              <a:t>的符号规定</a:t>
            </a:r>
            <a:endParaRPr lang="en-US" sz="1100"/>
          </a:p>
          <a:p>
            <a:pPr indent="0" algn="l">
              <a:lnSpc>
                <a:spcPct val="116666"/>
              </a:lnSpc>
              <a:spcBef>
                <a:spcPts val="1000"/>
              </a:spcBef>
            </a:pPr>
            <a:r>
              <a:rPr lang="en-US" sz="1400" b="0" i="0" u="none" strike="noStrike">
                <a:solidFill>
                  <a:srgbClr val="374151"/>
                </a:solidFill>
                <a:latin typeface="Noto Sans SC"/>
                <a:ea typeface="Noto Sans SC"/>
                <a:cs typeface="Noto Sans SC"/>
                <a:sym typeface="Noto Sans SC"/>
              </a:rPr>
              <a:t>统一约定</a:t>
            </a:r>
            <a:r>
              <a:rPr lang="zh-CN" altLang="en-US" sz="1400" b="0" i="0" u="none" strike="noStrike">
                <a:solidFill>
                  <a:srgbClr val="374151"/>
                </a:solidFill>
                <a:latin typeface="Noto Sans SC"/>
                <a:ea typeface="Noto Sans SC"/>
                <a:cs typeface="Noto Sans SC"/>
                <a:sym typeface="Noto Sans SC"/>
              </a:rPr>
              <a:t>本讲</a:t>
            </a:r>
            <a:r>
              <a:rPr lang="en-US" sz="1400" b="0" i="0" u="none" strike="noStrike">
                <a:solidFill>
                  <a:srgbClr val="374151"/>
                </a:solidFill>
                <a:latin typeface="Noto Sans SC"/>
                <a:ea typeface="Noto Sans SC"/>
                <a:cs typeface="Noto Sans SC"/>
                <a:sym typeface="Noto Sans SC"/>
              </a:rPr>
              <a:t>中关于关系模式、属性、函数依赖、码等关键概念的符号表示方法，建立一套通用的“数学语言”，以便准确、简洁地描述规范化理论。</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5484"/>
            <a:ext cx="10515600" cy="564432"/>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7.1.1 关系模型的外延和内涵</a:t>
            </a:r>
            <a:endParaRPr lang="en-US" sz="2400" b="1">
              <a:solidFill>
                <a:srgbClr val="FFFFFF"/>
              </a:solidFill>
              <a:latin typeface="Noto Sans SC"/>
              <a:ea typeface="Noto Sans SC"/>
            </a:endParaRPr>
          </a:p>
        </p:txBody>
      </p:sp>
      <p:sp>
        <p:nvSpPr>
          <p:cNvPr id="3" name="AutoShape 3"/>
          <p:cNvSpPr/>
          <p:nvPr/>
        </p:nvSpPr>
        <p:spPr>
          <a:xfrm>
            <a:off x="838200" y="1193800"/>
            <a:ext cx="4336312" cy="5298716"/>
          </a:xfrm>
          <a:prstGeom prst="rect">
            <a:avLst/>
          </a:prstGeom>
          <a:solidFill>
            <a:srgbClr val="FFFFFF">
              <a:alpha val="100000"/>
            </a:srgbClr>
          </a:solidFill>
          <a:ln w="12700" cap="flat" cmpd="sng">
            <a:noFill/>
            <a:prstDash val="solid"/>
            <a:round/>
          </a:ln>
        </p:spPr>
        <p:txBody>
          <a:bodyPr vert="horz" wrap="square" lIns="127000" tIns="254000" rIns="127000" bIns="0" rtlCol="0" anchor="t" anchorCtr="0"/>
          <a:lstStyle/>
          <a:p>
            <a:pPr indent="0" algn="l">
              <a:lnSpc>
                <a:spcPct val="100000"/>
              </a:lnSpc>
              <a:spcAft>
                <a:spcPts val="1600"/>
              </a:spcAft>
              <a:defRPr/>
            </a:pPr>
            <a:r>
              <a:rPr lang="en-US" sz="2400" b="1" i="0" u="none" strike="noStrike">
                <a:solidFill>
                  <a:srgbClr val="7030A0"/>
                </a:solidFill>
                <a:latin typeface="Noto Sans SC"/>
                <a:ea typeface="Noto Sans SC"/>
                <a:cs typeface="Noto Sans SC"/>
                <a:sym typeface="Noto Sans SC"/>
              </a:rPr>
              <a:t>▍ 外延 (Extension)</a:t>
            </a:r>
            <a:endParaRPr lang="en-US" sz="1100"/>
          </a:p>
          <a:p>
            <a:pPr indent="0" algn="l">
              <a:lnSpc>
                <a:spcPct val="130000"/>
              </a:lnSpc>
              <a:spcAft>
                <a:spcPts val="1200"/>
              </a:spcAft>
            </a:pPr>
            <a:r>
              <a:rPr lang="en-US" sz="1600" b="0" i="0" u="none" strike="noStrike">
                <a:solidFill>
                  <a:srgbClr val="1F2937"/>
                </a:solidFill>
                <a:latin typeface="Noto Sans SC"/>
                <a:ea typeface="Noto Sans SC"/>
                <a:cs typeface="Noto Sans SC"/>
                <a:sym typeface="Noto Sans SC"/>
              </a:rPr>
              <a:t>也被称作“关系”、“表”或“当前值”。它是关系模型中具体存储的数据集合，反映了数据库在特定时刻的数据快照。</a:t>
            </a:r>
          </a:p>
          <a:p>
            <a:pPr indent="0" algn="l">
              <a:lnSpc>
                <a:spcPct val="130000"/>
              </a:lnSpc>
            </a:pPr>
            <a:r>
              <a:rPr lang="en-US" sz="1600" b="1" i="0" u="none" strike="noStrike">
                <a:solidFill>
                  <a:srgbClr val="DC2626"/>
                </a:solidFill>
                <a:latin typeface="Noto Sans SC"/>
                <a:ea typeface="Noto Sans SC"/>
                <a:cs typeface="Noto Sans SC"/>
                <a:sym typeface="Noto Sans SC"/>
              </a:rPr>
              <a:t>关键特征：动态变化</a:t>
            </a:r>
            <a:r>
              <a:rPr lang="en-US" sz="1600" b="0" i="0" u="none" strike="noStrike">
                <a:solidFill>
                  <a:srgbClr val="4B5563"/>
                </a:solidFill>
                <a:latin typeface="Noto Sans SC"/>
                <a:ea typeface="Noto Sans SC"/>
                <a:cs typeface="Noto Sans SC"/>
                <a:sym typeface="Noto Sans SC"/>
              </a:rPr>
              <a:t>。随着用户对数据执行插入、删除、修改等操作，表中的记录内容会不断发生变化，始终反映数据的最新状态。</a:t>
            </a:r>
          </a:p>
        </p:txBody>
      </p:sp>
      <p:sp>
        <p:nvSpPr>
          <p:cNvPr id="4" name="AutoShape 4"/>
          <p:cNvSpPr/>
          <p:nvPr/>
        </p:nvSpPr>
        <p:spPr>
          <a:xfrm>
            <a:off x="6237766" y="1206500"/>
            <a:ext cx="5116033" cy="5286016"/>
          </a:xfrm>
          <a:prstGeom prst="rect">
            <a:avLst/>
          </a:prstGeom>
          <a:solidFill>
            <a:srgbClr val="FFFFFF">
              <a:alpha val="100000"/>
            </a:srgbClr>
          </a:solidFill>
          <a:ln w="12700" cap="flat" cmpd="sng">
            <a:noFill/>
            <a:prstDash val="solid"/>
            <a:round/>
          </a:ln>
        </p:spPr>
        <p:txBody>
          <a:bodyPr vert="horz" wrap="square" lIns="127000" tIns="254000" rIns="127000" bIns="0" rtlCol="0" anchor="t" anchorCtr="0"/>
          <a:lstStyle/>
          <a:p>
            <a:pPr indent="0" algn="just">
              <a:lnSpc>
                <a:spcPct val="100000"/>
              </a:lnSpc>
              <a:spcAft>
                <a:spcPts val="1600"/>
              </a:spcAft>
              <a:defRPr/>
            </a:pPr>
            <a:r>
              <a:rPr lang="en-US" sz="2400" b="1" i="0" u="none" strike="noStrike">
                <a:solidFill>
                  <a:srgbClr val="7030A0"/>
                </a:solidFill>
                <a:latin typeface="Noto Sans SC"/>
                <a:ea typeface="Noto Sans SC"/>
                <a:cs typeface="Noto Sans SC"/>
                <a:sym typeface="Noto Sans SC"/>
              </a:rPr>
              <a:t>▍ 内涵 (Intension)</a:t>
            </a:r>
            <a:endParaRPr lang="en-US" sz="1100"/>
          </a:p>
          <a:p>
            <a:pPr indent="0" algn="just">
              <a:lnSpc>
                <a:spcPct val="130000"/>
              </a:lnSpc>
              <a:spcAft>
                <a:spcPts val="1200"/>
              </a:spcAft>
            </a:pPr>
            <a:r>
              <a:rPr lang="en-US" sz="1600" b="0" i="0" u="none" strike="noStrike">
                <a:solidFill>
                  <a:srgbClr val="1F2937"/>
                </a:solidFill>
                <a:latin typeface="Noto Sans SC"/>
                <a:ea typeface="Noto Sans SC"/>
                <a:cs typeface="Noto Sans SC"/>
                <a:sym typeface="Noto Sans SC"/>
              </a:rPr>
              <a:t>指对数据结构的定义以及数据完整性约束的定义。它相当于数据库的“蓝图”，定义了表有哪些列、列的数据类型、主键外键以及数据必须满足的业务规则。</a:t>
            </a:r>
          </a:p>
          <a:p>
            <a:pPr indent="0" algn="just">
              <a:lnSpc>
                <a:spcPct val="130000"/>
              </a:lnSpc>
              <a:spcAft>
                <a:spcPts val="1200"/>
              </a:spcAft>
            </a:pPr>
            <a:r>
              <a:rPr lang="en-US" sz="1600" b="1" i="0" u="none" strike="noStrike" err="1">
                <a:solidFill>
                  <a:srgbClr val="10B981"/>
                </a:solidFill>
                <a:latin typeface="Noto Sans SC"/>
                <a:ea typeface="Noto Sans SC"/>
                <a:cs typeface="Noto Sans SC"/>
                <a:sym typeface="Noto Sans SC"/>
              </a:rPr>
              <a:t>关键特征：相对稳定。</a:t>
            </a:r>
            <a:r>
              <a:rPr lang="en-US" sz="1600" b="0" i="0" u="none" strike="noStrike" err="1">
                <a:solidFill>
                  <a:srgbClr val="4B5563"/>
                </a:solidFill>
                <a:latin typeface="Noto Sans SC"/>
                <a:ea typeface="Noto Sans SC"/>
                <a:cs typeface="Noto Sans SC"/>
                <a:sym typeface="Noto Sans SC"/>
              </a:rPr>
              <a:t>在系统生命周期内，除非业务需求发生根本性改变，否则内涵通常不会轻易变动</a:t>
            </a:r>
            <a:r>
              <a:rPr lang="en-US" sz="1600" b="0" i="0" u="none" strike="noStrike">
                <a:solidFill>
                  <a:srgbClr val="4B5563"/>
                </a:solidFill>
                <a:latin typeface="Noto Sans SC"/>
                <a:ea typeface="Noto Sans SC"/>
                <a:cs typeface="Noto Sans SC"/>
                <a:sym typeface="Noto Sans SC"/>
              </a:rPr>
              <a:t>。</a:t>
            </a:r>
          </a:p>
          <a:p>
            <a:pPr indent="0" algn="just">
              <a:lnSpc>
                <a:spcPct val="116666"/>
              </a:lnSpc>
              <a:spcAft>
                <a:spcPts val="600"/>
              </a:spcAft>
            </a:pPr>
            <a:r>
              <a:rPr lang="en-US" sz="1800" b="1" i="0" u="none" strike="noStrike" err="1">
                <a:solidFill>
                  <a:srgbClr val="1F2937"/>
                </a:solidFill>
                <a:latin typeface="Noto Sans SC"/>
                <a:ea typeface="Noto Sans SC"/>
                <a:cs typeface="Noto Sans SC"/>
                <a:sym typeface="Noto Sans SC"/>
              </a:rPr>
              <a:t>内涵包含的两个核心维度</a:t>
            </a:r>
            <a:r>
              <a:rPr lang="en-US" sz="1800" b="1" i="0" u="none" strike="noStrike">
                <a:solidFill>
                  <a:srgbClr val="1F2937"/>
                </a:solidFill>
                <a:latin typeface="Noto Sans SC"/>
                <a:ea typeface="Noto Sans SC"/>
                <a:cs typeface="Noto Sans SC"/>
                <a:sym typeface="Noto Sans SC"/>
              </a:rPr>
              <a:t>：</a:t>
            </a:r>
          </a:p>
          <a:p>
            <a:pPr marL="342900" indent="-342900" algn="just">
              <a:lnSpc>
                <a:spcPct val="130000"/>
              </a:lnSpc>
              <a:spcAft>
                <a:spcPts val="1000"/>
              </a:spcAft>
              <a:buFont typeface="+mj-lt"/>
              <a:buAutoNum type="arabicPeriod"/>
            </a:pPr>
            <a:r>
              <a:rPr lang="en-US" sz="1600" b="1" i="0" u="none" strike="noStrike" err="1">
                <a:solidFill>
                  <a:srgbClr val="DC2626"/>
                </a:solidFill>
                <a:latin typeface="Noto Sans SC"/>
                <a:ea typeface="Noto Sans SC"/>
                <a:cs typeface="Noto Sans SC"/>
                <a:sym typeface="Noto Sans SC"/>
              </a:rPr>
              <a:t>静态约束：</a:t>
            </a:r>
            <a:r>
              <a:rPr lang="en-US" sz="1600" b="0" i="0" u="none" strike="noStrike" err="1">
                <a:solidFill>
                  <a:srgbClr val="374151"/>
                </a:solidFill>
                <a:latin typeface="Noto Sans SC"/>
                <a:ea typeface="Noto Sans SC"/>
                <a:cs typeface="Noto Sans SC"/>
                <a:sym typeface="Noto Sans SC"/>
              </a:rPr>
              <a:t>涉及数据依赖（如函数依赖、多值依赖</a:t>
            </a:r>
            <a:r>
              <a:rPr lang="en-US" sz="1600" b="0" i="0" u="none" strike="noStrike">
                <a:solidFill>
                  <a:srgbClr val="374151"/>
                </a:solidFill>
                <a:latin typeface="Noto Sans SC"/>
                <a:ea typeface="Noto Sans SC"/>
                <a:cs typeface="Noto Sans SC"/>
                <a:sym typeface="Noto Sans SC"/>
              </a:rPr>
              <a:t>）、</a:t>
            </a:r>
            <a:r>
              <a:rPr lang="en-US" sz="1600" b="0" i="0" u="none" strike="noStrike" err="1">
                <a:solidFill>
                  <a:srgbClr val="374151"/>
                </a:solidFill>
                <a:latin typeface="Noto Sans SC"/>
                <a:ea typeface="Noto Sans SC"/>
                <a:cs typeface="Noto Sans SC"/>
                <a:sym typeface="Noto Sans SC"/>
              </a:rPr>
              <a:t>主键约束、值域约束及外键约束。</a:t>
            </a:r>
            <a:r>
              <a:rPr lang="en-US" sz="1600" b="0" i="0" u="none" strike="noStrike">
                <a:solidFill>
                  <a:srgbClr val="374151"/>
                </a:solidFill>
                <a:latin typeface="Noto Sans SC"/>
                <a:ea typeface="Noto Sans SC"/>
                <a:cs typeface="Noto Sans SC"/>
                <a:sym typeface="Noto Sans SC"/>
              </a:rPr>
              <a:t>这是本</a:t>
            </a:r>
            <a:r>
              <a:rPr lang="zh-CN" altLang="en-US" sz="1600" b="0" i="0" u="none" strike="noStrike">
                <a:solidFill>
                  <a:srgbClr val="374151"/>
                </a:solidFill>
                <a:latin typeface="Noto Sans SC"/>
                <a:ea typeface="Noto Sans SC"/>
                <a:cs typeface="Noto Sans SC"/>
                <a:sym typeface="Noto Sans SC"/>
              </a:rPr>
              <a:t>讲</a:t>
            </a:r>
            <a:r>
              <a:rPr lang="en-US" sz="1600" b="0" i="0" u="none" strike="noStrike">
                <a:solidFill>
                  <a:srgbClr val="374151"/>
                </a:solidFill>
                <a:latin typeface="Noto Sans SC"/>
                <a:ea typeface="Noto Sans SC"/>
                <a:cs typeface="Noto Sans SC"/>
                <a:sym typeface="Noto Sans SC"/>
              </a:rPr>
              <a:t>讨论的核心重点</a:t>
            </a:r>
            <a:r>
              <a:rPr lang="en-US" sz="1600" b="0" i="0" u="none" strike="noStrike" err="1">
                <a:solidFill>
                  <a:srgbClr val="374151"/>
                </a:solidFill>
                <a:latin typeface="Noto Sans SC"/>
                <a:ea typeface="Noto Sans SC"/>
                <a:cs typeface="Noto Sans SC"/>
                <a:sym typeface="Noto Sans SC"/>
              </a:rPr>
              <a:t>，直接决定了数据库设计的质量</a:t>
            </a:r>
            <a:r>
              <a:rPr lang="en-US" sz="1600" b="0" i="0" u="none" strike="noStrike">
                <a:solidFill>
                  <a:srgbClr val="374151"/>
                </a:solidFill>
                <a:latin typeface="Noto Sans SC"/>
                <a:ea typeface="Noto Sans SC"/>
                <a:cs typeface="Noto Sans SC"/>
                <a:sym typeface="Noto Sans SC"/>
              </a:rPr>
              <a:t>。</a:t>
            </a:r>
          </a:p>
          <a:p>
            <a:pPr marL="342900" indent="-342900" algn="just">
              <a:lnSpc>
                <a:spcPct val="130000"/>
              </a:lnSpc>
              <a:buFont typeface="+mj-lt"/>
              <a:buAutoNum type="arabicPeriod"/>
            </a:pPr>
            <a:r>
              <a:rPr lang="en-US" sz="1600" b="1" i="0" u="none" strike="noStrike" err="1">
                <a:solidFill>
                  <a:srgbClr val="3B82F6"/>
                </a:solidFill>
                <a:latin typeface="Noto Sans SC"/>
                <a:ea typeface="Noto Sans SC"/>
                <a:cs typeface="Noto Sans SC"/>
                <a:sym typeface="Noto Sans SC"/>
              </a:rPr>
              <a:t>动态约束：</a:t>
            </a:r>
            <a:r>
              <a:rPr lang="en-US" sz="1600" b="0" i="0" u="none" strike="noStrike" err="1">
                <a:solidFill>
                  <a:srgbClr val="374151"/>
                </a:solidFill>
                <a:latin typeface="Noto Sans SC"/>
                <a:ea typeface="Noto Sans SC"/>
                <a:cs typeface="Noto Sans SC"/>
                <a:sym typeface="Noto Sans SC"/>
              </a:rPr>
              <a:t>定义了数据操作行为（如插入、删除、修改记录）对关系状态的影响规则，以确保操作前后数据始终符合业务逻辑</a:t>
            </a:r>
            <a:r>
              <a:rPr lang="en-US" sz="1600" b="0" i="0" u="none" strike="noStrike">
                <a:solidFill>
                  <a:srgbClr val="374151"/>
                </a:solidFill>
                <a:latin typeface="Noto Sans SC"/>
                <a:ea typeface="Noto Sans SC"/>
                <a:cs typeface="Noto Sans SC"/>
                <a:sym typeface="Noto Sans SC"/>
              </a:rPr>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7.1.2 模式的冗余和异常问题(1)</a:t>
            </a:r>
            <a:endParaRPr lang="en-US" sz="2400" b="1">
              <a:solidFill>
                <a:srgbClr val="FFFFFF"/>
              </a:solidFill>
              <a:latin typeface="Noto Sans SC"/>
              <a:ea typeface="Noto Sans SC"/>
            </a:endParaRPr>
          </a:p>
        </p:txBody>
      </p:sp>
      <p:sp>
        <p:nvSpPr>
          <p:cNvPr id="4" name="AutoShape 4"/>
          <p:cNvSpPr/>
          <p:nvPr/>
        </p:nvSpPr>
        <p:spPr>
          <a:xfrm>
            <a:off x="838200" y="2159000"/>
            <a:ext cx="4396587" cy="4064000"/>
          </a:xfrm>
          <a:prstGeom prst="roundRect">
            <a:avLst>
              <a:gd name="adj" fmla="val 2500"/>
            </a:avLst>
          </a:prstGeom>
          <a:solidFill>
            <a:srgbClr val="F8F9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92200" y="2413000"/>
            <a:ext cx="3872562" cy="355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800" b="1" i="0" u="none" strike="noStrike">
                <a:solidFill>
                  <a:srgbClr val="334155"/>
                </a:solidFill>
                <a:latin typeface="Noto Sans SC"/>
                <a:ea typeface="Noto Sans SC"/>
                <a:cs typeface="Noto Sans SC"/>
                <a:sym typeface="Noto Sans SC"/>
              </a:rPr>
              <a:t>场景设定：</a:t>
            </a:r>
            <a:endParaRPr lang="en-US" sz="1200"/>
          </a:p>
          <a:p>
            <a:pPr indent="0" algn="l">
              <a:lnSpc>
                <a:spcPct val="130000"/>
              </a:lnSpc>
            </a:pPr>
            <a:r>
              <a:rPr lang="en-US" sz="1600" b="0" i="0" u="none" strike="noStrike">
                <a:solidFill>
                  <a:srgbClr val="475569"/>
                </a:solidFill>
                <a:latin typeface="Noto Sans SC"/>
                <a:ea typeface="Noto Sans SC"/>
                <a:cs typeface="Noto Sans SC"/>
                <a:sym typeface="Noto Sans SC"/>
              </a:rPr>
              <a:t>假设有一个关系模式，用于记录学生的选课情况。为了方便查询，我们将以下四个属性直接放在了一张表里：</a:t>
            </a:r>
          </a:p>
          <a:p>
            <a:pPr indent="0" algn="l">
              <a:lnSpc>
                <a:spcPct val="130000"/>
              </a:lnSpc>
            </a:pPr>
            <a:r>
              <a:rPr lang="en-US" sz="1600" b="1" i="0" u="none" strike="noStrike">
                <a:solidFill>
                  <a:srgbClr val="D97706"/>
                </a:solidFill>
                <a:latin typeface="Noto Sans SC"/>
                <a:ea typeface="Noto Sans SC"/>
                <a:cs typeface="Noto Sans SC"/>
                <a:sym typeface="Noto Sans SC"/>
              </a:rPr>
              <a:t>学生号 (S#)：</a:t>
            </a:r>
            <a:r>
              <a:rPr lang="en-US" sz="1600" b="0" i="0" u="none" strike="noStrike">
                <a:solidFill>
                  <a:srgbClr val="475569"/>
                </a:solidFill>
                <a:latin typeface="Noto Sans SC"/>
                <a:ea typeface="Noto Sans SC"/>
                <a:cs typeface="Noto Sans SC"/>
                <a:sym typeface="Noto Sans SC"/>
              </a:rPr>
              <a:t>标识选课的学生</a:t>
            </a:r>
            <a:br>
              <a:rPr lang="en-US" sz="1800" b="0" i="0" u="none" strike="noStrike">
                <a:solidFill>
                  <a:srgbClr val="1F2329"/>
                </a:solidFill>
                <a:latin typeface="Noto Sans SC"/>
                <a:ea typeface="Noto Sans SC"/>
                <a:cs typeface="Noto Sans SC"/>
                <a:sym typeface="Noto Sans SC"/>
              </a:rPr>
            </a:br>
            <a:r>
              <a:rPr lang="en-US" sz="1600" b="1" i="0" u="none" strike="noStrike">
                <a:solidFill>
                  <a:srgbClr val="D97706"/>
                </a:solidFill>
                <a:latin typeface="Noto Sans SC"/>
                <a:ea typeface="Noto Sans SC"/>
                <a:cs typeface="Noto Sans SC"/>
                <a:sym typeface="Noto Sans SC"/>
              </a:rPr>
              <a:t>课程号 (C#)：</a:t>
            </a:r>
            <a:r>
              <a:rPr lang="en-US" sz="1600" b="0" i="0" u="none" strike="noStrike">
                <a:solidFill>
                  <a:srgbClr val="475569"/>
                </a:solidFill>
                <a:latin typeface="Noto Sans SC"/>
                <a:ea typeface="Noto Sans SC"/>
                <a:cs typeface="Noto Sans SC"/>
                <a:sym typeface="Noto Sans SC"/>
              </a:rPr>
              <a:t>标识所选的课程</a:t>
            </a:r>
            <a:br>
              <a:rPr lang="en-US" sz="1800" b="0" i="0" u="none" strike="noStrike">
                <a:solidFill>
                  <a:srgbClr val="1F2329"/>
                </a:solidFill>
                <a:latin typeface="Noto Sans SC"/>
                <a:ea typeface="Noto Sans SC"/>
                <a:cs typeface="Noto Sans SC"/>
                <a:sym typeface="Noto Sans SC"/>
              </a:rPr>
            </a:br>
            <a:r>
              <a:rPr lang="en-US" sz="1600" b="1" i="0" u="none" strike="noStrike">
                <a:solidFill>
                  <a:srgbClr val="D97706"/>
                </a:solidFill>
                <a:latin typeface="Noto Sans SC"/>
                <a:ea typeface="Noto Sans SC"/>
                <a:cs typeface="Noto Sans SC"/>
                <a:sym typeface="Noto Sans SC"/>
              </a:rPr>
              <a:t>课程名 (CNAME)：</a:t>
            </a:r>
            <a:r>
              <a:rPr lang="en-US" sz="1600" b="0" i="0" u="none" strike="noStrike">
                <a:solidFill>
                  <a:srgbClr val="475569"/>
                </a:solidFill>
                <a:latin typeface="Noto Sans SC"/>
                <a:ea typeface="Noto Sans SC"/>
                <a:cs typeface="Noto Sans SC"/>
                <a:sym typeface="Noto Sans SC"/>
              </a:rPr>
              <a:t>课程对应的名称</a:t>
            </a:r>
            <a:br>
              <a:rPr lang="en-US" sz="1800" b="0" i="0" u="none" strike="noStrike">
                <a:solidFill>
                  <a:srgbClr val="1F2329"/>
                </a:solidFill>
                <a:latin typeface="Noto Sans SC"/>
                <a:ea typeface="Noto Sans SC"/>
                <a:cs typeface="Noto Sans SC"/>
                <a:sym typeface="Noto Sans SC"/>
              </a:rPr>
            </a:br>
            <a:r>
              <a:rPr lang="en-US" sz="1600" b="1" i="0" u="none" strike="noStrike">
                <a:solidFill>
                  <a:srgbClr val="D97706"/>
                </a:solidFill>
                <a:latin typeface="Noto Sans SC"/>
                <a:ea typeface="Noto Sans SC"/>
                <a:cs typeface="Noto Sans SC"/>
                <a:sym typeface="Noto Sans SC"/>
              </a:rPr>
              <a:t>教师名 (TNAME)：</a:t>
            </a:r>
            <a:r>
              <a:rPr lang="en-US" sz="1600" b="0" i="0" u="none" strike="noStrike">
                <a:solidFill>
                  <a:srgbClr val="475569"/>
                </a:solidFill>
                <a:latin typeface="Noto Sans SC"/>
                <a:ea typeface="Noto Sans SC"/>
                <a:cs typeface="Noto Sans SC"/>
                <a:sym typeface="Noto Sans SC"/>
              </a:rPr>
              <a:t>讲授该课程的教师</a:t>
            </a:r>
          </a:p>
          <a:p>
            <a:pPr indent="0" algn="l">
              <a:lnSpc>
                <a:spcPct val="133333"/>
              </a:lnSpc>
              <a:spcBef>
                <a:spcPts val="1500"/>
              </a:spcBef>
            </a:pPr>
            <a:r>
              <a:rPr lang="en-US" sz="1600" b="1" i="0" u="none" strike="noStrike">
                <a:solidFill>
                  <a:srgbClr val="DC2626"/>
                </a:solidFill>
                <a:latin typeface="Noto Sans SC"/>
                <a:ea typeface="Noto Sans SC"/>
                <a:cs typeface="Noto Sans SC"/>
                <a:sym typeface="Noto Sans SC"/>
              </a:rPr>
              <a:t>❓ 思考：这种设计会带来什么问题？</a:t>
            </a:r>
            <a:endParaRPr lang="en-US" sz="1500" b="1" i="0" u="none" strike="noStrike">
              <a:solidFill>
                <a:srgbClr val="DC2626"/>
              </a:solidFill>
              <a:latin typeface="Noto Sans SC"/>
              <a:ea typeface="Noto Sans SC"/>
              <a:cs typeface="Noto Sans SC"/>
              <a:sym typeface="Noto Sans SC"/>
            </a:endParaRPr>
          </a:p>
        </p:txBody>
      </p:sp>
      <p:sp>
        <p:nvSpPr>
          <p:cNvPr id="6" name="AutoShape 6"/>
          <p:cNvSpPr/>
          <p:nvPr/>
        </p:nvSpPr>
        <p:spPr>
          <a:xfrm>
            <a:off x="5969000" y="2159000"/>
            <a:ext cx="5384800" cy="4064000"/>
          </a:xfrm>
          <a:prstGeom prst="roundRect">
            <a:avLst>
              <a:gd name="adj" fmla="val 2500"/>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graphicFrame>
        <p:nvGraphicFramePr>
          <p:cNvPr id="7" name="Table 7"/>
          <p:cNvGraphicFramePr>
            <a:graphicFrameLocks noGrp="1"/>
          </p:cNvGraphicFramePr>
          <p:nvPr/>
        </p:nvGraphicFramePr>
        <p:xfrm>
          <a:off x="6159500" y="2413000"/>
          <a:ext cx="5080000" cy="3175000"/>
        </p:xfrm>
        <a:graphic>
          <a:graphicData uri="http://schemas.openxmlformats.org/drawingml/2006/table">
            <a:tbl>
              <a:tblPr>
                <a:effectLst/>
              </a:tblPr>
              <a:tblGrid>
                <a:gridCol w="1016000">
                  <a:extLst>
                    <a:ext uri="{9D8B030D-6E8A-4147-A177-3AD203B41FA5}">
                      <a16:colId xmlns:a16="http://schemas.microsoft.com/office/drawing/2014/main" val="20000"/>
                    </a:ext>
                  </a:extLst>
                </a:gridCol>
                <a:gridCol w="1016000">
                  <a:extLst>
                    <a:ext uri="{9D8B030D-6E8A-4147-A177-3AD203B41FA5}">
                      <a16:colId xmlns:a16="http://schemas.microsoft.com/office/drawing/2014/main" val="20001"/>
                    </a:ext>
                  </a:extLst>
                </a:gridCol>
                <a:gridCol w="1651000">
                  <a:extLst>
                    <a:ext uri="{9D8B030D-6E8A-4147-A177-3AD203B41FA5}">
                      <a16:colId xmlns:a16="http://schemas.microsoft.com/office/drawing/2014/main" val="20002"/>
                    </a:ext>
                  </a:extLst>
                </a:gridCol>
                <a:gridCol w="1397000">
                  <a:extLst>
                    <a:ext uri="{9D8B030D-6E8A-4147-A177-3AD203B41FA5}">
                      <a16:colId xmlns:a16="http://schemas.microsoft.com/office/drawing/2014/main" val="20003"/>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S#</a:t>
                      </a:r>
                      <a:endParaRPr lang="en-US" sz="1100"/>
                    </a:p>
                  </a:txBody>
                  <a:tcPr marL="101600" marR="101600" marT="101600" marB="101600" anchor="ctr">
                    <a:lnL>
                      <a:noFill/>
                    </a:lnL>
                    <a:lnR>
                      <a:noFill/>
                    </a:lnR>
                    <a:lnT>
                      <a:noFill/>
                    </a:lnT>
                    <a:lnB>
                      <a:noFill/>
                    </a:lnB>
                    <a:solidFill>
                      <a:srgbClr val="22C55E">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C#</a:t>
                      </a:r>
                      <a:endParaRPr lang="en-US" sz="1100"/>
                    </a:p>
                  </a:txBody>
                  <a:tcPr marL="101600" marR="101600" marT="101600" marB="101600" anchor="ctr">
                    <a:lnL>
                      <a:noFill/>
                    </a:lnL>
                    <a:lnR>
                      <a:noFill/>
                    </a:lnR>
                    <a:lnT>
                      <a:noFill/>
                    </a:lnT>
                    <a:lnB>
                      <a:noFill/>
                    </a:lnB>
                    <a:solidFill>
                      <a:srgbClr val="22C55E">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CNAME</a:t>
                      </a:r>
                      <a:endParaRPr lang="en-US" sz="1100"/>
                    </a:p>
                  </a:txBody>
                  <a:tcPr marL="101600" marR="101600" marT="101600" marB="101600" anchor="ctr">
                    <a:lnL>
                      <a:noFill/>
                    </a:lnL>
                    <a:lnR>
                      <a:noFill/>
                    </a:lnR>
                    <a:lnT>
                      <a:noFill/>
                    </a:lnT>
                    <a:lnB>
                      <a:noFill/>
                    </a:lnB>
                    <a:solidFill>
                      <a:srgbClr val="22C55E">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TNAME</a:t>
                      </a:r>
                      <a:endParaRPr lang="en-US" sz="1100"/>
                    </a:p>
                  </a:txBody>
                  <a:tcPr marL="101600" marR="101600" marT="101600" marB="101600" anchor="ctr">
                    <a:lnL>
                      <a:noFill/>
                    </a:lnL>
                    <a:lnR>
                      <a:noFill/>
                    </a:lnR>
                    <a:lnT>
                      <a:noFill/>
                    </a:lnT>
                    <a:lnB>
                      <a:noFill/>
                    </a:lnB>
                    <a:solidFill>
                      <a:srgbClr val="22C55E">
                        <a:alpha val="100000"/>
                      </a:srgbClr>
                    </a:solidFill>
                  </a:tcPr>
                </a:tc>
                <a:extLst>
                  <a:ext uri="{0D108BD9-81ED-4DB2-BD59-A6C34878D82A}">
                    <a16:rowId xmlns:a16="http://schemas.microsoft.com/office/drawing/2014/main" val="10000"/>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S2</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PASCAL</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WEN</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1"/>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S4</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C4</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PASCAL</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WEN</a:t>
                      </a:r>
                      <a:endParaRPr lang="en-US" sz="1100"/>
                    </a:p>
                  </a:txBody>
                  <a:tcPr marL="101600" marR="101600" marT="101600" marB="101600" anchor="ctr">
                    <a:lnL>
                      <a:noFill/>
                    </a:lnL>
                    <a:lnR>
                      <a:noFill/>
                    </a:lnR>
                    <a:lnT>
                      <a:noFill/>
                    </a:lnT>
                    <a:lnB>
                      <a:noFill/>
                    </a:lnB>
                    <a:solidFill>
                      <a:srgbClr val="F0FDF4">
                        <a:alpha val="100000"/>
                      </a:srgbClr>
                    </a:solidFill>
                  </a:tcPr>
                </a:tc>
                <a:extLst>
                  <a:ext uri="{0D108BD9-81ED-4DB2-BD59-A6C34878D82A}">
                    <a16:rowId xmlns:a16="http://schemas.microsoft.com/office/drawing/2014/main" val="10002"/>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S6</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PASCAL</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WEN</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3"/>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S6</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C2</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ADA</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LIU</a:t>
                      </a:r>
                      <a:endParaRPr lang="en-US" sz="1100"/>
                    </a:p>
                  </a:txBody>
                  <a:tcPr marL="101600" marR="101600" marT="101600" marB="101600" anchor="ctr">
                    <a:lnL>
                      <a:noFill/>
                    </a:lnL>
                    <a:lnR>
                      <a:noFill/>
                    </a:lnR>
                    <a:lnT>
                      <a:noFill/>
                    </a:lnT>
                    <a:lnB>
                      <a:noFill/>
                    </a:lnB>
                    <a:solidFill>
                      <a:srgbClr val="F0FDF4">
                        <a:alpha val="100000"/>
                      </a:srgbClr>
                    </a:solidFill>
                  </a:tcPr>
                </a:tc>
                <a:extLst>
                  <a:ext uri="{0D108BD9-81ED-4DB2-BD59-A6C34878D82A}">
                    <a16:rowId xmlns:a16="http://schemas.microsoft.com/office/drawing/2014/main" val="10004"/>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C2</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ADA</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LIU</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5"/>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S8</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C6</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BASIC</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MA</a:t>
                      </a:r>
                      <a:endParaRPr lang="en-US" sz="1100"/>
                    </a:p>
                  </a:txBody>
                  <a:tcPr marL="101600" marR="101600" marT="101600" marB="101600" anchor="ctr">
                    <a:lnL>
                      <a:noFill/>
                    </a:lnL>
                    <a:lnR>
                      <a:noFill/>
                    </a:lnR>
                    <a:lnT>
                      <a:noFill/>
                    </a:lnT>
                    <a:lnB>
                      <a:noFill/>
                    </a:lnB>
                    <a:solidFill>
                      <a:srgbClr val="F0FDF4">
                        <a:alpha val="100000"/>
                      </a:srgbClr>
                    </a:solidFill>
                  </a:tcPr>
                </a:tc>
                <a:extLst>
                  <a:ext uri="{0D108BD9-81ED-4DB2-BD59-A6C34878D82A}">
                    <a16:rowId xmlns:a16="http://schemas.microsoft.com/office/drawing/2014/main" val="10006"/>
                  </a:ext>
                </a:extLst>
              </a:tr>
            </a:tbl>
          </a:graphicData>
        </a:graphic>
      </p:graphicFrame>
      <p:sp>
        <p:nvSpPr>
          <p:cNvPr id="8" name="AutoShape 4">
            <a:extLst>
              <a:ext uri="{FF2B5EF4-FFF2-40B4-BE49-F238E27FC236}">
                <a16:creationId xmlns:a16="http://schemas.microsoft.com/office/drawing/2014/main" id="{C7FEDDCC-6E35-9BC9-4E51-12B878AD6DB0}"/>
              </a:ext>
            </a:extLst>
          </p:cNvPr>
          <p:cNvSpPr/>
          <p:nvPr/>
        </p:nvSpPr>
        <p:spPr>
          <a:xfrm>
            <a:off x="838200" y="1192324"/>
            <a:ext cx="6505354"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defRPr/>
            </a:pPr>
            <a:r>
              <a:rPr lang="en-US" altLang="zh-CN" sz="2000">
                <a:solidFill>
                  <a:srgbClr val="7030A0"/>
                </a:solidFill>
                <a:latin typeface="Noto Sans SC Black" panose="020B0200000000000000" pitchFamily="34" charset="-122"/>
                <a:ea typeface="Noto Sans SC Black" panose="020B0200000000000000" pitchFamily="34" charset="-122"/>
                <a:cs typeface="Noto Sans SC"/>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7.1</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：一个设计不当的关系模式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 </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学生选课信息表</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838199" y="1503630"/>
            <a:ext cx="5079683" cy="1519140"/>
          </a:xfrm>
          <a:prstGeom prst="roundRect">
            <a:avLst>
              <a:gd name="adj" fmla="val 640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838200" y="1503630"/>
            <a:ext cx="88342" cy="1519140"/>
          </a:xfrm>
          <a:prstGeom prst="roundRect">
            <a:avLst>
              <a:gd name="adj" fmla="val 0"/>
            </a:avLst>
          </a:prstGeom>
          <a:solidFill>
            <a:srgbClr val="EA580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143000" y="1605230"/>
            <a:ext cx="4637972" cy="133684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11827"/>
                </a:solidFill>
                <a:latin typeface="Noto Sans SC"/>
                <a:ea typeface="Noto Sans SC"/>
                <a:cs typeface="Noto Sans SC"/>
                <a:sym typeface="Noto Sans SC"/>
              </a:rPr>
              <a:t>🚫 修改异常 (Update Anomaly)</a:t>
            </a:r>
            <a:endParaRPr lang="en-US" sz="1100"/>
          </a:p>
          <a:p>
            <a:pPr indent="0" algn="l">
              <a:lnSpc>
                <a:spcPct val="125000"/>
              </a:lnSpc>
              <a:spcBef>
                <a:spcPts val="600"/>
              </a:spcBef>
            </a:pPr>
            <a:r>
              <a:rPr lang="en-US" sz="1300" b="0" i="0" u="none" strike="noStrike">
                <a:solidFill>
                  <a:srgbClr val="374151"/>
                </a:solidFill>
                <a:latin typeface="Noto Sans SC"/>
                <a:ea typeface="Noto Sans SC"/>
                <a:cs typeface="Noto Sans SC"/>
                <a:sym typeface="Noto Sans SC"/>
              </a:rPr>
              <a:t>若修改课程C4的教师为LI，需更新所有选修C4的学生记录。一旦遗漏，将直接导致数据不一致，维护成本极高。</a:t>
            </a:r>
          </a:p>
        </p:txBody>
      </p:sp>
      <p:sp>
        <p:nvSpPr>
          <p:cNvPr id="6" name="AutoShape 6"/>
          <p:cNvSpPr/>
          <p:nvPr/>
        </p:nvSpPr>
        <p:spPr>
          <a:xfrm>
            <a:off x="838199" y="3281630"/>
            <a:ext cx="5079683" cy="1519140"/>
          </a:xfrm>
          <a:prstGeom prst="roundRect">
            <a:avLst>
              <a:gd name="adj" fmla="val 640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838200" y="3281630"/>
            <a:ext cx="88342" cy="151914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1143000" y="3383230"/>
            <a:ext cx="4637972" cy="133684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11827"/>
                </a:solidFill>
                <a:latin typeface="Noto Sans SC"/>
                <a:ea typeface="Noto Sans SC"/>
                <a:cs typeface="Noto Sans SC"/>
                <a:sym typeface="Noto Sans SC"/>
              </a:rPr>
              <a:t>❌ 插入异常 (Insertion Anomaly)</a:t>
            </a:r>
            <a:endParaRPr lang="en-US" sz="1100"/>
          </a:p>
          <a:p>
            <a:pPr indent="0" algn="l">
              <a:lnSpc>
                <a:spcPct val="125000"/>
              </a:lnSpc>
              <a:spcBef>
                <a:spcPts val="600"/>
              </a:spcBef>
            </a:pPr>
            <a:r>
              <a:rPr lang="en-US" sz="1300" b="0" i="0" u="none" strike="noStrike">
                <a:solidFill>
                  <a:srgbClr val="374151"/>
                </a:solidFill>
                <a:latin typeface="Noto Sans SC"/>
                <a:ea typeface="Noto Sans SC"/>
                <a:cs typeface="Noto Sans SC"/>
                <a:sym typeface="Noto Sans SC"/>
              </a:rPr>
              <a:t>若一门新课（如C7, C++）已开设但暂无学生选修，因学生号(S#)是主键一部分不能为空，导致课程信息无法插入表中。</a:t>
            </a:r>
          </a:p>
        </p:txBody>
      </p:sp>
      <p:sp>
        <p:nvSpPr>
          <p:cNvPr id="9" name="AutoShape 9"/>
          <p:cNvSpPr/>
          <p:nvPr/>
        </p:nvSpPr>
        <p:spPr>
          <a:xfrm>
            <a:off x="838199" y="5059630"/>
            <a:ext cx="5079683" cy="1519140"/>
          </a:xfrm>
          <a:prstGeom prst="roundRect">
            <a:avLst>
              <a:gd name="adj" fmla="val 6400"/>
            </a:avLst>
          </a:prstGeom>
          <a:solidFill>
            <a:srgbClr val="F3F4F6">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838200" y="5059630"/>
            <a:ext cx="88342" cy="1519140"/>
          </a:xfrm>
          <a:prstGeom prst="roundRect">
            <a:avLst>
              <a:gd name="adj" fmla="val 0"/>
            </a:avLst>
          </a:prstGeom>
          <a:solidFill>
            <a:srgbClr val="DC2626">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1143000" y="5161230"/>
            <a:ext cx="4637972" cy="1336843"/>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700" b="1" i="0" u="none" strike="noStrike">
                <a:solidFill>
                  <a:srgbClr val="111827"/>
                </a:solidFill>
                <a:latin typeface="Noto Sans SC"/>
                <a:ea typeface="Noto Sans SC"/>
                <a:cs typeface="Noto Sans SC"/>
                <a:sym typeface="Noto Sans SC"/>
              </a:rPr>
              <a:t>⚠️ 删除异常 (Deletion Anomaly)</a:t>
            </a:r>
            <a:endParaRPr lang="en-US" sz="1100"/>
          </a:p>
          <a:p>
            <a:pPr indent="0" algn="l">
              <a:lnSpc>
                <a:spcPct val="125000"/>
              </a:lnSpc>
              <a:spcBef>
                <a:spcPts val="600"/>
              </a:spcBef>
            </a:pPr>
            <a:r>
              <a:rPr lang="en-US" sz="1300" b="0" i="0" u="none" strike="noStrike">
                <a:solidFill>
                  <a:srgbClr val="374151"/>
                </a:solidFill>
                <a:latin typeface="Noto Sans SC"/>
                <a:ea typeface="Noto Sans SC"/>
                <a:cs typeface="Noto Sans SC"/>
                <a:sym typeface="Noto Sans SC"/>
              </a:rPr>
              <a:t>若学生S8退学并删除其记录，若该生是课程C6的唯一选课者，则课程C6的所有信息（如课程名、教师名）将被连带删除。</a:t>
            </a:r>
          </a:p>
        </p:txBody>
      </p:sp>
      <p:sp>
        <p:nvSpPr>
          <p:cNvPr id="12" name="AutoShape 12"/>
          <p:cNvSpPr/>
          <p:nvPr/>
        </p:nvSpPr>
        <p:spPr>
          <a:xfrm>
            <a:off x="6953525" y="4430851"/>
            <a:ext cx="4400276" cy="2143052"/>
          </a:xfrm>
          <a:prstGeom prst="roundRect">
            <a:avLst>
              <a:gd name="adj" fmla="val 3428"/>
            </a:avLst>
          </a:prstGeom>
          <a:solidFill>
            <a:srgbClr val="7030A0">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7285027" y="4493294"/>
            <a:ext cx="3738661" cy="573972"/>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FFFFFF"/>
                </a:solidFill>
                <a:latin typeface="Noto Sans SC"/>
                <a:ea typeface="Noto Sans SC"/>
                <a:cs typeface="Noto Sans SC"/>
                <a:sym typeface="Noto Sans SC"/>
              </a:rPr>
              <a:t>🔑 根本原因</a:t>
            </a:r>
            <a:endParaRPr lang="en-US" sz="1100"/>
          </a:p>
        </p:txBody>
      </p:sp>
      <p:sp>
        <p:nvSpPr>
          <p:cNvPr id="14" name="AutoShape 14"/>
          <p:cNvSpPr/>
          <p:nvPr/>
        </p:nvSpPr>
        <p:spPr>
          <a:xfrm>
            <a:off x="7285027" y="5084517"/>
            <a:ext cx="3738661" cy="76712"/>
          </a:xfrm>
          <a:prstGeom prst="roundRect">
            <a:avLst>
              <a:gd name="adj" fmla="val 0"/>
            </a:avLst>
          </a:prstGeom>
          <a:solidFill>
            <a:srgbClr val="FFFFFF">
              <a:alpha val="50000"/>
            </a:srgbClr>
          </a:solidFill>
          <a:ln w="25400" cap="flat" cmpd="sng">
            <a:no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7210104" y="5354370"/>
            <a:ext cx="3978000" cy="983090"/>
          </a:xfrm>
          <a:prstGeom prst="rect">
            <a:avLst/>
          </a:prstGeom>
          <a:noFill/>
          <a:ln w="12700" cap="flat" cmpd="sng">
            <a:noFill/>
            <a:prstDash val="solid"/>
            <a:round/>
          </a:ln>
        </p:spPr>
        <p:txBody>
          <a:bodyPr vert="horz" wrap="square" lIns="0" tIns="0" rIns="0" bIns="0" rtlCol="0" anchor="ctr" anchorCtr="0"/>
          <a:lstStyle/>
          <a:p>
            <a:pPr indent="0" algn="ctr">
              <a:lnSpc>
                <a:spcPct val="125000"/>
              </a:lnSpc>
              <a:spcBef>
                <a:spcPts val="600"/>
              </a:spcBef>
              <a:defRPr/>
            </a:pPr>
            <a:r>
              <a:rPr lang="en-US" sz="1500" b="0" i="0" u="none" strike="noStrike">
                <a:solidFill>
                  <a:srgbClr val="FFFFFF"/>
                </a:solidFill>
                <a:latin typeface="Noto Sans SC"/>
                <a:ea typeface="Noto Sans SC"/>
                <a:cs typeface="Noto Sans SC"/>
                <a:sym typeface="Noto Sans SC"/>
              </a:rPr>
              <a:t>数据冗余和操作异常的根源：</a:t>
            </a:r>
            <a:endParaRPr lang="en-US" sz="1100"/>
          </a:p>
          <a:p>
            <a:pPr indent="0" algn="ctr">
              <a:lnSpc>
                <a:spcPct val="125000"/>
              </a:lnSpc>
              <a:spcBef>
                <a:spcPts val="600"/>
              </a:spcBef>
            </a:pPr>
            <a:r>
              <a:rPr lang="en-US" sz="1500" b="1" i="0" u="none" strike="noStrike">
                <a:solidFill>
                  <a:srgbClr val="FED7AA"/>
                </a:solidFill>
                <a:latin typeface="Noto Sans SC"/>
                <a:ea typeface="Noto Sans SC"/>
                <a:cs typeface="Noto Sans SC"/>
                <a:sym typeface="Noto Sans SC"/>
              </a:rPr>
              <a:t>一个关系模式中混合了多个不同主题的信息！</a:t>
            </a:r>
          </a:p>
          <a:p>
            <a:pPr indent="0" algn="ctr">
              <a:lnSpc>
                <a:spcPct val="125000"/>
              </a:lnSpc>
              <a:spcBef>
                <a:spcPts val="600"/>
              </a:spcBef>
            </a:pPr>
            <a:r>
              <a:rPr lang="en-US" sz="1300" b="0" i="0" u="none" strike="noStrike">
                <a:solidFill>
                  <a:srgbClr val="E5E7EB"/>
                </a:solidFill>
                <a:latin typeface="Noto Sans SC"/>
                <a:ea typeface="Noto Sans SC"/>
                <a:cs typeface="Noto Sans SC"/>
                <a:sym typeface="Noto Sans SC"/>
              </a:rPr>
              <a:t>（例如：学生选课信息 与 课程基本信息 未分离）</a:t>
            </a:r>
          </a:p>
        </p:txBody>
      </p:sp>
      <p:graphicFrame>
        <p:nvGraphicFramePr>
          <p:cNvPr id="18" name="Table 7">
            <a:extLst>
              <a:ext uri="{FF2B5EF4-FFF2-40B4-BE49-F238E27FC236}">
                <a16:creationId xmlns:a16="http://schemas.microsoft.com/office/drawing/2014/main" id="{D8F18423-1FED-B2C5-DB0B-12807A61E505}"/>
              </a:ext>
            </a:extLst>
          </p:cNvPr>
          <p:cNvGraphicFramePr>
            <a:graphicFrameLocks noGrp="1"/>
          </p:cNvGraphicFramePr>
          <p:nvPr>
            <p:extLst>
              <p:ext uri="{D42A27DB-BD31-4B8C-83A1-F6EECF244321}">
                <p14:modId xmlns:p14="http://schemas.microsoft.com/office/powerpoint/2010/main" val="1588944728"/>
              </p:ext>
            </p:extLst>
          </p:nvPr>
        </p:nvGraphicFramePr>
        <p:xfrm>
          <a:off x="6953524" y="1503630"/>
          <a:ext cx="4400276" cy="2702560"/>
        </p:xfrm>
        <a:graphic>
          <a:graphicData uri="http://schemas.openxmlformats.org/drawingml/2006/table">
            <a:tbl>
              <a:tblPr>
                <a:effectLst/>
              </a:tblPr>
              <a:tblGrid>
                <a:gridCol w="765379">
                  <a:extLst>
                    <a:ext uri="{9D8B030D-6E8A-4147-A177-3AD203B41FA5}">
                      <a16:colId xmlns:a16="http://schemas.microsoft.com/office/drawing/2014/main" val="20000"/>
                    </a:ext>
                  </a:extLst>
                </a:gridCol>
                <a:gridCol w="773161">
                  <a:extLst>
                    <a:ext uri="{9D8B030D-6E8A-4147-A177-3AD203B41FA5}">
                      <a16:colId xmlns:a16="http://schemas.microsoft.com/office/drawing/2014/main" val="20001"/>
                    </a:ext>
                  </a:extLst>
                </a:gridCol>
                <a:gridCol w="1434760">
                  <a:extLst>
                    <a:ext uri="{9D8B030D-6E8A-4147-A177-3AD203B41FA5}">
                      <a16:colId xmlns:a16="http://schemas.microsoft.com/office/drawing/2014/main" val="20002"/>
                    </a:ext>
                  </a:extLst>
                </a:gridCol>
                <a:gridCol w="1426976">
                  <a:extLst>
                    <a:ext uri="{9D8B030D-6E8A-4147-A177-3AD203B41FA5}">
                      <a16:colId xmlns:a16="http://schemas.microsoft.com/office/drawing/2014/main" val="20003"/>
                    </a:ext>
                  </a:extLst>
                </a:gridCol>
              </a:tblGrid>
              <a:tr h="229402">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S#</a:t>
                      </a:r>
                      <a:endParaRPr lang="en-US" sz="1050"/>
                    </a:p>
                  </a:txBody>
                  <a:tcPr marL="101600" marR="101600" marT="101600" marB="101600" anchor="ctr">
                    <a:lnL>
                      <a:noFill/>
                    </a:lnL>
                    <a:lnR>
                      <a:noFill/>
                    </a:lnR>
                    <a:lnT>
                      <a:noFill/>
                    </a:lnT>
                    <a:lnB>
                      <a:noFill/>
                    </a:lnB>
                    <a:solidFill>
                      <a:srgbClr val="22C55E">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C#</a:t>
                      </a:r>
                      <a:endParaRPr lang="en-US" sz="1050"/>
                    </a:p>
                  </a:txBody>
                  <a:tcPr marL="101600" marR="101600" marT="101600" marB="101600" anchor="ctr">
                    <a:lnL>
                      <a:noFill/>
                    </a:lnL>
                    <a:lnR>
                      <a:noFill/>
                    </a:lnR>
                    <a:lnT>
                      <a:noFill/>
                    </a:lnT>
                    <a:lnB>
                      <a:noFill/>
                    </a:lnB>
                    <a:solidFill>
                      <a:srgbClr val="22C55E">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CNAME</a:t>
                      </a:r>
                      <a:endParaRPr lang="en-US" sz="1050"/>
                    </a:p>
                  </a:txBody>
                  <a:tcPr marL="101600" marR="101600" marT="101600" marB="101600" anchor="ctr">
                    <a:lnL>
                      <a:noFill/>
                    </a:lnL>
                    <a:lnR>
                      <a:noFill/>
                    </a:lnR>
                    <a:lnT>
                      <a:noFill/>
                    </a:lnT>
                    <a:lnB>
                      <a:noFill/>
                    </a:lnB>
                    <a:solidFill>
                      <a:srgbClr val="22C55E">
                        <a:alpha val="100000"/>
                      </a:srgbClr>
                    </a:solidFill>
                  </a:tcPr>
                </a:tc>
                <a:tc>
                  <a:txBody>
                    <a:bodyPr/>
                    <a:lstStyle/>
                    <a:p>
                      <a:pPr indent="0" algn="ctr">
                        <a:lnSpc>
                          <a:spcPct val="100000"/>
                        </a:lnSpc>
                        <a:defRPr/>
                      </a:pPr>
                      <a:r>
                        <a:rPr lang="en-US" sz="1200" b="1" i="0" u="none" strike="noStrike">
                          <a:solidFill>
                            <a:srgbClr val="FFFFFF"/>
                          </a:solidFill>
                          <a:latin typeface="Noto Sans SC"/>
                          <a:ea typeface="Noto Sans SC"/>
                          <a:cs typeface="Noto Sans SC"/>
                          <a:sym typeface="Noto Sans SC"/>
                        </a:rPr>
                        <a:t>TNAME</a:t>
                      </a:r>
                      <a:endParaRPr lang="en-US" sz="1050"/>
                    </a:p>
                  </a:txBody>
                  <a:tcPr marL="101600" marR="101600" marT="101600" marB="101600" anchor="ctr">
                    <a:lnL>
                      <a:noFill/>
                    </a:lnL>
                    <a:lnR>
                      <a:noFill/>
                    </a:lnR>
                    <a:lnT>
                      <a:noFill/>
                    </a:lnT>
                    <a:lnB>
                      <a:noFill/>
                    </a:lnB>
                    <a:solidFill>
                      <a:srgbClr val="22C55E">
                        <a:alpha val="100000"/>
                      </a:srgbClr>
                    </a:solidFill>
                  </a:tcPr>
                </a:tc>
                <a:extLst>
                  <a:ext uri="{0D108BD9-81ED-4DB2-BD59-A6C34878D82A}">
                    <a16:rowId xmlns:a16="http://schemas.microsoft.com/office/drawing/2014/main" val="10000"/>
                  </a:ext>
                </a:extLst>
              </a:tr>
              <a:tr h="229402">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S2</a:t>
                      </a:r>
                      <a:endParaRPr lang="en-US" sz="105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C4</a:t>
                      </a:r>
                      <a:endParaRPr lang="en-US" sz="105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PASCAL</a:t>
                      </a:r>
                      <a:endParaRPr lang="en-US" sz="105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WEN</a:t>
                      </a:r>
                      <a:endParaRPr lang="en-US" sz="105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1"/>
                  </a:ext>
                </a:extLst>
              </a:tr>
              <a:tr h="229402">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S4</a:t>
                      </a:r>
                      <a:endParaRPr lang="en-US" sz="105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C4</a:t>
                      </a:r>
                      <a:endParaRPr lang="en-US" sz="105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PASCAL</a:t>
                      </a:r>
                      <a:endParaRPr lang="en-US" sz="105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WEN</a:t>
                      </a:r>
                      <a:endParaRPr lang="en-US" sz="1050"/>
                    </a:p>
                  </a:txBody>
                  <a:tcPr marL="101600" marR="101600" marT="101600" marB="101600" anchor="ctr">
                    <a:lnL>
                      <a:noFill/>
                    </a:lnL>
                    <a:lnR>
                      <a:noFill/>
                    </a:lnR>
                    <a:lnT>
                      <a:noFill/>
                    </a:lnT>
                    <a:lnB>
                      <a:noFill/>
                    </a:lnB>
                    <a:solidFill>
                      <a:srgbClr val="F0FDF4">
                        <a:alpha val="100000"/>
                      </a:srgbClr>
                    </a:solidFill>
                  </a:tcPr>
                </a:tc>
                <a:extLst>
                  <a:ext uri="{0D108BD9-81ED-4DB2-BD59-A6C34878D82A}">
                    <a16:rowId xmlns:a16="http://schemas.microsoft.com/office/drawing/2014/main" val="10002"/>
                  </a:ext>
                </a:extLst>
              </a:tr>
              <a:tr h="229402">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S6</a:t>
                      </a:r>
                      <a:endParaRPr lang="en-US" sz="105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C4</a:t>
                      </a:r>
                      <a:endParaRPr lang="en-US" sz="105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PASCAL</a:t>
                      </a:r>
                      <a:endParaRPr lang="en-US" sz="105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WEN</a:t>
                      </a:r>
                      <a:endParaRPr lang="en-US" sz="105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3"/>
                  </a:ext>
                </a:extLst>
              </a:tr>
              <a:tr h="229402">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S6</a:t>
                      </a:r>
                      <a:endParaRPr lang="en-US" sz="105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C2</a:t>
                      </a:r>
                      <a:endParaRPr lang="en-US" sz="105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ADA</a:t>
                      </a:r>
                      <a:endParaRPr lang="en-US" sz="105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LIU</a:t>
                      </a:r>
                      <a:endParaRPr lang="en-US" sz="1050"/>
                    </a:p>
                  </a:txBody>
                  <a:tcPr marL="101600" marR="101600" marT="101600" marB="101600" anchor="ctr">
                    <a:lnL>
                      <a:noFill/>
                    </a:lnL>
                    <a:lnR>
                      <a:noFill/>
                    </a:lnR>
                    <a:lnT>
                      <a:noFill/>
                    </a:lnT>
                    <a:lnB>
                      <a:noFill/>
                    </a:lnB>
                    <a:solidFill>
                      <a:srgbClr val="F0FDF4">
                        <a:alpha val="100000"/>
                      </a:srgbClr>
                    </a:solidFill>
                  </a:tcPr>
                </a:tc>
                <a:extLst>
                  <a:ext uri="{0D108BD9-81ED-4DB2-BD59-A6C34878D82A}">
                    <a16:rowId xmlns:a16="http://schemas.microsoft.com/office/drawing/2014/main" val="10004"/>
                  </a:ext>
                </a:extLst>
              </a:tr>
              <a:tr h="229402">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S4</a:t>
                      </a:r>
                      <a:endParaRPr lang="en-US" sz="105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C2</a:t>
                      </a:r>
                      <a:endParaRPr lang="en-US" sz="105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ADA</a:t>
                      </a:r>
                      <a:endParaRPr lang="en-US" sz="105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LIU</a:t>
                      </a:r>
                      <a:endParaRPr lang="en-US" sz="105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5"/>
                  </a:ext>
                </a:extLst>
              </a:tr>
              <a:tr h="229402">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S8</a:t>
                      </a:r>
                      <a:endParaRPr lang="en-US" sz="105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C6</a:t>
                      </a:r>
                      <a:endParaRPr lang="en-US" sz="105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BASIC</a:t>
                      </a:r>
                      <a:endParaRPr lang="en-US" sz="105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200" b="0" i="0" u="none" strike="noStrike">
                          <a:solidFill>
                            <a:srgbClr val="334155"/>
                          </a:solidFill>
                          <a:latin typeface="Noto Sans SC"/>
                          <a:ea typeface="Noto Sans SC"/>
                          <a:cs typeface="Noto Sans SC"/>
                          <a:sym typeface="Noto Sans SC"/>
                        </a:rPr>
                        <a:t>MA</a:t>
                      </a:r>
                      <a:endParaRPr lang="en-US" sz="1050"/>
                    </a:p>
                  </a:txBody>
                  <a:tcPr marL="101600" marR="101600" marT="101600" marB="101600" anchor="ctr">
                    <a:lnL>
                      <a:noFill/>
                    </a:lnL>
                    <a:lnR>
                      <a:noFill/>
                    </a:lnR>
                    <a:lnT>
                      <a:noFill/>
                    </a:lnT>
                    <a:lnB>
                      <a:noFill/>
                    </a:lnB>
                    <a:solidFill>
                      <a:srgbClr val="F0FDF4">
                        <a:alpha val="100000"/>
                      </a:srgbClr>
                    </a:solidFill>
                  </a:tcPr>
                </a:tc>
                <a:extLst>
                  <a:ext uri="{0D108BD9-81ED-4DB2-BD59-A6C34878D82A}">
                    <a16:rowId xmlns:a16="http://schemas.microsoft.com/office/drawing/2014/main" val="10006"/>
                  </a:ext>
                </a:extLst>
              </a:tr>
            </a:tbl>
          </a:graphicData>
        </a:graphic>
      </p:graphicFrame>
      <p:sp>
        <p:nvSpPr>
          <p:cNvPr id="19" name="AutoShape 2">
            <a:extLst>
              <a:ext uri="{FF2B5EF4-FFF2-40B4-BE49-F238E27FC236}">
                <a16:creationId xmlns:a16="http://schemas.microsoft.com/office/drawing/2014/main" id="{7E2BA81F-A9F2-6DD5-424E-A411761EB14E}"/>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7.1.2 模式的冗余和异常问题(2)</a:t>
            </a:r>
            <a:endParaRPr lang="en-US" sz="2400" b="1">
              <a:solidFill>
                <a:srgbClr val="FFFFFF"/>
              </a:solidFill>
              <a:latin typeface="Noto Sans SC"/>
              <a:ea typeface="Noto Sans S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4880300" y="2425699"/>
            <a:ext cx="2472659" cy="4063999"/>
          </a:xfrm>
          <a:prstGeom prst="roundRect">
            <a:avLst>
              <a:gd name="adj" fmla="val 5517"/>
            </a:avLst>
          </a:prstGeom>
          <a:solidFill>
            <a:srgbClr val="FFF7ED">
              <a:alpha val="100000"/>
            </a:srgbClr>
          </a:solidFill>
          <a:ln w="12700" cap="flat" cmpd="sng">
            <a:solidFill>
              <a:srgbClr val="FDBA74">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5049496" y="2616200"/>
            <a:ext cx="2176463"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C2410C"/>
                </a:solidFill>
                <a:latin typeface="Noto Sans SC"/>
                <a:ea typeface="Noto Sans SC"/>
                <a:cs typeface="Noto Sans SC"/>
                <a:sym typeface="Noto Sans SC"/>
              </a:rPr>
              <a:t>R1：学生选课关系</a:t>
            </a:r>
            <a:br>
              <a:rPr lang="en-US" sz="1600" b="1" i="0" u="none" strike="noStrike">
                <a:solidFill>
                  <a:srgbClr val="C2410C"/>
                </a:solidFill>
                <a:latin typeface="Noto Sans SC"/>
                <a:ea typeface="Noto Sans SC"/>
                <a:cs typeface="Noto Sans SC"/>
                <a:sym typeface="Noto Sans SC"/>
              </a:rPr>
            </a:br>
            <a:r>
              <a:rPr lang="en-US" sz="1600" b="1" i="0" u="none" strike="noStrike">
                <a:solidFill>
                  <a:srgbClr val="C2410C"/>
                </a:solidFill>
                <a:latin typeface="Noto Sans SC"/>
                <a:ea typeface="Noto Sans SC"/>
                <a:cs typeface="Noto Sans SC"/>
                <a:sym typeface="Noto Sans SC"/>
              </a:rPr>
              <a:t> (S#, C#)</a:t>
            </a:r>
            <a:endParaRPr lang="en-US" sz="1050"/>
          </a:p>
        </p:txBody>
      </p:sp>
      <p:graphicFrame>
        <p:nvGraphicFramePr>
          <p:cNvPr id="6" name="Table 6"/>
          <p:cNvGraphicFramePr>
            <a:graphicFrameLocks noGrp="1"/>
          </p:cNvGraphicFramePr>
          <p:nvPr>
            <p:extLst>
              <p:ext uri="{D42A27DB-BD31-4B8C-83A1-F6EECF244321}">
                <p14:modId xmlns:p14="http://schemas.microsoft.com/office/powerpoint/2010/main" val="3771236362"/>
              </p:ext>
            </p:extLst>
          </p:nvPr>
        </p:nvGraphicFramePr>
        <p:xfrm>
          <a:off x="5049496" y="3187700"/>
          <a:ext cx="2176463" cy="2113280"/>
        </p:xfrm>
        <a:graphic>
          <a:graphicData uri="http://schemas.openxmlformats.org/drawingml/2006/table">
            <a:tbl>
              <a:tblPr>
                <a:effectLst/>
              </a:tblPr>
              <a:tblGrid>
                <a:gridCol w="996950">
                  <a:extLst>
                    <a:ext uri="{9D8B030D-6E8A-4147-A177-3AD203B41FA5}">
                      <a16:colId xmlns:a16="http://schemas.microsoft.com/office/drawing/2014/main" val="20000"/>
                    </a:ext>
                  </a:extLst>
                </a:gridCol>
                <a:gridCol w="1179513">
                  <a:extLst>
                    <a:ext uri="{9D8B030D-6E8A-4147-A177-3AD203B41FA5}">
                      <a16:colId xmlns:a16="http://schemas.microsoft.com/office/drawing/2014/main" val="20001"/>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S# (学号)</a:t>
                      </a:r>
                      <a:endParaRPr lang="en-US" sz="1100"/>
                    </a:p>
                  </a:txBody>
                  <a:tcPr marL="101600" marR="101600" marT="101600" marB="101600" anchor="ctr">
                    <a:lnL>
                      <a:noFill/>
                    </a:lnL>
                    <a:lnR>
                      <a:noFill/>
                    </a:lnR>
                    <a:lnT>
                      <a:noFill/>
                    </a:lnT>
                    <a:lnB>
                      <a:noFill/>
                    </a:lnB>
                    <a:solidFill>
                      <a:srgbClr val="FB923C">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C# (课程号)</a:t>
                      </a:r>
                      <a:endParaRPr lang="en-US" sz="1100"/>
                    </a:p>
                  </a:txBody>
                  <a:tcPr marL="101600" marR="101600" marT="101600" marB="101600" anchor="ctr">
                    <a:lnL>
                      <a:noFill/>
                    </a:lnL>
                    <a:lnR>
                      <a:noFill/>
                    </a:lnR>
                    <a:lnT>
                      <a:noFill/>
                    </a:lnT>
                    <a:lnB>
                      <a:noFill/>
                    </a:lnB>
                    <a:solidFill>
                      <a:srgbClr val="FB923C">
                        <a:alpha val="100000"/>
                      </a:srgbClr>
                    </a:solidFill>
                  </a:tcPr>
                </a:tc>
                <a:extLst>
                  <a:ext uri="{0D108BD9-81ED-4DB2-BD59-A6C34878D82A}">
                    <a16:rowId xmlns:a16="http://schemas.microsoft.com/office/drawing/2014/main" val="10000"/>
                  </a:ext>
                </a:extLst>
              </a:tr>
              <a:tr h="381000">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S2</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C4</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1"/>
                  </a:ext>
                </a:extLst>
              </a:tr>
              <a:tr h="381000">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S4</a:t>
                      </a:r>
                      <a:endParaRPr lang="en-US" sz="1100"/>
                    </a:p>
                  </a:txBody>
                  <a:tcPr marL="101600" marR="101600" marT="101600" marB="101600" anchor="ctr">
                    <a:lnL>
                      <a:noFill/>
                    </a:lnL>
                    <a:lnR>
                      <a:noFill/>
                    </a:lnR>
                    <a:lnT>
                      <a:noFill/>
                    </a:lnT>
                    <a:lnB>
                      <a:noFill/>
                    </a:lnB>
                    <a:solidFill>
                      <a:srgbClr val="F0F9FF">
                        <a:alpha val="100000"/>
                      </a:srgbClr>
                    </a:solidFill>
                  </a:tcPr>
                </a:tc>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C4</a:t>
                      </a:r>
                      <a:endParaRPr lang="en-US" sz="1100"/>
                    </a:p>
                  </a:txBody>
                  <a:tcPr marL="101600" marR="101600" marT="101600" marB="101600" anchor="ctr">
                    <a:lnL>
                      <a:noFill/>
                    </a:lnL>
                    <a:lnR>
                      <a:noFill/>
                    </a:lnR>
                    <a:lnT>
                      <a:noFill/>
                    </a:lnT>
                    <a:lnB>
                      <a:noFill/>
                    </a:lnB>
                    <a:solidFill>
                      <a:srgbClr val="F0F9FF">
                        <a:alpha val="100000"/>
                      </a:srgbClr>
                    </a:solidFill>
                  </a:tcPr>
                </a:tc>
                <a:extLst>
                  <a:ext uri="{0D108BD9-81ED-4DB2-BD59-A6C34878D82A}">
                    <a16:rowId xmlns:a16="http://schemas.microsoft.com/office/drawing/2014/main" val="10002"/>
                  </a:ext>
                </a:extLst>
              </a:tr>
              <a:tr h="381000">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S6</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C4 / C2</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3"/>
                  </a:ext>
                </a:extLst>
              </a:tr>
              <a:tr h="381000">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S8</a:t>
                      </a:r>
                      <a:endParaRPr lang="en-US" sz="1100"/>
                    </a:p>
                  </a:txBody>
                  <a:tcPr marL="101600" marR="101600" marT="101600" marB="101600" anchor="ctr">
                    <a:lnL>
                      <a:noFill/>
                    </a:lnL>
                    <a:lnR>
                      <a:noFill/>
                    </a:lnR>
                    <a:lnT>
                      <a:noFill/>
                    </a:lnT>
                    <a:lnB>
                      <a:noFill/>
                    </a:lnB>
                    <a:solidFill>
                      <a:srgbClr val="F0F9FF">
                        <a:alpha val="100000"/>
                      </a:srgbClr>
                    </a:solidFill>
                  </a:tcPr>
                </a:tc>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C6</a:t>
                      </a:r>
                      <a:endParaRPr lang="en-US" sz="1100"/>
                    </a:p>
                  </a:txBody>
                  <a:tcPr marL="101600" marR="101600" marT="101600" marB="101600" anchor="ctr">
                    <a:lnL>
                      <a:noFill/>
                    </a:lnL>
                    <a:lnR>
                      <a:noFill/>
                    </a:lnR>
                    <a:lnT>
                      <a:noFill/>
                    </a:lnT>
                    <a:lnB>
                      <a:noFill/>
                    </a:lnB>
                    <a:solidFill>
                      <a:srgbClr val="F0F9FF">
                        <a:alpha val="100000"/>
                      </a:srgbClr>
                    </a:solidFill>
                  </a:tcPr>
                </a:tc>
                <a:extLst>
                  <a:ext uri="{0D108BD9-81ED-4DB2-BD59-A6C34878D82A}">
                    <a16:rowId xmlns:a16="http://schemas.microsoft.com/office/drawing/2014/main" val="10004"/>
                  </a:ext>
                </a:extLst>
              </a:tr>
            </a:tbl>
          </a:graphicData>
        </a:graphic>
      </p:graphicFrame>
      <p:sp>
        <p:nvSpPr>
          <p:cNvPr id="7" name="AutoShape 7"/>
          <p:cNvSpPr/>
          <p:nvPr/>
        </p:nvSpPr>
        <p:spPr>
          <a:xfrm>
            <a:off x="7548403" y="2425700"/>
            <a:ext cx="3856196" cy="4063998"/>
          </a:xfrm>
          <a:prstGeom prst="roundRect">
            <a:avLst>
              <a:gd name="adj" fmla="val 5517"/>
            </a:avLst>
          </a:prstGeom>
          <a:solidFill>
            <a:srgbClr val="FFF7ED">
              <a:alpha val="100000"/>
            </a:srgbClr>
          </a:solidFill>
          <a:ln w="12700" cap="flat" cmpd="sng">
            <a:solidFill>
              <a:srgbClr val="FDBA74">
                <a:alpha val="100000"/>
              </a:srgbClr>
            </a:solidFill>
            <a:prstDash val="solid"/>
            <a:round/>
          </a:ln>
        </p:spPr>
        <p:txBody>
          <a:bodyPr vert="horz" wrap="square" lIns="63500" tIns="63500" rIns="63500" bIns="63500" rtlCol="0" anchor="ctr"/>
          <a:lstStyle/>
          <a:p>
            <a:pPr algn="ctr"/>
            <a:endParaRPr/>
          </a:p>
        </p:txBody>
      </p:sp>
      <p:sp>
        <p:nvSpPr>
          <p:cNvPr id="8" name="AutoShape 8"/>
          <p:cNvSpPr/>
          <p:nvPr/>
        </p:nvSpPr>
        <p:spPr>
          <a:xfrm>
            <a:off x="7726373" y="2616200"/>
            <a:ext cx="3551226" cy="381000"/>
          </a:xfrm>
          <a:prstGeom prst="rect">
            <a:avLst/>
          </a:prstGeom>
          <a:noFill/>
          <a:ln w="12700" cap="flat" cmpd="sng">
            <a:noFill/>
            <a:prstDash val="solid"/>
            <a:round/>
          </a:ln>
        </p:spPr>
        <p:txBody>
          <a:bodyPr vert="horz" wrap="square" lIns="0" tIns="0" rIns="0" bIns="0" rtlCol="0" anchor="ctr" anchorCtr="0"/>
          <a:lstStyle/>
          <a:p>
            <a:pPr algn="ctr">
              <a:lnSpc>
                <a:spcPct val="125000"/>
              </a:lnSpc>
            </a:pPr>
            <a:r>
              <a:rPr lang="en-US" sz="1600" b="1">
                <a:solidFill>
                  <a:srgbClr val="C2410C"/>
                </a:solidFill>
                <a:latin typeface="Noto Sans SC"/>
                <a:ea typeface="Noto Sans SC"/>
                <a:sym typeface="Noto Sans SC"/>
              </a:rPr>
              <a:t>R2：课程基本信息</a:t>
            </a:r>
            <a:br>
              <a:rPr lang="en-US" sz="1600" b="1">
                <a:solidFill>
                  <a:srgbClr val="C2410C"/>
                </a:solidFill>
                <a:latin typeface="Noto Sans SC"/>
                <a:ea typeface="Noto Sans SC"/>
                <a:sym typeface="Noto Sans SC"/>
              </a:rPr>
            </a:br>
            <a:r>
              <a:rPr lang="en-US" sz="1600" b="1">
                <a:solidFill>
                  <a:srgbClr val="C2410C"/>
                </a:solidFill>
                <a:latin typeface="Noto Sans SC"/>
                <a:ea typeface="Noto Sans SC"/>
                <a:sym typeface="Noto Sans SC"/>
              </a:rPr>
              <a:t> (C#, CNAME, TNAME)</a:t>
            </a:r>
            <a:endParaRPr lang="en-US" sz="1600" b="1">
              <a:solidFill>
                <a:srgbClr val="C2410C"/>
              </a:solidFill>
              <a:latin typeface="Noto Sans SC"/>
              <a:ea typeface="Noto Sans SC"/>
            </a:endParaRPr>
          </a:p>
        </p:txBody>
      </p:sp>
      <p:graphicFrame>
        <p:nvGraphicFramePr>
          <p:cNvPr id="9" name="Table 9"/>
          <p:cNvGraphicFramePr>
            <a:graphicFrameLocks noGrp="1"/>
          </p:cNvGraphicFramePr>
          <p:nvPr>
            <p:extLst>
              <p:ext uri="{D42A27DB-BD31-4B8C-83A1-F6EECF244321}">
                <p14:modId xmlns:p14="http://schemas.microsoft.com/office/powerpoint/2010/main" val="2846535883"/>
              </p:ext>
            </p:extLst>
          </p:nvPr>
        </p:nvGraphicFramePr>
        <p:xfrm>
          <a:off x="7669211" y="3180029"/>
          <a:ext cx="3608388" cy="2032000"/>
        </p:xfrm>
        <a:graphic>
          <a:graphicData uri="http://schemas.openxmlformats.org/drawingml/2006/table">
            <a:tbl>
              <a:tblPr>
                <a:effectLst/>
              </a:tblPr>
              <a:tblGrid>
                <a:gridCol w="463550">
                  <a:extLst>
                    <a:ext uri="{9D8B030D-6E8A-4147-A177-3AD203B41FA5}">
                      <a16:colId xmlns:a16="http://schemas.microsoft.com/office/drawing/2014/main" val="20000"/>
                    </a:ext>
                  </a:extLst>
                </a:gridCol>
                <a:gridCol w="1574800">
                  <a:extLst>
                    <a:ext uri="{9D8B030D-6E8A-4147-A177-3AD203B41FA5}">
                      <a16:colId xmlns:a16="http://schemas.microsoft.com/office/drawing/2014/main" val="20001"/>
                    </a:ext>
                  </a:extLst>
                </a:gridCol>
                <a:gridCol w="1570038">
                  <a:extLst>
                    <a:ext uri="{9D8B030D-6E8A-4147-A177-3AD203B41FA5}">
                      <a16:colId xmlns:a16="http://schemas.microsoft.com/office/drawing/2014/main" val="20002"/>
                    </a:ext>
                  </a:extLst>
                </a:gridCol>
              </a:tblGrid>
              <a:tr h="508000">
                <a:tc>
                  <a:txBody>
                    <a:bodyPr/>
                    <a:lstStyle/>
                    <a:p>
                      <a:pPr marR="0" indent="0" algn="ctr" rtl="0">
                        <a:lnSpc>
                          <a:spcPct val="100000"/>
                        </a:lnSpc>
                        <a:spcBef>
                          <a:spcPts val="0"/>
                        </a:spcBef>
                        <a:spcAft>
                          <a:spcPts val="0"/>
                        </a:spcAft>
                        <a:buClr>
                          <a:srgbClr val="000000"/>
                        </a:buClr>
                        <a:buFont typeface="Arial"/>
                        <a:defRPr/>
                      </a:pPr>
                      <a:r>
                        <a:rPr lang="en-US" sz="1400" b="1" i="0" u="none" strike="noStrike" cap="none">
                          <a:solidFill>
                            <a:srgbClr val="FFFFFF"/>
                          </a:solidFill>
                          <a:latin typeface="Noto Sans SC"/>
                          <a:ea typeface="Noto Sans SC"/>
                          <a:cs typeface="Noto Sans SC"/>
                          <a:sym typeface="Noto Sans SC"/>
                        </a:rPr>
                        <a:t>C#</a:t>
                      </a:r>
                      <a:endParaRPr lang="en-US" sz="1400" b="1" i="0" u="none" strike="noStrike" cap="none">
                        <a:solidFill>
                          <a:srgbClr val="FFFFFF"/>
                        </a:solidFill>
                        <a:latin typeface="Noto Sans SC"/>
                        <a:ea typeface="Noto Sans SC"/>
                        <a:sym typeface="Arial"/>
                      </a:endParaRPr>
                    </a:p>
                  </a:txBody>
                  <a:tcPr marL="101600" marR="101600" marT="101600" marB="101600" anchor="ctr">
                    <a:lnL>
                      <a:noFill/>
                    </a:lnL>
                    <a:lnR>
                      <a:noFill/>
                    </a:lnR>
                    <a:lnT>
                      <a:noFill/>
                    </a:lnT>
                    <a:lnB>
                      <a:noFill/>
                    </a:lnB>
                    <a:solidFill>
                      <a:schemeClr val="accent2"/>
                    </a:solidFill>
                  </a:tcPr>
                </a:tc>
                <a:tc>
                  <a:txBody>
                    <a:bodyPr/>
                    <a:lstStyle/>
                    <a:p>
                      <a:pPr marR="0" indent="0" algn="ctr" rtl="0">
                        <a:lnSpc>
                          <a:spcPct val="100000"/>
                        </a:lnSpc>
                        <a:spcBef>
                          <a:spcPts val="0"/>
                        </a:spcBef>
                        <a:spcAft>
                          <a:spcPts val="0"/>
                        </a:spcAft>
                        <a:buClr>
                          <a:srgbClr val="000000"/>
                        </a:buClr>
                        <a:buFont typeface="Arial"/>
                        <a:defRPr/>
                      </a:pPr>
                      <a:r>
                        <a:rPr lang="en-US" sz="1400" b="1" i="0" u="none" strike="noStrike" cap="none">
                          <a:solidFill>
                            <a:srgbClr val="FFFFFF"/>
                          </a:solidFill>
                          <a:latin typeface="Noto Sans SC"/>
                          <a:ea typeface="Noto Sans SC"/>
                          <a:cs typeface="Noto Sans SC"/>
                          <a:sym typeface="Noto Sans SC"/>
                        </a:rPr>
                        <a:t>CNAME (课程名)</a:t>
                      </a:r>
                      <a:endParaRPr lang="en-US" sz="1400" b="1" i="0" u="none" strike="noStrike" cap="none">
                        <a:solidFill>
                          <a:srgbClr val="FFFFFF"/>
                        </a:solidFill>
                        <a:latin typeface="Noto Sans SC"/>
                        <a:ea typeface="Noto Sans SC"/>
                        <a:sym typeface="Arial"/>
                      </a:endParaRPr>
                    </a:p>
                  </a:txBody>
                  <a:tcPr marL="101600" marR="101600" marT="101600" marB="101600" anchor="ctr">
                    <a:lnL>
                      <a:noFill/>
                    </a:lnL>
                    <a:lnR>
                      <a:noFill/>
                    </a:lnR>
                    <a:lnT>
                      <a:noFill/>
                    </a:lnT>
                    <a:lnB>
                      <a:noFill/>
                    </a:lnB>
                    <a:solidFill>
                      <a:schemeClr val="accent2"/>
                    </a:solidFill>
                  </a:tcPr>
                </a:tc>
                <a:tc>
                  <a:txBody>
                    <a:bodyPr/>
                    <a:lstStyle/>
                    <a:p>
                      <a:pPr marR="0" indent="0" algn="ctr" rtl="0">
                        <a:lnSpc>
                          <a:spcPct val="100000"/>
                        </a:lnSpc>
                        <a:spcBef>
                          <a:spcPts val="0"/>
                        </a:spcBef>
                        <a:spcAft>
                          <a:spcPts val="0"/>
                        </a:spcAft>
                        <a:buClr>
                          <a:srgbClr val="000000"/>
                        </a:buClr>
                        <a:buFont typeface="Arial"/>
                        <a:defRPr/>
                      </a:pPr>
                      <a:r>
                        <a:rPr lang="en-US" sz="1400" b="1" i="0" u="none" strike="noStrike" cap="none">
                          <a:solidFill>
                            <a:srgbClr val="FFFFFF"/>
                          </a:solidFill>
                          <a:latin typeface="Noto Sans SC"/>
                          <a:ea typeface="Noto Sans SC"/>
                          <a:cs typeface="Noto Sans SC"/>
                          <a:sym typeface="Noto Sans SC"/>
                        </a:rPr>
                        <a:t>TNAME (教师名)</a:t>
                      </a:r>
                      <a:endParaRPr lang="en-US" sz="1400" b="1" i="0" u="none" strike="noStrike" cap="none">
                        <a:solidFill>
                          <a:srgbClr val="FFFFFF"/>
                        </a:solidFill>
                        <a:latin typeface="Noto Sans SC"/>
                        <a:ea typeface="Noto Sans SC"/>
                        <a:sym typeface="Arial"/>
                      </a:endParaRPr>
                    </a:p>
                  </a:txBody>
                  <a:tcPr marL="101600" marR="101600" marT="101600" marB="101600" anchor="ctr">
                    <a:lnL>
                      <a:noFill/>
                    </a:lnL>
                    <a:lnR>
                      <a:noFill/>
                    </a:lnR>
                    <a:lnT>
                      <a:noFill/>
                    </a:lnT>
                    <a:lnB>
                      <a:noFill/>
                    </a:lnB>
                    <a:solidFill>
                      <a:schemeClr val="accent2"/>
                    </a:solidFill>
                  </a:tcPr>
                </a:tc>
                <a:extLst>
                  <a:ext uri="{0D108BD9-81ED-4DB2-BD59-A6C34878D82A}">
                    <a16:rowId xmlns:a16="http://schemas.microsoft.com/office/drawing/2014/main" val="10000"/>
                  </a:ext>
                </a:extLst>
              </a:tr>
              <a:tr h="508000">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C4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PASCAL 语言</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WEN (文老师)</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1"/>
                  </a:ext>
                </a:extLst>
              </a:tr>
              <a:tr h="508000">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C2</a:t>
                      </a:r>
                      <a:endParaRPr lang="en-US" sz="1100"/>
                    </a:p>
                  </a:txBody>
                  <a:tcPr marL="101600" marR="101600" marT="101600" marB="101600" anchor="ctr">
                    <a:lnL>
                      <a:noFill/>
                    </a:lnL>
                    <a:lnR>
                      <a:noFill/>
                    </a:lnR>
                    <a:lnT>
                      <a:noFill/>
                    </a:lnT>
                    <a:lnB>
                      <a:noFill/>
                    </a:lnB>
                    <a:solidFill>
                      <a:srgbClr val="F0F9FF">
                        <a:alpha val="100000"/>
                      </a:srgbClr>
                    </a:solidFill>
                  </a:tcPr>
                </a:tc>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ADA 语言</a:t>
                      </a:r>
                      <a:endParaRPr lang="en-US" sz="1100"/>
                    </a:p>
                  </a:txBody>
                  <a:tcPr marL="101600" marR="101600" marT="101600" marB="101600" anchor="ctr">
                    <a:lnL>
                      <a:noFill/>
                    </a:lnL>
                    <a:lnR>
                      <a:noFill/>
                    </a:lnR>
                    <a:lnT>
                      <a:noFill/>
                    </a:lnT>
                    <a:lnB>
                      <a:noFill/>
                    </a:lnB>
                    <a:solidFill>
                      <a:srgbClr val="F0F9FF">
                        <a:alpha val="100000"/>
                      </a:srgbClr>
                    </a:solidFill>
                  </a:tcPr>
                </a:tc>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LIU (刘老师)</a:t>
                      </a:r>
                      <a:endParaRPr lang="en-US" sz="1100"/>
                    </a:p>
                  </a:txBody>
                  <a:tcPr marL="101600" marR="101600" marT="101600" marB="101600" anchor="ctr">
                    <a:lnL>
                      <a:noFill/>
                    </a:lnL>
                    <a:lnR>
                      <a:noFill/>
                    </a:lnR>
                    <a:lnT>
                      <a:noFill/>
                    </a:lnT>
                    <a:lnB>
                      <a:noFill/>
                    </a:lnB>
                    <a:solidFill>
                      <a:srgbClr val="F0F9FF">
                        <a:alpha val="100000"/>
                      </a:srgbClr>
                    </a:solidFill>
                  </a:tcPr>
                </a:tc>
                <a:extLst>
                  <a:ext uri="{0D108BD9-81ED-4DB2-BD59-A6C34878D82A}">
                    <a16:rowId xmlns:a16="http://schemas.microsoft.com/office/drawing/2014/main" val="10002"/>
                  </a:ext>
                </a:extLst>
              </a:tr>
              <a:tr h="508000">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C6</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BASIC 语言</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3D4B"/>
                          </a:solidFill>
                          <a:latin typeface="Noto Sans SC"/>
                          <a:ea typeface="Noto Sans SC"/>
                          <a:cs typeface="Noto Sans SC"/>
                          <a:sym typeface="Noto Sans SC"/>
                        </a:rPr>
                        <a:t>MA (马老师)</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3"/>
                  </a:ext>
                </a:extLst>
              </a:tr>
            </a:tbl>
          </a:graphicData>
        </a:graphic>
      </p:graphicFrame>
      <p:sp>
        <p:nvSpPr>
          <p:cNvPr id="11" name="AutoShape 3">
            <a:extLst>
              <a:ext uri="{FF2B5EF4-FFF2-40B4-BE49-F238E27FC236}">
                <a16:creationId xmlns:a16="http://schemas.microsoft.com/office/drawing/2014/main" id="{18F07A7C-6B95-0461-8A20-ECC848F15855}"/>
              </a:ext>
            </a:extLst>
          </p:cNvPr>
          <p:cNvSpPr/>
          <p:nvPr/>
        </p:nvSpPr>
        <p:spPr>
          <a:xfrm>
            <a:off x="1906855" y="1208943"/>
            <a:ext cx="8461744" cy="838336"/>
          </a:xfrm>
          <a:prstGeom prst="rect">
            <a:avLst/>
          </a:prstGeom>
          <a:noFill/>
          <a:ln w="12700" cap="flat" cmpd="sng">
            <a:noFill/>
            <a:prstDash val="solid"/>
            <a:round/>
          </a:ln>
        </p:spPr>
        <p:txBody>
          <a:bodyPr vert="horz" wrap="square" lIns="190500" tIns="0" rIns="0" bIns="0" rtlCol="0" anchor="ctr" anchorCtr="0"/>
          <a:lstStyle/>
          <a:p>
            <a:pPr indent="0" algn="l">
              <a:lnSpc>
                <a:spcPct val="125000"/>
              </a:lnSpc>
              <a:defRPr/>
            </a:pPr>
            <a:r>
              <a:rPr lang="zh-CN" altLang="en-US" sz="2000" i="0" u="none" strike="noStrike">
                <a:solidFill>
                  <a:schemeClr val="tx1"/>
                </a:solidFill>
                <a:latin typeface="Noto Sans SC"/>
                <a:ea typeface="Noto Sans SC"/>
                <a:cs typeface="Noto Sans SC"/>
                <a:sym typeface="Noto Sans SC"/>
              </a:rPr>
              <a:t>解决方案：模式分解</a:t>
            </a:r>
            <a:r>
              <a:rPr lang="zh-CN" altLang="en-US" sz="1600" i="0" u="none" strike="noStrike">
                <a:solidFill>
                  <a:schemeClr val="tx1"/>
                </a:solidFill>
                <a:latin typeface="Noto Sans SC"/>
                <a:ea typeface="Noto Sans SC"/>
                <a:cs typeface="Noto Sans SC"/>
                <a:sym typeface="Noto Sans SC"/>
              </a:rPr>
              <a:t>。将一个大的、包含多个主题的关系模式，分解为两个或多个独立的、单一主题的关系模式，可以有效解决数据冗余、更新异常、插入异常和删除异常问题。</a:t>
            </a:r>
          </a:p>
        </p:txBody>
      </p:sp>
      <p:sp>
        <p:nvSpPr>
          <p:cNvPr id="13" name="AutoShape 2">
            <a:extLst>
              <a:ext uri="{FF2B5EF4-FFF2-40B4-BE49-F238E27FC236}">
                <a16:creationId xmlns:a16="http://schemas.microsoft.com/office/drawing/2014/main" id="{9FCB06D0-CDCA-5848-1C5C-BFE4D9BFA11F}"/>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7.1.2 模式的冗余和异常问题(3)</a:t>
            </a:r>
            <a:endParaRPr lang="en-US" sz="2400" b="1">
              <a:solidFill>
                <a:srgbClr val="FFFFFF"/>
              </a:solidFill>
              <a:latin typeface="Noto Sans SC"/>
              <a:ea typeface="Noto Sans SC"/>
            </a:endParaRPr>
          </a:p>
        </p:txBody>
      </p:sp>
      <p:sp>
        <p:nvSpPr>
          <p:cNvPr id="14" name="AutoShape 6">
            <a:extLst>
              <a:ext uri="{FF2B5EF4-FFF2-40B4-BE49-F238E27FC236}">
                <a16:creationId xmlns:a16="http://schemas.microsoft.com/office/drawing/2014/main" id="{895D0BBB-A788-5345-3D27-06A5712A3E83}"/>
              </a:ext>
            </a:extLst>
          </p:cNvPr>
          <p:cNvSpPr/>
          <p:nvPr/>
        </p:nvSpPr>
        <p:spPr>
          <a:xfrm>
            <a:off x="838200" y="2425700"/>
            <a:ext cx="3083287" cy="4064000"/>
          </a:xfrm>
          <a:prstGeom prst="roundRect">
            <a:avLst>
              <a:gd name="adj" fmla="val 2500"/>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graphicFrame>
        <p:nvGraphicFramePr>
          <p:cNvPr id="15" name="Table 7">
            <a:extLst>
              <a:ext uri="{FF2B5EF4-FFF2-40B4-BE49-F238E27FC236}">
                <a16:creationId xmlns:a16="http://schemas.microsoft.com/office/drawing/2014/main" id="{73DC9337-3F09-BB71-6EEB-A900814384B8}"/>
              </a:ext>
            </a:extLst>
          </p:cNvPr>
          <p:cNvGraphicFramePr>
            <a:graphicFrameLocks noGrp="1"/>
          </p:cNvGraphicFramePr>
          <p:nvPr>
            <p:extLst>
              <p:ext uri="{D42A27DB-BD31-4B8C-83A1-F6EECF244321}">
                <p14:modId xmlns:p14="http://schemas.microsoft.com/office/powerpoint/2010/main" val="1631919397"/>
              </p:ext>
            </p:extLst>
          </p:nvPr>
        </p:nvGraphicFramePr>
        <p:xfrm>
          <a:off x="1033643" y="3187700"/>
          <a:ext cx="2692400" cy="3175000"/>
        </p:xfrm>
        <a:graphic>
          <a:graphicData uri="http://schemas.openxmlformats.org/drawingml/2006/table">
            <a:tbl>
              <a:tblPr>
                <a:effectLst/>
              </a:tblPr>
              <a:tblGrid>
                <a:gridCol w="468313">
                  <a:extLst>
                    <a:ext uri="{9D8B030D-6E8A-4147-A177-3AD203B41FA5}">
                      <a16:colId xmlns:a16="http://schemas.microsoft.com/office/drawing/2014/main" val="20000"/>
                    </a:ext>
                  </a:extLst>
                </a:gridCol>
                <a:gridCol w="473075">
                  <a:extLst>
                    <a:ext uri="{9D8B030D-6E8A-4147-A177-3AD203B41FA5}">
                      <a16:colId xmlns:a16="http://schemas.microsoft.com/office/drawing/2014/main" val="20001"/>
                    </a:ext>
                  </a:extLst>
                </a:gridCol>
                <a:gridCol w="877887">
                  <a:extLst>
                    <a:ext uri="{9D8B030D-6E8A-4147-A177-3AD203B41FA5}">
                      <a16:colId xmlns:a16="http://schemas.microsoft.com/office/drawing/2014/main" val="20002"/>
                    </a:ext>
                  </a:extLst>
                </a:gridCol>
                <a:gridCol w="873125">
                  <a:extLst>
                    <a:ext uri="{9D8B030D-6E8A-4147-A177-3AD203B41FA5}">
                      <a16:colId xmlns:a16="http://schemas.microsoft.com/office/drawing/2014/main" val="20003"/>
                    </a:ext>
                  </a:extLst>
                </a:gridCol>
              </a:tblGrid>
              <a:tr h="508000">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S#</a:t>
                      </a:r>
                      <a:endParaRPr lang="en-US" sz="1100"/>
                    </a:p>
                  </a:txBody>
                  <a:tcPr marL="101600" marR="101600" marT="101600" marB="101600" anchor="ctr">
                    <a:lnL>
                      <a:noFill/>
                    </a:lnL>
                    <a:lnR>
                      <a:noFill/>
                    </a:lnR>
                    <a:lnT>
                      <a:noFill/>
                    </a:lnT>
                    <a:lnB>
                      <a:noFill/>
                    </a:lnB>
                    <a:solidFill>
                      <a:srgbClr val="22C55E">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C#</a:t>
                      </a:r>
                      <a:endParaRPr lang="en-US" sz="1100"/>
                    </a:p>
                  </a:txBody>
                  <a:tcPr marL="101600" marR="101600" marT="101600" marB="101600" anchor="ctr">
                    <a:lnL>
                      <a:noFill/>
                    </a:lnL>
                    <a:lnR>
                      <a:noFill/>
                    </a:lnR>
                    <a:lnT>
                      <a:noFill/>
                    </a:lnT>
                    <a:lnB>
                      <a:noFill/>
                    </a:lnB>
                    <a:solidFill>
                      <a:srgbClr val="22C55E">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CNAME</a:t>
                      </a:r>
                      <a:endParaRPr lang="en-US" sz="1100"/>
                    </a:p>
                  </a:txBody>
                  <a:tcPr marL="101600" marR="101600" marT="101600" marB="101600" anchor="ctr">
                    <a:lnL>
                      <a:noFill/>
                    </a:lnL>
                    <a:lnR>
                      <a:noFill/>
                    </a:lnR>
                    <a:lnT>
                      <a:noFill/>
                    </a:lnT>
                    <a:lnB>
                      <a:noFill/>
                    </a:lnB>
                    <a:solidFill>
                      <a:srgbClr val="22C55E">
                        <a:alpha val="100000"/>
                      </a:srgbClr>
                    </a:solidFill>
                  </a:tcPr>
                </a:tc>
                <a:tc>
                  <a:txBody>
                    <a:bodyPr/>
                    <a:lstStyle/>
                    <a:p>
                      <a:pPr indent="0" algn="ctr">
                        <a:lnSpc>
                          <a:spcPct val="100000"/>
                        </a:lnSpc>
                        <a:defRPr/>
                      </a:pPr>
                      <a:r>
                        <a:rPr lang="en-US" sz="1400" b="1" i="0" u="none" strike="noStrike">
                          <a:solidFill>
                            <a:srgbClr val="FFFFFF"/>
                          </a:solidFill>
                          <a:latin typeface="Noto Sans SC"/>
                          <a:ea typeface="Noto Sans SC"/>
                          <a:cs typeface="Noto Sans SC"/>
                          <a:sym typeface="Noto Sans SC"/>
                        </a:rPr>
                        <a:t>TNAME</a:t>
                      </a:r>
                      <a:endParaRPr lang="en-US" sz="1100"/>
                    </a:p>
                  </a:txBody>
                  <a:tcPr marL="101600" marR="101600" marT="101600" marB="101600" anchor="ctr">
                    <a:lnL>
                      <a:noFill/>
                    </a:lnL>
                    <a:lnR>
                      <a:noFill/>
                    </a:lnR>
                    <a:lnT>
                      <a:noFill/>
                    </a:lnT>
                    <a:lnB>
                      <a:noFill/>
                    </a:lnB>
                    <a:solidFill>
                      <a:srgbClr val="22C55E">
                        <a:alpha val="100000"/>
                      </a:srgbClr>
                    </a:solidFill>
                  </a:tcPr>
                </a:tc>
                <a:extLst>
                  <a:ext uri="{0D108BD9-81ED-4DB2-BD59-A6C34878D82A}">
                    <a16:rowId xmlns:a16="http://schemas.microsoft.com/office/drawing/2014/main" val="10000"/>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S2</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PASCAL</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WEN</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1"/>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S4</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C4</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PASCAL</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WEN</a:t>
                      </a:r>
                      <a:endParaRPr lang="en-US" sz="1100"/>
                    </a:p>
                  </a:txBody>
                  <a:tcPr marL="101600" marR="101600" marT="101600" marB="101600" anchor="ctr">
                    <a:lnL>
                      <a:noFill/>
                    </a:lnL>
                    <a:lnR>
                      <a:noFill/>
                    </a:lnR>
                    <a:lnT>
                      <a:noFill/>
                    </a:lnT>
                    <a:lnB>
                      <a:noFill/>
                    </a:lnB>
                    <a:solidFill>
                      <a:srgbClr val="F0FDF4">
                        <a:alpha val="100000"/>
                      </a:srgbClr>
                    </a:solidFill>
                  </a:tcPr>
                </a:tc>
                <a:extLst>
                  <a:ext uri="{0D108BD9-81ED-4DB2-BD59-A6C34878D82A}">
                    <a16:rowId xmlns:a16="http://schemas.microsoft.com/office/drawing/2014/main" val="10002"/>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S6</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PASCAL</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WEN</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3"/>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S6</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C2</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ADA</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LIU</a:t>
                      </a:r>
                      <a:endParaRPr lang="en-US" sz="1100"/>
                    </a:p>
                  </a:txBody>
                  <a:tcPr marL="101600" marR="101600" marT="101600" marB="101600" anchor="ctr">
                    <a:lnL>
                      <a:noFill/>
                    </a:lnL>
                    <a:lnR>
                      <a:noFill/>
                    </a:lnR>
                    <a:lnT>
                      <a:noFill/>
                    </a:lnT>
                    <a:lnB>
                      <a:noFill/>
                    </a:lnB>
                    <a:solidFill>
                      <a:srgbClr val="F0FDF4">
                        <a:alpha val="100000"/>
                      </a:srgbClr>
                    </a:solidFill>
                  </a:tcPr>
                </a:tc>
                <a:extLst>
                  <a:ext uri="{0D108BD9-81ED-4DB2-BD59-A6C34878D82A}">
                    <a16:rowId xmlns:a16="http://schemas.microsoft.com/office/drawing/2014/main" val="10004"/>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S4</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C2</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ADA</a:t>
                      </a:r>
                      <a:endParaRPr lang="en-US" sz="1100"/>
                    </a:p>
                  </a:txBody>
                  <a:tcPr marL="101600" marR="101600" marT="101600" marB="101600" anchor="ctr">
                    <a:lnL>
                      <a:noFill/>
                    </a:lnL>
                    <a:lnR>
                      <a:noFill/>
                    </a:lnR>
                    <a:lnT>
                      <a:noFill/>
                    </a:lnT>
                    <a:lnB>
                      <a:noFill/>
                    </a:lnB>
                    <a:solidFill>
                      <a:srgbClr val="FFFFFF">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LIU</a:t>
                      </a:r>
                      <a:endParaRPr lang="en-US" sz="1100"/>
                    </a:p>
                  </a:txBody>
                  <a:tcPr marL="101600" marR="101600" marT="101600" marB="101600" anchor="ctr">
                    <a:lnL>
                      <a:noFill/>
                    </a:lnL>
                    <a:lnR>
                      <a:noFill/>
                    </a:lnR>
                    <a:lnT>
                      <a:noFill/>
                    </a:lnT>
                    <a:lnB>
                      <a:noFill/>
                    </a:lnB>
                    <a:solidFill>
                      <a:srgbClr val="FFFFFF">
                        <a:alpha val="100000"/>
                      </a:srgbClr>
                    </a:solidFill>
                  </a:tcPr>
                </a:tc>
                <a:extLst>
                  <a:ext uri="{0D108BD9-81ED-4DB2-BD59-A6C34878D82A}">
                    <a16:rowId xmlns:a16="http://schemas.microsoft.com/office/drawing/2014/main" val="10005"/>
                  </a:ext>
                </a:extLst>
              </a:tr>
              <a:tr h="444500">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S8</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C6</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BASIC</a:t>
                      </a:r>
                      <a:endParaRPr lang="en-US" sz="1100"/>
                    </a:p>
                  </a:txBody>
                  <a:tcPr marL="101600" marR="101600" marT="101600" marB="101600" anchor="ctr">
                    <a:lnL>
                      <a:noFill/>
                    </a:lnL>
                    <a:lnR>
                      <a:noFill/>
                    </a:lnR>
                    <a:lnT>
                      <a:noFill/>
                    </a:lnT>
                    <a:lnB>
                      <a:noFill/>
                    </a:lnB>
                    <a:solidFill>
                      <a:srgbClr val="F0FDF4">
                        <a:alpha val="100000"/>
                      </a:srgbClr>
                    </a:solidFill>
                  </a:tcPr>
                </a:tc>
                <a:tc>
                  <a:txBody>
                    <a:bodyPr/>
                    <a:lstStyle/>
                    <a:p>
                      <a:pPr indent="0" algn="ctr">
                        <a:lnSpc>
                          <a:spcPct val="100000"/>
                        </a:lnSpc>
                        <a:defRPr/>
                      </a:pPr>
                      <a:r>
                        <a:rPr lang="en-US" sz="1300" b="0" i="0" u="none" strike="noStrike">
                          <a:solidFill>
                            <a:srgbClr val="334155"/>
                          </a:solidFill>
                          <a:latin typeface="Noto Sans SC"/>
                          <a:ea typeface="Noto Sans SC"/>
                          <a:cs typeface="Noto Sans SC"/>
                          <a:sym typeface="Noto Sans SC"/>
                        </a:rPr>
                        <a:t>MA</a:t>
                      </a:r>
                      <a:endParaRPr lang="en-US" sz="1100"/>
                    </a:p>
                  </a:txBody>
                  <a:tcPr marL="101600" marR="101600" marT="101600" marB="101600" anchor="ctr">
                    <a:lnL>
                      <a:noFill/>
                    </a:lnL>
                    <a:lnR>
                      <a:noFill/>
                    </a:lnR>
                    <a:lnT>
                      <a:noFill/>
                    </a:lnT>
                    <a:lnB>
                      <a:noFill/>
                    </a:lnB>
                    <a:solidFill>
                      <a:srgbClr val="F0FDF4">
                        <a:alpha val="100000"/>
                      </a:srgbClr>
                    </a:solidFill>
                  </a:tcPr>
                </a:tc>
                <a:extLst>
                  <a:ext uri="{0D108BD9-81ED-4DB2-BD59-A6C34878D82A}">
                    <a16:rowId xmlns:a16="http://schemas.microsoft.com/office/drawing/2014/main" val="10006"/>
                  </a:ext>
                </a:extLst>
              </a:tr>
            </a:tbl>
          </a:graphicData>
        </a:graphic>
      </p:graphicFrame>
      <p:sp>
        <p:nvSpPr>
          <p:cNvPr id="16" name="AutoShape 5">
            <a:extLst>
              <a:ext uri="{FF2B5EF4-FFF2-40B4-BE49-F238E27FC236}">
                <a16:creationId xmlns:a16="http://schemas.microsoft.com/office/drawing/2014/main" id="{C83CCEE4-4518-BD50-BA05-AEAC68CE867B}"/>
              </a:ext>
            </a:extLst>
          </p:cNvPr>
          <p:cNvSpPr/>
          <p:nvPr/>
        </p:nvSpPr>
        <p:spPr>
          <a:xfrm>
            <a:off x="1033643" y="2616200"/>
            <a:ext cx="26924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0B050"/>
                </a:solidFill>
                <a:latin typeface="Noto Sans SC"/>
                <a:ea typeface="Noto Sans SC"/>
                <a:cs typeface="Noto Sans SC"/>
                <a:sym typeface="Noto Sans SC"/>
              </a:rPr>
              <a:t>R：学生选课关系</a:t>
            </a:r>
            <a:br>
              <a:rPr lang="en-US" sz="1600" b="1" i="0" u="none" strike="noStrike">
                <a:solidFill>
                  <a:srgbClr val="00B050"/>
                </a:solidFill>
                <a:latin typeface="Noto Sans SC"/>
                <a:ea typeface="Noto Sans SC"/>
                <a:cs typeface="Noto Sans SC"/>
                <a:sym typeface="Noto Sans SC"/>
              </a:rPr>
            </a:br>
            <a:r>
              <a:rPr lang="en-US" sz="1600" b="1" i="0" u="none" strike="noStrike">
                <a:solidFill>
                  <a:srgbClr val="00B050"/>
                </a:solidFill>
                <a:latin typeface="Noto Sans SC"/>
                <a:ea typeface="Noto Sans SC"/>
                <a:cs typeface="Noto Sans SC"/>
                <a:sym typeface="Noto Sans SC"/>
              </a:rPr>
              <a:t> (S#, C#</a:t>
            </a:r>
            <a:r>
              <a:rPr lang="en-US" altLang="zh-CN" sz="1600" b="1">
                <a:solidFill>
                  <a:srgbClr val="00B050"/>
                </a:solidFill>
                <a:latin typeface="Noto Sans SC"/>
                <a:ea typeface="Noto Sans SC"/>
                <a:sym typeface="Noto Sans SC"/>
              </a:rPr>
              <a:t>, CNAME, TNAME</a:t>
            </a:r>
            <a:r>
              <a:rPr lang="en-US" sz="1600" b="1" i="0" u="none" strike="noStrike">
                <a:solidFill>
                  <a:srgbClr val="00B050"/>
                </a:solidFill>
                <a:latin typeface="Noto Sans SC"/>
                <a:ea typeface="Noto Sans SC"/>
                <a:cs typeface="Noto Sans SC"/>
                <a:sym typeface="Noto Sans SC"/>
              </a:rPr>
              <a:t>)</a:t>
            </a:r>
            <a:endParaRPr lang="en-US" sz="1050">
              <a:solidFill>
                <a:srgbClr val="00B050"/>
              </a:solidFill>
            </a:endParaRPr>
          </a:p>
        </p:txBody>
      </p:sp>
      <p:sp>
        <p:nvSpPr>
          <p:cNvPr id="17" name="箭头: 右 16">
            <a:extLst>
              <a:ext uri="{FF2B5EF4-FFF2-40B4-BE49-F238E27FC236}">
                <a16:creationId xmlns:a16="http://schemas.microsoft.com/office/drawing/2014/main" id="{94A4CB67-A483-2982-7EEB-E4792A14D65E}"/>
              </a:ext>
            </a:extLst>
          </p:cNvPr>
          <p:cNvSpPr/>
          <p:nvPr/>
        </p:nvSpPr>
        <p:spPr>
          <a:xfrm>
            <a:off x="4042294" y="3429000"/>
            <a:ext cx="711005" cy="1274945"/>
          </a:xfrm>
          <a:prstGeom prst="rightArrow">
            <a:avLst/>
          </a:prstGeom>
          <a:solidFill>
            <a:schemeClr val="accent2"/>
          </a:solidFill>
          <a:ln>
            <a:no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3163F380-7B74-092A-1BE8-620969176B93}"/>
              </a:ext>
            </a:extLst>
          </p:cNvPr>
          <p:cNvSpPr txBox="1"/>
          <p:nvPr/>
        </p:nvSpPr>
        <p:spPr>
          <a:xfrm>
            <a:off x="4042293" y="2905780"/>
            <a:ext cx="711005" cy="523220"/>
          </a:xfrm>
          <a:prstGeom prst="rect">
            <a:avLst/>
          </a:prstGeom>
          <a:noFill/>
        </p:spPr>
        <p:txBody>
          <a:bodyPr wrap="square">
            <a:spAutoFit/>
          </a:bodyPr>
          <a:lstStyle/>
          <a:p>
            <a:pPr algn="ctr"/>
            <a:r>
              <a:rPr lang="zh-CN" altLang="en-US"/>
              <a:t>模式分解</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7.1.3 关系模式</a:t>
            </a:r>
            <a:r>
              <a:rPr lang="zh-CN" altLang="en-US" sz="2400" b="1">
                <a:solidFill>
                  <a:srgbClr val="FFFFFF"/>
                </a:solidFill>
                <a:latin typeface="Noto Sans SC"/>
                <a:ea typeface="Noto Sans SC"/>
                <a:sym typeface="Noto Sans SC"/>
              </a:rPr>
              <a:t>设计</a:t>
            </a:r>
            <a:r>
              <a:rPr lang="en-US" sz="2400" b="1">
                <a:solidFill>
                  <a:srgbClr val="FFFFFF"/>
                </a:solidFill>
                <a:latin typeface="Noto Sans SC"/>
                <a:ea typeface="Noto Sans SC"/>
                <a:sym typeface="Noto Sans SC"/>
              </a:rPr>
              <a:t>的非形式化准则</a:t>
            </a:r>
            <a:endParaRPr lang="en-US" sz="2400" b="1">
              <a:solidFill>
                <a:srgbClr val="FFFFFF"/>
              </a:solidFill>
              <a:latin typeface="Noto Sans SC"/>
              <a:ea typeface="Noto Sans SC"/>
            </a:endParaRPr>
          </a:p>
        </p:txBody>
      </p:sp>
      <p:sp>
        <p:nvSpPr>
          <p:cNvPr id="3" name="AutoShape 3"/>
          <p:cNvSpPr/>
          <p:nvPr/>
        </p:nvSpPr>
        <p:spPr>
          <a:xfrm>
            <a:off x="894907" y="1505688"/>
            <a:ext cx="4286122" cy="4696637"/>
          </a:xfrm>
          <a:prstGeom prst="rect">
            <a:avLst/>
          </a:prstGeom>
          <a:solidFill>
            <a:srgbClr val="F8F9FA">
              <a:alpha val="100000"/>
            </a:srgbClr>
          </a:solidFill>
          <a:ln w="12700" cap="flat" cmpd="sng">
            <a:noFill/>
            <a:prstDash val="solid"/>
            <a:round/>
          </a:ln>
        </p:spPr>
        <p:txBody>
          <a:bodyPr vert="horz" wrap="square" lIns="190500" tIns="254000" rIns="190500" bIns="0" rtlCol="0" anchor="t" anchorCtr="0"/>
          <a:lstStyle/>
          <a:p>
            <a:pPr indent="0" algn="l">
              <a:lnSpc>
                <a:spcPct val="113000"/>
              </a:lnSpc>
              <a:spcBef>
                <a:spcPts val="600"/>
              </a:spcBef>
              <a:spcAft>
                <a:spcPts val="600"/>
              </a:spcAft>
              <a:defRPr/>
            </a:pPr>
            <a:r>
              <a:rPr lang="en-US" sz="2000" b="1" i="0" u="none" strike="noStrike">
                <a:solidFill>
                  <a:srgbClr val="7030A0"/>
                </a:solidFill>
                <a:latin typeface="Noto Sans SC"/>
                <a:ea typeface="Noto Sans SC"/>
                <a:cs typeface="Noto Sans SC"/>
                <a:sym typeface="Noto Sans SC"/>
              </a:rPr>
              <a:t>准则1：“一事一地”原则</a:t>
            </a:r>
          </a:p>
          <a:p>
            <a:pPr indent="0" algn="l">
              <a:lnSpc>
                <a:spcPct val="150000"/>
              </a:lnSpc>
              <a:spcBef>
                <a:spcPts val="600"/>
              </a:spcBef>
              <a:spcAft>
                <a:spcPts val="2000"/>
              </a:spcAft>
              <a:defRPr/>
            </a:pPr>
            <a:r>
              <a:rPr lang="en-US" sz="1600" b="0" i="0" u="none" strike="noStrike">
                <a:solidFill>
                  <a:srgbClr val="333333"/>
                </a:solidFill>
                <a:latin typeface="Noto Sans SC"/>
                <a:ea typeface="Noto Sans SC"/>
                <a:cs typeface="Noto Sans SC"/>
                <a:sym typeface="Noto Sans SC"/>
              </a:rPr>
              <a:t>每个关系模式应只对应于一个实体类型或一个联系类型</a:t>
            </a:r>
            <a:r>
              <a:rPr lang="en-US" altLang="zh-CN" sz="1600" b="0" i="0" u="none" strike="noStrike">
                <a:solidFill>
                  <a:srgbClr val="333333"/>
                </a:solidFill>
                <a:latin typeface="Noto Sans SC"/>
                <a:ea typeface="Noto Sans SC"/>
                <a:cs typeface="Noto Sans SC"/>
                <a:sym typeface="Noto Sans SC"/>
              </a:rPr>
              <a:t>【</a:t>
            </a:r>
            <a:r>
              <a:rPr lang="zh-CN" altLang="en-US" sz="1600" b="0" i="0" u="none" strike="noStrike">
                <a:solidFill>
                  <a:srgbClr val="C00000"/>
                </a:solidFill>
                <a:latin typeface="Noto Sans SC"/>
                <a:ea typeface="Noto Sans SC"/>
                <a:cs typeface="Noto Sans SC"/>
                <a:sym typeface="Noto Sans SC"/>
              </a:rPr>
              <a:t>概念模型转换为关系模式的基本转换规则</a:t>
            </a:r>
            <a:r>
              <a:rPr lang="en-US" altLang="zh-CN" sz="1600" b="0" i="0" u="none" strike="noStrike">
                <a:solidFill>
                  <a:srgbClr val="333333"/>
                </a:solidFill>
                <a:latin typeface="Noto Sans SC"/>
                <a:ea typeface="Noto Sans SC"/>
                <a:cs typeface="Noto Sans SC"/>
                <a:sym typeface="Noto Sans SC"/>
              </a:rPr>
              <a:t>】</a:t>
            </a:r>
            <a:r>
              <a:rPr lang="en-US" sz="1600" b="0" i="0" u="none" strike="noStrike">
                <a:solidFill>
                  <a:srgbClr val="333333"/>
                </a:solidFill>
                <a:latin typeface="Noto Sans SC"/>
                <a:ea typeface="Noto Sans SC"/>
                <a:cs typeface="Noto Sans SC"/>
                <a:sym typeface="Noto Sans SC"/>
              </a:rPr>
              <a:t>。这是最核心的原则，确保关系结构清晰，职责单一。</a:t>
            </a:r>
            <a:endParaRPr lang="en-US" sz="1100"/>
          </a:p>
          <a:p>
            <a:pPr indent="0" algn="l">
              <a:lnSpc>
                <a:spcPct val="113000"/>
              </a:lnSpc>
              <a:spcBef>
                <a:spcPts val="600"/>
              </a:spcBef>
              <a:spcAft>
                <a:spcPts val="600"/>
              </a:spcAft>
            </a:pPr>
            <a:r>
              <a:rPr lang="en-US" sz="2000" b="1" i="0" u="none" strike="noStrike">
                <a:solidFill>
                  <a:srgbClr val="7030A0"/>
                </a:solidFill>
                <a:latin typeface="Noto Sans SC"/>
                <a:ea typeface="Noto Sans SC"/>
                <a:cs typeface="Noto Sans SC"/>
                <a:sym typeface="Noto Sans SC"/>
              </a:rPr>
              <a:t>准则2：避免操作异常</a:t>
            </a:r>
          </a:p>
          <a:p>
            <a:pPr indent="0" algn="l">
              <a:lnSpc>
                <a:spcPct val="150000"/>
              </a:lnSpc>
            </a:pPr>
            <a:r>
              <a:rPr lang="en-US" sz="1600" b="0" i="0" u="none" strike="noStrike">
                <a:solidFill>
                  <a:srgbClr val="333333"/>
                </a:solidFill>
                <a:latin typeface="Noto Sans SC"/>
                <a:ea typeface="Noto Sans SC"/>
                <a:cs typeface="Noto Sans SC"/>
                <a:sym typeface="Noto Sans SC"/>
              </a:rPr>
              <a:t>设计应尽可能避免插入异常、删除异常和修改异常等问题。保证数据库在进行日常维护操作时数据的完整性和一致性，防止数据丢失或冗余。</a:t>
            </a:r>
            <a:endParaRPr lang="en-US" sz="1500" b="0" i="0" u="none" strike="noStrike">
              <a:solidFill>
                <a:srgbClr val="333333"/>
              </a:solidFill>
              <a:latin typeface="Noto Sans SC"/>
              <a:ea typeface="Noto Sans SC"/>
              <a:cs typeface="Noto Sans SC"/>
              <a:sym typeface="Noto Sans SC"/>
            </a:endParaRPr>
          </a:p>
        </p:txBody>
      </p:sp>
      <p:sp>
        <p:nvSpPr>
          <p:cNvPr id="4" name="AutoShape 4"/>
          <p:cNvSpPr/>
          <p:nvPr/>
        </p:nvSpPr>
        <p:spPr>
          <a:xfrm>
            <a:off x="6930049" y="1505688"/>
            <a:ext cx="4175658" cy="4696637"/>
          </a:xfrm>
          <a:prstGeom prst="rect">
            <a:avLst/>
          </a:prstGeom>
          <a:solidFill>
            <a:srgbClr val="F8F9FA">
              <a:alpha val="100000"/>
            </a:srgbClr>
          </a:solidFill>
          <a:ln w="12700" cap="flat" cmpd="sng">
            <a:noFill/>
            <a:prstDash val="solid"/>
            <a:round/>
          </a:ln>
        </p:spPr>
        <p:txBody>
          <a:bodyPr vert="horz" wrap="square" lIns="190500" tIns="254000" rIns="190500" bIns="0" rtlCol="0" anchor="t" anchorCtr="0"/>
          <a:lstStyle/>
          <a:p>
            <a:pPr indent="0" algn="l">
              <a:lnSpc>
                <a:spcPct val="108333"/>
              </a:lnSpc>
              <a:spcBef>
                <a:spcPts val="600"/>
              </a:spcBef>
              <a:spcAft>
                <a:spcPts val="1200"/>
              </a:spcAft>
              <a:defRPr/>
            </a:pPr>
            <a:r>
              <a:rPr lang="en-US" sz="2000" b="1" i="0" u="none" strike="noStrike">
                <a:solidFill>
                  <a:srgbClr val="D93025"/>
                </a:solidFill>
                <a:latin typeface="Noto Sans SC"/>
                <a:ea typeface="Noto Sans SC"/>
                <a:cs typeface="Noto Sans SC"/>
                <a:sym typeface="Noto Sans SC"/>
              </a:rPr>
              <a:t>准则3：减少空值属性</a:t>
            </a:r>
          </a:p>
          <a:p>
            <a:pPr indent="0" algn="l">
              <a:lnSpc>
                <a:spcPct val="150000"/>
              </a:lnSpc>
              <a:spcAft>
                <a:spcPts val="2000"/>
              </a:spcAft>
              <a:defRPr/>
            </a:pPr>
            <a:r>
              <a:rPr lang="en-US" sz="1600">
                <a:solidFill>
                  <a:srgbClr val="333333"/>
                </a:solidFill>
                <a:latin typeface="Noto Sans SC"/>
                <a:ea typeface="Noto Sans SC"/>
                <a:sym typeface="Noto Sans SC"/>
              </a:rPr>
              <a:t>应尽可能避免放置经常为空值的属性。大量空值不仅浪费存储空间，还会增加查询复杂度，影响查询效率，同时也会导致语义不清晰。</a:t>
            </a:r>
            <a:endParaRPr lang="en-US" sz="1600">
              <a:solidFill>
                <a:srgbClr val="333333"/>
              </a:solidFill>
              <a:latin typeface="Noto Sans SC"/>
              <a:ea typeface="Noto Sans SC"/>
            </a:endParaRPr>
          </a:p>
          <a:p>
            <a:pPr indent="0" algn="l">
              <a:lnSpc>
                <a:spcPct val="108333"/>
              </a:lnSpc>
              <a:spcBef>
                <a:spcPts val="600"/>
              </a:spcBef>
              <a:spcAft>
                <a:spcPts val="600"/>
              </a:spcAft>
            </a:pPr>
            <a:r>
              <a:rPr lang="en-US" sz="2000" b="1" i="0" u="none" strike="noStrike">
                <a:solidFill>
                  <a:srgbClr val="D93025"/>
                </a:solidFill>
                <a:latin typeface="Noto Sans SC"/>
                <a:ea typeface="Noto Sans SC"/>
                <a:cs typeface="Noto Sans SC"/>
                <a:sym typeface="Noto Sans SC"/>
              </a:rPr>
              <a:t>准则4：规范关系连接</a:t>
            </a:r>
          </a:p>
          <a:p>
            <a:pPr>
              <a:lnSpc>
                <a:spcPct val="150000"/>
              </a:lnSpc>
              <a:spcAft>
                <a:spcPts val="2000"/>
              </a:spcAft>
              <a:defRPr/>
            </a:pPr>
            <a:r>
              <a:rPr lang="en-US" sz="1600">
                <a:solidFill>
                  <a:srgbClr val="333333"/>
                </a:solidFill>
                <a:latin typeface="Noto Sans SC"/>
                <a:ea typeface="Noto Sans SC"/>
                <a:sym typeface="Noto Sans SC"/>
              </a:rPr>
              <a:t>关系的连接操作应严格在主键和外键上进行，且不应产生额外的元组。确保连接结果准确，避免因连接不当导致数据膨胀或产生错误的笛卡尔积。</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SimHei"/>
              </a:rPr>
              <a:t>7.1.4 </a:t>
            </a:r>
            <a:r>
              <a:rPr lang="zh-CN" altLang="en-US" sz="2400" b="1">
                <a:solidFill>
                  <a:srgbClr val="FFFFFF"/>
                </a:solidFill>
                <a:latin typeface="Noto Sans SC"/>
                <a:ea typeface="Noto Sans SC"/>
                <a:sym typeface="SimHei"/>
              </a:rPr>
              <a:t>本讲</a:t>
            </a:r>
            <a:r>
              <a:rPr lang="en-US" sz="2400" b="1">
                <a:solidFill>
                  <a:srgbClr val="FFFFFF"/>
                </a:solidFill>
                <a:latin typeface="Noto Sans SC"/>
                <a:ea typeface="Noto Sans SC"/>
                <a:sym typeface="SimHei"/>
              </a:rPr>
              <a:t>的符号规定</a:t>
            </a:r>
            <a:endParaRPr lang="en-US" sz="2400" b="1">
              <a:solidFill>
                <a:srgbClr val="FFFFFF"/>
              </a:solidFill>
              <a:latin typeface="Noto Sans SC"/>
              <a:ea typeface="Noto Sans SC"/>
            </a:endParaRPr>
          </a:p>
        </p:txBody>
      </p:sp>
      <p:sp>
        <p:nvSpPr>
          <p:cNvPr id="3" name="AutoShape 3"/>
          <p:cNvSpPr/>
          <p:nvPr/>
        </p:nvSpPr>
        <p:spPr>
          <a:xfrm>
            <a:off x="838200" y="1193800"/>
            <a:ext cx="4953000" cy="4953000"/>
          </a:xfrm>
          <a:prstGeom prst="rect">
            <a:avLst/>
          </a:prstGeom>
          <a:solidFill>
            <a:srgbClr val="F9FAFB">
              <a:alpha val="100000"/>
            </a:srgbClr>
          </a:solidFill>
          <a:ln w="12700" cap="flat" cmpd="sng">
            <a:noFill/>
            <a:prstDash val="solid"/>
            <a:round/>
          </a:ln>
        </p:spPr>
        <p:txBody>
          <a:bodyPr vert="horz" wrap="square" lIns="190500" tIns="254000" rIns="190500" bIns="0" rtlCol="0" anchor="t" anchorCtr="0"/>
          <a:lstStyle/>
          <a:p>
            <a:pPr indent="0" algn="l">
              <a:lnSpc>
                <a:spcPct val="125000"/>
              </a:lnSpc>
              <a:spcAft>
                <a:spcPts val="1500"/>
              </a:spcAft>
              <a:defRPr/>
            </a:pPr>
            <a:r>
              <a:rPr lang="en-US" sz="2000" b="1" i="0" u="none" strike="noStrike">
                <a:solidFill>
                  <a:srgbClr val="7030A0"/>
                </a:solidFill>
                <a:latin typeface="SimHei"/>
                <a:ea typeface="SimHei"/>
                <a:cs typeface="SimHei"/>
                <a:sym typeface="SimHei"/>
              </a:rPr>
              <a:t>单个属性</a:t>
            </a:r>
            <a:br>
              <a:rPr lang="en-US" sz="1600" b="0" i="0" u="none" strike="noStrike">
                <a:solidFill>
                  <a:srgbClr val="1F2329"/>
                </a:solidFill>
                <a:latin typeface="SimHei"/>
                <a:ea typeface="SimHei"/>
                <a:cs typeface="SimHei"/>
                <a:sym typeface="SimHei"/>
              </a:rPr>
            </a:br>
            <a:r>
              <a:rPr lang="en-US" sz="1500" b="0" i="0" u="none" strike="noStrike">
                <a:solidFill>
                  <a:srgbClr val="374151"/>
                </a:solidFill>
                <a:latin typeface="SimHei"/>
                <a:ea typeface="SimHei"/>
                <a:cs typeface="SimHei"/>
                <a:sym typeface="SimHei"/>
              </a:rPr>
              <a:t>用英文字母表首部的大写字母表示，例如：</a:t>
            </a:r>
            <a:r>
              <a:rPr lang="en-US" sz="1500" b="1" i="0" u="none" strike="noStrike">
                <a:solidFill>
                  <a:srgbClr val="B45309"/>
                </a:solidFill>
                <a:latin typeface="SimHei"/>
                <a:ea typeface="SimHei"/>
                <a:cs typeface="SimHei"/>
                <a:sym typeface="SimHei"/>
              </a:rPr>
              <a:t>A, B, C</a:t>
            </a:r>
            <a:r>
              <a:rPr lang="en-US" sz="1500" b="0" i="0" u="none" strike="noStrike">
                <a:solidFill>
                  <a:srgbClr val="374151"/>
                </a:solidFill>
                <a:latin typeface="SimHei"/>
                <a:ea typeface="SimHei"/>
                <a:cs typeface="SimHei"/>
                <a:sym typeface="SimHei"/>
              </a:rPr>
              <a:t>。</a:t>
            </a:r>
            <a:endParaRPr lang="en-US" sz="1100"/>
          </a:p>
          <a:p>
            <a:pPr indent="0" algn="l">
              <a:lnSpc>
                <a:spcPct val="125000"/>
              </a:lnSpc>
              <a:spcAft>
                <a:spcPts val="1500"/>
              </a:spcAft>
            </a:pPr>
            <a:r>
              <a:rPr lang="en-US" sz="2000" b="1" i="0" u="none" strike="noStrike">
                <a:solidFill>
                  <a:srgbClr val="7030A0"/>
                </a:solidFill>
                <a:latin typeface="SimHei"/>
                <a:ea typeface="SimHei"/>
                <a:cs typeface="SimHei"/>
                <a:sym typeface="SimHei"/>
              </a:rPr>
              <a:t>属性集</a:t>
            </a:r>
            <a:br>
              <a:rPr lang="en-US" sz="1600" b="0" i="0" u="none" strike="noStrike">
                <a:solidFill>
                  <a:srgbClr val="1F2329"/>
                </a:solidFill>
                <a:latin typeface="SimHei"/>
                <a:ea typeface="SimHei"/>
                <a:cs typeface="SimHei"/>
                <a:sym typeface="SimHei"/>
              </a:rPr>
            </a:br>
            <a:r>
              <a:rPr lang="en-US" sz="1500" b="0" i="0" u="none" strike="noStrike">
                <a:solidFill>
                  <a:srgbClr val="374151"/>
                </a:solidFill>
                <a:latin typeface="SimHei"/>
                <a:ea typeface="SimHei"/>
                <a:cs typeface="SimHei"/>
                <a:sym typeface="SimHei"/>
              </a:rPr>
              <a:t>用英文字母表尾部的大写字母表示，例如：</a:t>
            </a:r>
            <a:r>
              <a:rPr lang="en-US" sz="1500" b="1" i="0" u="none" strike="noStrike">
                <a:solidFill>
                  <a:srgbClr val="B45309"/>
                </a:solidFill>
                <a:latin typeface="SimHei"/>
                <a:ea typeface="SimHei"/>
                <a:cs typeface="SimHei"/>
                <a:sym typeface="SimHei"/>
              </a:rPr>
              <a:t>U, V, W, X, Y, Z</a:t>
            </a:r>
            <a:r>
              <a:rPr lang="en-US" sz="1500" b="0" i="0" u="none" strike="noStrike">
                <a:solidFill>
                  <a:srgbClr val="374151"/>
                </a:solidFill>
                <a:latin typeface="SimHei"/>
                <a:ea typeface="SimHei"/>
                <a:cs typeface="SimHei"/>
                <a:sym typeface="SimHei"/>
              </a:rPr>
              <a:t>。</a:t>
            </a:r>
          </a:p>
          <a:p>
            <a:pPr indent="0" algn="l">
              <a:lnSpc>
                <a:spcPct val="125000"/>
              </a:lnSpc>
            </a:pPr>
            <a:r>
              <a:rPr lang="en-US" b="0" i="0" u="none" strike="noStrike">
                <a:solidFill>
                  <a:srgbClr val="6B7280"/>
                </a:solidFill>
                <a:latin typeface="SimHei"/>
                <a:ea typeface="SimHei"/>
                <a:cs typeface="SimHei"/>
                <a:sym typeface="SimHei"/>
              </a:rPr>
              <a:t>注：统一符号规范是准确理解和推导函数依赖、范式等概念的基础。</a:t>
            </a:r>
          </a:p>
        </p:txBody>
      </p:sp>
      <p:sp>
        <p:nvSpPr>
          <p:cNvPr id="4" name="AutoShape 4"/>
          <p:cNvSpPr/>
          <p:nvPr/>
        </p:nvSpPr>
        <p:spPr>
          <a:xfrm>
            <a:off x="6290336" y="1193800"/>
            <a:ext cx="4885664" cy="4953000"/>
          </a:xfrm>
          <a:prstGeom prst="rect">
            <a:avLst/>
          </a:prstGeom>
          <a:solidFill>
            <a:srgbClr val="F9FAFB">
              <a:alpha val="100000"/>
            </a:srgbClr>
          </a:solidFill>
          <a:ln w="12700" cap="flat" cmpd="sng">
            <a:noFill/>
            <a:prstDash val="solid"/>
            <a:round/>
          </a:ln>
        </p:spPr>
        <p:txBody>
          <a:bodyPr vert="horz" wrap="square" lIns="190500" tIns="254000" rIns="190500" bIns="0" rtlCol="0" anchor="t" anchorCtr="0"/>
          <a:lstStyle/>
          <a:p>
            <a:pPr indent="0" algn="l">
              <a:lnSpc>
                <a:spcPct val="125000"/>
              </a:lnSpc>
              <a:spcAft>
                <a:spcPts val="1500"/>
              </a:spcAft>
              <a:defRPr/>
            </a:pPr>
            <a:r>
              <a:rPr lang="en-US" sz="2000" b="1" i="0" u="none" strike="noStrike">
                <a:solidFill>
                  <a:srgbClr val="7030A0"/>
                </a:solidFill>
                <a:latin typeface="SimHei"/>
                <a:ea typeface="SimHei"/>
                <a:cs typeface="SimHei"/>
                <a:sym typeface="SimHei"/>
              </a:rPr>
              <a:t>关系模式与关系实例</a:t>
            </a:r>
            <a:br>
              <a:rPr lang="en-US" sz="1600" b="0" i="0" u="none" strike="noStrike">
                <a:solidFill>
                  <a:srgbClr val="1F2329"/>
                </a:solidFill>
                <a:latin typeface="SimHei"/>
                <a:ea typeface="SimHei"/>
                <a:cs typeface="SimHei"/>
                <a:sym typeface="SimHei"/>
              </a:rPr>
            </a:br>
            <a:r>
              <a:rPr lang="en-US" sz="1500" b="0" i="0" u="none" strike="noStrike">
                <a:solidFill>
                  <a:srgbClr val="374151"/>
                </a:solidFill>
                <a:latin typeface="SimHei"/>
                <a:ea typeface="SimHei"/>
                <a:cs typeface="SimHei"/>
                <a:sym typeface="SimHei"/>
              </a:rPr>
              <a:t>• 关系模式：通常用大写字母</a:t>
            </a:r>
            <a:r>
              <a:rPr lang="en-US" sz="1500" b="1" i="0" u="none" strike="noStrike">
                <a:solidFill>
                  <a:srgbClr val="B45309"/>
                </a:solidFill>
                <a:latin typeface="SimHei"/>
                <a:ea typeface="SimHei"/>
                <a:cs typeface="SimHei"/>
                <a:sym typeface="SimHei"/>
              </a:rPr>
              <a:t>R</a:t>
            </a:r>
            <a:r>
              <a:rPr lang="en-US" sz="1500" b="0" i="0" u="none" strike="noStrike">
                <a:solidFill>
                  <a:srgbClr val="374151"/>
                </a:solidFill>
                <a:latin typeface="SimHei"/>
                <a:ea typeface="SimHei"/>
                <a:cs typeface="SimHei"/>
                <a:sym typeface="SimHei"/>
              </a:rPr>
              <a:t>表示，也可用属性名的组合直接表示（如模式包含属性A、B、C，可简写为</a:t>
            </a:r>
            <a:r>
              <a:rPr lang="en-US" sz="1500" b="1" i="0" u="none" strike="noStrike">
                <a:solidFill>
                  <a:srgbClr val="374151"/>
                </a:solidFill>
                <a:latin typeface="SimHei"/>
                <a:ea typeface="SimHei"/>
                <a:cs typeface="SimHei"/>
                <a:sym typeface="SimHei"/>
              </a:rPr>
              <a:t>ABC</a:t>
            </a:r>
            <a:r>
              <a:rPr lang="en-US" sz="1500" b="0" i="0" u="none" strike="noStrike">
                <a:solidFill>
                  <a:srgbClr val="374151"/>
                </a:solidFill>
                <a:latin typeface="SimHei"/>
                <a:ea typeface="SimHei"/>
                <a:cs typeface="SimHei"/>
                <a:sym typeface="SimHei"/>
              </a:rPr>
              <a:t>）。</a:t>
            </a:r>
            <a:br>
              <a:rPr lang="en-US" sz="1600" b="0" i="0" u="none" strike="noStrike">
                <a:solidFill>
                  <a:srgbClr val="1F2329"/>
                </a:solidFill>
                <a:latin typeface="SimHei"/>
                <a:ea typeface="SimHei"/>
                <a:cs typeface="SimHei"/>
                <a:sym typeface="SimHei"/>
              </a:rPr>
            </a:br>
            <a:r>
              <a:rPr lang="en-US" sz="1500" b="0" i="0" u="none" strike="noStrike">
                <a:solidFill>
                  <a:srgbClr val="374151"/>
                </a:solidFill>
                <a:latin typeface="SimHei"/>
                <a:ea typeface="SimHei"/>
                <a:cs typeface="SimHei"/>
                <a:sym typeface="SimHei"/>
              </a:rPr>
              <a:t>• 关系（具体数据）：通常用对应的小写字母</a:t>
            </a:r>
            <a:r>
              <a:rPr lang="en-US" sz="1500" b="1" i="0" u="none" strike="noStrike">
                <a:solidFill>
                  <a:srgbClr val="B45309"/>
                </a:solidFill>
                <a:latin typeface="SimHei"/>
                <a:ea typeface="SimHei"/>
                <a:cs typeface="SimHei"/>
                <a:sym typeface="SimHei"/>
              </a:rPr>
              <a:t>r</a:t>
            </a:r>
            <a:r>
              <a:rPr lang="en-US" sz="1500" b="0" i="0" u="none" strike="noStrike">
                <a:solidFill>
                  <a:srgbClr val="374151"/>
                </a:solidFill>
                <a:latin typeface="SimHei"/>
                <a:ea typeface="SimHei"/>
                <a:cs typeface="SimHei"/>
                <a:sym typeface="SimHei"/>
              </a:rPr>
              <a:t>表示。</a:t>
            </a:r>
            <a:endParaRPr lang="en-US" sz="1100"/>
          </a:p>
          <a:p>
            <a:pPr indent="0" algn="l">
              <a:lnSpc>
                <a:spcPct val="125000"/>
              </a:lnSpc>
            </a:pPr>
            <a:r>
              <a:rPr lang="en-US" sz="2000" b="1" i="0" u="none" strike="noStrike">
                <a:solidFill>
                  <a:srgbClr val="7030A0"/>
                </a:solidFill>
                <a:latin typeface="SimHei"/>
                <a:ea typeface="SimHei"/>
                <a:cs typeface="SimHei"/>
                <a:sym typeface="SimHei"/>
              </a:rPr>
              <a:t>属性集运算的简写规则</a:t>
            </a:r>
            <a:br>
              <a:rPr lang="en-US" sz="1600" b="0" i="0" u="none" strike="noStrike">
                <a:solidFill>
                  <a:srgbClr val="1F2329"/>
                </a:solidFill>
                <a:latin typeface="SimHei"/>
                <a:ea typeface="SimHei"/>
                <a:cs typeface="SimHei"/>
                <a:sym typeface="SimHei"/>
              </a:rPr>
            </a:br>
            <a:r>
              <a:rPr lang="en-US" sz="1500" b="0" i="0" u="none" strike="noStrike">
                <a:solidFill>
                  <a:srgbClr val="374151"/>
                </a:solidFill>
                <a:latin typeface="SimHei"/>
                <a:ea typeface="SimHei"/>
                <a:cs typeface="SimHei"/>
                <a:sym typeface="SimHei"/>
              </a:rPr>
              <a:t>• 属性集 {A₁, A₂, …, Aₙ} 直接简写为：</a:t>
            </a:r>
            <a:r>
              <a:rPr lang="en-US" sz="1500" b="1" i="0" u="none" strike="noStrike">
                <a:solidFill>
                  <a:srgbClr val="374151"/>
                </a:solidFill>
                <a:latin typeface="SimHei"/>
                <a:ea typeface="SimHei"/>
                <a:cs typeface="SimHei"/>
                <a:sym typeface="SimHei"/>
              </a:rPr>
              <a:t>A₁A₂…Aₙ</a:t>
            </a:r>
            <a:r>
              <a:rPr lang="en-US" sz="1500" b="0" i="0" u="none" strike="noStrike">
                <a:solidFill>
                  <a:srgbClr val="374151"/>
                </a:solidFill>
                <a:latin typeface="SimHei"/>
                <a:ea typeface="SimHei"/>
                <a:cs typeface="SimHei"/>
                <a:sym typeface="SimHei"/>
              </a:rPr>
              <a:t>。</a:t>
            </a:r>
            <a:br>
              <a:rPr lang="en-US" sz="1600" b="0" i="0" u="none" strike="noStrike">
                <a:solidFill>
                  <a:srgbClr val="1F2329"/>
                </a:solidFill>
                <a:latin typeface="SimHei"/>
                <a:ea typeface="SimHei"/>
                <a:cs typeface="SimHei"/>
                <a:sym typeface="SimHei"/>
              </a:rPr>
            </a:br>
            <a:r>
              <a:rPr lang="en-US" sz="1500" b="0" i="0" u="none" strike="noStrike">
                <a:solidFill>
                  <a:srgbClr val="374151"/>
                </a:solidFill>
                <a:latin typeface="SimHei"/>
                <a:ea typeface="SimHei"/>
                <a:cs typeface="SimHei"/>
                <a:sym typeface="SimHei"/>
              </a:rPr>
              <a:t>• 属性集X与Y的并集 (X ∪ Y) 简写为：</a:t>
            </a:r>
            <a:r>
              <a:rPr lang="en-US" sz="1500" b="1" i="0" u="none" strike="noStrike">
                <a:solidFill>
                  <a:srgbClr val="374151"/>
                </a:solidFill>
                <a:latin typeface="SimHei"/>
                <a:ea typeface="SimHei"/>
                <a:cs typeface="SimHei"/>
                <a:sym typeface="SimHei"/>
              </a:rPr>
              <a:t>XY</a:t>
            </a:r>
            <a:r>
              <a:rPr lang="en-US" sz="1500" b="0" i="0" u="none" strike="noStrike">
                <a:solidFill>
                  <a:srgbClr val="374151"/>
                </a:solidFill>
                <a:latin typeface="SimHei"/>
                <a:ea typeface="SimHei"/>
                <a:cs typeface="SimHei"/>
                <a:sym typeface="SimHei"/>
              </a:rPr>
              <a:t>。</a:t>
            </a:r>
            <a:br>
              <a:rPr lang="en-US" sz="1600" b="0" i="0" u="none" strike="noStrike">
                <a:solidFill>
                  <a:srgbClr val="1F2329"/>
                </a:solidFill>
                <a:latin typeface="SimHei"/>
                <a:ea typeface="SimHei"/>
                <a:cs typeface="SimHei"/>
                <a:sym typeface="SimHei"/>
              </a:rPr>
            </a:br>
            <a:r>
              <a:rPr lang="en-US" sz="1500" b="0" i="0" u="none" strike="noStrike">
                <a:solidFill>
                  <a:srgbClr val="374151"/>
                </a:solidFill>
                <a:latin typeface="SimHei"/>
                <a:ea typeface="SimHei"/>
                <a:cs typeface="SimHei"/>
                <a:sym typeface="SimHei"/>
              </a:rPr>
              <a:t>• 并集 X ∪ {A} 可简写为：</a:t>
            </a:r>
            <a:r>
              <a:rPr lang="en-US" sz="1500" b="1" i="0" u="none" strike="noStrike">
                <a:solidFill>
                  <a:srgbClr val="374151"/>
                </a:solidFill>
                <a:latin typeface="SimHei"/>
                <a:ea typeface="SimHei"/>
                <a:cs typeface="SimHei"/>
                <a:sym typeface="SimHei"/>
              </a:rPr>
              <a:t>XA</a:t>
            </a:r>
            <a:r>
              <a:rPr lang="en-US" sz="1500" b="0" i="0" u="none" strike="noStrike">
                <a:solidFill>
                  <a:srgbClr val="374151"/>
                </a:solidFill>
                <a:latin typeface="SimHei"/>
                <a:ea typeface="SimHei"/>
                <a:cs typeface="SimHei"/>
                <a:sym typeface="SimHei"/>
              </a:rPr>
              <a:t>或</a:t>
            </a:r>
            <a:r>
              <a:rPr lang="en-US" sz="1500" b="1" i="0" u="none" strike="noStrike">
                <a:solidFill>
                  <a:srgbClr val="374151"/>
                </a:solidFill>
                <a:latin typeface="SimHei"/>
                <a:ea typeface="SimHei"/>
                <a:cs typeface="SimHei"/>
                <a:sym typeface="SimHei"/>
              </a:rPr>
              <a:t>AX</a:t>
            </a:r>
            <a:r>
              <a:rPr lang="en-US" sz="1500" b="0" i="0" u="none" strike="noStrike">
                <a:solidFill>
                  <a:srgbClr val="374151"/>
                </a:solidFill>
                <a:latin typeface="SimHei"/>
                <a:ea typeface="SimHei"/>
                <a:cs typeface="SimHei"/>
                <a:sym typeface="SimHei"/>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en-US" sz="2800">
                <a:solidFill>
                  <a:srgbClr val="FFFFFF"/>
                </a:solidFill>
                <a:latin typeface="Noto Sans SC Black" panose="020B0200000000000000" pitchFamily="34" charset="-122"/>
                <a:ea typeface="Noto Sans SC Black" panose="020B0200000000000000" pitchFamily="34" charset="-122"/>
                <a:sym typeface="Noto Sans SC"/>
              </a:rPr>
              <a:t>7.2 函数依赖 (Functional Dependency, FD)</a:t>
            </a:r>
            <a:endParaRPr lang="en-US" sz="2800">
              <a:solidFill>
                <a:srgbClr val="FFFFFF"/>
              </a:solidFill>
              <a:latin typeface="Noto Sans SC Black" panose="020B0200000000000000" pitchFamily="34" charset="-122"/>
              <a:ea typeface="Noto Sans SC Black" panose="020B0200000000000000" pitchFamily="34" charset="-122"/>
            </a:endParaRPr>
          </a:p>
        </p:txBody>
      </p:sp>
      <p:sp>
        <p:nvSpPr>
          <p:cNvPr id="4" name="AutoShape 4"/>
          <p:cNvSpPr/>
          <p:nvPr/>
        </p:nvSpPr>
        <p:spPr>
          <a:xfrm>
            <a:off x="838200" y="1507459"/>
            <a:ext cx="4435549" cy="4907518"/>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92200" y="1761460"/>
            <a:ext cx="3968898" cy="4434740"/>
          </a:xfrm>
          <a:prstGeom prst="rect">
            <a:avLst/>
          </a:prstGeom>
          <a:noFill/>
          <a:ln w="12700" cap="flat" cmpd="sng">
            <a:noFill/>
            <a:prstDash val="solid"/>
            <a:round/>
          </a:ln>
        </p:spPr>
        <p:txBody>
          <a:bodyPr vert="horz" wrap="square" lIns="0" tIns="0" rIns="0" bIns="0" rtlCol="0" anchor="t" anchorCtr="0">
            <a:spAutoFit/>
          </a:bodyPr>
          <a:lstStyle/>
          <a:p>
            <a:pPr indent="0" algn="l">
              <a:lnSpc>
                <a:spcPct val="125000"/>
              </a:lnSpc>
              <a:defRPr/>
            </a:pPr>
            <a:r>
              <a:rPr lang="en-US" sz="2000" b="1" i="0" u="none" strike="noStrike">
                <a:solidFill>
                  <a:srgbClr val="7030A0"/>
                </a:solidFill>
                <a:latin typeface="Noto Sans SC"/>
                <a:ea typeface="Noto Sans SC"/>
                <a:cs typeface="Noto Sans SC"/>
                <a:sym typeface="Noto Sans SC"/>
              </a:rPr>
              <a:t>7.2.1 函数依赖的定义</a:t>
            </a:r>
          </a:p>
          <a:p>
            <a:pPr indent="0" algn="l">
              <a:lnSpc>
                <a:spcPct val="125000"/>
              </a:lnSpc>
              <a:defRPr/>
            </a:pPr>
            <a:r>
              <a:rPr lang="en-US" sz="1600" b="0" i="0" u="none" strike="noStrike">
                <a:solidFill>
                  <a:srgbClr val="505050"/>
                </a:solidFill>
                <a:latin typeface="Noto Sans SC"/>
                <a:ea typeface="Noto Sans SC"/>
                <a:cs typeface="Noto Sans SC"/>
                <a:sym typeface="Noto Sans SC"/>
              </a:rPr>
              <a:t>规范化设计的理论基石，描述关系中属性间的精确依赖关系。</a:t>
            </a:r>
            <a:endParaRPr lang="en-US" sz="1600"/>
          </a:p>
          <a:p>
            <a:pPr indent="0" algn="l">
              <a:lnSpc>
                <a:spcPct val="125000"/>
              </a:lnSpc>
              <a:spcBef>
                <a:spcPts val="1200"/>
              </a:spcBef>
            </a:pPr>
            <a:r>
              <a:rPr lang="en-US" sz="2000" b="1" i="0" u="none" strike="noStrike">
                <a:solidFill>
                  <a:srgbClr val="7030A0"/>
                </a:solidFill>
                <a:latin typeface="Noto Sans SC"/>
                <a:ea typeface="Noto Sans SC"/>
                <a:cs typeface="Noto Sans SC"/>
                <a:sym typeface="Noto Sans SC"/>
              </a:rPr>
              <a:t>7.2.2 FD的逻辑蕴涵</a:t>
            </a:r>
          </a:p>
          <a:p>
            <a:pPr>
              <a:lnSpc>
                <a:spcPct val="125000"/>
              </a:lnSpc>
              <a:defRPr/>
            </a:pPr>
            <a:r>
              <a:rPr lang="en-US" sz="1600">
                <a:solidFill>
                  <a:srgbClr val="505050"/>
                </a:solidFill>
                <a:latin typeface="Noto Sans SC"/>
                <a:ea typeface="Noto Sans SC"/>
                <a:sym typeface="Noto Sans SC"/>
              </a:rPr>
              <a:t>从已知的函数依赖集合推导出隐含的未知依赖关系</a:t>
            </a:r>
            <a:r>
              <a:rPr lang="en-US">
                <a:solidFill>
                  <a:srgbClr val="505050"/>
                </a:solidFill>
                <a:latin typeface="Noto Sans SC"/>
                <a:ea typeface="Noto Sans SC"/>
                <a:sym typeface="Noto Sans SC"/>
              </a:rPr>
              <a:t>。</a:t>
            </a:r>
          </a:p>
          <a:p>
            <a:pPr>
              <a:lnSpc>
                <a:spcPct val="125000"/>
              </a:lnSpc>
              <a:spcBef>
                <a:spcPts val="1200"/>
              </a:spcBef>
            </a:pPr>
            <a:r>
              <a:rPr lang="en-US" sz="2000" b="1">
                <a:solidFill>
                  <a:srgbClr val="7030A0"/>
                </a:solidFill>
                <a:latin typeface="Noto Sans SC"/>
                <a:ea typeface="Noto Sans SC"/>
                <a:sym typeface="Noto Sans SC"/>
              </a:rPr>
              <a:t>7.2.3 FD的推理规则</a:t>
            </a:r>
          </a:p>
          <a:p>
            <a:pPr indent="0" algn="l">
              <a:lnSpc>
                <a:spcPct val="125000"/>
              </a:lnSpc>
            </a:pPr>
            <a:r>
              <a:rPr lang="en-US" sz="1600" b="0" i="0" u="none" strike="noStrike">
                <a:solidFill>
                  <a:srgbClr val="505050"/>
                </a:solidFill>
                <a:latin typeface="Noto Sans SC"/>
                <a:ea typeface="Noto Sans SC"/>
                <a:cs typeface="Noto Sans SC"/>
                <a:sym typeface="Noto Sans SC"/>
              </a:rPr>
              <a:t>一套完整、</a:t>
            </a:r>
            <a:r>
              <a:rPr lang="en-US" sz="1600">
                <a:solidFill>
                  <a:srgbClr val="505050"/>
                </a:solidFill>
                <a:latin typeface="Noto Sans SC"/>
                <a:ea typeface="Noto Sans SC"/>
                <a:sym typeface="Noto Sans SC"/>
              </a:rPr>
              <a:t>正确的推理公理与推导规则体系</a:t>
            </a:r>
            <a:r>
              <a:rPr lang="en-US" sz="1600" b="0" i="0" u="none" strike="noStrike">
                <a:solidFill>
                  <a:srgbClr val="505050"/>
                </a:solidFill>
                <a:latin typeface="Noto Sans SC"/>
                <a:ea typeface="Noto Sans SC"/>
                <a:cs typeface="Noto Sans SC"/>
                <a:sym typeface="Noto Sans SC"/>
              </a:rPr>
              <a:t>（如Armstrong公理）。</a:t>
            </a:r>
          </a:p>
          <a:p>
            <a:pPr>
              <a:lnSpc>
                <a:spcPct val="125000"/>
              </a:lnSpc>
              <a:spcBef>
                <a:spcPts val="1200"/>
              </a:spcBef>
            </a:pPr>
            <a:r>
              <a:rPr lang="en-US" sz="2000" b="1">
                <a:solidFill>
                  <a:srgbClr val="7030A0"/>
                </a:solidFill>
                <a:latin typeface="Noto Sans SC"/>
                <a:ea typeface="Noto Sans SC"/>
                <a:sym typeface="Noto Sans SC"/>
              </a:rPr>
              <a:t>7.2.4 FD和关键码的联系</a:t>
            </a:r>
          </a:p>
          <a:p>
            <a:pPr indent="0" algn="l">
              <a:lnSpc>
                <a:spcPct val="125000"/>
              </a:lnSpc>
            </a:pPr>
            <a:r>
              <a:rPr lang="en-US" sz="1600">
                <a:solidFill>
                  <a:srgbClr val="505050"/>
                </a:solidFill>
                <a:latin typeface="Noto Sans SC"/>
                <a:ea typeface="Noto Sans SC"/>
                <a:sym typeface="Noto Sans SC"/>
              </a:rPr>
              <a:t>从函数依赖角度重新定义和理解关系模式的候选键与主键。</a:t>
            </a:r>
          </a:p>
        </p:txBody>
      </p:sp>
      <p:sp>
        <p:nvSpPr>
          <p:cNvPr id="6" name="AutoShape 6"/>
          <p:cNvSpPr/>
          <p:nvPr/>
        </p:nvSpPr>
        <p:spPr>
          <a:xfrm>
            <a:off x="7124956" y="1507459"/>
            <a:ext cx="4228844" cy="4907518"/>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7495343" y="1761460"/>
            <a:ext cx="3604457" cy="3280578"/>
          </a:xfrm>
          <a:prstGeom prst="rect">
            <a:avLst/>
          </a:prstGeom>
          <a:noFill/>
          <a:ln w="12700" cap="flat" cmpd="sng">
            <a:noFill/>
            <a:prstDash val="solid"/>
            <a:round/>
          </a:ln>
        </p:spPr>
        <p:txBody>
          <a:bodyPr vert="horz" wrap="square" lIns="0" tIns="0" rIns="0" bIns="0" rtlCol="0" anchor="t" anchorCtr="0">
            <a:spAutoFit/>
          </a:bodyPr>
          <a:lstStyle/>
          <a:p>
            <a:pPr>
              <a:lnSpc>
                <a:spcPct val="125000"/>
              </a:lnSpc>
              <a:defRPr/>
            </a:pPr>
            <a:r>
              <a:rPr lang="en-US" sz="2000" b="1">
                <a:solidFill>
                  <a:srgbClr val="7030A0"/>
                </a:solidFill>
                <a:latin typeface="Noto Sans SC"/>
                <a:ea typeface="Noto Sans SC"/>
                <a:sym typeface="Noto Sans SC"/>
              </a:rPr>
              <a:t>7.2.5 属性集的闭包</a:t>
            </a:r>
          </a:p>
          <a:p>
            <a:pPr>
              <a:lnSpc>
                <a:spcPct val="125000"/>
              </a:lnSpc>
              <a:defRPr/>
            </a:pPr>
            <a:r>
              <a:rPr lang="en-US" sz="1600">
                <a:solidFill>
                  <a:srgbClr val="505050"/>
                </a:solidFill>
                <a:latin typeface="Noto Sans SC"/>
                <a:ea typeface="Noto Sans SC"/>
                <a:sym typeface="Noto Sans SC"/>
              </a:rPr>
              <a:t>计算一个属性集在给定依赖集下能确定的所有属性集合，是推导的核心工具。</a:t>
            </a:r>
            <a:endParaRPr lang="en-US" sz="1600">
              <a:solidFill>
                <a:srgbClr val="505050"/>
              </a:solidFill>
              <a:latin typeface="Noto Sans SC"/>
              <a:ea typeface="Noto Sans SC"/>
            </a:endParaRPr>
          </a:p>
          <a:p>
            <a:pPr>
              <a:lnSpc>
                <a:spcPct val="125000"/>
              </a:lnSpc>
              <a:spcBef>
                <a:spcPts val="1200"/>
              </a:spcBef>
            </a:pPr>
            <a:r>
              <a:rPr lang="en-US" sz="2000" b="1">
                <a:solidFill>
                  <a:srgbClr val="7030A0"/>
                </a:solidFill>
                <a:latin typeface="Noto Sans SC"/>
                <a:ea typeface="Noto Sans SC"/>
                <a:sym typeface="Noto Sans SC"/>
              </a:rPr>
              <a:t>7.2.6 FD推理规则的完备性</a:t>
            </a:r>
          </a:p>
          <a:p>
            <a:pPr>
              <a:lnSpc>
                <a:spcPct val="125000"/>
              </a:lnSpc>
              <a:defRPr/>
            </a:pPr>
            <a:r>
              <a:rPr lang="en-US" sz="1600">
                <a:solidFill>
                  <a:srgbClr val="505050"/>
                </a:solidFill>
                <a:latin typeface="Noto Sans SC"/>
                <a:ea typeface="Noto Sans SC"/>
                <a:sym typeface="Noto Sans SC"/>
              </a:rPr>
              <a:t>确保使用推理规则能推导出给定依赖集逻辑蕴涵的所有依赖，无遗漏。</a:t>
            </a:r>
          </a:p>
          <a:p>
            <a:pPr>
              <a:lnSpc>
                <a:spcPct val="125000"/>
              </a:lnSpc>
              <a:spcBef>
                <a:spcPts val="1200"/>
              </a:spcBef>
            </a:pPr>
            <a:r>
              <a:rPr lang="en-US" sz="2000" b="1">
                <a:solidFill>
                  <a:srgbClr val="7030A0"/>
                </a:solidFill>
                <a:latin typeface="Noto Sans SC"/>
                <a:ea typeface="Noto Sans SC"/>
                <a:sym typeface="Noto Sans SC"/>
              </a:rPr>
              <a:t>7.2.7 FD集的最小依赖集</a:t>
            </a:r>
          </a:p>
          <a:p>
            <a:pPr>
              <a:lnSpc>
                <a:spcPct val="125000"/>
              </a:lnSpc>
              <a:defRPr/>
            </a:pPr>
            <a:r>
              <a:rPr lang="en-US" sz="1600">
                <a:solidFill>
                  <a:srgbClr val="505050"/>
                </a:solidFill>
                <a:latin typeface="Noto Sans SC"/>
                <a:ea typeface="Noto Sans SC"/>
                <a:sym typeface="Noto Sans SC"/>
              </a:rPr>
              <a:t>消除冗余，寻找与原依赖集等价且满足极小化条件的函数依赖集。</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7.2.1 函数依赖的定义 (1)</a:t>
            </a:r>
            <a:endParaRPr lang="en-US" sz="2400" b="1">
              <a:solidFill>
                <a:srgbClr val="FFFFFF"/>
              </a:solidFill>
              <a:latin typeface="Noto Sans SC"/>
              <a:ea typeface="Noto Sans SC"/>
            </a:endParaRPr>
          </a:p>
        </p:txBody>
      </p:sp>
      <p:sp>
        <p:nvSpPr>
          <p:cNvPr id="3" name="AutoShape 3"/>
          <p:cNvSpPr/>
          <p:nvPr/>
        </p:nvSpPr>
        <p:spPr>
          <a:xfrm>
            <a:off x="838200" y="1193800"/>
            <a:ext cx="4427271" cy="4978400"/>
          </a:xfrm>
          <a:prstGeom prst="rect">
            <a:avLst/>
          </a:prstGeom>
          <a:solidFill>
            <a:srgbClr val="F8F6FF">
              <a:alpha val="100000"/>
            </a:srgbClr>
          </a:solidFill>
          <a:ln w="12700" cap="flat" cmpd="sng">
            <a:noFill/>
            <a:prstDash val="solid"/>
            <a:round/>
          </a:ln>
        </p:spPr>
        <p:txBody>
          <a:bodyPr vert="horz" wrap="square" lIns="190500" tIns="190500" rIns="190500" bIns="0" rtlCol="0" anchor="t" anchorCtr="0"/>
          <a:lstStyle/>
          <a:p>
            <a:pPr indent="0" algn="just">
              <a:lnSpc>
                <a:spcPct val="108333"/>
              </a:lnSpc>
              <a:spcAft>
                <a:spcPts val="1000"/>
              </a:spcAft>
              <a:defRPr/>
            </a:pPr>
            <a:r>
              <a:rPr lang="en-US" sz="2000" b="1" i="0" u="none" strike="noStrike">
                <a:solidFill>
                  <a:srgbClr val="7030A0"/>
                </a:solidFill>
                <a:latin typeface="Noto Sans SC"/>
                <a:ea typeface="Noto Sans SC"/>
                <a:cs typeface="Noto Sans SC"/>
                <a:sym typeface="Noto Sans SC"/>
              </a:rPr>
              <a:t>▍ 定义 7.1</a:t>
            </a:r>
            <a:endParaRPr lang="en-US" sz="1100"/>
          </a:p>
          <a:p>
            <a:pPr indent="0" algn="just">
              <a:lnSpc>
                <a:spcPct val="116666"/>
              </a:lnSpc>
              <a:spcAft>
                <a:spcPts val="1200"/>
              </a:spcAft>
            </a:pPr>
            <a:r>
              <a:rPr lang="en-US" sz="1600" b="0" i="0" u="none" strike="noStrike">
                <a:solidFill>
                  <a:srgbClr val="1F2329"/>
                </a:solidFill>
                <a:latin typeface="Noto Sans SC"/>
                <a:ea typeface="Noto Sans SC"/>
                <a:cs typeface="Noto Sans SC"/>
                <a:sym typeface="Noto Sans SC"/>
              </a:rPr>
              <a:t>设有关系模式 R（U），X 和 Y 是属性集 U 的子集。函数依赖（functional dependency，简记为 FD）是形为</a:t>
            </a:r>
            <a:r>
              <a:rPr lang="en-US" sz="1600" b="1" i="0" u="none" strike="noStrike">
                <a:solidFill>
                  <a:srgbClr val="D93025"/>
                </a:solidFill>
                <a:latin typeface="Noto Sans SC"/>
                <a:ea typeface="Noto Sans SC"/>
                <a:cs typeface="Noto Sans SC"/>
                <a:sym typeface="Noto Sans SC"/>
              </a:rPr>
              <a:t>X → Y</a:t>
            </a:r>
            <a:r>
              <a:rPr lang="en-US" sz="1600" b="0" i="0" u="none" strike="noStrike">
                <a:solidFill>
                  <a:srgbClr val="1F2329"/>
                </a:solidFill>
                <a:latin typeface="Noto Sans SC"/>
                <a:ea typeface="Noto Sans SC"/>
                <a:cs typeface="Noto Sans SC"/>
                <a:sym typeface="Noto Sans SC"/>
              </a:rPr>
              <a:t>的一个命题。</a:t>
            </a:r>
          </a:p>
          <a:p>
            <a:pPr indent="0" algn="just">
              <a:lnSpc>
                <a:spcPct val="116666"/>
              </a:lnSpc>
              <a:spcAft>
                <a:spcPts val="1200"/>
              </a:spcAft>
            </a:pPr>
            <a:r>
              <a:rPr lang="en-US" sz="1600" b="0" i="0" u="none" strike="noStrike">
                <a:solidFill>
                  <a:srgbClr val="555555"/>
                </a:solidFill>
                <a:latin typeface="Noto Sans SC"/>
                <a:ea typeface="Noto Sans SC"/>
                <a:cs typeface="Noto Sans SC"/>
                <a:sym typeface="Noto Sans SC"/>
              </a:rPr>
              <a:t>它的含义是：对于关系模式 R 的任意一个关系 r</a:t>
            </a:r>
            <a:r>
              <a:rPr lang="zh-CN" altLang="en-US" sz="1600" b="0" i="0" u="none" strike="noStrike">
                <a:solidFill>
                  <a:srgbClr val="C00000"/>
                </a:solidFill>
                <a:latin typeface="Noto Sans SC"/>
                <a:ea typeface="Noto Sans SC"/>
                <a:cs typeface="Noto Sans SC"/>
                <a:sym typeface="Noto Sans SC"/>
              </a:rPr>
              <a:t>（任意时刻的全部合法数据）</a:t>
            </a:r>
            <a:r>
              <a:rPr lang="en-US" sz="1600" b="0" i="0" u="none" strike="noStrike">
                <a:solidFill>
                  <a:srgbClr val="555555"/>
                </a:solidFill>
                <a:latin typeface="Noto Sans SC"/>
                <a:ea typeface="Noto Sans SC"/>
                <a:cs typeface="Noto Sans SC"/>
                <a:sym typeface="Noto Sans SC"/>
              </a:rPr>
              <a:t>，其中任意两个元组 t 和 s，如果它们在 X 上的值相等（t[X] = s[X]），那么它们在 Y 上的值也必须相等（t[Y] = s[Y]）。</a:t>
            </a:r>
          </a:p>
          <a:p>
            <a:pPr indent="0" algn="just">
              <a:lnSpc>
                <a:spcPct val="116666"/>
              </a:lnSpc>
            </a:pPr>
            <a:r>
              <a:rPr lang="en-US" sz="1600" b="0" i="0" u="none" strike="noStrike">
                <a:solidFill>
                  <a:srgbClr val="555555"/>
                </a:solidFill>
                <a:latin typeface="Noto Sans SC"/>
                <a:ea typeface="Noto Sans SC"/>
                <a:cs typeface="Noto Sans SC"/>
                <a:sym typeface="Noto Sans SC"/>
              </a:rPr>
              <a:t>如果这个条件始终成立，我们就称 FD</a:t>
            </a:r>
            <a:r>
              <a:rPr lang="en-US" sz="1600" b="1" i="0" u="none" strike="noStrike">
                <a:solidFill>
                  <a:srgbClr val="D93025"/>
                </a:solidFill>
                <a:latin typeface="Noto Sans SC"/>
                <a:ea typeface="Noto Sans SC"/>
                <a:cs typeface="Noto Sans SC"/>
                <a:sym typeface="Noto Sans SC"/>
              </a:rPr>
              <a:t>X → Y</a:t>
            </a:r>
            <a:r>
              <a:rPr lang="en-US" sz="1600" b="0" i="0" u="none" strike="noStrike">
                <a:solidFill>
                  <a:srgbClr val="555555"/>
                </a:solidFill>
                <a:latin typeface="Noto Sans SC"/>
                <a:ea typeface="Noto Sans SC"/>
                <a:cs typeface="Noto Sans SC"/>
                <a:sym typeface="Noto Sans SC"/>
              </a:rPr>
              <a:t>在关系模式 R（U）中成立。</a:t>
            </a:r>
          </a:p>
        </p:txBody>
      </p:sp>
      <p:sp>
        <p:nvSpPr>
          <p:cNvPr id="4" name="AutoShape 4"/>
          <p:cNvSpPr/>
          <p:nvPr/>
        </p:nvSpPr>
        <p:spPr>
          <a:xfrm>
            <a:off x="6223000" y="1206500"/>
            <a:ext cx="4953000" cy="4978400"/>
          </a:xfrm>
          <a:prstGeom prst="rect">
            <a:avLst/>
          </a:prstGeom>
          <a:solidFill>
            <a:srgbClr val="FFFAF0">
              <a:alpha val="100000"/>
            </a:srgbClr>
          </a:solidFill>
          <a:ln w="12700" cap="flat" cmpd="sng">
            <a:noFill/>
            <a:prstDash val="solid"/>
            <a:round/>
          </a:ln>
        </p:spPr>
        <p:txBody>
          <a:bodyPr vert="horz" wrap="square" lIns="190500" tIns="190500" rIns="190500" bIns="0" rtlCol="0" anchor="t" anchorCtr="0"/>
          <a:lstStyle/>
          <a:p>
            <a:pPr indent="0" algn="l">
              <a:lnSpc>
                <a:spcPct val="108333"/>
              </a:lnSpc>
              <a:spcAft>
                <a:spcPts val="1500"/>
              </a:spcAft>
              <a:defRPr/>
            </a:pPr>
            <a:r>
              <a:rPr lang="en-US" sz="2000" b="1" i="0" u="none" strike="noStrike">
                <a:solidFill>
                  <a:srgbClr val="D97706"/>
                </a:solidFill>
                <a:latin typeface="Noto Sans SC"/>
                <a:ea typeface="Noto Sans SC"/>
                <a:cs typeface="Noto Sans SC"/>
                <a:sym typeface="Noto Sans SC"/>
              </a:rPr>
              <a:t>▍ 通俗理解</a:t>
            </a:r>
            <a:endParaRPr lang="en-US" sz="1100"/>
          </a:p>
          <a:p>
            <a:pPr indent="0" algn="l">
              <a:lnSpc>
                <a:spcPct val="133333"/>
              </a:lnSpc>
            </a:pPr>
            <a:r>
              <a:rPr lang="en-US" sz="1600" b="1" i="0" u="none" strike="noStrike">
                <a:solidFill>
                  <a:srgbClr val="1F2329"/>
                </a:solidFill>
                <a:latin typeface="Noto Sans SC"/>
                <a:ea typeface="Noto Sans SC"/>
                <a:cs typeface="Noto Sans SC"/>
                <a:sym typeface="Noto Sans SC"/>
              </a:rPr>
              <a:t>“X 可以唯一确定 Y 的值”</a:t>
            </a:r>
          </a:p>
          <a:p>
            <a:pPr>
              <a:lnSpc>
                <a:spcPct val="125000"/>
              </a:lnSpc>
              <a:spcBef>
                <a:spcPts val="1000"/>
              </a:spcBef>
            </a:pPr>
            <a:r>
              <a:rPr lang="en-US" sz="1600" b="0" i="0" u="none" strike="noStrike">
                <a:solidFill>
                  <a:srgbClr val="444444"/>
                </a:solidFill>
                <a:latin typeface="Noto Sans SC"/>
                <a:ea typeface="Noto Sans SC"/>
                <a:cs typeface="Noto Sans SC"/>
                <a:sym typeface="Noto Sans SC"/>
              </a:rPr>
              <a:t>即：在一个关系表中，</a:t>
            </a:r>
            <a:r>
              <a:rPr lang="zh-CN" altLang="en-US" sz="1600" b="0" i="0" u="none" strike="noStrike">
                <a:solidFill>
                  <a:srgbClr val="444444"/>
                </a:solidFill>
                <a:latin typeface="Noto Sans SC"/>
                <a:ea typeface="Noto Sans SC"/>
                <a:cs typeface="Noto Sans SC"/>
                <a:sym typeface="Noto Sans SC"/>
              </a:rPr>
              <a:t>对于</a:t>
            </a:r>
            <a:r>
              <a:rPr lang="zh-CN" altLang="en-US" sz="1600">
                <a:solidFill>
                  <a:srgbClr val="C00000"/>
                </a:solidFill>
                <a:latin typeface="Noto Sans SC"/>
                <a:ea typeface="Noto Sans SC"/>
                <a:cs typeface="Noto Sans SC"/>
                <a:sym typeface="Noto Sans SC"/>
              </a:rPr>
              <a:t>任意时刻的全部合法数据，</a:t>
            </a:r>
            <a:r>
              <a:rPr lang="en-US" sz="1600" b="0" i="0" u="none" strike="noStrike">
                <a:solidFill>
                  <a:srgbClr val="444444"/>
                </a:solidFill>
                <a:latin typeface="Noto Sans SC"/>
                <a:ea typeface="Noto Sans SC"/>
                <a:cs typeface="Noto Sans SC"/>
                <a:sym typeface="Noto Sans SC"/>
              </a:rPr>
              <a:t>只要给出一个 X 属性（或属性组）的值，就能找到唯一对应的 Y 属性（或属性组）的值，不存在一对多的情况。</a:t>
            </a:r>
          </a:p>
          <a:p>
            <a:pPr indent="0" algn="l">
              <a:lnSpc>
                <a:spcPct val="125000"/>
              </a:lnSpc>
              <a:spcBef>
                <a:spcPts val="1200"/>
              </a:spcBef>
            </a:pPr>
            <a:r>
              <a:rPr lang="en-US" sz="1600" b="0" i="0" u="none" strike="noStrike">
                <a:solidFill>
                  <a:srgbClr val="444444"/>
                </a:solidFill>
                <a:latin typeface="Noto Sans SC"/>
                <a:ea typeface="Noto Sans SC"/>
                <a:cs typeface="Noto Sans SC"/>
                <a:sym typeface="Noto Sans SC"/>
              </a:rPr>
              <a:t>举个例子：在学生信息表中，“学号”属性可以唯一确定“姓名”属性，因此我们称“学号 函数决定 姓名”，记作：</a:t>
            </a:r>
          </a:p>
          <a:p>
            <a:pPr indent="0" algn="ctr">
              <a:lnSpc>
                <a:spcPct val="125000"/>
              </a:lnSpc>
              <a:spcBef>
                <a:spcPts val="1200"/>
              </a:spcBef>
            </a:pPr>
            <a:r>
              <a:rPr lang="en-US" sz="1600" b="1" i="0" u="none" strike="noStrike">
                <a:solidFill>
                  <a:srgbClr val="D93025"/>
                </a:solidFill>
                <a:latin typeface="Noto Sans SC"/>
                <a:ea typeface="Noto Sans SC"/>
                <a:cs typeface="Noto Sans SC"/>
                <a:sym typeface="Noto Sans SC"/>
              </a:rPr>
              <a:t>学号 → 姓名</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4283197" y="2084118"/>
            <a:ext cx="2905166" cy="4470896"/>
          </a:xfrm>
          <a:prstGeom prst="roundRect">
            <a:avLst/>
          </a:prstGeom>
          <a:solidFill>
            <a:srgbClr val="ECFDF5">
              <a:alpha val="100000"/>
            </a:srgbClr>
          </a:solidFill>
          <a:ln w="25400" cap="flat" cmpd="sng">
            <a:solidFill>
              <a:srgbClr val="10B981">
                <a:alpha val="5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4535711" y="3794166"/>
            <a:ext cx="2370284" cy="2494148"/>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800" b="1" i="0" u="none" strike="noStrike">
                <a:solidFill>
                  <a:srgbClr val="059669"/>
                </a:solidFill>
                <a:latin typeface="Noto Sans SC"/>
                <a:ea typeface="Noto Sans SC"/>
                <a:cs typeface="Noto Sans SC"/>
                <a:sym typeface="Noto Sans SC"/>
              </a:rPr>
              <a:t>A → B 成立 </a:t>
            </a:r>
            <a:r>
              <a:rPr lang="zh-CN" altLang="en-US" sz="1800" b="1" i="0" u="none" strike="noStrike">
                <a:solidFill>
                  <a:srgbClr val="C00000"/>
                </a:solidFill>
                <a:latin typeface="Noto Sans SC"/>
                <a:ea typeface="Noto Sans SC"/>
                <a:cs typeface="Noto Sans SC"/>
                <a:sym typeface="Noto Sans SC"/>
              </a:rPr>
              <a:t>？</a:t>
            </a:r>
            <a:endParaRPr lang="en-US" sz="1200">
              <a:solidFill>
                <a:srgbClr val="C00000"/>
              </a:solidFill>
            </a:endParaRPr>
          </a:p>
          <a:p>
            <a:pPr>
              <a:lnSpc>
                <a:spcPct val="113000"/>
              </a:lnSpc>
              <a:spcBef>
                <a:spcPts val="1200"/>
              </a:spcBef>
            </a:pPr>
            <a:r>
              <a:rPr lang="en-US" altLang="zh-CN" b="1">
                <a:solidFill>
                  <a:srgbClr val="1F2937"/>
                </a:solidFill>
                <a:latin typeface="Noto Sans SC"/>
                <a:ea typeface="Noto Sans SC"/>
                <a:cs typeface="Noto Sans SC"/>
                <a:sym typeface="Noto Sans SC"/>
              </a:rPr>
              <a:t>⚠️ </a:t>
            </a:r>
            <a:r>
              <a:rPr lang="en-US" b="1" i="0" u="none" strike="noStrike">
                <a:solidFill>
                  <a:srgbClr val="1F2937"/>
                </a:solidFill>
                <a:latin typeface="Noto Sans SC"/>
                <a:ea typeface="Noto Sans SC"/>
                <a:cs typeface="Noto Sans SC"/>
                <a:sym typeface="Noto Sans SC"/>
              </a:rPr>
              <a:t>逻辑分析</a:t>
            </a:r>
            <a:r>
              <a:rPr lang="zh-CN" altLang="en-US" b="1">
                <a:solidFill>
                  <a:srgbClr val="1F2937"/>
                </a:solidFill>
                <a:latin typeface="Noto Sans SC"/>
                <a:ea typeface="Noto Sans SC"/>
                <a:cs typeface="Noto Sans SC"/>
                <a:sym typeface="Noto Sans SC"/>
              </a:rPr>
              <a:t>：</a:t>
            </a:r>
            <a:r>
              <a:rPr lang="en-US" b="0" i="0" u="none" strike="noStrike">
                <a:solidFill>
                  <a:srgbClr val="4B5563"/>
                </a:solidFill>
                <a:latin typeface="Noto Sans SC"/>
                <a:ea typeface="Noto Sans SC"/>
                <a:cs typeface="Noto Sans SC"/>
                <a:sym typeface="Noto Sans SC"/>
              </a:rPr>
              <a:t>属性A的每一个值都唯一确定了B的值</a:t>
            </a:r>
            <a:r>
              <a:rPr lang="zh-CN" altLang="en-US">
                <a:solidFill>
                  <a:srgbClr val="4B5563"/>
                </a:solidFill>
                <a:latin typeface="Noto Sans SC"/>
                <a:ea typeface="Noto Sans SC"/>
                <a:cs typeface="Noto Sans SC"/>
                <a:sym typeface="Noto Sans SC"/>
              </a:rPr>
              <a:t>。</a:t>
            </a:r>
            <a:endParaRPr lang="en-US" altLang="zh-CN">
              <a:solidFill>
                <a:srgbClr val="4B5563"/>
              </a:solidFill>
              <a:latin typeface="Noto Sans SC"/>
              <a:ea typeface="Noto Sans SC"/>
              <a:cs typeface="Noto Sans SC"/>
              <a:sym typeface="Noto Sans SC"/>
            </a:endParaRPr>
          </a:p>
          <a:p>
            <a:pPr>
              <a:lnSpc>
                <a:spcPct val="113000"/>
              </a:lnSpc>
              <a:spcBef>
                <a:spcPts val="1200"/>
              </a:spcBef>
            </a:pPr>
            <a:r>
              <a:rPr lang="en-US" b="0" i="0" u="none" strike="noStrike">
                <a:solidFill>
                  <a:srgbClr val="1F2329"/>
                </a:solidFill>
                <a:latin typeface="Noto Sans SC"/>
                <a:ea typeface="Noto Sans SC"/>
                <a:cs typeface="Noto Sans SC"/>
                <a:sym typeface="Noto Sans SC"/>
              </a:rPr>
              <a:t>    </a:t>
            </a:r>
            <a:r>
              <a:rPr lang="en-US" b="0" i="0" u="none" strike="noStrike">
                <a:solidFill>
                  <a:srgbClr val="4B5563"/>
                </a:solidFill>
                <a:latin typeface="Noto Sans SC"/>
                <a:ea typeface="Noto Sans SC"/>
                <a:cs typeface="Noto Sans SC"/>
                <a:sym typeface="Noto Sans SC"/>
              </a:rPr>
              <a:t>A=a1 ➜ B始终是b1</a:t>
            </a:r>
            <a:br>
              <a:rPr lang="en-US" b="0" i="0" u="none" strike="noStrike">
                <a:solidFill>
                  <a:srgbClr val="1F2329"/>
                </a:solidFill>
                <a:latin typeface="Noto Sans SC"/>
                <a:ea typeface="Noto Sans SC"/>
                <a:cs typeface="Noto Sans SC"/>
                <a:sym typeface="Noto Sans SC"/>
              </a:rPr>
            </a:br>
            <a:r>
              <a:rPr lang="en-US" b="0" i="0" u="none" strike="noStrike">
                <a:solidFill>
                  <a:srgbClr val="4B5563"/>
                </a:solidFill>
                <a:latin typeface="Noto Sans SC"/>
                <a:ea typeface="Noto Sans SC"/>
                <a:cs typeface="Noto Sans SC"/>
                <a:sym typeface="Noto Sans SC"/>
              </a:rPr>
              <a:t>    A=a2 ➜ B始终是b2</a:t>
            </a:r>
            <a:br>
              <a:rPr lang="en-US" b="0" i="0" u="none" strike="noStrike">
                <a:solidFill>
                  <a:srgbClr val="1F2329"/>
                </a:solidFill>
                <a:latin typeface="Noto Sans SC"/>
                <a:ea typeface="Noto Sans SC"/>
                <a:cs typeface="Noto Sans SC"/>
                <a:sym typeface="Noto Sans SC"/>
              </a:rPr>
            </a:br>
            <a:r>
              <a:rPr lang="en-US" b="0" i="0" u="none" strike="noStrike">
                <a:solidFill>
                  <a:srgbClr val="4B5563"/>
                </a:solidFill>
                <a:latin typeface="Noto Sans SC"/>
                <a:ea typeface="Noto Sans SC"/>
                <a:cs typeface="Noto Sans SC"/>
                <a:sym typeface="Noto Sans SC"/>
              </a:rPr>
              <a:t>    A=a3 ➜ B始终是b1</a:t>
            </a:r>
          </a:p>
          <a:p>
            <a:pPr>
              <a:lnSpc>
                <a:spcPct val="113000"/>
              </a:lnSpc>
              <a:spcBef>
                <a:spcPts val="1200"/>
              </a:spcBef>
            </a:pPr>
            <a:r>
              <a:rPr lang="en-US" i="0" u="none" strike="noStrike">
                <a:solidFill>
                  <a:srgbClr val="4B5563"/>
                </a:solidFill>
                <a:latin typeface="Noto Sans SC"/>
                <a:ea typeface="Noto Sans SC"/>
                <a:cs typeface="Noto Sans SC"/>
                <a:sym typeface="Noto Sans SC"/>
              </a:rPr>
              <a:t>满足“X确定一个值，Y必有唯一值对应”的定义</a:t>
            </a:r>
            <a:r>
              <a:rPr lang="en-US" b="0" i="0" u="none" strike="noStrike">
                <a:solidFill>
                  <a:srgbClr val="4B5563"/>
                </a:solidFill>
                <a:latin typeface="Noto Sans SC"/>
                <a:ea typeface="Noto Sans SC"/>
                <a:cs typeface="Noto Sans SC"/>
                <a:sym typeface="Noto Sans SC"/>
              </a:rPr>
              <a:t>。</a:t>
            </a:r>
          </a:p>
        </p:txBody>
      </p:sp>
      <p:sp>
        <p:nvSpPr>
          <p:cNvPr id="5" name="AutoShape 5"/>
          <p:cNvSpPr/>
          <p:nvPr/>
        </p:nvSpPr>
        <p:spPr>
          <a:xfrm>
            <a:off x="838200" y="2084118"/>
            <a:ext cx="2905166" cy="4470896"/>
          </a:xfrm>
          <a:prstGeom prst="roundRect">
            <a:avLst/>
          </a:prstGeom>
          <a:solidFill>
            <a:srgbClr val="FEF2F2">
              <a:alpha val="100000"/>
            </a:srgbClr>
          </a:solidFill>
          <a:ln w="25400" cap="flat" cmpd="sng">
            <a:solidFill>
              <a:srgbClr val="EF4444">
                <a:alpha val="5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28700" y="3794166"/>
            <a:ext cx="2469571" cy="2494148"/>
          </a:xfrm>
          <a:prstGeom prst="rect">
            <a:avLst/>
          </a:prstGeom>
          <a:noFill/>
          <a:ln w="12700" cap="flat" cmpd="sng">
            <a:noFill/>
            <a:prstDash val="solid"/>
            <a:round/>
          </a:ln>
        </p:spPr>
        <p:txBody>
          <a:bodyPr vert="horz" wrap="square" lIns="0" tIns="0" rIns="0" bIns="0" rtlCol="0" anchor="ctr" anchorCtr="0"/>
          <a:lstStyle/>
          <a:p>
            <a:pPr indent="0" algn="ctr">
              <a:lnSpc>
                <a:spcPct val="108333"/>
              </a:lnSpc>
              <a:defRPr/>
            </a:pPr>
            <a:r>
              <a:rPr lang="en-US" sz="1800" b="1" i="0" u="none" strike="noStrike">
                <a:solidFill>
                  <a:srgbClr val="DC2626"/>
                </a:solidFill>
                <a:latin typeface="Noto Sans SC"/>
                <a:ea typeface="Noto Sans SC"/>
                <a:cs typeface="Noto Sans SC"/>
                <a:sym typeface="Noto Sans SC"/>
              </a:rPr>
              <a:t>A → B 不成立</a:t>
            </a:r>
            <a:r>
              <a:rPr lang="zh-CN" altLang="en-US" sz="1800" b="1" i="0" u="none" strike="noStrike">
                <a:solidFill>
                  <a:srgbClr val="DC2626"/>
                </a:solidFill>
                <a:latin typeface="Noto Sans SC"/>
                <a:ea typeface="Noto Sans SC"/>
                <a:cs typeface="Noto Sans SC"/>
                <a:sym typeface="Noto Sans SC"/>
              </a:rPr>
              <a:t>✔</a:t>
            </a:r>
            <a:endParaRPr lang="en-US" sz="1200"/>
          </a:p>
          <a:p>
            <a:pPr indent="0">
              <a:lnSpc>
                <a:spcPct val="113000"/>
              </a:lnSpc>
              <a:spcBef>
                <a:spcPts val="1200"/>
              </a:spcBef>
            </a:pPr>
            <a:r>
              <a:rPr lang="en-US" altLang="zh-CN" b="1">
                <a:solidFill>
                  <a:srgbClr val="1F2937"/>
                </a:solidFill>
                <a:latin typeface="Noto Sans SC"/>
                <a:ea typeface="Noto Sans SC"/>
                <a:cs typeface="Noto Sans SC"/>
                <a:sym typeface="Noto Sans SC"/>
              </a:rPr>
              <a:t>💡 </a:t>
            </a:r>
            <a:r>
              <a:rPr lang="en-US" b="1" i="0" u="none" strike="noStrike">
                <a:solidFill>
                  <a:srgbClr val="1F2937"/>
                </a:solidFill>
                <a:latin typeface="Noto Sans SC"/>
                <a:ea typeface="Noto Sans SC"/>
                <a:cs typeface="Noto Sans SC"/>
                <a:sym typeface="Noto Sans SC"/>
              </a:rPr>
              <a:t>逻辑分析：</a:t>
            </a:r>
            <a:r>
              <a:rPr lang="en-US" b="0" i="0" u="none" strike="noStrike">
                <a:solidFill>
                  <a:srgbClr val="4B5563"/>
                </a:solidFill>
                <a:latin typeface="Noto Sans SC"/>
                <a:ea typeface="Noto Sans SC"/>
                <a:cs typeface="Noto Sans SC"/>
                <a:sym typeface="Noto Sans SC"/>
              </a:rPr>
              <a:t>当 A=a1 时，B出现了两个不同的值b1 和 b2。</a:t>
            </a:r>
          </a:p>
          <a:p>
            <a:pPr indent="0">
              <a:lnSpc>
                <a:spcPct val="113000"/>
              </a:lnSpc>
              <a:spcBef>
                <a:spcPts val="1200"/>
              </a:spcBef>
            </a:pPr>
            <a:r>
              <a:rPr lang="en-US" b="0" i="0" u="none" strike="noStrike">
                <a:solidFill>
                  <a:srgbClr val="4B5563"/>
                </a:solidFill>
                <a:latin typeface="Noto Sans SC"/>
                <a:ea typeface="Noto Sans SC"/>
                <a:cs typeface="Noto Sans SC"/>
                <a:sym typeface="Noto Sans SC"/>
              </a:rPr>
              <a:t>违反了函数依赖的核心定义，即“若X相等，则Y必须相等”</a:t>
            </a:r>
            <a:r>
              <a:rPr lang="zh-CN" altLang="en-US" b="0" i="0" u="none" strike="noStrike">
                <a:solidFill>
                  <a:srgbClr val="4B5563"/>
                </a:solidFill>
                <a:latin typeface="Noto Sans SC"/>
                <a:ea typeface="Noto Sans SC"/>
                <a:cs typeface="Noto Sans SC"/>
                <a:sym typeface="Noto Sans SC"/>
              </a:rPr>
              <a:t>，</a:t>
            </a:r>
            <a:r>
              <a:rPr lang="en-US" b="0" i="0" u="none" strike="noStrike">
                <a:solidFill>
                  <a:srgbClr val="4B5563"/>
                </a:solidFill>
                <a:latin typeface="Noto Sans SC"/>
                <a:ea typeface="Noto Sans SC"/>
                <a:cs typeface="Noto Sans SC"/>
                <a:sym typeface="Noto Sans SC"/>
              </a:rPr>
              <a:t>因此</a:t>
            </a:r>
            <a:r>
              <a:rPr lang="zh-CN" altLang="en-US" b="0" i="0" u="none" strike="noStrike">
                <a:solidFill>
                  <a:srgbClr val="4B5563"/>
                </a:solidFill>
                <a:latin typeface="Noto Sans SC"/>
                <a:ea typeface="Noto Sans SC"/>
                <a:cs typeface="Noto Sans SC"/>
                <a:sym typeface="Noto Sans SC"/>
              </a:rPr>
              <a:t>，</a:t>
            </a:r>
            <a:r>
              <a:rPr lang="en-US" b="0" i="0" u="none" strike="noStrike">
                <a:solidFill>
                  <a:srgbClr val="4B5563"/>
                </a:solidFill>
                <a:latin typeface="Noto Sans SC"/>
                <a:ea typeface="Noto Sans SC"/>
                <a:cs typeface="Noto Sans SC"/>
                <a:sym typeface="Noto Sans SC"/>
              </a:rPr>
              <a:t>在该关系中，A不能唯一确定B。</a:t>
            </a:r>
          </a:p>
        </p:txBody>
      </p:sp>
      <p:sp>
        <p:nvSpPr>
          <p:cNvPr id="7" name="AutoShape 7"/>
          <p:cNvSpPr/>
          <p:nvPr/>
        </p:nvSpPr>
        <p:spPr>
          <a:xfrm>
            <a:off x="7728195" y="2084117"/>
            <a:ext cx="3574806" cy="4470895"/>
          </a:xfrm>
          <a:prstGeom prst="roundRect">
            <a:avLst/>
          </a:prstGeom>
          <a:solidFill>
            <a:srgbClr val="EFF6FF">
              <a:alpha val="100000"/>
            </a:srgbClr>
          </a:solidFill>
          <a:ln w="25400" cap="flat" cmpd="sng">
            <a:solidFill>
              <a:srgbClr val="3B82F6">
                <a:alpha val="5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7962406" y="2238499"/>
            <a:ext cx="3135088" cy="4049815"/>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2563EB"/>
                </a:solidFill>
                <a:latin typeface="Noto Sans SC"/>
                <a:ea typeface="Noto Sans SC"/>
                <a:cs typeface="Noto Sans SC"/>
                <a:sym typeface="Noto Sans SC"/>
              </a:rPr>
              <a:t>💡 判断</a:t>
            </a:r>
            <a:r>
              <a:rPr lang="en-US" altLang="zh-CN" sz="1800" b="1" i="0" u="none" strike="noStrike">
                <a:solidFill>
                  <a:srgbClr val="2563EB"/>
                </a:solidFill>
                <a:latin typeface="Noto Sans SC"/>
                <a:ea typeface="Noto Sans SC"/>
                <a:cs typeface="Noto Sans SC"/>
                <a:sym typeface="Noto Sans SC"/>
              </a:rPr>
              <a:t>FD</a:t>
            </a:r>
            <a:r>
              <a:rPr lang="zh-CN" altLang="en-US" sz="1800" b="1" i="0" u="none" strike="noStrike">
                <a:solidFill>
                  <a:srgbClr val="2563EB"/>
                </a:solidFill>
                <a:latin typeface="Noto Sans SC"/>
                <a:ea typeface="Noto Sans SC"/>
                <a:cs typeface="Noto Sans SC"/>
                <a:sym typeface="Noto Sans SC"/>
              </a:rPr>
              <a:t>是否成立</a:t>
            </a:r>
            <a:endParaRPr lang="en-US" altLang="zh-CN" sz="1800" b="1" i="0" u="none" strike="noStrike">
              <a:solidFill>
                <a:srgbClr val="2563EB"/>
              </a:solidFill>
              <a:latin typeface="Noto Sans SC"/>
              <a:ea typeface="Noto Sans SC"/>
              <a:cs typeface="Noto Sans SC"/>
              <a:sym typeface="Noto Sans SC"/>
            </a:endParaRPr>
          </a:p>
          <a:p>
            <a:pPr indent="0" algn="ctr">
              <a:lnSpc>
                <a:spcPct val="125000"/>
              </a:lnSpc>
              <a:defRPr/>
            </a:pPr>
            <a:r>
              <a:rPr lang="zh-CN" altLang="en-US" sz="1800" b="1">
                <a:solidFill>
                  <a:srgbClr val="2563EB"/>
                </a:solidFill>
                <a:latin typeface="Noto Sans SC"/>
                <a:ea typeface="Noto Sans SC"/>
                <a:sym typeface="Noto Sans SC"/>
              </a:rPr>
              <a:t>（用于数据语义关系分析）</a:t>
            </a:r>
            <a:endParaRPr lang="en-US" sz="1200"/>
          </a:p>
          <a:p>
            <a:pPr indent="0" algn="just">
              <a:lnSpc>
                <a:spcPct val="116666"/>
              </a:lnSpc>
              <a:spcBef>
                <a:spcPts val="1500"/>
              </a:spcBef>
            </a:pPr>
            <a:r>
              <a:rPr lang="en-US" b="0" i="0" u="none" strike="noStrike">
                <a:solidFill>
                  <a:srgbClr val="1F2937"/>
                </a:solidFill>
                <a:latin typeface="Noto Sans SC"/>
                <a:ea typeface="Noto Sans SC"/>
                <a:cs typeface="Noto Sans SC"/>
                <a:sym typeface="Noto Sans SC"/>
              </a:rPr>
              <a:t>“一个X，一个Y”</a:t>
            </a:r>
            <a:br>
              <a:rPr lang="en-US" sz="1600" b="0" i="0" u="none" strike="noStrike">
                <a:solidFill>
                  <a:srgbClr val="1F2329"/>
                </a:solidFill>
                <a:latin typeface="Noto Sans SC"/>
                <a:ea typeface="Noto Sans SC"/>
                <a:cs typeface="Noto Sans SC"/>
                <a:sym typeface="Noto Sans SC"/>
              </a:rPr>
            </a:br>
            <a:r>
              <a:rPr lang="en-US" b="0" i="0" u="none" strike="noStrike">
                <a:solidFill>
                  <a:srgbClr val="1F2937"/>
                </a:solidFill>
                <a:latin typeface="Noto Sans SC"/>
                <a:ea typeface="Noto Sans SC"/>
                <a:cs typeface="Noto Sans SC"/>
                <a:sym typeface="Noto Sans SC"/>
              </a:rPr>
              <a:t>即：在一</a:t>
            </a:r>
            <a:r>
              <a:rPr lang="zh-CN" altLang="en-US" b="0" i="0" u="none" strike="noStrike">
                <a:solidFill>
                  <a:srgbClr val="1F2937"/>
                </a:solidFill>
                <a:latin typeface="Noto Sans SC"/>
                <a:ea typeface="Noto Sans SC"/>
                <a:cs typeface="Noto Sans SC"/>
                <a:sym typeface="Noto Sans SC"/>
              </a:rPr>
              <a:t>个</a:t>
            </a:r>
            <a:r>
              <a:rPr lang="en-US" b="0" i="0" u="none" strike="noStrike">
                <a:solidFill>
                  <a:srgbClr val="1F2937"/>
                </a:solidFill>
                <a:latin typeface="Noto Sans SC"/>
                <a:ea typeface="Noto Sans SC"/>
                <a:cs typeface="Noto Sans SC"/>
                <a:sym typeface="Noto Sans SC"/>
              </a:rPr>
              <a:t>表中，如果找到两行记录，它们的属性X完全相同，但属性Y却不同，那么X→Y一定不成立。</a:t>
            </a:r>
            <a:r>
              <a:rPr lang="zh-CN" altLang="en-US" b="0" i="0" u="none" strike="noStrike">
                <a:solidFill>
                  <a:srgbClr val="C00000"/>
                </a:solidFill>
                <a:latin typeface="Noto Sans SC"/>
                <a:ea typeface="Noto Sans SC"/>
                <a:cs typeface="Noto Sans SC"/>
                <a:sym typeface="Noto Sans SC"/>
              </a:rPr>
              <a:t>找出反例，可以认定某个</a:t>
            </a:r>
            <a:r>
              <a:rPr lang="en-US" altLang="zh-CN" b="0" i="0" u="none" strike="noStrike">
                <a:solidFill>
                  <a:srgbClr val="C00000"/>
                </a:solidFill>
                <a:latin typeface="Noto Sans SC"/>
                <a:ea typeface="Noto Sans SC"/>
                <a:cs typeface="Noto Sans SC"/>
                <a:sym typeface="Noto Sans SC"/>
              </a:rPr>
              <a:t>FD</a:t>
            </a:r>
            <a:r>
              <a:rPr lang="zh-CN" altLang="en-US" b="0" i="0" u="none" strike="noStrike">
                <a:solidFill>
                  <a:srgbClr val="C00000"/>
                </a:solidFill>
                <a:latin typeface="Noto Sans SC"/>
                <a:ea typeface="Noto Sans SC"/>
                <a:cs typeface="Noto Sans SC"/>
                <a:sym typeface="Noto Sans SC"/>
              </a:rPr>
              <a:t>不成立！</a:t>
            </a:r>
            <a:endParaRPr lang="en-US" b="0" i="0" u="none" strike="noStrike">
              <a:solidFill>
                <a:srgbClr val="C00000"/>
              </a:solidFill>
              <a:latin typeface="Noto Sans SC"/>
              <a:ea typeface="Noto Sans SC"/>
              <a:cs typeface="Noto Sans SC"/>
              <a:sym typeface="Noto Sans SC"/>
            </a:endParaRPr>
          </a:p>
          <a:p>
            <a:pPr indent="0" algn="just">
              <a:lnSpc>
                <a:spcPct val="116666"/>
              </a:lnSpc>
              <a:spcBef>
                <a:spcPts val="1500"/>
              </a:spcBef>
            </a:pPr>
            <a:r>
              <a:rPr lang="en-US" b="0" i="0" u="none" strike="noStrike">
                <a:solidFill>
                  <a:srgbClr val="1F2937"/>
                </a:solidFill>
                <a:latin typeface="Noto Sans SC"/>
                <a:ea typeface="Noto Sans SC"/>
                <a:cs typeface="Noto Sans SC"/>
                <a:sym typeface="Noto Sans SC"/>
              </a:rPr>
              <a:t>“只要X不同，Y随意”</a:t>
            </a:r>
            <a:br>
              <a:rPr lang="en-US" sz="1600" b="0" i="0" u="none" strike="noStrike">
                <a:solidFill>
                  <a:srgbClr val="1F2329"/>
                </a:solidFill>
                <a:latin typeface="Noto Sans SC"/>
                <a:ea typeface="Noto Sans SC"/>
                <a:cs typeface="Noto Sans SC"/>
                <a:sym typeface="Noto Sans SC"/>
              </a:rPr>
            </a:br>
            <a:r>
              <a:rPr lang="en-US" b="0" i="0" u="none" strike="noStrike">
                <a:solidFill>
                  <a:srgbClr val="1F2937"/>
                </a:solidFill>
                <a:latin typeface="Noto Sans SC"/>
                <a:ea typeface="Noto Sans SC"/>
                <a:cs typeface="Noto Sans SC"/>
                <a:sym typeface="Noto Sans SC"/>
              </a:rPr>
              <a:t>即：不同的X值，对应相同或不同的Y值，都不影响函数依赖关系。</a:t>
            </a:r>
            <a:r>
              <a:rPr lang="zh-CN" altLang="en-US">
                <a:solidFill>
                  <a:srgbClr val="C00000"/>
                </a:solidFill>
                <a:latin typeface="Noto Sans SC"/>
                <a:ea typeface="Noto Sans SC"/>
                <a:cs typeface="Noto Sans SC"/>
                <a:sym typeface="Noto Sans SC"/>
              </a:rPr>
              <a:t>不可能遍历完</a:t>
            </a:r>
            <a:r>
              <a:rPr lang="zh-CN" altLang="en-US" b="1">
                <a:solidFill>
                  <a:srgbClr val="C00000"/>
                </a:solidFill>
                <a:latin typeface="Noto Sans SC"/>
                <a:ea typeface="Noto Sans SC"/>
                <a:cs typeface="Noto Sans SC"/>
                <a:sym typeface="Noto Sans SC"/>
              </a:rPr>
              <a:t>任意时刻的全部数据</a:t>
            </a:r>
            <a:r>
              <a:rPr lang="zh-CN" altLang="en-US">
                <a:solidFill>
                  <a:srgbClr val="C00000"/>
                </a:solidFill>
                <a:latin typeface="Noto Sans SC"/>
                <a:ea typeface="Noto Sans SC"/>
                <a:cs typeface="Noto Sans SC"/>
                <a:sym typeface="Noto Sans SC"/>
              </a:rPr>
              <a:t>，所以，通过已有数据判定某个</a:t>
            </a:r>
            <a:r>
              <a:rPr lang="en-US" altLang="zh-CN">
                <a:solidFill>
                  <a:srgbClr val="C00000"/>
                </a:solidFill>
                <a:latin typeface="Noto Sans SC"/>
                <a:ea typeface="Noto Sans SC"/>
                <a:cs typeface="Noto Sans SC"/>
                <a:sym typeface="Noto Sans SC"/>
              </a:rPr>
              <a:t>FD</a:t>
            </a:r>
            <a:r>
              <a:rPr lang="zh-CN" altLang="en-US">
                <a:solidFill>
                  <a:srgbClr val="C00000"/>
                </a:solidFill>
                <a:latin typeface="Noto Sans SC"/>
                <a:ea typeface="Noto Sans SC"/>
                <a:cs typeface="Noto Sans SC"/>
                <a:sym typeface="Noto Sans SC"/>
              </a:rPr>
              <a:t>成立是不对的！</a:t>
            </a:r>
            <a:r>
              <a:rPr lang="zh-CN" altLang="en-US" sz="1600" b="1">
                <a:solidFill>
                  <a:srgbClr val="C00000"/>
                </a:solidFill>
                <a:latin typeface="Noto Sans SC"/>
                <a:ea typeface="Noto Sans SC"/>
                <a:cs typeface="Noto Sans SC"/>
                <a:sym typeface="Noto Sans SC"/>
              </a:rPr>
              <a:t>只能通过业务规则来判定某个</a:t>
            </a:r>
            <a:r>
              <a:rPr lang="en-US" altLang="zh-CN" sz="1600" b="1">
                <a:solidFill>
                  <a:srgbClr val="C00000"/>
                </a:solidFill>
                <a:latin typeface="Noto Sans SC"/>
                <a:ea typeface="Noto Sans SC"/>
                <a:cs typeface="Noto Sans SC"/>
                <a:sym typeface="Noto Sans SC"/>
              </a:rPr>
              <a:t>FD</a:t>
            </a:r>
            <a:r>
              <a:rPr lang="zh-CN" altLang="en-US" sz="1600" b="1">
                <a:solidFill>
                  <a:srgbClr val="C00000"/>
                </a:solidFill>
                <a:latin typeface="Noto Sans SC"/>
                <a:ea typeface="Noto Sans SC"/>
                <a:cs typeface="Noto Sans SC"/>
                <a:sym typeface="Noto Sans SC"/>
              </a:rPr>
              <a:t>成立！</a:t>
            </a:r>
            <a:endParaRPr lang="en-US" b="1" i="0" u="none" strike="noStrike">
              <a:solidFill>
                <a:srgbClr val="C00000"/>
              </a:solidFill>
              <a:latin typeface="Noto Sans SC"/>
              <a:ea typeface="Noto Sans SC"/>
              <a:cs typeface="Noto Sans SC"/>
              <a:sym typeface="Noto Sans SC"/>
            </a:endParaRPr>
          </a:p>
        </p:txBody>
      </p:sp>
      <p:sp>
        <p:nvSpPr>
          <p:cNvPr id="9" name="AutoShape 2">
            <a:extLst>
              <a:ext uri="{FF2B5EF4-FFF2-40B4-BE49-F238E27FC236}">
                <a16:creationId xmlns:a16="http://schemas.microsoft.com/office/drawing/2014/main" id="{1B3C4E51-7CC6-5102-D5E3-A6CD1F9A5144}"/>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7.2.1 函数依赖的定义 (2)</a:t>
            </a:r>
            <a:endParaRPr lang="en-US" sz="2400" b="1">
              <a:solidFill>
                <a:srgbClr val="FFFFFF"/>
              </a:solidFill>
              <a:latin typeface="Noto Sans SC"/>
              <a:ea typeface="Noto Sans SC"/>
            </a:endParaRPr>
          </a:p>
        </p:txBody>
      </p:sp>
      <p:graphicFrame>
        <p:nvGraphicFramePr>
          <p:cNvPr id="11" name="表格 10">
            <a:extLst>
              <a:ext uri="{FF2B5EF4-FFF2-40B4-BE49-F238E27FC236}">
                <a16:creationId xmlns:a16="http://schemas.microsoft.com/office/drawing/2014/main" id="{A4B3686F-6F21-4085-FFD0-58AB28CF530E}"/>
              </a:ext>
            </a:extLst>
          </p:cNvPr>
          <p:cNvGraphicFramePr>
            <a:graphicFrameLocks noGrp="1"/>
          </p:cNvGraphicFramePr>
          <p:nvPr>
            <p:extLst>
              <p:ext uri="{D42A27DB-BD31-4B8C-83A1-F6EECF244321}">
                <p14:modId xmlns:p14="http://schemas.microsoft.com/office/powerpoint/2010/main" val="912998062"/>
              </p:ext>
            </p:extLst>
          </p:nvPr>
        </p:nvGraphicFramePr>
        <p:xfrm>
          <a:off x="4535711" y="2422566"/>
          <a:ext cx="2370284" cy="1223155"/>
        </p:xfrm>
        <a:graphic>
          <a:graphicData uri="http://schemas.openxmlformats.org/drawingml/2006/table">
            <a:tbl>
              <a:tblPr firstRow="1" firstCol="1" bandRow="1">
                <a:tableStyleId>{9DCAF9ED-07DC-4A11-8D7F-57B35C25682E}</a:tableStyleId>
              </a:tblPr>
              <a:tblGrid>
                <a:gridCol w="592571">
                  <a:extLst>
                    <a:ext uri="{9D8B030D-6E8A-4147-A177-3AD203B41FA5}">
                      <a16:colId xmlns:a16="http://schemas.microsoft.com/office/drawing/2014/main" val="1647794349"/>
                    </a:ext>
                  </a:extLst>
                </a:gridCol>
                <a:gridCol w="592571">
                  <a:extLst>
                    <a:ext uri="{9D8B030D-6E8A-4147-A177-3AD203B41FA5}">
                      <a16:colId xmlns:a16="http://schemas.microsoft.com/office/drawing/2014/main" val="1946655349"/>
                    </a:ext>
                  </a:extLst>
                </a:gridCol>
                <a:gridCol w="592571">
                  <a:extLst>
                    <a:ext uri="{9D8B030D-6E8A-4147-A177-3AD203B41FA5}">
                      <a16:colId xmlns:a16="http://schemas.microsoft.com/office/drawing/2014/main" val="2411821916"/>
                    </a:ext>
                  </a:extLst>
                </a:gridCol>
                <a:gridCol w="592571">
                  <a:extLst>
                    <a:ext uri="{9D8B030D-6E8A-4147-A177-3AD203B41FA5}">
                      <a16:colId xmlns:a16="http://schemas.microsoft.com/office/drawing/2014/main" val="637902363"/>
                    </a:ext>
                  </a:extLst>
                </a:gridCol>
              </a:tblGrid>
              <a:tr h="244631">
                <a:tc>
                  <a:txBody>
                    <a:bodyPr/>
                    <a:lstStyle/>
                    <a:p>
                      <a:pPr algn="ctr">
                        <a:buNone/>
                      </a:pPr>
                      <a:r>
                        <a:rPr lang="en-US" sz="1200" kern="100">
                          <a:effectLst/>
                        </a:rPr>
                        <a:t>A</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B</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C</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D</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77568513"/>
                  </a:ext>
                </a:extLst>
              </a:tr>
              <a:tr h="244631">
                <a:tc>
                  <a:txBody>
                    <a:bodyPr/>
                    <a:lstStyle/>
                    <a:p>
                      <a:pPr algn="ctr">
                        <a:buNone/>
                      </a:pPr>
                      <a:r>
                        <a:rPr lang="en-US" sz="1200" b="1" kern="100">
                          <a:effectLst/>
                        </a:rPr>
                        <a:t>a1</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b="1" kern="100">
                          <a:effectLst/>
                        </a:rPr>
                        <a:t>b1</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c1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d1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92449407"/>
                  </a:ext>
                </a:extLst>
              </a:tr>
              <a:tr h="244631">
                <a:tc>
                  <a:txBody>
                    <a:bodyPr/>
                    <a:lstStyle/>
                    <a:p>
                      <a:pPr algn="ctr">
                        <a:buNone/>
                      </a:pPr>
                      <a:r>
                        <a:rPr lang="en-US" sz="1200" b="1" kern="100">
                          <a:effectLst/>
                        </a:rPr>
                        <a:t>a1</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b="1" kern="100">
                          <a:effectLst/>
                        </a:rPr>
                        <a:t>b1</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c2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d2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161382237"/>
                  </a:ext>
                </a:extLst>
              </a:tr>
              <a:tr h="244631">
                <a:tc>
                  <a:txBody>
                    <a:bodyPr/>
                    <a:lstStyle/>
                    <a:p>
                      <a:pPr algn="ctr">
                        <a:buNone/>
                      </a:pPr>
                      <a:r>
                        <a:rPr lang="en-US" sz="1200" b="1" kern="100">
                          <a:effectLst/>
                        </a:rPr>
                        <a:t>a2</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b="1" kern="100">
                          <a:effectLst/>
                        </a:rPr>
                        <a:t>b2</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c3</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d3</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435221608"/>
                  </a:ext>
                </a:extLst>
              </a:tr>
              <a:tr h="244631">
                <a:tc>
                  <a:txBody>
                    <a:bodyPr/>
                    <a:lstStyle/>
                    <a:p>
                      <a:pPr algn="ctr">
                        <a:buNone/>
                      </a:pPr>
                      <a:r>
                        <a:rPr lang="en-US" sz="1200" b="1" kern="100">
                          <a:effectLst/>
                        </a:rPr>
                        <a:t>a3</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b="1" kern="100">
                          <a:effectLst/>
                        </a:rPr>
                        <a:t>b1</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c4</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d4</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915222132"/>
                  </a:ext>
                </a:extLst>
              </a:tr>
            </a:tbl>
          </a:graphicData>
        </a:graphic>
      </p:graphicFrame>
      <p:graphicFrame>
        <p:nvGraphicFramePr>
          <p:cNvPr id="12" name="表格 11">
            <a:extLst>
              <a:ext uri="{FF2B5EF4-FFF2-40B4-BE49-F238E27FC236}">
                <a16:creationId xmlns:a16="http://schemas.microsoft.com/office/drawing/2014/main" id="{144DA4F6-6D6A-EE8C-0398-0A4651756F8B}"/>
              </a:ext>
            </a:extLst>
          </p:cNvPr>
          <p:cNvGraphicFramePr>
            <a:graphicFrameLocks noGrp="1"/>
          </p:cNvGraphicFramePr>
          <p:nvPr>
            <p:extLst>
              <p:ext uri="{D42A27DB-BD31-4B8C-83A1-F6EECF244321}">
                <p14:modId xmlns:p14="http://schemas.microsoft.com/office/powerpoint/2010/main" val="2796845275"/>
              </p:ext>
            </p:extLst>
          </p:nvPr>
        </p:nvGraphicFramePr>
        <p:xfrm>
          <a:off x="1094507" y="2422566"/>
          <a:ext cx="2403764" cy="1223155"/>
        </p:xfrm>
        <a:graphic>
          <a:graphicData uri="http://schemas.openxmlformats.org/drawingml/2006/table">
            <a:tbl>
              <a:tblPr firstRow="1" firstCol="1" bandRow="1">
                <a:tableStyleId>{9DCAF9ED-07DC-4A11-8D7F-57B35C25682E}</a:tableStyleId>
              </a:tblPr>
              <a:tblGrid>
                <a:gridCol w="600941">
                  <a:extLst>
                    <a:ext uri="{9D8B030D-6E8A-4147-A177-3AD203B41FA5}">
                      <a16:colId xmlns:a16="http://schemas.microsoft.com/office/drawing/2014/main" val="4132872113"/>
                    </a:ext>
                  </a:extLst>
                </a:gridCol>
                <a:gridCol w="600941">
                  <a:extLst>
                    <a:ext uri="{9D8B030D-6E8A-4147-A177-3AD203B41FA5}">
                      <a16:colId xmlns:a16="http://schemas.microsoft.com/office/drawing/2014/main" val="115986162"/>
                    </a:ext>
                  </a:extLst>
                </a:gridCol>
                <a:gridCol w="600941">
                  <a:extLst>
                    <a:ext uri="{9D8B030D-6E8A-4147-A177-3AD203B41FA5}">
                      <a16:colId xmlns:a16="http://schemas.microsoft.com/office/drawing/2014/main" val="381841759"/>
                    </a:ext>
                  </a:extLst>
                </a:gridCol>
                <a:gridCol w="600941">
                  <a:extLst>
                    <a:ext uri="{9D8B030D-6E8A-4147-A177-3AD203B41FA5}">
                      <a16:colId xmlns:a16="http://schemas.microsoft.com/office/drawing/2014/main" val="3951327842"/>
                    </a:ext>
                  </a:extLst>
                </a:gridCol>
              </a:tblGrid>
              <a:tr h="244631">
                <a:tc>
                  <a:txBody>
                    <a:bodyPr/>
                    <a:lstStyle/>
                    <a:p>
                      <a:pPr algn="ctr">
                        <a:buNone/>
                      </a:pPr>
                      <a:r>
                        <a:rPr lang="en-US" sz="1200" kern="100">
                          <a:effectLst/>
                        </a:rPr>
                        <a:t>A</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B</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C</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D</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25373585"/>
                  </a:ext>
                </a:extLst>
              </a:tr>
              <a:tr h="244631">
                <a:tc>
                  <a:txBody>
                    <a:bodyPr/>
                    <a:lstStyle/>
                    <a:p>
                      <a:pPr algn="ctr">
                        <a:buNone/>
                      </a:pPr>
                      <a:r>
                        <a:rPr lang="en-US" sz="1200" kern="100">
                          <a:effectLst/>
                        </a:rPr>
                        <a:t>a1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b="1" kern="100">
                          <a:effectLst/>
                        </a:rPr>
                        <a:t>b1</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c1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d1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214366884"/>
                  </a:ext>
                </a:extLst>
              </a:tr>
              <a:tr h="244631">
                <a:tc>
                  <a:txBody>
                    <a:bodyPr/>
                    <a:lstStyle/>
                    <a:p>
                      <a:pPr algn="ctr">
                        <a:buNone/>
                      </a:pPr>
                      <a:r>
                        <a:rPr lang="en-US" sz="1200" kern="100">
                          <a:effectLst/>
                        </a:rPr>
                        <a:t>a1</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b="1" kern="100">
                          <a:effectLst/>
                        </a:rPr>
                        <a:t>b2</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c2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d2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05959874"/>
                  </a:ext>
                </a:extLst>
              </a:tr>
              <a:tr h="244631">
                <a:tc>
                  <a:txBody>
                    <a:bodyPr/>
                    <a:lstStyle/>
                    <a:p>
                      <a:pPr algn="ctr">
                        <a:buNone/>
                      </a:pPr>
                      <a:r>
                        <a:rPr lang="en-US" sz="1200" kern="100">
                          <a:effectLst/>
                        </a:rPr>
                        <a:t>a2</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b="1" kern="100">
                          <a:effectLst/>
                        </a:rPr>
                        <a:t>b2</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c3</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d3</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183717995"/>
                  </a:ext>
                </a:extLst>
              </a:tr>
              <a:tr h="244631">
                <a:tc>
                  <a:txBody>
                    <a:bodyPr/>
                    <a:lstStyle/>
                    <a:p>
                      <a:pPr algn="ctr">
                        <a:buNone/>
                      </a:pPr>
                      <a:r>
                        <a:rPr lang="en-US" sz="1200" kern="100">
                          <a:effectLst/>
                        </a:rPr>
                        <a:t>a3</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w="12700" cmpd="sng">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b="1" kern="100">
                          <a:effectLst/>
                        </a:rPr>
                        <a:t>b2</a:t>
                      </a:r>
                      <a:endParaRPr lang="zh-CN" sz="1000" b="1"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c4</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a:noFill/>
                    </a:lnR>
                    <a:lnT w="12700" cmpd="sng">
                      <a:noFill/>
                    </a:lnT>
                    <a:lnB w="12700" cmpd="sng">
                      <a:noFill/>
                    </a:lnB>
                    <a:lnTlToBr w="12700" cmpd="sng">
                      <a:noFill/>
                      <a:prstDash val="solid"/>
                    </a:lnTlToBr>
                    <a:lnBlToTr w="12700" cmpd="sng">
                      <a:noFill/>
                      <a:prstDash val="solid"/>
                    </a:lnBlToTr>
                  </a:tcPr>
                </a:tc>
                <a:tc>
                  <a:txBody>
                    <a:bodyPr/>
                    <a:lstStyle/>
                    <a:p>
                      <a:pPr algn="ctr">
                        <a:buNone/>
                      </a:pPr>
                      <a:r>
                        <a:rPr lang="en-US" sz="1200" kern="100">
                          <a:effectLst/>
                        </a:rPr>
                        <a:t>d4</a:t>
                      </a:r>
                      <a:endParaRPr lang="zh-CN" sz="1000" kern="100">
                        <a:effectLst/>
                        <a:latin typeface="等线" panose="02010600030101010101" pitchFamily="2" charset="-122"/>
                        <a:ea typeface="等线" panose="02010600030101010101" pitchFamily="2" charset="-122"/>
                        <a:cs typeface="Times New Roman" panose="02020603050405020304" pitchFamily="18" charset="0"/>
                      </a:endParaRPr>
                    </a:p>
                  </a:txBody>
                  <a:tcPr marL="68580" marR="68580" marT="0" marB="0" anchor="ctr">
                    <a:lnL>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204075900"/>
                  </a:ext>
                </a:extLst>
              </a:tr>
            </a:tbl>
          </a:graphicData>
        </a:graphic>
      </p:graphicFrame>
      <p:sp>
        <p:nvSpPr>
          <p:cNvPr id="16" name="标注: 弯曲线形(无边框) 15">
            <a:extLst>
              <a:ext uri="{FF2B5EF4-FFF2-40B4-BE49-F238E27FC236}">
                <a16:creationId xmlns:a16="http://schemas.microsoft.com/office/drawing/2014/main" id="{8A51C609-2E04-E176-B9DE-6E231678BCEA}"/>
              </a:ext>
            </a:extLst>
          </p:cNvPr>
          <p:cNvSpPr/>
          <p:nvPr/>
        </p:nvSpPr>
        <p:spPr>
          <a:xfrm>
            <a:off x="6663070" y="1227367"/>
            <a:ext cx="4690730" cy="657872"/>
          </a:xfrm>
          <a:prstGeom prst="callout2">
            <a:avLst>
              <a:gd name="adj1" fmla="val 35524"/>
              <a:gd name="adj2" fmla="val 803"/>
              <a:gd name="adj3" fmla="val 51653"/>
              <a:gd name="adj4" fmla="val -11850"/>
              <a:gd name="adj5" fmla="val 169426"/>
              <a:gd name="adj6" fmla="val -22051"/>
            </a:avLst>
          </a:prstGeom>
          <a:noFill/>
          <a:ln w="12700"/>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just">
              <a:lnSpc>
                <a:spcPct val="120000"/>
              </a:lnSpc>
            </a:pPr>
            <a:r>
              <a:rPr lang="zh-CN" altLang="en-US" sz="1600">
                <a:solidFill>
                  <a:srgbClr val="C00000"/>
                </a:solidFill>
                <a:latin typeface="Noto Sans SC"/>
                <a:ea typeface="Noto Sans SC"/>
                <a:cs typeface="Noto Sans SC"/>
                <a:sym typeface="Noto Sans SC"/>
              </a:rPr>
              <a:t>能遍历完表的</a:t>
            </a:r>
            <a:r>
              <a:rPr lang="zh-CN" altLang="en-US" sz="1600" b="1">
                <a:solidFill>
                  <a:srgbClr val="C00000"/>
                </a:solidFill>
                <a:latin typeface="Noto Sans SC"/>
                <a:ea typeface="Noto Sans SC"/>
                <a:cs typeface="Noto Sans SC"/>
                <a:sym typeface="Noto Sans SC"/>
              </a:rPr>
              <a:t>任意时刻的全部数据</a:t>
            </a:r>
            <a:r>
              <a:rPr lang="zh-CN" altLang="en-US" sz="1600">
                <a:solidFill>
                  <a:srgbClr val="C00000"/>
                </a:solidFill>
                <a:latin typeface="Noto Sans SC"/>
                <a:ea typeface="Noto Sans SC"/>
                <a:cs typeface="Noto Sans SC"/>
                <a:sym typeface="Noto Sans SC"/>
              </a:rPr>
              <a:t>吗？不能！所以，全球所有教材里讲的这个判定方法是错误的！</a:t>
            </a:r>
            <a:endParaRPr lang="zh-CN" altLang="en-US" sz="1600"/>
          </a:p>
        </p:txBody>
      </p:sp>
      <p:sp>
        <p:nvSpPr>
          <p:cNvPr id="10" name="AutoShape 4">
            <a:extLst>
              <a:ext uri="{FF2B5EF4-FFF2-40B4-BE49-F238E27FC236}">
                <a16:creationId xmlns:a16="http://schemas.microsoft.com/office/drawing/2014/main" id="{CB7E9F96-E710-3CEE-EF7C-E10CAB32F278}"/>
              </a:ext>
            </a:extLst>
          </p:cNvPr>
          <p:cNvSpPr/>
          <p:nvPr/>
        </p:nvSpPr>
        <p:spPr>
          <a:xfrm>
            <a:off x="838200" y="1192324"/>
            <a:ext cx="3697512" cy="369332"/>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7.2</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：判断</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FD</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是否成立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838200" y="1834891"/>
            <a:ext cx="3670005" cy="4438908"/>
          </a:xfrm>
          <a:prstGeom prst="rect">
            <a:avLst/>
          </a:prstGeom>
          <a:solidFill>
            <a:srgbClr val="F9FAFB">
              <a:alpha val="100000"/>
            </a:srgbClr>
          </a:solidFill>
          <a:ln w="12700" cap="flat" cmpd="sng">
            <a:noFill/>
            <a:prstDash val="solid"/>
            <a:round/>
          </a:ln>
        </p:spPr>
        <p:txBody>
          <a:bodyPr vert="horz" wrap="square" lIns="203200" tIns="203200" rIns="203200" bIns="0" rtlCol="0" anchor="t" anchorCtr="0"/>
          <a:lstStyle/>
          <a:p>
            <a:pPr indent="0" algn="l">
              <a:lnSpc>
                <a:spcPct val="108333"/>
              </a:lnSpc>
              <a:spcAft>
                <a:spcPts val="1200"/>
              </a:spcAft>
            </a:pPr>
            <a:r>
              <a:rPr lang="en-US" sz="1600" b="0" i="0" u="none" strike="noStrike">
                <a:solidFill>
                  <a:srgbClr val="1F2937"/>
                </a:solidFill>
                <a:latin typeface="Noto Sans SC"/>
                <a:ea typeface="Noto Sans SC"/>
                <a:cs typeface="Noto Sans SC"/>
                <a:sym typeface="Noto Sans SC"/>
              </a:rPr>
              <a:t>假设有一个混合了学生、课程和教师信息的关系模式：</a:t>
            </a:r>
          </a:p>
          <a:p>
            <a:pPr indent="0" algn="l">
              <a:lnSpc>
                <a:spcPct val="108333"/>
              </a:lnSpc>
              <a:spcAft>
                <a:spcPts val="2000"/>
              </a:spcAft>
            </a:pPr>
            <a:r>
              <a:rPr lang="en-US" sz="1600" b="1" i="0" u="none" strike="noStrike">
                <a:solidFill>
                  <a:srgbClr val="DC2626"/>
                </a:solidFill>
                <a:latin typeface="Noto Sans SC"/>
                <a:ea typeface="Noto Sans SC"/>
                <a:cs typeface="Noto Sans SC"/>
                <a:sym typeface="Noto Sans SC"/>
              </a:rPr>
              <a:t>R (S#, S</a:t>
            </a:r>
            <a:r>
              <a:rPr lang="en-US" altLang="zh-CN" sz="1600" b="1" i="0" u="none" strike="noStrike">
                <a:solidFill>
                  <a:srgbClr val="DC2626"/>
                </a:solidFill>
                <a:latin typeface="Noto Sans SC"/>
                <a:ea typeface="Noto Sans SC"/>
                <a:cs typeface="Noto Sans SC"/>
                <a:sym typeface="Noto Sans SC"/>
              </a:rPr>
              <a:t>name</a:t>
            </a:r>
            <a:r>
              <a:rPr lang="en-US" sz="1600" b="1" i="0" u="none" strike="noStrike">
                <a:solidFill>
                  <a:srgbClr val="DC2626"/>
                </a:solidFill>
                <a:latin typeface="Noto Sans SC"/>
                <a:ea typeface="Noto Sans SC"/>
                <a:cs typeface="Noto Sans SC"/>
                <a:sym typeface="Noto Sans SC"/>
              </a:rPr>
              <a:t>, A</a:t>
            </a:r>
            <a:r>
              <a:rPr lang="en-US" altLang="zh-CN" sz="1600" b="1" i="0" u="none" strike="noStrike">
                <a:solidFill>
                  <a:srgbClr val="DC2626"/>
                </a:solidFill>
                <a:latin typeface="Noto Sans SC"/>
                <a:ea typeface="Noto Sans SC"/>
                <a:cs typeface="Noto Sans SC"/>
                <a:sym typeface="Noto Sans SC"/>
              </a:rPr>
              <a:t>ge</a:t>
            </a:r>
            <a:r>
              <a:rPr lang="en-US" sz="1600" b="1" i="0" u="none" strike="noStrike">
                <a:solidFill>
                  <a:srgbClr val="DC2626"/>
                </a:solidFill>
                <a:latin typeface="Noto Sans SC"/>
                <a:ea typeface="Noto Sans SC"/>
                <a:cs typeface="Noto Sans SC"/>
                <a:sym typeface="Noto Sans SC"/>
              </a:rPr>
              <a:t>, Sex, C#, CName, Score, T#, T</a:t>
            </a:r>
            <a:r>
              <a:rPr lang="en-US" altLang="zh-CN" sz="1600" b="1">
                <a:solidFill>
                  <a:srgbClr val="DC2626"/>
                </a:solidFill>
                <a:latin typeface="Noto Sans SC"/>
                <a:ea typeface="Noto Sans SC"/>
                <a:cs typeface="Noto Sans SC"/>
                <a:sym typeface="Noto Sans SC"/>
              </a:rPr>
              <a:t>N</a:t>
            </a:r>
            <a:r>
              <a:rPr lang="en-US" sz="1600" b="1" i="0" u="none" strike="noStrike">
                <a:solidFill>
                  <a:srgbClr val="DC2626"/>
                </a:solidFill>
                <a:latin typeface="Noto Sans SC"/>
                <a:ea typeface="Noto Sans SC"/>
                <a:cs typeface="Noto Sans SC"/>
                <a:sym typeface="Noto Sans SC"/>
              </a:rPr>
              <a:t>ame, Title)</a:t>
            </a:r>
          </a:p>
          <a:p>
            <a:pPr indent="0" algn="l">
              <a:lnSpc>
                <a:spcPct val="114000"/>
              </a:lnSpc>
              <a:spcAft>
                <a:spcPts val="2000"/>
              </a:spcAft>
            </a:pPr>
            <a:r>
              <a:rPr lang="zh-CN" altLang="en-US" sz="1600">
                <a:solidFill>
                  <a:schemeClr val="tx1"/>
                </a:solidFill>
                <a:latin typeface="Noto Sans SC"/>
                <a:ea typeface="Noto Sans SC"/>
                <a:cs typeface="Noto Sans SC"/>
                <a:sym typeface="Noto Sans SC"/>
              </a:rPr>
              <a:t>属性含义如下：</a:t>
            </a:r>
            <a:br>
              <a:rPr lang="en-US" altLang="zh-CN" sz="1600">
                <a:solidFill>
                  <a:schemeClr val="tx1"/>
                </a:solidFill>
                <a:latin typeface="Noto Sans SC"/>
                <a:ea typeface="Noto Sans SC"/>
                <a:cs typeface="Noto Sans SC"/>
                <a:sym typeface="Noto Sans SC"/>
              </a:rPr>
            </a:br>
            <a:r>
              <a:rPr lang="en-US" altLang="zh-CN">
                <a:solidFill>
                  <a:schemeClr val="tx1"/>
                </a:solidFill>
                <a:latin typeface="Noto Sans SC"/>
                <a:ea typeface="Noto Sans SC"/>
                <a:cs typeface="Noto Sans SC"/>
                <a:sym typeface="Noto Sans SC"/>
              </a:rPr>
              <a:t>S#</a:t>
            </a:r>
            <a:r>
              <a:rPr lang="zh-CN" altLang="en-US">
                <a:solidFill>
                  <a:schemeClr val="tx1"/>
                </a:solidFill>
                <a:latin typeface="Noto Sans SC"/>
                <a:ea typeface="Noto Sans SC"/>
                <a:cs typeface="Noto Sans SC"/>
                <a:sym typeface="Noto Sans SC"/>
              </a:rPr>
              <a:t>：学生的学号</a:t>
            </a:r>
            <a:br>
              <a:rPr lang="en-US" altLang="zh-CN">
                <a:solidFill>
                  <a:schemeClr val="tx1"/>
                </a:solidFill>
                <a:latin typeface="Noto Sans SC"/>
                <a:ea typeface="Noto Sans SC"/>
                <a:cs typeface="Noto Sans SC"/>
                <a:sym typeface="Noto Sans SC"/>
              </a:rPr>
            </a:br>
            <a:r>
              <a:rPr lang="en-US" altLang="zh-CN">
                <a:solidFill>
                  <a:schemeClr val="tx1"/>
                </a:solidFill>
                <a:latin typeface="Noto Sans SC"/>
                <a:ea typeface="Noto Sans SC"/>
                <a:cs typeface="Noto Sans SC"/>
                <a:sym typeface="Noto Sans SC"/>
              </a:rPr>
              <a:t>Sname</a:t>
            </a:r>
            <a:r>
              <a:rPr lang="zh-CN" altLang="en-US">
                <a:solidFill>
                  <a:schemeClr val="tx1"/>
                </a:solidFill>
                <a:latin typeface="Noto Sans SC"/>
                <a:ea typeface="Noto Sans SC"/>
                <a:cs typeface="Noto Sans SC"/>
                <a:sym typeface="Noto Sans SC"/>
              </a:rPr>
              <a:t>：学生的姓名</a:t>
            </a:r>
            <a:br>
              <a:rPr lang="en-US" altLang="zh-CN">
                <a:solidFill>
                  <a:schemeClr val="tx1"/>
                </a:solidFill>
                <a:latin typeface="Noto Sans SC"/>
                <a:ea typeface="Noto Sans SC"/>
                <a:cs typeface="Noto Sans SC"/>
                <a:sym typeface="Noto Sans SC"/>
              </a:rPr>
            </a:br>
            <a:r>
              <a:rPr lang="en-US" altLang="zh-CN">
                <a:solidFill>
                  <a:schemeClr val="tx1"/>
                </a:solidFill>
                <a:latin typeface="Noto Sans SC"/>
                <a:ea typeface="Noto Sans SC"/>
                <a:cs typeface="Noto Sans SC"/>
                <a:sym typeface="Noto Sans SC"/>
              </a:rPr>
              <a:t>Age</a:t>
            </a:r>
            <a:r>
              <a:rPr lang="zh-CN" altLang="en-US">
                <a:solidFill>
                  <a:schemeClr val="tx1"/>
                </a:solidFill>
                <a:latin typeface="Noto Sans SC"/>
                <a:ea typeface="Noto Sans SC"/>
                <a:cs typeface="Noto Sans SC"/>
                <a:sym typeface="Noto Sans SC"/>
              </a:rPr>
              <a:t>；学生的年龄</a:t>
            </a:r>
            <a:br>
              <a:rPr lang="en-US" altLang="zh-CN">
                <a:solidFill>
                  <a:schemeClr val="tx1"/>
                </a:solidFill>
                <a:latin typeface="Noto Sans SC"/>
                <a:ea typeface="Noto Sans SC"/>
                <a:cs typeface="Noto Sans SC"/>
                <a:sym typeface="Noto Sans SC"/>
              </a:rPr>
            </a:br>
            <a:r>
              <a:rPr lang="en-US" altLang="zh-CN">
                <a:solidFill>
                  <a:schemeClr val="tx1"/>
                </a:solidFill>
                <a:latin typeface="Noto Sans SC"/>
                <a:ea typeface="Noto Sans SC"/>
                <a:cs typeface="Noto Sans SC"/>
                <a:sym typeface="Noto Sans SC"/>
              </a:rPr>
              <a:t>Sex</a:t>
            </a:r>
            <a:r>
              <a:rPr lang="zh-CN" altLang="en-US">
                <a:solidFill>
                  <a:schemeClr val="tx1"/>
                </a:solidFill>
                <a:latin typeface="Noto Sans SC"/>
                <a:ea typeface="Noto Sans SC"/>
                <a:cs typeface="Noto Sans SC"/>
                <a:sym typeface="Noto Sans SC"/>
              </a:rPr>
              <a:t>：学生的性别</a:t>
            </a:r>
            <a:br>
              <a:rPr lang="en-US" altLang="zh-CN">
                <a:solidFill>
                  <a:schemeClr val="tx1"/>
                </a:solidFill>
                <a:latin typeface="Noto Sans SC"/>
                <a:ea typeface="Noto Sans SC"/>
                <a:cs typeface="Noto Sans SC"/>
                <a:sym typeface="Noto Sans SC"/>
              </a:rPr>
            </a:br>
            <a:r>
              <a:rPr lang="en-US" altLang="zh-CN">
                <a:solidFill>
                  <a:schemeClr val="tx1"/>
                </a:solidFill>
                <a:latin typeface="Noto Sans SC"/>
                <a:ea typeface="Noto Sans SC"/>
                <a:cs typeface="Noto Sans SC"/>
                <a:sym typeface="Noto Sans SC"/>
              </a:rPr>
              <a:t>C#</a:t>
            </a:r>
            <a:r>
              <a:rPr lang="zh-CN" altLang="en-US">
                <a:solidFill>
                  <a:schemeClr val="tx1"/>
                </a:solidFill>
                <a:latin typeface="Noto Sans SC"/>
                <a:ea typeface="Noto Sans SC"/>
                <a:cs typeface="Noto Sans SC"/>
                <a:sym typeface="Noto Sans SC"/>
              </a:rPr>
              <a:t>：课程的代号</a:t>
            </a:r>
            <a:br>
              <a:rPr lang="en-US" altLang="zh-CN">
                <a:solidFill>
                  <a:schemeClr val="tx1"/>
                </a:solidFill>
                <a:latin typeface="Noto Sans SC"/>
                <a:ea typeface="Noto Sans SC"/>
                <a:cs typeface="Noto Sans SC"/>
                <a:sym typeface="Noto Sans SC"/>
              </a:rPr>
            </a:br>
            <a:r>
              <a:rPr lang="en-US" altLang="zh-CN">
                <a:solidFill>
                  <a:schemeClr val="tx1"/>
                </a:solidFill>
                <a:latin typeface="Noto Sans SC"/>
                <a:ea typeface="Noto Sans SC"/>
                <a:cs typeface="Noto Sans SC"/>
                <a:sym typeface="Noto Sans SC"/>
              </a:rPr>
              <a:t>CName</a:t>
            </a:r>
            <a:r>
              <a:rPr lang="zh-CN" altLang="en-US">
                <a:solidFill>
                  <a:schemeClr val="tx1"/>
                </a:solidFill>
                <a:latin typeface="Noto Sans SC"/>
                <a:ea typeface="Noto Sans SC"/>
                <a:cs typeface="Noto Sans SC"/>
                <a:sym typeface="Noto Sans SC"/>
              </a:rPr>
              <a:t>：课程的名称</a:t>
            </a:r>
            <a:br>
              <a:rPr lang="en-US" altLang="zh-CN">
                <a:solidFill>
                  <a:schemeClr val="tx1"/>
                </a:solidFill>
                <a:latin typeface="Noto Sans SC"/>
                <a:ea typeface="Noto Sans SC"/>
                <a:cs typeface="Noto Sans SC"/>
                <a:sym typeface="Noto Sans SC"/>
              </a:rPr>
            </a:br>
            <a:r>
              <a:rPr lang="en-US" altLang="zh-CN">
                <a:solidFill>
                  <a:schemeClr val="tx1"/>
                </a:solidFill>
                <a:latin typeface="Noto Sans SC"/>
                <a:ea typeface="Noto Sans SC"/>
                <a:cs typeface="Noto Sans SC"/>
                <a:sym typeface="Noto Sans SC"/>
              </a:rPr>
              <a:t>Score</a:t>
            </a:r>
            <a:r>
              <a:rPr lang="zh-CN" altLang="en-US">
                <a:solidFill>
                  <a:schemeClr val="tx1"/>
                </a:solidFill>
                <a:latin typeface="Noto Sans SC"/>
                <a:ea typeface="Noto Sans SC"/>
                <a:cs typeface="Noto Sans SC"/>
                <a:sym typeface="Noto Sans SC"/>
              </a:rPr>
              <a:t>：选课成绩</a:t>
            </a:r>
            <a:br>
              <a:rPr lang="en-US" altLang="zh-CN">
                <a:solidFill>
                  <a:schemeClr val="tx1"/>
                </a:solidFill>
                <a:latin typeface="Noto Sans SC"/>
                <a:ea typeface="Noto Sans SC"/>
                <a:cs typeface="Noto Sans SC"/>
                <a:sym typeface="Noto Sans SC"/>
              </a:rPr>
            </a:br>
            <a:r>
              <a:rPr lang="en-US" altLang="zh-CN">
                <a:solidFill>
                  <a:schemeClr val="tx1"/>
                </a:solidFill>
                <a:latin typeface="Noto Sans SC"/>
                <a:ea typeface="Noto Sans SC"/>
                <a:cs typeface="Noto Sans SC"/>
                <a:sym typeface="Noto Sans SC"/>
              </a:rPr>
              <a:t>T#</a:t>
            </a:r>
            <a:r>
              <a:rPr lang="zh-CN" altLang="en-US">
                <a:solidFill>
                  <a:schemeClr val="tx1"/>
                </a:solidFill>
                <a:latin typeface="Noto Sans SC"/>
                <a:ea typeface="Noto Sans SC"/>
                <a:cs typeface="Noto Sans SC"/>
                <a:sym typeface="Noto Sans SC"/>
              </a:rPr>
              <a:t>：授课教师的工号</a:t>
            </a:r>
            <a:br>
              <a:rPr lang="en-US" altLang="zh-CN">
                <a:solidFill>
                  <a:schemeClr val="tx1"/>
                </a:solidFill>
                <a:latin typeface="Noto Sans SC"/>
                <a:ea typeface="Noto Sans SC"/>
                <a:cs typeface="Noto Sans SC"/>
                <a:sym typeface="Noto Sans SC"/>
              </a:rPr>
            </a:br>
            <a:r>
              <a:rPr lang="en-US" altLang="zh-CN">
                <a:solidFill>
                  <a:schemeClr val="tx1"/>
                </a:solidFill>
                <a:latin typeface="Noto Sans SC"/>
                <a:ea typeface="Noto Sans SC"/>
                <a:cs typeface="Noto Sans SC"/>
                <a:sym typeface="Noto Sans SC"/>
              </a:rPr>
              <a:t>TName</a:t>
            </a:r>
            <a:r>
              <a:rPr lang="zh-CN" altLang="en-US">
                <a:solidFill>
                  <a:schemeClr val="tx1"/>
                </a:solidFill>
                <a:latin typeface="Noto Sans SC"/>
                <a:ea typeface="Noto Sans SC"/>
                <a:cs typeface="Noto Sans SC"/>
                <a:sym typeface="Noto Sans SC"/>
              </a:rPr>
              <a:t>：授课教师的姓名</a:t>
            </a:r>
            <a:br>
              <a:rPr lang="en-US" altLang="zh-CN">
                <a:solidFill>
                  <a:schemeClr val="tx1"/>
                </a:solidFill>
                <a:latin typeface="Noto Sans SC"/>
                <a:ea typeface="Noto Sans SC"/>
                <a:cs typeface="Noto Sans SC"/>
                <a:sym typeface="Noto Sans SC"/>
              </a:rPr>
            </a:br>
            <a:r>
              <a:rPr lang="en-US" altLang="zh-CN">
                <a:solidFill>
                  <a:schemeClr val="tx1"/>
                </a:solidFill>
                <a:latin typeface="Noto Sans SC"/>
                <a:ea typeface="Noto Sans SC"/>
                <a:cs typeface="Noto Sans SC"/>
                <a:sym typeface="Noto Sans SC"/>
              </a:rPr>
              <a:t>Title</a:t>
            </a:r>
            <a:r>
              <a:rPr lang="zh-CN" altLang="en-US">
                <a:solidFill>
                  <a:schemeClr val="tx1"/>
                </a:solidFill>
                <a:latin typeface="Noto Sans SC"/>
                <a:ea typeface="Noto Sans SC"/>
                <a:cs typeface="Noto Sans SC"/>
                <a:sym typeface="Noto Sans SC"/>
              </a:rPr>
              <a:t>：授课教师的职称</a:t>
            </a:r>
            <a:endParaRPr lang="en-US" sz="1600" i="0" u="none" strike="noStrike">
              <a:solidFill>
                <a:schemeClr val="tx1"/>
              </a:solidFill>
              <a:latin typeface="Noto Sans SC"/>
              <a:ea typeface="Noto Sans SC"/>
              <a:cs typeface="Noto Sans SC"/>
              <a:sym typeface="Noto Sans SC"/>
            </a:endParaRPr>
          </a:p>
        </p:txBody>
      </p:sp>
      <p:sp>
        <p:nvSpPr>
          <p:cNvPr id="4" name="AutoShape 4"/>
          <p:cNvSpPr/>
          <p:nvPr/>
        </p:nvSpPr>
        <p:spPr>
          <a:xfrm>
            <a:off x="5606902" y="1268818"/>
            <a:ext cx="5746897" cy="5004981"/>
          </a:xfrm>
          <a:prstGeom prst="rect">
            <a:avLst/>
          </a:prstGeom>
          <a:solidFill>
            <a:srgbClr val="F9FAFB">
              <a:alpha val="100000"/>
            </a:srgbClr>
          </a:solidFill>
          <a:ln w="12700" cap="flat" cmpd="sng">
            <a:noFill/>
            <a:prstDash val="solid"/>
            <a:round/>
          </a:ln>
        </p:spPr>
        <p:txBody>
          <a:bodyPr vert="horz" wrap="square" lIns="203200" tIns="203200" rIns="203200" bIns="0" rtlCol="0" anchor="t" anchorCtr="0"/>
          <a:lstStyle/>
          <a:p>
            <a:pPr indent="0">
              <a:lnSpc>
                <a:spcPct val="125000"/>
              </a:lnSpc>
              <a:spcAft>
                <a:spcPts val="1600"/>
              </a:spcAft>
              <a:defRPr/>
            </a:pPr>
            <a:r>
              <a:rPr lang="zh-CN" altLang="en-US" sz="2200" b="1" i="0" u="none" strike="noStrike">
                <a:solidFill>
                  <a:srgbClr val="FF0000"/>
                </a:solidFill>
                <a:latin typeface="Noto Sans SC"/>
                <a:ea typeface="Noto Sans SC"/>
                <a:cs typeface="Noto Sans SC"/>
                <a:sym typeface="Noto Sans SC"/>
              </a:rPr>
              <a:t>业务</a:t>
            </a:r>
            <a:r>
              <a:rPr lang="en-US" sz="2200" b="1" i="0" u="none" strike="noStrike">
                <a:solidFill>
                  <a:srgbClr val="FF0000"/>
                </a:solidFill>
                <a:latin typeface="Noto Sans SC"/>
                <a:ea typeface="Noto Sans SC"/>
                <a:cs typeface="Noto Sans SC"/>
                <a:sym typeface="Noto Sans SC"/>
              </a:rPr>
              <a:t>规则</a:t>
            </a:r>
            <a:r>
              <a:rPr lang="zh-CN" altLang="en-US" sz="2200" b="1" i="0" u="none" strike="noStrike">
                <a:solidFill>
                  <a:srgbClr val="FF0000"/>
                </a:solidFill>
                <a:latin typeface="Noto Sans SC"/>
                <a:ea typeface="Noto Sans SC"/>
                <a:cs typeface="Noto Sans SC"/>
                <a:sym typeface="Noto Sans SC"/>
              </a:rPr>
              <a:t>蕴含着如下</a:t>
            </a:r>
            <a:r>
              <a:rPr lang="en-US" sz="2200" b="1" i="0" u="none" strike="noStrike">
                <a:solidFill>
                  <a:srgbClr val="FF0000"/>
                </a:solidFill>
                <a:latin typeface="Noto Sans SC"/>
                <a:ea typeface="Noto Sans SC"/>
                <a:cs typeface="Noto Sans SC"/>
                <a:sym typeface="Noto Sans SC"/>
              </a:rPr>
              <a:t>FD</a:t>
            </a:r>
            <a:r>
              <a:rPr lang="zh-CN" altLang="en-US" sz="2200" b="1" i="0" u="none" strike="noStrike">
                <a:solidFill>
                  <a:srgbClr val="FF0000"/>
                </a:solidFill>
                <a:latin typeface="Noto Sans SC"/>
                <a:ea typeface="Noto Sans SC"/>
                <a:cs typeface="Noto Sans SC"/>
                <a:sym typeface="Noto Sans SC"/>
              </a:rPr>
              <a:t>：</a:t>
            </a:r>
            <a:endParaRPr lang="en-US" altLang="zh-CN" sz="2200" b="1" i="0" u="none" strike="noStrike">
              <a:solidFill>
                <a:srgbClr val="FF0000"/>
              </a:solidFill>
              <a:latin typeface="Noto Sans SC"/>
              <a:ea typeface="Noto Sans SC"/>
              <a:cs typeface="Noto Sans SC"/>
              <a:sym typeface="Noto Sans SC"/>
            </a:endParaRPr>
          </a:p>
          <a:p>
            <a:pPr marL="285750" indent="-285750">
              <a:lnSpc>
                <a:spcPct val="116666"/>
              </a:lnSpc>
              <a:spcAft>
                <a:spcPts val="800"/>
              </a:spcAft>
              <a:buFont typeface="Arial" panose="020B0604020202020204" pitchFamily="34" charset="0"/>
              <a:buChar char="•"/>
            </a:pPr>
            <a:r>
              <a:rPr lang="en-US" altLang="zh-CN" sz="1600">
                <a:solidFill>
                  <a:srgbClr val="111827"/>
                </a:solidFill>
                <a:latin typeface="Noto Sans SC"/>
                <a:ea typeface="Noto Sans SC"/>
                <a:cs typeface="Noto Sans SC"/>
                <a:sym typeface="Noto Sans SC"/>
              </a:rPr>
              <a:t>S#→SName：</a:t>
            </a:r>
            <a:r>
              <a:rPr lang="en-US" altLang="zh-CN" sz="1600">
                <a:solidFill>
                  <a:srgbClr val="111827"/>
                </a:solidFill>
                <a:latin typeface="Noto Sans SC"/>
                <a:ea typeface="Noto Sans SC"/>
                <a:sym typeface="Noto Sans SC"/>
              </a:rPr>
              <a:t>学号唯一决定学生姓名</a:t>
            </a:r>
            <a:r>
              <a:rPr lang="en-US" altLang="zh-CN" sz="1600">
                <a:solidFill>
                  <a:srgbClr val="4B5563"/>
                </a:solidFill>
                <a:latin typeface="Noto Sans SC"/>
                <a:ea typeface="Noto Sans SC"/>
                <a:cs typeface="Noto Sans SC"/>
                <a:sym typeface="Noto Sans SC"/>
              </a:rPr>
              <a:t>。</a:t>
            </a:r>
          </a:p>
          <a:p>
            <a:pPr marL="285750" indent="-285750">
              <a:lnSpc>
                <a:spcPct val="116666"/>
              </a:lnSpc>
              <a:spcAft>
                <a:spcPts val="800"/>
              </a:spcAft>
              <a:buFont typeface="Arial" panose="020B0604020202020204" pitchFamily="34" charset="0"/>
              <a:buChar char="•"/>
            </a:pPr>
            <a:r>
              <a:rPr lang="en-US" altLang="zh-CN" sz="1600">
                <a:solidFill>
                  <a:srgbClr val="111827"/>
                </a:solidFill>
                <a:latin typeface="Noto Sans SC"/>
                <a:ea typeface="Noto Sans SC"/>
                <a:cs typeface="Noto Sans SC"/>
                <a:sym typeface="Noto Sans SC"/>
              </a:rPr>
              <a:t>C#→CName：</a:t>
            </a:r>
            <a:r>
              <a:rPr lang="en-US" altLang="zh-CN" sz="1600">
                <a:solidFill>
                  <a:srgbClr val="4B5563"/>
                </a:solidFill>
                <a:latin typeface="Noto Sans SC"/>
                <a:ea typeface="Noto Sans SC"/>
                <a:cs typeface="Noto Sans SC"/>
                <a:sym typeface="Noto Sans SC"/>
              </a:rPr>
              <a:t>课程号唯一决定课程名称。</a:t>
            </a:r>
          </a:p>
          <a:p>
            <a:pPr marL="285750" indent="-285750">
              <a:lnSpc>
                <a:spcPct val="116666"/>
              </a:lnSpc>
              <a:spcAft>
                <a:spcPts val="800"/>
              </a:spcAft>
              <a:buFont typeface="Arial" panose="020B0604020202020204" pitchFamily="34" charset="0"/>
              <a:buChar char="•"/>
            </a:pPr>
            <a:r>
              <a:rPr lang="en-US" altLang="zh-CN" sz="1600">
                <a:solidFill>
                  <a:srgbClr val="111827"/>
                </a:solidFill>
                <a:latin typeface="Noto Sans SC"/>
                <a:ea typeface="Noto Sans SC"/>
                <a:cs typeface="Noto Sans SC"/>
                <a:sym typeface="Noto Sans SC"/>
              </a:rPr>
              <a:t>(S#, C#)→Score：</a:t>
            </a:r>
            <a:r>
              <a:rPr lang="en-US" altLang="zh-CN" sz="1600">
                <a:solidFill>
                  <a:srgbClr val="4B5563"/>
                </a:solidFill>
                <a:latin typeface="Noto Sans SC"/>
                <a:ea typeface="Noto Sans SC"/>
                <a:cs typeface="Noto Sans SC"/>
                <a:sym typeface="Noto Sans SC"/>
              </a:rPr>
              <a:t>特定学生选修特定课程，成绩唯一确定。</a:t>
            </a:r>
          </a:p>
          <a:p>
            <a:pPr marL="285750" indent="-285750">
              <a:lnSpc>
                <a:spcPct val="116666"/>
              </a:lnSpc>
              <a:spcAft>
                <a:spcPts val="800"/>
              </a:spcAft>
              <a:buFont typeface="Arial" panose="020B0604020202020204" pitchFamily="34" charset="0"/>
              <a:buChar char="•"/>
            </a:pPr>
            <a:r>
              <a:rPr lang="en-US" sz="1600">
                <a:solidFill>
                  <a:srgbClr val="111827"/>
                </a:solidFill>
                <a:latin typeface="Noto Sans SC"/>
                <a:ea typeface="Noto Sans SC"/>
                <a:sym typeface="Noto Sans SC"/>
              </a:rPr>
              <a:t>S#→(Age, Sex)：知道一个学生的学号，就能确定他的年龄和性别信息。</a:t>
            </a:r>
          </a:p>
          <a:p>
            <a:pPr marL="285750" indent="-285750">
              <a:lnSpc>
                <a:spcPct val="116666"/>
              </a:lnSpc>
              <a:spcAft>
                <a:spcPts val="800"/>
              </a:spcAft>
              <a:buFont typeface="Arial" panose="020B0604020202020204" pitchFamily="34" charset="0"/>
              <a:buChar char="•"/>
            </a:pPr>
            <a:r>
              <a:rPr lang="en-US" sz="1600">
                <a:solidFill>
                  <a:srgbClr val="111827"/>
                </a:solidFill>
                <a:latin typeface="Noto Sans SC"/>
                <a:ea typeface="Noto Sans SC"/>
                <a:sym typeface="Noto Sans SC"/>
              </a:rPr>
              <a:t>C#→T#：一门课程由一位固定的教师授课，故课程号可决定对应的教师号。</a:t>
            </a:r>
          </a:p>
          <a:p>
            <a:pPr marL="285750" indent="-285750">
              <a:lnSpc>
                <a:spcPct val="116666"/>
              </a:lnSpc>
              <a:spcAft>
                <a:spcPts val="800"/>
              </a:spcAft>
              <a:buFont typeface="Arial" panose="020B0604020202020204" pitchFamily="34" charset="0"/>
              <a:buChar char="•"/>
            </a:pPr>
            <a:r>
              <a:rPr lang="en-US" sz="1600">
                <a:solidFill>
                  <a:srgbClr val="111827"/>
                </a:solidFill>
                <a:latin typeface="Noto Sans SC"/>
                <a:ea typeface="Noto Sans SC"/>
                <a:sym typeface="Noto Sans SC"/>
              </a:rPr>
              <a:t>T#→(TName, Title)：教师号是教师的唯一标识，决定了教师的姓名和技术职称。</a:t>
            </a:r>
          </a:p>
          <a:p>
            <a:pPr>
              <a:lnSpc>
                <a:spcPct val="116666"/>
              </a:lnSpc>
              <a:spcAft>
                <a:spcPts val="800"/>
              </a:spcAft>
            </a:pPr>
            <a:r>
              <a:rPr lang="en-US" sz="1600">
                <a:solidFill>
                  <a:srgbClr val="111827"/>
                </a:solidFill>
                <a:latin typeface="Noto Sans SC"/>
                <a:ea typeface="Noto Sans SC"/>
                <a:sym typeface="Noto Sans SC"/>
              </a:rPr>
              <a:t>注：这些依赖关系准确描述了数据</a:t>
            </a:r>
            <a:r>
              <a:rPr lang="zh-CN" altLang="en-US" sz="1600">
                <a:solidFill>
                  <a:srgbClr val="111827"/>
                </a:solidFill>
                <a:latin typeface="Noto Sans SC"/>
                <a:ea typeface="Noto Sans SC"/>
                <a:sym typeface="Noto Sans SC"/>
              </a:rPr>
              <a:t>（属性）之间</a:t>
            </a:r>
            <a:r>
              <a:rPr lang="en-US" sz="1600">
                <a:solidFill>
                  <a:srgbClr val="111827"/>
                </a:solidFill>
                <a:latin typeface="Noto Sans SC"/>
                <a:ea typeface="Noto Sans SC"/>
                <a:sym typeface="Noto Sans SC"/>
              </a:rPr>
              <a:t>的内在联系</a:t>
            </a:r>
            <a:r>
              <a:rPr lang="zh-CN" altLang="en-US" sz="1600">
                <a:solidFill>
                  <a:srgbClr val="111827"/>
                </a:solidFill>
                <a:latin typeface="Noto Sans SC"/>
                <a:ea typeface="Noto Sans SC"/>
                <a:sym typeface="Noto Sans SC"/>
              </a:rPr>
              <a:t>（业务语义）</a:t>
            </a:r>
            <a:r>
              <a:rPr lang="en-US" sz="1600">
                <a:solidFill>
                  <a:srgbClr val="111827"/>
                </a:solidFill>
                <a:latin typeface="Noto Sans SC"/>
                <a:ea typeface="Noto Sans SC"/>
                <a:sym typeface="Noto Sans SC"/>
              </a:rPr>
              <a:t>，是进行关系模式规范化分解的重要依据</a:t>
            </a:r>
            <a:r>
              <a:rPr lang="zh-CN" altLang="en-US" sz="1600">
                <a:solidFill>
                  <a:srgbClr val="111827"/>
                </a:solidFill>
                <a:latin typeface="Noto Sans SC"/>
                <a:ea typeface="Noto Sans SC"/>
                <a:sym typeface="Noto Sans SC"/>
              </a:rPr>
              <a:t>！</a:t>
            </a:r>
            <a:endParaRPr lang="en-US" sz="1600">
              <a:solidFill>
                <a:srgbClr val="111827"/>
              </a:solidFill>
              <a:latin typeface="Noto Sans SC"/>
              <a:ea typeface="Noto Sans SC"/>
              <a:sym typeface="Noto Sans SC"/>
            </a:endParaRPr>
          </a:p>
        </p:txBody>
      </p:sp>
      <p:sp>
        <p:nvSpPr>
          <p:cNvPr id="5" name="AutoShape 2">
            <a:extLst>
              <a:ext uri="{FF2B5EF4-FFF2-40B4-BE49-F238E27FC236}">
                <a16:creationId xmlns:a16="http://schemas.microsoft.com/office/drawing/2014/main" id="{773023C9-BD2D-51F5-604E-2A477A952F29}"/>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7.2.1 函数依赖的定义 (3)</a:t>
            </a:r>
            <a:endParaRPr lang="en-US" sz="2400" b="1">
              <a:solidFill>
                <a:srgbClr val="FFFFFF"/>
              </a:solidFill>
              <a:latin typeface="Noto Sans SC"/>
              <a:ea typeface="Noto Sans SC"/>
            </a:endParaRPr>
          </a:p>
        </p:txBody>
      </p:sp>
      <p:sp>
        <p:nvSpPr>
          <p:cNvPr id="2" name="AutoShape 4">
            <a:extLst>
              <a:ext uri="{FF2B5EF4-FFF2-40B4-BE49-F238E27FC236}">
                <a16:creationId xmlns:a16="http://schemas.microsoft.com/office/drawing/2014/main" id="{720F9415-5DF6-AA89-C641-C63A67322C3C}"/>
              </a:ext>
            </a:extLst>
          </p:cNvPr>
          <p:cNvSpPr/>
          <p:nvPr/>
        </p:nvSpPr>
        <p:spPr>
          <a:xfrm>
            <a:off x="838200" y="1192324"/>
            <a:ext cx="3697512"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7.3</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：一个更复杂的例子</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87400" y="800100"/>
            <a:ext cx="7226300" cy="406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5" name="AutoShape 5"/>
          <p:cNvSpPr/>
          <p:nvPr/>
        </p:nvSpPr>
        <p:spPr>
          <a:xfrm>
            <a:off x="838200" y="1441007"/>
            <a:ext cx="6016256" cy="4945615"/>
          </a:xfrm>
          <a:prstGeom prst="rect">
            <a:avLst/>
          </a:prstGeom>
          <a:noFill/>
          <a:ln w="12700" cap="flat" cmpd="sng">
            <a:noFill/>
            <a:prstDash val="solid"/>
            <a:round/>
          </a:ln>
        </p:spPr>
        <p:txBody>
          <a:bodyPr vert="horz" wrap="square" lIns="127000" tIns="127000" rIns="127000" bIns="0" rtlCol="0" anchor="t" anchorCtr="0"/>
          <a:lstStyle/>
          <a:p>
            <a:pPr indent="0" algn="l">
              <a:lnSpc>
                <a:spcPct val="100000"/>
              </a:lnSpc>
              <a:defRPr/>
            </a:pPr>
            <a:r>
              <a:rPr lang="en-US" sz="2400" b="1" i="0" u="none" strike="noStrike">
                <a:solidFill>
                  <a:srgbClr val="E67E22"/>
                </a:solidFill>
                <a:latin typeface="Noto Sans SC"/>
                <a:ea typeface="Noto Sans SC"/>
                <a:cs typeface="Noto Sans SC"/>
                <a:sym typeface="Noto Sans SC"/>
              </a:rPr>
              <a:t>▍关系图示意</a:t>
            </a:r>
            <a:endParaRPr lang="en-US" sz="2400"/>
          </a:p>
          <a:p>
            <a:pPr indent="0" algn="l">
              <a:lnSpc>
                <a:spcPct val="116666"/>
              </a:lnSpc>
              <a:spcBef>
                <a:spcPts val="800"/>
              </a:spcBef>
            </a:pPr>
            <a:r>
              <a:rPr lang="en-US" sz="1600" b="0" i="0" u="none" strike="noStrike">
                <a:solidFill>
                  <a:srgbClr val="FF0000"/>
                </a:solidFill>
                <a:latin typeface="Noto Sans SC"/>
                <a:ea typeface="Noto Sans SC"/>
                <a:cs typeface="Noto Sans SC"/>
                <a:sym typeface="Noto Sans SC"/>
              </a:rPr>
              <a:t>关系模式：</a:t>
            </a:r>
          </a:p>
          <a:p>
            <a:pPr indent="0" algn="l">
              <a:lnSpc>
                <a:spcPct val="116666"/>
              </a:lnSpc>
              <a:spcBef>
                <a:spcPts val="800"/>
              </a:spcBef>
            </a:pPr>
            <a:r>
              <a:rPr lang="en-US" b="0" i="0" u="none" strike="noStrike">
                <a:solidFill>
                  <a:schemeClr val="tx1"/>
                </a:solidFill>
                <a:latin typeface="Noto Sans SC"/>
                <a:ea typeface="Noto Sans SC"/>
                <a:cs typeface="Noto Sans SC"/>
                <a:sym typeface="Noto Sans SC"/>
              </a:rPr>
              <a:t>R(S#, SNAME, AGE, SEX, C#, CNAME, SCORE, T#, TNAME, Title)</a:t>
            </a:r>
          </a:p>
          <a:p>
            <a:pPr indent="0" algn="l">
              <a:lnSpc>
                <a:spcPct val="116666"/>
              </a:lnSpc>
              <a:spcBef>
                <a:spcPts val="800"/>
              </a:spcBef>
            </a:pPr>
            <a:r>
              <a:rPr lang="zh-CN" altLang="en-US" sz="1600">
                <a:solidFill>
                  <a:srgbClr val="FF0000"/>
                </a:solidFill>
                <a:latin typeface="Noto Sans SC"/>
                <a:ea typeface="Noto Sans SC"/>
                <a:cs typeface="Noto Sans SC"/>
                <a:sym typeface="Noto Sans SC"/>
              </a:rPr>
              <a:t>业务规则蕴含的</a:t>
            </a:r>
            <a:r>
              <a:rPr lang="en-US" altLang="zh-CN" sz="1600">
                <a:solidFill>
                  <a:srgbClr val="FF0000"/>
                </a:solidFill>
                <a:latin typeface="Noto Sans SC"/>
                <a:ea typeface="Noto Sans SC"/>
                <a:cs typeface="Noto Sans SC"/>
                <a:sym typeface="Noto Sans SC"/>
              </a:rPr>
              <a:t>FD</a:t>
            </a:r>
            <a:r>
              <a:rPr lang="zh-CN" altLang="en-US" sz="1600">
                <a:solidFill>
                  <a:srgbClr val="FF0000"/>
                </a:solidFill>
                <a:latin typeface="Noto Sans SC"/>
                <a:ea typeface="Noto Sans SC"/>
                <a:cs typeface="Noto Sans SC"/>
                <a:sym typeface="Noto Sans SC"/>
              </a:rPr>
              <a:t>如下：</a:t>
            </a:r>
            <a:endParaRPr lang="en-US" sz="1600" b="0" i="0" u="none" strike="noStrike">
              <a:solidFill>
                <a:srgbClr val="FF0000"/>
              </a:solidFill>
              <a:latin typeface="Noto Sans SC"/>
              <a:ea typeface="Noto Sans SC"/>
              <a:cs typeface="Noto Sans SC"/>
              <a:sym typeface="Noto Sans SC"/>
            </a:endParaRPr>
          </a:p>
          <a:p>
            <a:pPr marL="285750" indent="-285750" algn="l">
              <a:lnSpc>
                <a:spcPct val="116666"/>
              </a:lnSpc>
              <a:spcBef>
                <a:spcPts val="600"/>
              </a:spcBef>
              <a:buFont typeface="Arial" panose="020B0604020202020204" pitchFamily="34" charset="0"/>
              <a:buChar char="•"/>
            </a:pPr>
            <a:r>
              <a:rPr lang="en-US" altLang="zh-CN" sz="1600" b="0" i="0" u="none" strike="noStrike">
                <a:solidFill>
                  <a:srgbClr val="666666"/>
                </a:solidFill>
                <a:latin typeface="Noto Sans SC"/>
                <a:ea typeface="Noto Sans SC"/>
                <a:cs typeface="Noto Sans SC"/>
                <a:sym typeface="Noto Sans SC"/>
              </a:rPr>
              <a:t>(S#)→(SName)</a:t>
            </a:r>
            <a:r>
              <a:rPr lang="zh-CN" altLang="en-US" sz="1600" b="0" i="0" u="none" strike="noStrike">
                <a:solidFill>
                  <a:srgbClr val="666666"/>
                </a:solidFill>
                <a:latin typeface="Noto Sans SC"/>
                <a:ea typeface="Noto Sans SC"/>
                <a:cs typeface="Noto Sans SC"/>
                <a:sym typeface="Noto Sans SC"/>
              </a:rPr>
              <a:t>：学号唯一决定学生姓名。</a:t>
            </a:r>
          </a:p>
          <a:p>
            <a:pPr marL="285750" indent="-285750" algn="l">
              <a:lnSpc>
                <a:spcPct val="116666"/>
              </a:lnSpc>
              <a:spcBef>
                <a:spcPts val="600"/>
              </a:spcBef>
              <a:buFont typeface="Arial" panose="020B0604020202020204" pitchFamily="34" charset="0"/>
              <a:buChar char="•"/>
            </a:pPr>
            <a:r>
              <a:rPr lang="en-US" altLang="zh-CN" sz="1600" b="0" i="0" u="none" strike="noStrike">
                <a:solidFill>
                  <a:srgbClr val="666666"/>
                </a:solidFill>
                <a:latin typeface="Noto Sans SC"/>
                <a:ea typeface="Noto Sans SC"/>
                <a:cs typeface="Noto Sans SC"/>
                <a:sym typeface="Noto Sans SC"/>
              </a:rPr>
              <a:t>(C#)→(CName)</a:t>
            </a:r>
            <a:r>
              <a:rPr lang="zh-CN" altLang="en-US" sz="1600" b="0" i="0" u="none" strike="noStrike">
                <a:solidFill>
                  <a:srgbClr val="666666"/>
                </a:solidFill>
                <a:latin typeface="Noto Sans SC"/>
                <a:ea typeface="Noto Sans SC"/>
                <a:cs typeface="Noto Sans SC"/>
                <a:sym typeface="Noto Sans SC"/>
              </a:rPr>
              <a:t>：课程号唯一决定课程名称。</a:t>
            </a:r>
          </a:p>
          <a:p>
            <a:pPr marL="285750" indent="-285750" algn="l">
              <a:lnSpc>
                <a:spcPct val="116666"/>
              </a:lnSpc>
              <a:spcBef>
                <a:spcPts val="600"/>
              </a:spcBef>
              <a:buFont typeface="Arial" panose="020B0604020202020204" pitchFamily="34" charset="0"/>
              <a:buChar char="•"/>
            </a:pPr>
            <a:r>
              <a:rPr lang="en-US" altLang="zh-CN" sz="1600" b="0" i="0" u="none" strike="noStrike">
                <a:solidFill>
                  <a:srgbClr val="666666"/>
                </a:solidFill>
                <a:latin typeface="Noto Sans SC"/>
                <a:ea typeface="Noto Sans SC"/>
                <a:cs typeface="Noto Sans SC"/>
                <a:sym typeface="Noto Sans SC"/>
              </a:rPr>
              <a:t>(S#, C#)→(Score)</a:t>
            </a:r>
            <a:r>
              <a:rPr lang="zh-CN" altLang="en-US" sz="1600" b="0" i="0" u="none" strike="noStrike">
                <a:solidFill>
                  <a:srgbClr val="666666"/>
                </a:solidFill>
                <a:latin typeface="Noto Sans SC"/>
                <a:ea typeface="Noto Sans SC"/>
                <a:cs typeface="Noto Sans SC"/>
                <a:sym typeface="Noto Sans SC"/>
              </a:rPr>
              <a:t>：特定学生选修特定课程，成绩唯一确定。</a:t>
            </a:r>
          </a:p>
          <a:p>
            <a:pPr marL="285750" indent="-285750" algn="l">
              <a:lnSpc>
                <a:spcPct val="116666"/>
              </a:lnSpc>
              <a:spcBef>
                <a:spcPts val="600"/>
              </a:spcBef>
              <a:buFont typeface="Arial" panose="020B0604020202020204" pitchFamily="34" charset="0"/>
              <a:buChar char="•"/>
            </a:pPr>
            <a:r>
              <a:rPr lang="en-US" altLang="zh-CN" sz="1600" b="0" i="0" u="none" strike="noStrike">
                <a:solidFill>
                  <a:srgbClr val="666666"/>
                </a:solidFill>
                <a:latin typeface="Noto Sans SC"/>
                <a:ea typeface="Noto Sans SC"/>
                <a:cs typeface="Noto Sans SC"/>
                <a:sym typeface="Noto Sans SC"/>
              </a:rPr>
              <a:t>(S#)→(Age</a:t>
            </a:r>
            <a:r>
              <a:rPr lang="en-US" altLang="zh-CN" sz="1600">
                <a:solidFill>
                  <a:srgbClr val="666666"/>
                </a:solidFill>
                <a:latin typeface="Noto Sans SC"/>
                <a:ea typeface="Noto Sans SC"/>
                <a:cs typeface="Noto Sans SC"/>
                <a:sym typeface="Noto Sans SC"/>
              </a:rPr>
              <a:t>)</a:t>
            </a:r>
            <a:r>
              <a:rPr lang="en-US" altLang="zh-CN" sz="1600" b="0" i="0" u="none" strike="noStrike">
                <a:solidFill>
                  <a:srgbClr val="666666"/>
                </a:solidFill>
                <a:latin typeface="Noto Sans SC"/>
                <a:ea typeface="Noto Sans SC"/>
                <a:cs typeface="Noto Sans SC"/>
                <a:sym typeface="Noto Sans SC"/>
              </a:rPr>
              <a:t> </a:t>
            </a:r>
            <a:r>
              <a:rPr lang="zh-CN" altLang="en-US" sz="1600" b="0" i="0" u="none" strike="noStrike">
                <a:solidFill>
                  <a:srgbClr val="666666"/>
                </a:solidFill>
                <a:latin typeface="Noto Sans SC"/>
                <a:ea typeface="Noto Sans SC"/>
                <a:cs typeface="Noto Sans SC"/>
                <a:sym typeface="Noto Sans SC"/>
              </a:rPr>
              <a:t>：知道一个学生的学号就能确定其年龄。</a:t>
            </a:r>
          </a:p>
          <a:p>
            <a:pPr marL="285750" indent="-285750">
              <a:lnSpc>
                <a:spcPct val="116666"/>
              </a:lnSpc>
              <a:spcBef>
                <a:spcPts val="600"/>
              </a:spcBef>
              <a:buFont typeface="Arial" panose="020B0604020202020204" pitchFamily="34" charset="0"/>
              <a:buChar char="•"/>
            </a:pPr>
            <a:r>
              <a:rPr lang="en-US" altLang="zh-CN" sz="1600">
                <a:solidFill>
                  <a:srgbClr val="666666"/>
                </a:solidFill>
                <a:latin typeface="Noto Sans SC"/>
                <a:ea typeface="Noto Sans SC"/>
                <a:cs typeface="Noto Sans SC"/>
                <a:sym typeface="Noto Sans SC"/>
              </a:rPr>
              <a:t>(S#)→(Sex)</a:t>
            </a:r>
            <a:r>
              <a:rPr lang="zh-CN" altLang="en-US" sz="1600">
                <a:solidFill>
                  <a:srgbClr val="666666"/>
                </a:solidFill>
                <a:latin typeface="Noto Sans SC"/>
                <a:ea typeface="Noto Sans SC"/>
                <a:cs typeface="Noto Sans SC"/>
                <a:sym typeface="Noto Sans SC"/>
              </a:rPr>
              <a:t>：知道一个学生的学号就能确定其性别。</a:t>
            </a:r>
          </a:p>
          <a:p>
            <a:pPr marL="285750" indent="-285750" algn="l">
              <a:lnSpc>
                <a:spcPct val="116666"/>
              </a:lnSpc>
              <a:spcBef>
                <a:spcPts val="600"/>
              </a:spcBef>
              <a:buFont typeface="Arial" panose="020B0604020202020204" pitchFamily="34" charset="0"/>
              <a:buChar char="•"/>
            </a:pPr>
            <a:r>
              <a:rPr lang="en-US" altLang="zh-CN" sz="1600" b="0" i="0" u="none" strike="noStrike">
                <a:solidFill>
                  <a:srgbClr val="666666"/>
                </a:solidFill>
                <a:latin typeface="Noto Sans SC"/>
                <a:ea typeface="Noto Sans SC"/>
                <a:cs typeface="Noto Sans SC"/>
                <a:sym typeface="Noto Sans SC"/>
              </a:rPr>
              <a:t>(C#)→(T#)</a:t>
            </a:r>
            <a:r>
              <a:rPr lang="zh-CN" altLang="en-US" sz="1600" b="0" i="0" u="none" strike="noStrike">
                <a:solidFill>
                  <a:srgbClr val="666666"/>
                </a:solidFill>
                <a:latin typeface="Noto Sans SC"/>
                <a:ea typeface="Noto Sans SC"/>
                <a:cs typeface="Noto Sans SC"/>
                <a:sym typeface="Noto Sans SC"/>
              </a:rPr>
              <a:t>：一门课程由一位固定的教师授课，故课程号可决定对应的教师号。</a:t>
            </a:r>
          </a:p>
          <a:p>
            <a:pPr marL="285750" indent="-285750" algn="l">
              <a:lnSpc>
                <a:spcPct val="116666"/>
              </a:lnSpc>
              <a:spcBef>
                <a:spcPts val="600"/>
              </a:spcBef>
              <a:buFont typeface="Arial" panose="020B0604020202020204" pitchFamily="34" charset="0"/>
              <a:buChar char="•"/>
            </a:pPr>
            <a:r>
              <a:rPr lang="en-US" altLang="zh-CN" sz="1600" b="0" i="0" u="none" strike="noStrike">
                <a:solidFill>
                  <a:srgbClr val="666666"/>
                </a:solidFill>
                <a:latin typeface="Noto Sans SC"/>
                <a:ea typeface="Noto Sans SC"/>
                <a:cs typeface="Noto Sans SC"/>
                <a:sym typeface="Noto Sans SC"/>
              </a:rPr>
              <a:t>T#→(TName) </a:t>
            </a:r>
            <a:r>
              <a:rPr lang="zh-CN" altLang="en-US" sz="1600" b="0" i="0" u="none" strike="noStrike">
                <a:solidFill>
                  <a:srgbClr val="666666"/>
                </a:solidFill>
                <a:latin typeface="Noto Sans SC"/>
                <a:ea typeface="Noto Sans SC"/>
                <a:cs typeface="Noto Sans SC"/>
                <a:sym typeface="Noto Sans SC"/>
              </a:rPr>
              <a:t>：知道</a:t>
            </a:r>
            <a:r>
              <a:rPr lang="zh-CN" altLang="en-US" sz="1600">
                <a:solidFill>
                  <a:srgbClr val="666666"/>
                </a:solidFill>
                <a:latin typeface="Noto Sans SC"/>
                <a:ea typeface="Noto Sans SC"/>
                <a:cs typeface="Noto Sans SC"/>
                <a:sym typeface="Noto Sans SC"/>
              </a:rPr>
              <a:t>一个</a:t>
            </a:r>
            <a:r>
              <a:rPr lang="zh-CN" altLang="en-US" sz="1600" b="0" i="0" u="none" strike="noStrike">
                <a:solidFill>
                  <a:srgbClr val="666666"/>
                </a:solidFill>
                <a:latin typeface="Noto Sans SC"/>
                <a:ea typeface="Noto Sans SC"/>
                <a:cs typeface="Noto Sans SC"/>
                <a:sym typeface="Noto Sans SC"/>
              </a:rPr>
              <a:t>教师的工号就能确定其姓名。</a:t>
            </a:r>
            <a:endParaRPr lang="en-US" altLang="zh-CN" sz="1600" b="0" i="0" u="none" strike="noStrike">
              <a:solidFill>
                <a:srgbClr val="666666"/>
              </a:solidFill>
              <a:latin typeface="Noto Sans SC"/>
              <a:ea typeface="Noto Sans SC"/>
              <a:cs typeface="Noto Sans SC"/>
              <a:sym typeface="Noto Sans SC"/>
            </a:endParaRPr>
          </a:p>
          <a:p>
            <a:pPr marL="285750" indent="-285750">
              <a:lnSpc>
                <a:spcPct val="116666"/>
              </a:lnSpc>
              <a:spcBef>
                <a:spcPts val="600"/>
              </a:spcBef>
              <a:buFont typeface="Arial" panose="020B0604020202020204" pitchFamily="34" charset="0"/>
              <a:buChar char="•"/>
            </a:pPr>
            <a:r>
              <a:rPr lang="en-US" altLang="zh-CN" sz="1600">
                <a:solidFill>
                  <a:srgbClr val="666666"/>
                </a:solidFill>
                <a:latin typeface="Noto Sans SC"/>
                <a:ea typeface="Noto Sans SC"/>
                <a:cs typeface="Noto Sans SC"/>
                <a:sym typeface="Noto Sans SC"/>
              </a:rPr>
              <a:t>T#→(TName) Title)</a:t>
            </a:r>
            <a:r>
              <a:rPr lang="zh-CN" altLang="en-US" sz="1600">
                <a:solidFill>
                  <a:srgbClr val="666666"/>
                </a:solidFill>
                <a:latin typeface="Noto Sans SC"/>
                <a:ea typeface="Noto Sans SC"/>
                <a:cs typeface="Noto Sans SC"/>
                <a:sym typeface="Noto Sans SC"/>
              </a:rPr>
              <a:t>：知道一个教师的工号就能确定其职称。</a:t>
            </a:r>
            <a:endParaRPr lang="zh-CN" altLang="en-US" sz="1600" b="0" i="0" u="none" strike="noStrike">
              <a:solidFill>
                <a:srgbClr val="666666"/>
              </a:solidFill>
              <a:latin typeface="Noto Sans SC"/>
              <a:ea typeface="Noto Sans SC"/>
              <a:cs typeface="Noto Sans SC"/>
              <a:sym typeface="Noto Sans SC"/>
            </a:endParaRPr>
          </a:p>
        </p:txBody>
      </p:sp>
      <p:sp>
        <p:nvSpPr>
          <p:cNvPr id="10" name="AutoShape 2">
            <a:extLst>
              <a:ext uri="{FF2B5EF4-FFF2-40B4-BE49-F238E27FC236}">
                <a16:creationId xmlns:a16="http://schemas.microsoft.com/office/drawing/2014/main" id="{CB36EA88-0E25-CD5C-2E19-C701D9E713A7}"/>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7.2.1 函数依赖的定义 (4)</a:t>
            </a:r>
            <a:endParaRPr lang="en-US" sz="2400" b="1">
              <a:solidFill>
                <a:srgbClr val="FFFFFF"/>
              </a:solidFill>
              <a:latin typeface="Noto Sans SC"/>
              <a:ea typeface="Noto Sans SC"/>
            </a:endParaRPr>
          </a:p>
        </p:txBody>
      </p:sp>
      <p:pic>
        <p:nvPicPr>
          <p:cNvPr id="14" name="图片 13">
            <a:extLst>
              <a:ext uri="{FF2B5EF4-FFF2-40B4-BE49-F238E27FC236}">
                <a16:creationId xmlns:a16="http://schemas.microsoft.com/office/drawing/2014/main" id="{2C11DCBC-7DAE-BD3A-C861-891B44B1071B}"/>
              </a:ext>
            </a:extLst>
          </p:cNvPr>
          <p:cNvPicPr>
            <a:picLocks noChangeAspect="1"/>
          </p:cNvPicPr>
          <p:nvPr/>
        </p:nvPicPr>
        <p:blipFill>
          <a:blip r:embed="rId3"/>
          <a:stretch>
            <a:fillRect/>
          </a:stretch>
        </p:blipFill>
        <p:spPr>
          <a:xfrm>
            <a:off x="7419189" y="1206500"/>
            <a:ext cx="3934611" cy="4158806"/>
          </a:xfrm>
          <a:prstGeom prst="rect">
            <a:avLst/>
          </a:prstGeom>
        </p:spPr>
      </p:pic>
      <p:sp>
        <p:nvSpPr>
          <p:cNvPr id="16" name="文本框 15">
            <a:extLst>
              <a:ext uri="{FF2B5EF4-FFF2-40B4-BE49-F238E27FC236}">
                <a16:creationId xmlns:a16="http://schemas.microsoft.com/office/drawing/2014/main" id="{BD6EA949-8DF6-00AA-6E70-DE66D00B87A5}"/>
              </a:ext>
            </a:extLst>
          </p:cNvPr>
          <p:cNvSpPr txBox="1"/>
          <p:nvPr/>
        </p:nvSpPr>
        <p:spPr>
          <a:xfrm>
            <a:off x="7612912" y="5466343"/>
            <a:ext cx="3740888" cy="1023357"/>
          </a:xfrm>
          <a:prstGeom prst="rect">
            <a:avLst/>
          </a:prstGeom>
          <a:noFill/>
        </p:spPr>
        <p:txBody>
          <a:bodyPr wrap="square">
            <a:spAutoFit/>
          </a:bodyPr>
          <a:lstStyle/>
          <a:p>
            <a:pPr>
              <a:lnSpc>
                <a:spcPct val="150000"/>
              </a:lnSpc>
            </a:pPr>
            <a:r>
              <a:rPr lang="zh-CN" altLang="en-US" b="0" i="0">
                <a:solidFill>
                  <a:srgbClr val="000000"/>
                </a:solidFill>
                <a:effectLst/>
                <a:latin typeface="Helvetica" panose="020B0604020202020204" pitchFamily="34" charset="0"/>
              </a:rPr>
              <a:t>覆盖全多属性的带背景的椭圆：属性集</a:t>
            </a:r>
            <a:br>
              <a:rPr lang="zh-CN" altLang="en-US"/>
            </a:br>
            <a:r>
              <a:rPr lang="zh-CN" altLang="en-US" b="0" i="0">
                <a:solidFill>
                  <a:srgbClr val="000000"/>
                </a:solidFill>
                <a:effectLst/>
                <a:latin typeface="Helvetica" panose="020B0604020202020204" pitchFamily="34" charset="0"/>
              </a:rPr>
              <a:t>实线箭头：业务规则明确给出的数据依赖</a:t>
            </a:r>
            <a:br>
              <a:rPr lang="zh-CN" altLang="en-US"/>
            </a:br>
            <a:r>
              <a:rPr lang="zh-CN" altLang="en-US" b="0" i="0">
                <a:solidFill>
                  <a:srgbClr val="000000"/>
                </a:solidFill>
                <a:effectLst/>
                <a:latin typeface="Helvetica" panose="020B0604020202020204" pitchFamily="34" charset="0"/>
              </a:rPr>
              <a:t>虚线箭头：可以由已知的</a:t>
            </a:r>
            <a:r>
              <a:rPr lang="en-US" altLang="zh-CN" b="0" i="0">
                <a:solidFill>
                  <a:srgbClr val="000000"/>
                </a:solidFill>
                <a:effectLst/>
                <a:latin typeface="Helvetica" panose="020B0604020202020204" pitchFamily="34" charset="0"/>
              </a:rPr>
              <a:t>FD</a:t>
            </a:r>
            <a:r>
              <a:rPr lang="zh-CN" altLang="en-US" b="0" i="0">
                <a:solidFill>
                  <a:srgbClr val="000000"/>
                </a:solidFill>
                <a:effectLst/>
                <a:latin typeface="Helvetica" panose="020B0604020202020204" pitchFamily="34" charset="0"/>
              </a:rPr>
              <a:t>集推理出来的</a:t>
            </a:r>
            <a:r>
              <a:rPr lang="en-US" altLang="zh-CN" b="0" i="0">
                <a:solidFill>
                  <a:srgbClr val="000000"/>
                </a:solidFill>
                <a:effectLst/>
                <a:latin typeface="Helvetica" panose="020B0604020202020204" pitchFamily="34" charset="0"/>
              </a:rPr>
              <a:t>FD</a:t>
            </a:r>
            <a:endParaRPr lang="zh-C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854D7-BE43-3807-B9A0-2B34324BA63A}"/>
            </a:ext>
          </a:extLst>
        </p:cNvPr>
        <p:cNvGrpSpPr/>
        <p:nvPr/>
      </p:nvGrpSpPr>
      <p:grpSpPr>
        <a:xfrm>
          <a:off x="0" y="0"/>
          <a:ext cx="0" cy="0"/>
          <a:chOff x="0" y="0"/>
          <a:chExt cx="0" cy="0"/>
        </a:xfrm>
      </p:grpSpPr>
      <p:sp>
        <p:nvSpPr>
          <p:cNvPr id="3" name="AutoShape 3">
            <a:extLst>
              <a:ext uri="{FF2B5EF4-FFF2-40B4-BE49-F238E27FC236}">
                <a16:creationId xmlns:a16="http://schemas.microsoft.com/office/drawing/2014/main" id="{50C97E26-92A5-82F6-019C-0F1EE5CC467A}"/>
              </a:ext>
            </a:extLst>
          </p:cNvPr>
          <p:cNvSpPr/>
          <p:nvPr/>
        </p:nvSpPr>
        <p:spPr>
          <a:xfrm>
            <a:off x="787400" y="800100"/>
            <a:ext cx="7226300" cy="406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9" name="AutoShape 9">
            <a:extLst>
              <a:ext uri="{FF2B5EF4-FFF2-40B4-BE49-F238E27FC236}">
                <a16:creationId xmlns:a16="http://schemas.microsoft.com/office/drawing/2014/main" id="{02B0CF8A-1D15-0DC3-0F7F-52BC56671C4A}"/>
              </a:ext>
            </a:extLst>
          </p:cNvPr>
          <p:cNvSpPr/>
          <p:nvPr/>
        </p:nvSpPr>
        <p:spPr>
          <a:xfrm>
            <a:off x="838199" y="1413539"/>
            <a:ext cx="4974265" cy="4445000"/>
          </a:xfrm>
          <a:prstGeom prst="rect">
            <a:avLst/>
          </a:prstGeom>
          <a:noFill/>
          <a:ln w="12700" cap="flat" cmpd="sng">
            <a:noFill/>
            <a:prstDash val="solid"/>
            <a:round/>
          </a:ln>
        </p:spPr>
        <p:txBody>
          <a:bodyPr vert="horz" wrap="square" lIns="127000" tIns="127000" rIns="127000" bIns="0" rtlCol="0" anchor="t" anchorCtr="0"/>
          <a:lstStyle/>
          <a:p>
            <a:pPr indent="0" algn="l">
              <a:lnSpc>
                <a:spcPct val="100000"/>
              </a:lnSpc>
              <a:defRPr/>
            </a:pPr>
            <a:r>
              <a:rPr lang="en-US" sz="2400" b="1" i="0" u="none" strike="noStrike">
                <a:solidFill>
                  <a:srgbClr val="C0392B"/>
                </a:solidFill>
                <a:latin typeface="Noto Sans SC"/>
                <a:ea typeface="Noto Sans SC"/>
                <a:cs typeface="Noto Sans SC"/>
                <a:sym typeface="Noto Sans SC"/>
              </a:rPr>
              <a:t>▍定义 4.2：等价依赖 (X ←→ Y)</a:t>
            </a:r>
            <a:endParaRPr lang="en-US" sz="2400"/>
          </a:p>
          <a:p>
            <a:pPr indent="0" algn="l">
              <a:lnSpc>
                <a:spcPct val="125000"/>
              </a:lnSpc>
              <a:spcBef>
                <a:spcPts val="1200"/>
              </a:spcBef>
            </a:pPr>
            <a:r>
              <a:rPr lang="en-US" sz="1600" b="0" i="0" u="none" strike="noStrike">
                <a:solidFill>
                  <a:srgbClr val="333333"/>
                </a:solidFill>
                <a:latin typeface="Noto Sans SC"/>
                <a:ea typeface="Noto Sans SC"/>
                <a:cs typeface="Noto Sans SC"/>
                <a:sym typeface="Noto Sans SC"/>
              </a:rPr>
              <a:t>设关系模式 R 上有两个属性集 X 和 Y，如果以下两个条件同时成立：</a:t>
            </a:r>
          </a:p>
          <a:p>
            <a:pPr marL="190500" indent="0" algn="l">
              <a:lnSpc>
                <a:spcPct val="125000"/>
              </a:lnSpc>
              <a:spcBef>
                <a:spcPts val="500"/>
              </a:spcBef>
            </a:pPr>
            <a:r>
              <a:rPr lang="en-US" sz="1600" b="1" i="0" u="none" strike="noStrike">
                <a:solidFill>
                  <a:srgbClr val="1F2329"/>
                </a:solidFill>
                <a:latin typeface="Arial"/>
                <a:ea typeface="Arial"/>
                <a:cs typeface="Arial"/>
                <a:sym typeface="Arial"/>
              </a:rPr>
              <a:t>① X → Y (X 决定 Y)</a:t>
            </a:r>
            <a:br>
              <a:rPr lang="en-US" sz="1600" b="0" i="0" u="none" strike="noStrike">
                <a:solidFill>
                  <a:srgbClr val="1F2329"/>
                </a:solidFill>
                <a:latin typeface="Noto Sans SC"/>
                <a:ea typeface="Noto Sans SC"/>
                <a:cs typeface="Noto Sans SC"/>
                <a:sym typeface="Noto Sans SC"/>
              </a:rPr>
            </a:br>
            <a:r>
              <a:rPr lang="en-US" sz="1600" b="1" i="0" u="none" strike="noStrike">
                <a:solidFill>
                  <a:srgbClr val="1F2329"/>
                </a:solidFill>
                <a:latin typeface="Arial"/>
                <a:ea typeface="Arial"/>
                <a:cs typeface="Arial"/>
                <a:sym typeface="Arial"/>
              </a:rPr>
              <a:t>② Y → X (Y 决定 X)</a:t>
            </a:r>
          </a:p>
          <a:p>
            <a:pPr indent="0" algn="l">
              <a:lnSpc>
                <a:spcPct val="125000"/>
              </a:lnSpc>
              <a:spcBef>
                <a:spcPts val="1000"/>
              </a:spcBef>
            </a:pPr>
            <a:r>
              <a:rPr lang="en-US" sz="1600" b="0" i="0" u="none" strike="noStrike">
                <a:solidFill>
                  <a:srgbClr val="333333"/>
                </a:solidFill>
                <a:latin typeface="Noto Sans SC"/>
                <a:ea typeface="Noto Sans SC"/>
                <a:cs typeface="Noto Sans SC"/>
                <a:sym typeface="Noto Sans SC"/>
              </a:rPr>
              <a:t>则称 X 和 Y 是</a:t>
            </a:r>
            <a:r>
              <a:rPr lang="en-US" sz="1600" b="1" i="0" u="none" strike="noStrike">
                <a:solidFill>
                  <a:srgbClr val="333333"/>
                </a:solidFill>
                <a:latin typeface="Noto Sans SC"/>
                <a:ea typeface="Noto Sans SC"/>
                <a:cs typeface="Noto Sans SC"/>
                <a:sym typeface="Noto Sans SC"/>
              </a:rPr>
              <a:t>等价依赖</a:t>
            </a:r>
            <a:r>
              <a:rPr lang="en-US" sz="1600" b="0" i="0" u="none" strike="noStrike">
                <a:solidFill>
                  <a:srgbClr val="333333"/>
                </a:solidFill>
                <a:latin typeface="Noto Sans SC"/>
                <a:ea typeface="Noto Sans SC"/>
                <a:cs typeface="Noto Sans SC"/>
                <a:sym typeface="Noto Sans SC"/>
              </a:rPr>
              <a:t>，记为</a:t>
            </a:r>
            <a:r>
              <a:rPr lang="en-US" sz="1600" b="1" i="0" u="none" strike="noStrike">
                <a:solidFill>
                  <a:srgbClr val="D35400"/>
                </a:solidFill>
                <a:latin typeface="Arial"/>
                <a:ea typeface="Arial"/>
                <a:cs typeface="Arial"/>
                <a:sym typeface="Arial"/>
              </a:rPr>
              <a:t>X</a:t>
            </a:r>
            <a:r>
              <a:rPr lang="en-US" sz="1600" i="0" u="none" strike="noStrike">
                <a:solidFill>
                  <a:srgbClr val="D35400"/>
                </a:solidFill>
                <a:latin typeface="Arial"/>
                <a:ea typeface="Arial"/>
                <a:cs typeface="Arial"/>
                <a:sym typeface="Arial"/>
              </a:rPr>
              <a:t> ←→ </a:t>
            </a:r>
            <a:r>
              <a:rPr lang="en-US" sz="1600" b="1" i="0" u="none" strike="noStrike">
                <a:solidFill>
                  <a:srgbClr val="D35400"/>
                </a:solidFill>
                <a:latin typeface="Arial"/>
                <a:ea typeface="Arial"/>
                <a:cs typeface="Arial"/>
                <a:sym typeface="Arial"/>
              </a:rPr>
              <a:t>Y</a:t>
            </a:r>
            <a:r>
              <a:rPr lang="en-US" sz="1600" b="0" i="0" u="none" strike="noStrike">
                <a:solidFill>
                  <a:srgbClr val="333333"/>
                </a:solidFill>
                <a:latin typeface="Noto Sans SC"/>
                <a:ea typeface="Noto Sans SC"/>
                <a:cs typeface="Noto Sans SC"/>
                <a:sym typeface="Noto Sans SC"/>
              </a:rPr>
              <a:t>。</a:t>
            </a:r>
          </a:p>
          <a:p>
            <a:pPr indent="0" algn="l">
              <a:lnSpc>
                <a:spcPct val="125000"/>
              </a:lnSpc>
              <a:spcBef>
                <a:spcPts val="1000"/>
              </a:spcBef>
            </a:pPr>
            <a:r>
              <a:rPr lang="en-US" sz="1600" b="1" i="0" u="none" strike="noStrike">
                <a:solidFill>
                  <a:srgbClr val="333333"/>
                </a:solidFill>
                <a:latin typeface="Noto Sans SC"/>
                <a:ea typeface="Noto Sans SC"/>
                <a:cs typeface="Noto Sans SC"/>
                <a:sym typeface="Noto Sans SC"/>
              </a:rPr>
              <a:t>核心特征：</a:t>
            </a:r>
            <a:r>
              <a:rPr lang="en-US" sz="1600" b="0" i="0" u="none" strike="noStrike">
                <a:solidFill>
                  <a:srgbClr val="333333"/>
                </a:solidFill>
                <a:latin typeface="Noto Sans SC"/>
                <a:ea typeface="Noto Sans SC"/>
                <a:cs typeface="Noto Sans SC"/>
                <a:sym typeface="Noto Sans SC"/>
              </a:rPr>
              <a:t>在关系 R 的任意一个有效关系实例中，X 的值与 Y 的值必须满足</a:t>
            </a:r>
            <a:r>
              <a:rPr lang="en-US" sz="1600" b="1" i="0" u="none" strike="noStrike">
                <a:solidFill>
                  <a:srgbClr val="C0392B"/>
                </a:solidFill>
                <a:latin typeface="Noto Sans SC"/>
                <a:ea typeface="Noto Sans SC"/>
                <a:cs typeface="Noto Sans SC"/>
                <a:sym typeface="Noto Sans SC"/>
              </a:rPr>
              <a:t>一一对应</a:t>
            </a:r>
            <a:r>
              <a:rPr lang="en-US" sz="1600" b="0" i="0" u="none" strike="noStrike">
                <a:solidFill>
                  <a:srgbClr val="333333"/>
                </a:solidFill>
                <a:latin typeface="Noto Sans SC"/>
                <a:ea typeface="Noto Sans SC"/>
                <a:cs typeface="Noto Sans SC"/>
                <a:sym typeface="Noto Sans SC"/>
              </a:rPr>
              <a:t>的逻辑关系。</a:t>
            </a:r>
          </a:p>
          <a:p>
            <a:pPr>
              <a:lnSpc>
                <a:spcPct val="125000"/>
              </a:lnSpc>
              <a:spcBef>
                <a:spcPts val="800"/>
              </a:spcBef>
            </a:pPr>
            <a:r>
              <a:rPr lang="zh-CN" altLang="en-US" sz="1600" b="0" i="0" u="none" strike="noStrike">
                <a:solidFill>
                  <a:srgbClr val="7F8C8D"/>
                </a:solidFill>
                <a:latin typeface="Noto Sans SC"/>
                <a:ea typeface="Noto Sans SC"/>
                <a:cs typeface="Noto Sans SC"/>
                <a:sym typeface="Noto Sans SC"/>
              </a:rPr>
              <a:t>例如</a:t>
            </a:r>
            <a:r>
              <a:rPr lang="en-US" sz="1600" b="0" i="0" u="none" strike="noStrike">
                <a:solidFill>
                  <a:srgbClr val="7F8C8D"/>
                </a:solidFill>
                <a:latin typeface="Noto Sans SC"/>
                <a:ea typeface="Noto Sans SC"/>
                <a:cs typeface="Noto Sans SC"/>
                <a:sym typeface="Noto Sans SC"/>
              </a:rPr>
              <a:t>：</a:t>
            </a:r>
            <a:r>
              <a:rPr lang="zh-CN" altLang="en-US" sz="1600" b="0" i="0" u="none" strike="noStrike">
                <a:solidFill>
                  <a:srgbClr val="7F8C8D"/>
                </a:solidFill>
                <a:latin typeface="Noto Sans SC"/>
                <a:ea typeface="Noto Sans SC"/>
                <a:cs typeface="Noto Sans SC"/>
                <a:sym typeface="Noto Sans SC"/>
              </a:rPr>
              <a:t>一个学生的学号和</a:t>
            </a:r>
            <a:r>
              <a:rPr lang="en-US" sz="1600" b="0" i="0" u="none" strike="noStrike">
                <a:solidFill>
                  <a:srgbClr val="7F8C8D"/>
                </a:solidFill>
                <a:latin typeface="Noto Sans SC"/>
                <a:ea typeface="Noto Sans SC"/>
                <a:cs typeface="Noto Sans SC"/>
                <a:sym typeface="Noto Sans SC"/>
              </a:rPr>
              <a:t>身份证号</a:t>
            </a:r>
            <a:r>
              <a:rPr lang="zh-CN" altLang="en-US" sz="1600" b="0" i="0" u="none" strike="noStrike">
                <a:solidFill>
                  <a:srgbClr val="7F8C8D"/>
                </a:solidFill>
                <a:latin typeface="Noto Sans SC"/>
                <a:ea typeface="Noto Sans SC"/>
                <a:cs typeface="Noto Sans SC"/>
                <a:sym typeface="Noto Sans SC"/>
              </a:rPr>
              <a:t>都可以唯一标识该学生，</a:t>
            </a:r>
            <a:r>
              <a:rPr lang="zh-CN" altLang="en-US" sz="1600">
                <a:solidFill>
                  <a:srgbClr val="7F8C8D"/>
                </a:solidFill>
                <a:latin typeface="Noto Sans SC"/>
                <a:ea typeface="Noto Sans SC"/>
                <a:cs typeface="Noto Sans SC"/>
                <a:sym typeface="Noto Sans SC"/>
              </a:rPr>
              <a:t>即</a:t>
            </a:r>
            <a:r>
              <a:rPr lang="zh-CN" altLang="en-US" sz="1600" b="0" i="0" u="none" strike="noStrike">
                <a:solidFill>
                  <a:srgbClr val="7F8C8D"/>
                </a:solidFill>
                <a:latin typeface="Noto Sans SC"/>
                <a:ea typeface="Noto Sans SC"/>
                <a:cs typeface="Noto Sans SC"/>
                <a:sym typeface="Noto Sans SC"/>
              </a:rPr>
              <a:t>学生的学号和身份证号都是唯一的，因此：</a:t>
            </a:r>
            <a:endParaRPr lang="en-US" altLang="zh-CN" sz="1600" b="0" i="0" u="none" strike="noStrike">
              <a:solidFill>
                <a:srgbClr val="7F8C8D"/>
              </a:solidFill>
              <a:latin typeface="Noto Sans SC"/>
              <a:ea typeface="Noto Sans SC"/>
              <a:cs typeface="Noto Sans SC"/>
              <a:sym typeface="Noto Sans SC"/>
            </a:endParaRPr>
          </a:p>
          <a:p>
            <a:pPr algn="ctr">
              <a:lnSpc>
                <a:spcPct val="125000"/>
              </a:lnSpc>
              <a:spcBef>
                <a:spcPts val="800"/>
              </a:spcBef>
            </a:pPr>
            <a:r>
              <a:rPr lang="zh-CN" altLang="en-US" sz="1600" b="1">
                <a:solidFill>
                  <a:srgbClr val="D35400"/>
                </a:solidFill>
              </a:rPr>
              <a:t>学号</a:t>
            </a:r>
            <a:r>
              <a:rPr lang="en-US" altLang="zh-CN" sz="1600">
                <a:solidFill>
                  <a:srgbClr val="D35400"/>
                </a:solidFill>
              </a:rPr>
              <a:t> ←→</a:t>
            </a:r>
            <a:r>
              <a:rPr lang="en-US" altLang="zh-CN" sz="1600" b="1">
                <a:solidFill>
                  <a:srgbClr val="D35400"/>
                </a:solidFill>
              </a:rPr>
              <a:t> </a:t>
            </a:r>
            <a:r>
              <a:rPr lang="zh-CN" altLang="en-US" sz="1600" b="1">
                <a:solidFill>
                  <a:srgbClr val="D35400"/>
                </a:solidFill>
              </a:rPr>
              <a:t>身份证号</a:t>
            </a:r>
            <a:endParaRPr lang="en-US" sz="1600" b="0" i="0" u="none" strike="noStrike">
              <a:solidFill>
                <a:srgbClr val="7F8C8D"/>
              </a:solidFill>
              <a:latin typeface="Noto Sans SC"/>
              <a:ea typeface="Noto Sans SC"/>
              <a:cs typeface="Noto Sans SC"/>
              <a:sym typeface="Noto Sans SC"/>
            </a:endParaRPr>
          </a:p>
        </p:txBody>
      </p:sp>
      <p:sp>
        <p:nvSpPr>
          <p:cNvPr id="10" name="AutoShape 2">
            <a:extLst>
              <a:ext uri="{FF2B5EF4-FFF2-40B4-BE49-F238E27FC236}">
                <a16:creationId xmlns:a16="http://schemas.microsoft.com/office/drawing/2014/main" id="{CF05E8B3-F70F-6E93-A60B-42AF256C18EB}"/>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7.2.1 函数依赖的定义 (4)</a:t>
            </a:r>
            <a:endParaRPr lang="en-US" sz="2400" b="1">
              <a:solidFill>
                <a:srgbClr val="FFFFFF"/>
              </a:solidFill>
              <a:latin typeface="Noto Sans SC"/>
              <a:ea typeface="Noto Sans SC"/>
            </a:endParaRPr>
          </a:p>
        </p:txBody>
      </p:sp>
      <p:pic>
        <p:nvPicPr>
          <p:cNvPr id="19" name="图片 18">
            <a:extLst>
              <a:ext uri="{FF2B5EF4-FFF2-40B4-BE49-F238E27FC236}">
                <a16:creationId xmlns:a16="http://schemas.microsoft.com/office/drawing/2014/main" id="{597188F3-5604-0771-5AAB-B6D8EE8BEEF1}"/>
              </a:ext>
            </a:extLst>
          </p:cNvPr>
          <p:cNvPicPr>
            <a:picLocks noChangeAspect="1"/>
          </p:cNvPicPr>
          <p:nvPr/>
        </p:nvPicPr>
        <p:blipFill>
          <a:blip r:embed="rId3"/>
          <a:stretch>
            <a:fillRect/>
          </a:stretch>
        </p:blipFill>
        <p:spPr>
          <a:xfrm>
            <a:off x="7230138" y="2250941"/>
            <a:ext cx="3454964" cy="2770196"/>
          </a:xfrm>
          <a:prstGeom prst="rect">
            <a:avLst/>
          </a:prstGeom>
        </p:spPr>
      </p:pic>
    </p:spTree>
    <p:extLst>
      <p:ext uri="{BB962C8B-B14F-4D97-AF65-F5344CB8AC3E}">
        <p14:creationId xmlns:p14="http://schemas.microsoft.com/office/powerpoint/2010/main" val="3947571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7.2.2 FD 的逻辑蕴涵</a:t>
            </a:r>
            <a:endParaRPr lang="en-US" sz="2400" b="1">
              <a:solidFill>
                <a:srgbClr val="FFFFFF"/>
              </a:solidFill>
              <a:latin typeface="Noto Sans SC"/>
              <a:ea typeface="Noto Sans SC"/>
            </a:endParaRPr>
          </a:p>
        </p:txBody>
      </p:sp>
      <p:sp>
        <p:nvSpPr>
          <p:cNvPr id="3" name="AutoShape 3"/>
          <p:cNvSpPr/>
          <p:nvPr/>
        </p:nvSpPr>
        <p:spPr>
          <a:xfrm>
            <a:off x="838199" y="1193800"/>
            <a:ext cx="5002619" cy="4978400"/>
          </a:xfrm>
          <a:prstGeom prst="rect">
            <a:avLst/>
          </a:prstGeom>
          <a:solidFill>
            <a:srgbClr val="F8F9FA">
              <a:alpha val="100000"/>
            </a:srgbClr>
          </a:solidFill>
          <a:ln w="12700" cap="flat" cmpd="sng">
            <a:noFill/>
            <a:prstDash val="solid"/>
            <a:round/>
          </a:ln>
        </p:spPr>
        <p:txBody>
          <a:bodyPr vert="horz" wrap="square" lIns="190500" tIns="190500" rIns="190500" bIns="190500" rtlCol="0" anchor="t" anchorCtr="0"/>
          <a:lstStyle/>
          <a:p>
            <a:pPr indent="0" algn="just">
              <a:lnSpc>
                <a:spcPct val="125000"/>
              </a:lnSpc>
              <a:spcAft>
                <a:spcPts val="1200"/>
              </a:spcAft>
              <a:defRPr/>
            </a:pPr>
            <a:r>
              <a:rPr lang="en-US" sz="2200" b="1" i="0" u="none" strike="noStrike">
                <a:solidFill>
                  <a:srgbClr val="7030A0"/>
                </a:solidFill>
                <a:latin typeface="Noto Sans SC"/>
                <a:ea typeface="Noto Sans SC"/>
                <a:cs typeface="Noto Sans SC"/>
                <a:sym typeface="Noto Sans SC"/>
              </a:rPr>
              <a:t>▌ 定义7.3：逻辑蕴涵</a:t>
            </a:r>
            <a:endParaRPr lang="en-US" sz="1100"/>
          </a:p>
          <a:p>
            <a:pPr indent="0" algn="just">
              <a:lnSpc>
                <a:spcPct val="116666"/>
              </a:lnSpc>
              <a:spcAft>
                <a:spcPts val="2400"/>
              </a:spcAft>
            </a:pPr>
            <a:r>
              <a:rPr lang="en-US" sz="1800" b="0" i="0" u="none" strike="noStrike">
                <a:solidFill>
                  <a:srgbClr val="333333"/>
                </a:solidFill>
                <a:latin typeface="Noto Sans SC"/>
                <a:ea typeface="Noto Sans SC"/>
                <a:cs typeface="Noto Sans SC"/>
                <a:sym typeface="Noto Sans SC"/>
              </a:rPr>
              <a:t>设 F 是在关系模式 R 上成立的函数依赖的集合，X→Y 是一个函数依赖。如果对于 R 的每个满足 F 中所有依赖的关系 r，也都满足 X→Y，那么称</a:t>
            </a:r>
            <a:r>
              <a:rPr lang="en-US" sz="1800" b="1" i="0" u="none" strike="noStrike">
                <a:solidFill>
                  <a:srgbClr val="DC2626"/>
                </a:solidFill>
                <a:latin typeface="Noto Sans SC"/>
                <a:ea typeface="Noto Sans SC"/>
                <a:cs typeface="Noto Sans SC"/>
                <a:sym typeface="Noto Sans SC"/>
              </a:rPr>
              <a:t>F 逻辑蕴涵 X→Y</a:t>
            </a:r>
            <a:r>
              <a:rPr lang="en-US" sz="1800" b="0" i="0" u="none" strike="noStrike">
                <a:solidFill>
                  <a:srgbClr val="333333"/>
                </a:solidFill>
                <a:latin typeface="Noto Sans SC"/>
                <a:ea typeface="Noto Sans SC"/>
                <a:cs typeface="Noto Sans SC"/>
                <a:sym typeface="Noto Sans SC"/>
              </a:rPr>
              <a:t>，记为</a:t>
            </a:r>
            <a:r>
              <a:rPr lang="en-US" sz="1800" b="1" i="0" u="none" strike="noStrike">
                <a:solidFill>
                  <a:srgbClr val="2563EB"/>
                </a:solidFill>
                <a:latin typeface="Noto Sans SC"/>
                <a:ea typeface="Noto Sans SC"/>
                <a:cs typeface="Noto Sans SC"/>
                <a:sym typeface="Noto Sans SC"/>
              </a:rPr>
              <a:t>F ⊨ X→Y</a:t>
            </a:r>
            <a:r>
              <a:rPr lang="en-US" sz="1800" b="0" i="0" u="none" strike="noStrike">
                <a:solidFill>
                  <a:srgbClr val="333333"/>
                </a:solidFill>
                <a:latin typeface="Noto Sans SC"/>
                <a:ea typeface="Noto Sans SC"/>
                <a:cs typeface="Noto Sans SC"/>
                <a:sym typeface="Noto Sans SC"/>
              </a:rPr>
              <a:t>。</a:t>
            </a:r>
          </a:p>
          <a:p>
            <a:pPr indent="0" algn="just">
              <a:lnSpc>
                <a:spcPct val="125000"/>
              </a:lnSpc>
              <a:spcAft>
                <a:spcPts val="1200"/>
              </a:spcAft>
            </a:pPr>
            <a:r>
              <a:rPr lang="en-US" sz="2200" b="1" i="0" u="none" strike="noStrike">
                <a:solidFill>
                  <a:srgbClr val="7030A0"/>
                </a:solidFill>
                <a:latin typeface="Noto Sans SC"/>
                <a:ea typeface="Noto Sans SC"/>
                <a:cs typeface="Noto Sans SC"/>
                <a:sym typeface="Noto Sans SC"/>
              </a:rPr>
              <a:t>▌ 核心理解</a:t>
            </a:r>
          </a:p>
          <a:p>
            <a:pPr indent="0" algn="just">
              <a:lnSpc>
                <a:spcPct val="116666"/>
              </a:lnSpc>
            </a:pPr>
            <a:r>
              <a:rPr lang="en-US" sz="1800" b="0" i="0" u="none" strike="noStrike">
                <a:solidFill>
                  <a:srgbClr val="525252"/>
                </a:solidFill>
                <a:latin typeface="Noto Sans SC"/>
                <a:ea typeface="Noto Sans SC"/>
                <a:cs typeface="Noto Sans SC"/>
                <a:sym typeface="Noto Sans SC"/>
              </a:rPr>
              <a:t>逻辑蕴涵描述了依赖关系的“推导”特性：如果已知 F 成立，则必然能推出 X→Y 也成立。这是从“显式”依赖推导“隐式”依赖的理论基础。</a:t>
            </a:r>
          </a:p>
        </p:txBody>
      </p:sp>
      <p:sp>
        <p:nvSpPr>
          <p:cNvPr id="4" name="AutoShape 4"/>
          <p:cNvSpPr/>
          <p:nvPr/>
        </p:nvSpPr>
        <p:spPr>
          <a:xfrm>
            <a:off x="6527800" y="1193800"/>
            <a:ext cx="4826000" cy="4978400"/>
          </a:xfrm>
          <a:prstGeom prst="rect">
            <a:avLst/>
          </a:prstGeom>
          <a:solidFill>
            <a:srgbClr val="F8F9FA">
              <a:alpha val="100000"/>
            </a:srgbClr>
          </a:solidFill>
          <a:ln w="12700" cap="flat" cmpd="sng">
            <a:noFill/>
            <a:prstDash val="solid"/>
            <a:round/>
          </a:ln>
        </p:spPr>
        <p:txBody>
          <a:bodyPr vert="horz" wrap="square" lIns="190500" tIns="190500" rIns="190500" bIns="190500" rtlCol="0" anchor="t" anchorCtr="0"/>
          <a:lstStyle/>
          <a:p>
            <a:pPr indent="0" algn="l">
              <a:lnSpc>
                <a:spcPct val="125000"/>
              </a:lnSpc>
              <a:spcAft>
                <a:spcPts val="1200"/>
              </a:spcAft>
              <a:defRPr/>
            </a:pPr>
            <a:r>
              <a:rPr lang="en-US" sz="2200" b="1" i="0" u="none" strike="noStrike">
                <a:solidFill>
                  <a:srgbClr val="7030A0"/>
                </a:solidFill>
                <a:latin typeface="Noto Sans SC"/>
                <a:ea typeface="Noto Sans SC"/>
                <a:cs typeface="Noto Sans SC"/>
                <a:sym typeface="Noto Sans SC"/>
              </a:rPr>
              <a:t>▌ 定义7.4：闭包 (Closure)</a:t>
            </a:r>
            <a:endParaRPr lang="en-US" sz="1100"/>
          </a:p>
          <a:p>
            <a:pPr indent="0" algn="l">
              <a:lnSpc>
                <a:spcPct val="116666"/>
              </a:lnSpc>
              <a:spcAft>
                <a:spcPts val="2400"/>
              </a:spcAft>
            </a:pPr>
            <a:r>
              <a:rPr lang="en-US" sz="1800" b="0" i="0" u="none" strike="noStrike">
                <a:solidFill>
                  <a:srgbClr val="333333"/>
                </a:solidFill>
                <a:latin typeface="Noto Sans SC"/>
                <a:ea typeface="Noto Sans SC"/>
                <a:cs typeface="Noto Sans SC"/>
                <a:sym typeface="Noto Sans SC"/>
              </a:rPr>
              <a:t>被 F 逻辑蕴涵的所有函数依赖的全体构成的集合，</a:t>
            </a:r>
            <a:r>
              <a:rPr lang="en-US" sz="1800" b="0" i="0" u="none" strike="noStrike">
                <a:solidFill>
                  <a:srgbClr val="FF0000"/>
                </a:solidFill>
                <a:latin typeface="Noto Sans SC"/>
                <a:ea typeface="Noto Sans SC"/>
                <a:cs typeface="Noto Sans SC"/>
                <a:sym typeface="Noto Sans SC"/>
              </a:rPr>
              <a:t>称为函数依赖集 F 的</a:t>
            </a:r>
            <a:r>
              <a:rPr lang="en-US" sz="1800" b="1" i="0" u="none" strike="noStrike">
                <a:solidFill>
                  <a:srgbClr val="FF0000"/>
                </a:solidFill>
                <a:latin typeface="Noto Sans SC"/>
                <a:ea typeface="Noto Sans SC"/>
                <a:cs typeface="Noto Sans SC"/>
                <a:sym typeface="Noto Sans SC"/>
              </a:rPr>
              <a:t>闭包</a:t>
            </a:r>
            <a:r>
              <a:rPr lang="en-US" sz="1800" b="0" i="0" u="none" strike="noStrike">
                <a:solidFill>
                  <a:srgbClr val="333333"/>
                </a:solidFill>
                <a:latin typeface="Noto Sans SC"/>
                <a:ea typeface="Noto Sans SC"/>
                <a:cs typeface="Noto Sans SC"/>
                <a:sym typeface="Noto Sans SC"/>
              </a:rPr>
              <a:t>，记为</a:t>
            </a:r>
            <a:r>
              <a:rPr lang="en-US" sz="1800" b="1" i="0" u="none" strike="noStrike">
                <a:solidFill>
                  <a:srgbClr val="2563EB"/>
                </a:solidFill>
                <a:latin typeface="Noto Sans SC"/>
                <a:ea typeface="Noto Sans SC"/>
                <a:cs typeface="Noto Sans SC"/>
                <a:sym typeface="Noto Sans SC"/>
              </a:rPr>
              <a:t>F⁺</a:t>
            </a:r>
            <a:r>
              <a:rPr lang="en-US" sz="1800" b="0" i="0" u="none" strike="noStrike">
                <a:solidFill>
                  <a:srgbClr val="333333"/>
                </a:solidFill>
                <a:latin typeface="Noto Sans SC"/>
                <a:ea typeface="Noto Sans SC"/>
                <a:cs typeface="Noto Sans SC"/>
                <a:sym typeface="Noto Sans SC"/>
              </a:rPr>
              <a:t>。</a:t>
            </a:r>
            <a:br>
              <a:rPr lang="en-US" sz="1800" b="0" i="0" u="none" strike="noStrike">
                <a:solidFill>
                  <a:srgbClr val="1F2329"/>
                </a:solidFill>
                <a:latin typeface="Noto Sans SC"/>
                <a:ea typeface="Noto Sans SC"/>
                <a:cs typeface="Noto Sans SC"/>
                <a:sym typeface="Noto Sans SC"/>
              </a:rPr>
            </a:br>
            <a:r>
              <a:rPr lang="en-US" sz="1800" b="0" i="1" u="none" strike="noStrike">
                <a:solidFill>
                  <a:srgbClr val="64748B"/>
                </a:solidFill>
                <a:latin typeface="Noto Sans SC"/>
                <a:ea typeface="Noto Sans SC"/>
                <a:cs typeface="Noto Sans SC"/>
                <a:sym typeface="Noto Sans SC"/>
              </a:rPr>
              <a:t>即： F⁺ = { X→Y | F ⊨ X→Y }</a:t>
            </a:r>
          </a:p>
          <a:p>
            <a:pPr indent="0" algn="l">
              <a:lnSpc>
                <a:spcPct val="125000"/>
              </a:lnSpc>
              <a:spcAft>
                <a:spcPts val="1200"/>
              </a:spcAft>
            </a:pPr>
            <a:r>
              <a:rPr lang="en-US" sz="2200" b="1" i="0" u="none" strike="noStrike">
                <a:solidFill>
                  <a:srgbClr val="D97706"/>
                </a:solidFill>
                <a:latin typeface="Noto Sans SC"/>
                <a:ea typeface="Noto Sans SC"/>
                <a:cs typeface="Noto Sans SC"/>
                <a:sym typeface="Noto Sans SC"/>
              </a:rPr>
              <a:t>▌ 核心问题</a:t>
            </a:r>
          </a:p>
          <a:p>
            <a:pPr indent="0" algn="l">
              <a:lnSpc>
                <a:spcPct val="116666"/>
              </a:lnSpc>
            </a:pPr>
            <a:r>
              <a:rPr lang="en-US" sz="1800" i="0" u="none" strike="noStrike">
                <a:solidFill>
                  <a:srgbClr val="333333"/>
                </a:solidFill>
                <a:latin typeface="Noto Sans SC"/>
                <a:ea typeface="Noto Sans SC"/>
                <a:cs typeface="Noto Sans SC"/>
                <a:sym typeface="Noto Sans SC"/>
              </a:rPr>
              <a:t>给定一个 FD 集 F，如何找出所有被它逻辑蕴涵的 FD？也就是如何系统、高效地计算 F⁺？</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7.2.3 FD的推理规则</a:t>
            </a:r>
            <a:endParaRPr lang="en-US" sz="2400" b="1">
              <a:solidFill>
                <a:srgbClr val="FFFFFF"/>
              </a:solidFill>
              <a:latin typeface="Noto Sans SC"/>
              <a:ea typeface="Noto Sans SC"/>
            </a:endParaRPr>
          </a:p>
        </p:txBody>
      </p:sp>
      <p:sp>
        <p:nvSpPr>
          <p:cNvPr id="3" name="AutoShape 3"/>
          <p:cNvSpPr/>
          <p:nvPr/>
        </p:nvSpPr>
        <p:spPr>
          <a:xfrm>
            <a:off x="838200" y="1339850"/>
            <a:ext cx="5715000" cy="5080000"/>
          </a:xfrm>
          <a:prstGeom prst="rect">
            <a:avLst/>
          </a:prstGeom>
          <a:noFill/>
          <a:ln w="12700" cap="flat" cmpd="sng">
            <a:noFill/>
            <a:prstDash val="solid"/>
            <a:round/>
          </a:ln>
        </p:spPr>
        <p:txBody>
          <a:bodyPr vert="horz" wrap="square" lIns="0" tIns="0" rIns="0" bIns="0" rtlCol="0" anchor="t" anchorCtr="0"/>
          <a:lstStyle/>
          <a:p>
            <a:pPr>
              <a:lnSpc>
                <a:spcPct val="116666"/>
              </a:lnSpc>
              <a:spcBef>
                <a:spcPts val="1000"/>
              </a:spcBef>
              <a:defRPr/>
            </a:pPr>
            <a:r>
              <a:rPr lang="en-US" altLang="zh-CN" sz="2400" b="1">
                <a:solidFill>
                  <a:srgbClr val="7030A0"/>
                </a:solidFill>
                <a:latin typeface="Noto Sans SC"/>
                <a:ea typeface="Noto Sans SC"/>
                <a:cs typeface="Noto Sans SC"/>
                <a:sym typeface="Noto Sans SC"/>
              </a:rPr>
              <a:t>▌ Armstrong</a:t>
            </a:r>
            <a:r>
              <a:rPr lang="zh-CN" altLang="en-US" sz="2400" b="1">
                <a:solidFill>
                  <a:srgbClr val="7030A0"/>
                </a:solidFill>
                <a:latin typeface="Noto Sans SC"/>
                <a:ea typeface="Noto Sans SC"/>
                <a:cs typeface="Noto Sans SC"/>
                <a:sym typeface="Noto Sans SC"/>
              </a:rPr>
              <a:t>公理系统</a:t>
            </a:r>
            <a:endParaRPr lang="en-US" altLang="zh-CN" sz="2400"/>
          </a:p>
          <a:p>
            <a:pPr indent="0" algn="l">
              <a:lnSpc>
                <a:spcPct val="120000"/>
              </a:lnSpc>
              <a:spcBef>
                <a:spcPts val="600"/>
              </a:spcBef>
              <a:spcAft>
                <a:spcPts val="600"/>
              </a:spcAft>
              <a:defRPr/>
            </a:pPr>
            <a:r>
              <a:rPr lang="en-US" sz="1600" b="0" i="0" u="none" strike="noStrike">
                <a:solidFill>
                  <a:srgbClr val="333333"/>
                </a:solidFill>
                <a:latin typeface="Noto Sans SC"/>
                <a:ea typeface="Noto Sans SC"/>
                <a:cs typeface="Noto Sans SC"/>
                <a:sym typeface="Noto Sans SC"/>
              </a:rPr>
              <a:t>为了计算闭包，我们需要一套正确的推理规则。设 U 是关系模式 R 的属性集，F 是 R 上的 FD 集。以下是三条核心规则（Armstrong公理）：</a:t>
            </a:r>
            <a:endParaRPr lang="en-US" sz="1600"/>
          </a:p>
          <a:p>
            <a:pPr indent="0" algn="l">
              <a:lnSpc>
                <a:spcPct val="120000"/>
              </a:lnSpc>
              <a:spcBef>
                <a:spcPts val="600"/>
              </a:spcBef>
              <a:spcAft>
                <a:spcPts val="600"/>
              </a:spcAft>
            </a:pPr>
            <a:r>
              <a:rPr lang="en-US" sz="1600" b="1" i="0" u="none" strike="noStrike">
                <a:solidFill>
                  <a:srgbClr val="7030A0"/>
                </a:solidFill>
                <a:latin typeface="Noto Sans SC"/>
                <a:ea typeface="Noto Sans SC"/>
                <a:cs typeface="Noto Sans SC"/>
                <a:sym typeface="Noto Sans SC"/>
              </a:rPr>
              <a:t>A1（自反性, Reflexivity）：</a:t>
            </a:r>
            <a:r>
              <a:rPr lang="en-US" sz="1600" b="0" i="0" u="none" strike="noStrike">
                <a:solidFill>
                  <a:srgbClr val="1F2329"/>
                </a:solidFill>
                <a:latin typeface="Noto Sans SC"/>
                <a:ea typeface="Noto Sans SC"/>
                <a:cs typeface="Noto Sans SC"/>
                <a:sym typeface="Noto Sans SC"/>
              </a:rPr>
              <a:t>若 Y ⊆ X ⊆ U，则 X→Y 在 R 上成立。例：AB → A，AB → B（属性组可决定自身的任何子集）。</a:t>
            </a:r>
          </a:p>
          <a:p>
            <a:pPr indent="0" algn="l">
              <a:lnSpc>
                <a:spcPct val="120000"/>
              </a:lnSpc>
              <a:spcBef>
                <a:spcPts val="600"/>
              </a:spcBef>
              <a:spcAft>
                <a:spcPts val="600"/>
              </a:spcAft>
            </a:pPr>
            <a:r>
              <a:rPr lang="en-US" sz="1600" b="1" i="0" u="none" strike="noStrike">
                <a:solidFill>
                  <a:srgbClr val="7030A0"/>
                </a:solidFill>
                <a:latin typeface="Noto Sans SC"/>
                <a:ea typeface="Noto Sans SC"/>
                <a:cs typeface="Noto Sans SC"/>
                <a:sym typeface="Noto Sans SC"/>
              </a:rPr>
              <a:t>A2（增广性, Augmentation）：</a:t>
            </a:r>
            <a:r>
              <a:rPr lang="en-US" sz="1600" b="0" i="0" u="none" strike="noStrike">
                <a:solidFill>
                  <a:srgbClr val="1F2329"/>
                </a:solidFill>
                <a:latin typeface="Noto Sans SC"/>
                <a:ea typeface="Noto Sans SC"/>
                <a:cs typeface="Noto Sans SC"/>
                <a:sym typeface="Noto Sans SC"/>
              </a:rPr>
              <a:t>若 X→Y 在 R 上成立，且 Z ⊆ U，则 XZ→YZ 在 R 上成立。例：若 A→B，则 AC→BC（两边同时增加属性，依赖关系保持）。</a:t>
            </a:r>
          </a:p>
          <a:p>
            <a:pPr indent="0" algn="l">
              <a:lnSpc>
                <a:spcPct val="120000"/>
              </a:lnSpc>
              <a:spcBef>
                <a:spcPts val="600"/>
              </a:spcBef>
              <a:spcAft>
                <a:spcPts val="600"/>
              </a:spcAft>
            </a:pPr>
            <a:r>
              <a:rPr lang="en-US" sz="1600" b="1" i="0" u="none" strike="noStrike">
                <a:solidFill>
                  <a:srgbClr val="7030A0"/>
                </a:solidFill>
                <a:latin typeface="Noto Sans SC"/>
                <a:ea typeface="Noto Sans SC"/>
                <a:cs typeface="Noto Sans SC"/>
                <a:sym typeface="Noto Sans SC"/>
              </a:rPr>
              <a:t>A3（传递性, Transitivity）：</a:t>
            </a:r>
            <a:r>
              <a:rPr lang="en-US" sz="1600" b="0" i="0" u="none" strike="noStrike">
                <a:solidFill>
                  <a:srgbClr val="1F2329"/>
                </a:solidFill>
                <a:latin typeface="Noto Sans SC"/>
                <a:ea typeface="Noto Sans SC"/>
                <a:cs typeface="Noto Sans SC"/>
                <a:sym typeface="Noto Sans SC"/>
              </a:rPr>
              <a:t>若 X→Y 和 Y→Z 在 R 上成立，则 X→Z 在 R 上成立。例：若 A→B 且 B→C，则 A→C（依赖关系具有传递特性）。</a:t>
            </a:r>
          </a:p>
          <a:p>
            <a:pPr indent="0" algn="l">
              <a:lnSpc>
                <a:spcPct val="120000"/>
              </a:lnSpc>
              <a:spcBef>
                <a:spcPts val="600"/>
              </a:spcBef>
              <a:spcAft>
                <a:spcPts val="600"/>
              </a:spcAft>
            </a:pPr>
            <a:r>
              <a:rPr lang="en-US" sz="1600" b="1" i="0" u="none" strike="noStrike">
                <a:solidFill>
                  <a:srgbClr val="C00000"/>
                </a:solidFill>
                <a:latin typeface="Noto Sans SC"/>
                <a:ea typeface="Noto Sans SC"/>
                <a:cs typeface="Noto Sans SC"/>
                <a:sym typeface="Noto Sans SC"/>
              </a:rPr>
              <a:t>★ 重要结论：</a:t>
            </a:r>
            <a:r>
              <a:rPr lang="en-US" sz="1600" b="0" i="0" u="none" strike="noStrike">
                <a:solidFill>
                  <a:srgbClr val="333333"/>
                </a:solidFill>
                <a:latin typeface="Noto Sans SC"/>
                <a:ea typeface="Noto Sans SC"/>
                <a:cs typeface="Noto Sans SC"/>
                <a:sym typeface="Noto Sans SC"/>
              </a:rPr>
              <a:t>这三条规则是所有其他推理规则的逻辑基础，且它们的组合具有“完备性”和“正确性”。</a:t>
            </a:r>
          </a:p>
        </p:txBody>
      </p:sp>
      <p:sp>
        <p:nvSpPr>
          <p:cNvPr id="4" name="AutoShape 4"/>
          <p:cNvSpPr/>
          <p:nvPr/>
        </p:nvSpPr>
        <p:spPr>
          <a:xfrm>
            <a:off x="7654260" y="1505984"/>
            <a:ext cx="651540" cy="43561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核心</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公理</a:t>
            </a:r>
            <a:endParaRPr lang="en-US" sz="1600" b="1">
              <a:solidFill>
                <a:srgbClr val="FFFFFF"/>
              </a:solidFill>
              <a:latin typeface="Noto Sans SC"/>
              <a:ea typeface="Noto Sans SC"/>
            </a:endParaRPr>
          </a:p>
        </p:txBody>
      </p:sp>
      <p:sp>
        <p:nvSpPr>
          <p:cNvPr id="5" name="AutoShape 5"/>
          <p:cNvSpPr/>
          <p:nvPr/>
        </p:nvSpPr>
        <p:spPr>
          <a:xfrm>
            <a:off x="8305800" y="1505984"/>
            <a:ext cx="3048000" cy="825500"/>
          </a:xfrm>
          <a:prstGeom prst="roundRect">
            <a:avLst>
              <a:gd name="adj" fmla="val 0"/>
            </a:avLst>
          </a:prstGeom>
          <a:solidFill>
            <a:srgbClr val="1E3A8A">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A1 自反性 (Reflexivity)</a:t>
            </a:r>
            <a:endParaRPr lang="en-US" sz="1600"/>
          </a:p>
          <a:p>
            <a:pPr indent="0" algn="ctr">
              <a:lnSpc>
                <a:spcPct val="125000"/>
              </a:lnSpc>
            </a:pPr>
            <a:r>
              <a:rPr lang="en-US" b="0" i="0" u="none" strike="noStrike">
                <a:solidFill>
                  <a:srgbClr val="E5E7EB"/>
                </a:solidFill>
                <a:latin typeface="Noto Sans SC"/>
                <a:ea typeface="Noto Sans SC"/>
                <a:cs typeface="Noto Sans SC"/>
                <a:sym typeface="Noto Sans SC"/>
              </a:rPr>
              <a:t>子集依赖于父集: X→Y (Y⊆X)</a:t>
            </a:r>
          </a:p>
        </p:txBody>
      </p:sp>
      <p:sp>
        <p:nvSpPr>
          <p:cNvPr id="6" name="AutoShape 6"/>
          <p:cNvSpPr/>
          <p:nvPr/>
        </p:nvSpPr>
        <p:spPr>
          <a:xfrm>
            <a:off x="8305800" y="2521984"/>
            <a:ext cx="3048000" cy="825500"/>
          </a:xfrm>
          <a:prstGeom prst="roundRect">
            <a:avLst>
              <a:gd name="adj" fmla="val 0"/>
            </a:avLst>
          </a:prstGeom>
          <a:solidFill>
            <a:srgbClr val="1E3A8A">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A2 增广性 (Augmentation)</a:t>
            </a:r>
            <a:endParaRPr lang="en-US" sz="1600"/>
          </a:p>
          <a:p>
            <a:pPr indent="0" algn="ctr">
              <a:lnSpc>
                <a:spcPct val="125000"/>
              </a:lnSpc>
            </a:pPr>
            <a:r>
              <a:rPr lang="en-US" b="0" i="0" u="none" strike="noStrike">
                <a:solidFill>
                  <a:srgbClr val="E5E7EB"/>
                </a:solidFill>
                <a:latin typeface="Noto Sans SC"/>
                <a:ea typeface="Noto Sans SC"/>
                <a:cs typeface="Noto Sans SC"/>
                <a:sym typeface="Noto Sans SC"/>
              </a:rPr>
              <a:t>两边同增属性: X→Y ⇒ XZ→YZ</a:t>
            </a:r>
          </a:p>
        </p:txBody>
      </p:sp>
      <p:sp>
        <p:nvSpPr>
          <p:cNvPr id="7" name="AutoShape 7"/>
          <p:cNvSpPr/>
          <p:nvPr/>
        </p:nvSpPr>
        <p:spPr>
          <a:xfrm>
            <a:off x="8305800" y="3537984"/>
            <a:ext cx="3048000" cy="825500"/>
          </a:xfrm>
          <a:prstGeom prst="roundRect">
            <a:avLst>
              <a:gd name="adj" fmla="val 0"/>
            </a:avLst>
          </a:prstGeom>
          <a:solidFill>
            <a:srgbClr val="1E3A8A">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A3 传递性 (Transitivity)</a:t>
            </a:r>
            <a:endParaRPr lang="en-US" sz="1600"/>
          </a:p>
          <a:p>
            <a:pPr indent="0" algn="ctr">
              <a:lnSpc>
                <a:spcPct val="125000"/>
              </a:lnSpc>
            </a:pPr>
            <a:r>
              <a:rPr lang="en-US" b="0" i="0" u="none" strike="noStrike">
                <a:solidFill>
                  <a:srgbClr val="E5E7EB"/>
                </a:solidFill>
                <a:latin typeface="Noto Sans SC"/>
                <a:ea typeface="Noto Sans SC"/>
                <a:cs typeface="Noto Sans SC"/>
                <a:sym typeface="Noto Sans SC"/>
              </a:rPr>
              <a:t>链式推导: X→Y 且 Y→Z ⇒ X→Z</a:t>
            </a:r>
          </a:p>
        </p:txBody>
      </p:sp>
      <p:sp>
        <p:nvSpPr>
          <p:cNvPr id="8" name="AutoShape 8"/>
          <p:cNvSpPr/>
          <p:nvPr/>
        </p:nvSpPr>
        <p:spPr>
          <a:xfrm>
            <a:off x="8305800" y="4791740"/>
            <a:ext cx="3048000" cy="1070344"/>
          </a:xfrm>
          <a:prstGeom prst="roundRect">
            <a:avLst>
              <a:gd name="adj" fmla="val 0"/>
            </a:avLst>
          </a:prstGeom>
          <a:solidFill>
            <a:srgbClr val="B45309">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正确性与完备性</a:t>
            </a:r>
            <a:endParaRPr lang="en-US" sz="1600"/>
          </a:p>
          <a:p>
            <a:pPr indent="0" algn="ctr">
              <a:lnSpc>
                <a:spcPct val="125000"/>
              </a:lnSpc>
            </a:pPr>
            <a:r>
              <a:rPr lang="en-US" b="0" i="0" u="none" strike="noStrike">
                <a:solidFill>
                  <a:srgbClr val="FEF3C7"/>
                </a:solidFill>
                <a:latin typeface="Noto Sans SC"/>
                <a:ea typeface="Noto Sans SC"/>
                <a:cs typeface="Noto Sans SC"/>
                <a:sym typeface="Noto Sans SC"/>
              </a:rPr>
              <a:t>保证推导不出错误的依赖</a:t>
            </a:r>
          </a:p>
          <a:p>
            <a:pPr indent="0" algn="ctr">
              <a:lnSpc>
                <a:spcPct val="125000"/>
              </a:lnSpc>
            </a:pPr>
            <a:r>
              <a:rPr lang="en-US" b="0" i="0" u="none" strike="noStrike">
                <a:solidFill>
                  <a:srgbClr val="FEF3C7"/>
                </a:solidFill>
                <a:latin typeface="Noto Sans SC"/>
                <a:ea typeface="Noto Sans SC"/>
                <a:cs typeface="Noto Sans SC"/>
                <a:sym typeface="Noto Sans SC"/>
              </a:rPr>
              <a:t>且能推出所有正确依赖</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7.2.3 FD 的推理规则 (2)</a:t>
            </a:r>
            <a:endParaRPr lang="en-US" sz="2400" b="1">
              <a:solidFill>
                <a:srgbClr val="FFFFFF"/>
              </a:solidFill>
              <a:latin typeface="Noto Sans SC"/>
              <a:ea typeface="Noto Sans SC"/>
            </a:endParaRPr>
          </a:p>
        </p:txBody>
      </p:sp>
      <p:sp>
        <p:nvSpPr>
          <p:cNvPr id="3" name="AutoShape 3"/>
          <p:cNvSpPr/>
          <p:nvPr/>
        </p:nvSpPr>
        <p:spPr>
          <a:xfrm>
            <a:off x="838200" y="1193800"/>
            <a:ext cx="4676554" cy="4978400"/>
          </a:xfrm>
          <a:prstGeom prst="rect">
            <a:avLst/>
          </a:prstGeom>
          <a:solidFill>
            <a:srgbClr val="F8F5FC">
              <a:alpha val="100000"/>
            </a:srgbClr>
          </a:solidFill>
          <a:ln w="12700" cap="flat" cmpd="sng">
            <a:noFill/>
            <a:prstDash val="solid"/>
            <a:round/>
          </a:ln>
        </p:spPr>
        <p:txBody>
          <a:bodyPr vert="horz" wrap="square" lIns="203200" tIns="203200" rIns="203200" bIns="203200" rtlCol="0" anchor="t" anchorCtr="0"/>
          <a:lstStyle/>
          <a:p>
            <a:pPr indent="0" algn="l">
              <a:lnSpc>
                <a:spcPct val="108333"/>
              </a:lnSpc>
              <a:spcAft>
                <a:spcPts val="1500"/>
              </a:spcAft>
              <a:defRPr/>
            </a:pPr>
            <a:r>
              <a:rPr lang="en-US" sz="2400" b="1" i="0" u="none" strike="noStrike">
                <a:solidFill>
                  <a:srgbClr val="7030A0"/>
                </a:solidFill>
                <a:latin typeface="Noto Sans SC"/>
                <a:ea typeface="Noto Sans SC"/>
                <a:cs typeface="Noto Sans SC"/>
                <a:sym typeface="Noto Sans SC"/>
              </a:rPr>
              <a:t>▍ 定理 7.1：推理规则的正确性</a:t>
            </a:r>
            <a:endParaRPr lang="en-US" sz="2400"/>
          </a:p>
          <a:p>
            <a:pPr indent="0" algn="l">
              <a:lnSpc>
                <a:spcPct val="116666"/>
              </a:lnSpc>
              <a:spcAft>
                <a:spcPts val="1200"/>
              </a:spcAft>
            </a:pPr>
            <a:r>
              <a:rPr lang="en-US" sz="1600" b="1" i="0" u="none" strike="noStrike">
                <a:solidFill>
                  <a:srgbClr val="1F2329"/>
                </a:solidFill>
                <a:latin typeface="Noto Sans SC"/>
                <a:ea typeface="Noto Sans SC"/>
                <a:cs typeface="Noto Sans SC"/>
                <a:sym typeface="Noto Sans SC"/>
              </a:rPr>
              <a:t>A1 (自反性, Reflexivity)</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505050"/>
                </a:solidFill>
                <a:latin typeface="Noto Sans SC"/>
                <a:ea typeface="Noto Sans SC"/>
                <a:cs typeface="Noto Sans SC"/>
                <a:sym typeface="Noto Sans SC"/>
              </a:rPr>
              <a:t>若属性集 Y 是 X 的子集 (Y ⊆ X)，则 X → Y。</a:t>
            </a:r>
          </a:p>
          <a:p>
            <a:pPr indent="0" algn="l">
              <a:lnSpc>
                <a:spcPct val="116666"/>
              </a:lnSpc>
              <a:spcAft>
                <a:spcPts val="1200"/>
              </a:spcAft>
            </a:pPr>
            <a:r>
              <a:rPr lang="en-US" sz="1600" b="1" i="0" u="none" strike="noStrike">
                <a:solidFill>
                  <a:srgbClr val="1F2329"/>
                </a:solidFill>
                <a:latin typeface="Noto Sans SC"/>
                <a:ea typeface="Noto Sans SC"/>
                <a:cs typeface="Noto Sans SC"/>
                <a:sym typeface="Noto Sans SC"/>
              </a:rPr>
              <a:t>A2 (增广性, Augmentation)</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505050"/>
                </a:solidFill>
                <a:latin typeface="Noto Sans SC"/>
                <a:ea typeface="Noto Sans SC"/>
                <a:cs typeface="Noto Sans SC"/>
                <a:sym typeface="Noto Sans SC"/>
              </a:rPr>
              <a:t>若 X → Y，且 Z 为任意属性集，则 XZ → YZ。</a:t>
            </a:r>
          </a:p>
          <a:p>
            <a:pPr indent="0" algn="l">
              <a:lnSpc>
                <a:spcPct val="116666"/>
              </a:lnSpc>
            </a:pPr>
            <a:r>
              <a:rPr lang="en-US" sz="1600" b="1" i="0" u="none" strike="noStrike">
                <a:solidFill>
                  <a:srgbClr val="1F2329"/>
                </a:solidFill>
                <a:latin typeface="Noto Sans SC"/>
                <a:ea typeface="Noto Sans SC"/>
                <a:cs typeface="Noto Sans SC"/>
                <a:sym typeface="Noto Sans SC"/>
              </a:rPr>
              <a:t>A3 (传递性, Transitivity)</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505050"/>
                </a:solidFill>
                <a:latin typeface="Noto Sans SC"/>
                <a:ea typeface="Noto Sans SC"/>
                <a:cs typeface="Noto Sans SC"/>
                <a:sym typeface="Noto Sans SC"/>
              </a:rPr>
              <a:t>若 X → Y 且 Y → Z，则 X → Z。</a:t>
            </a:r>
          </a:p>
        </p:txBody>
      </p:sp>
      <p:sp>
        <p:nvSpPr>
          <p:cNvPr id="4" name="AutoShape 4"/>
          <p:cNvSpPr/>
          <p:nvPr/>
        </p:nvSpPr>
        <p:spPr>
          <a:xfrm>
            <a:off x="5571461" y="1206500"/>
            <a:ext cx="5782340" cy="4978400"/>
          </a:xfrm>
          <a:prstGeom prst="rect">
            <a:avLst/>
          </a:prstGeom>
          <a:solidFill>
            <a:schemeClr val="accent4">
              <a:lumMod val="20000"/>
              <a:lumOff val="80000"/>
            </a:schemeClr>
          </a:solidFill>
          <a:ln w="12700" cap="flat" cmpd="sng">
            <a:noFill/>
            <a:prstDash val="solid"/>
            <a:round/>
          </a:ln>
        </p:spPr>
        <p:txBody>
          <a:bodyPr vert="horz" wrap="square" lIns="203200" tIns="203200" rIns="203200" bIns="203200" rtlCol="0" anchor="t" anchorCtr="0"/>
          <a:lstStyle/>
          <a:p>
            <a:pPr indent="0">
              <a:lnSpc>
                <a:spcPct val="108333"/>
              </a:lnSpc>
              <a:spcAft>
                <a:spcPts val="1200"/>
              </a:spcAft>
              <a:defRPr/>
            </a:pPr>
            <a:r>
              <a:rPr lang="en-US" sz="2400" b="1" i="0" u="none" strike="noStrike">
                <a:solidFill>
                  <a:srgbClr val="B91C1C"/>
                </a:solidFill>
                <a:latin typeface="Noto Sans SC"/>
                <a:ea typeface="Noto Sans SC"/>
                <a:cs typeface="Noto Sans SC"/>
                <a:sym typeface="Noto Sans SC"/>
              </a:rPr>
              <a:t>证明</a:t>
            </a:r>
            <a:r>
              <a:rPr lang="zh-CN" altLang="en-US" sz="2400" b="1" i="0" u="none" strike="noStrike">
                <a:solidFill>
                  <a:srgbClr val="B91C1C"/>
                </a:solidFill>
                <a:latin typeface="Noto Sans SC"/>
                <a:ea typeface="Noto Sans SC"/>
                <a:cs typeface="Noto Sans SC"/>
                <a:sym typeface="Noto Sans SC"/>
              </a:rPr>
              <a:t>：</a:t>
            </a:r>
            <a:endParaRPr lang="en-US" sz="2400"/>
          </a:p>
          <a:p>
            <a:pPr indent="0">
              <a:lnSpc>
                <a:spcPct val="116666"/>
              </a:lnSpc>
              <a:spcAft>
                <a:spcPts val="1500"/>
              </a:spcAft>
            </a:pPr>
            <a:r>
              <a:rPr lang="en-US" sz="1600" b="1" i="0" u="none" strike="noStrike">
                <a:solidFill>
                  <a:srgbClr val="1F2329"/>
                </a:solidFill>
                <a:latin typeface="Noto Sans SC"/>
                <a:ea typeface="Noto Sans SC"/>
                <a:cs typeface="Noto Sans SC"/>
                <a:sym typeface="Noto Sans SC"/>
              </a:rPr>
              <a:t> A1 自反性 (显然成立)</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C3C3C"/>
                </a:solidFill>
                <a:latin typeface="Noto Sans SC"/>
                <a:ea typeface="Noto Sans SC"/>
                <a:cs typeface="Noto Sans SC"/>
                <a:sym typeface="Noto Sans SC"/>
              </a:rPr>
              <a:t>关系的一个元组在属性集 X 上的值相等，那么在其任意子集 Y 上的值必然也相等。</a:t>
            </a:r>
          </a:p>
          <a:p>
            <a:pPr indent="0">
              <a:lnSpc>
                <a:spcPct val="116666"/>
              </a:lnSpc>
              <a:spcAft>
                <a:spcPts val="1500"/>
              </a:spcAft>
            </a:pPr>
            <a:r>
              <a:rPr lang="en-US" sz="1600" b="1" i="0" u="none" strike="noStrike">
                <a:solidFill>
                  <a:srgbClr val="1F2329"/>
                </a:solidFill>
                <a:latin typeface="Noto Sans SC"/>
                <a:ea typeface="Noto Sans SC"/>
                <a:cs typeface="Noto Sans SC"/>
                <a:sym typeface="Noto Sans SC"/>
              </a:rPr>
              <a:t>A2 增广性 (反证法)</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C3C3C"/>
                </a:solidFill>
                <a:latin typeface="Noto Sans SC"/>
                <a:ea typeface="Noto Sans SC"/>
                <a:cs typeface="Noto Sans SC"/>
                <a:sym typeface="Noto Sans SC"/>
              </a:rPr>
              <a:t>假设存在元组 t 和 s，满足 t[XZ] = s[XZ]，但 t[YZ] ≠ s[YZ]。</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C3C3C"/>
                </a:solidFill>
                <a:latin typeface="Noto Sans SC"/>
                <a:ea typeface="Noto Sans SC"/>
                <a:cs typeface="Noto Sans SC"/>
                <a:sym typeface="Noto Sans SC"/>
              </a:rPr>
              <a:t>这意味着 t[Y]≠s[Y] 或 t[Z]≠s[Z]。若 t[Y]≠s[Y]，则与前提 X→Y 矛盾；若 t[Z]≠s[Z]，则与 t[XZ]=s[XZ] 矛盾。故假设不成立。</a:t>
            </a:r>
          </a:p>
          <a:p>
            <a:pPr indent="0">
              <a:lnSpc>
                <a:spcPct val="116666"/>
              </a:lnSpc>
            </a:pPr>
            <a:r>
              <a:rPr lang="en-US" sz="1600" b="1" i="0" u="none" strike="noStrike">
                <a:solidFill>
                  <a:srgbClr val="1F2329"/>
                </a:solidFill>
                <a:latin typeface="Noto Sans SC"/>
                <a:ea typeface="Noto Sans SC"/>
                <a:cs typeface="Noto Sans SC"/>
                <a:sym typeface="Noto Sans SC"/>
              </a:rPr>
              <a:t>A3 传递性 (反证法)</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C3C3C"/>
                </a:solidFill>
                <a:latin typeface="Noto Sans SC"/>
                <a:ea typeface="Noto Sans SC"/>
                <a:cs typeface="Noto Sans SC"/>
                <a:sym typeface="Noto Sans SC"/>
              </a:rPr>
              <a:t>假设存在元组 t 和 s，满足 t[X] = s[X]，但 t[Z] ≠ s[Z]。</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C3C3C"/>
                </a:solidFill>
                <a:latin typeface="Noto Sans SC"/>
                <a:ea typeface="Noto Sans SC"/>
                <a:cs typeface="Noto Sans SC"/>
                <a:sym typeface="Noto Sans SC"/>
              </a:rPr>
              <a:t>若 t[Y]≠s[Y]，则与 X→Y 矛盾；若 t[Y]=s[Y]，则与 Y→Z 矛盾。故假设不成立。</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7.2.3 FD的推理规则 (3)</a:t>
            </a:r>
            <a:endParaRPr lang="en-US" sz="2400" b="1">
              <a:solidFill>
                <a:srgbClr val="FFFFFF"/>
              </a:solidFill>
              <a:latin typeface="Noto Sans SC"/>
              <a:ea typeface="Noto Sans SC"/>
            </a:endParaRPr>
          </a:p>
        </p:txBody>
      </p:sp>
      <p:sp>
        <p:nvSpPr>
          <p:cNvPr id="3" name="AutoShape 3"/>
          <p:cNvSpPr/>
          <p:nvPr/>
        </p:nvSpPr>
        <p:spPr>
          <a:xfrm>
            <a:off x="838201" y="1435100"/>
            <a:ext cx="4761613" cy="47117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800" b="0" i="0" u="none" strike="noStrike">
                <a:solidFill>
                  <a:srgbClr val="333333"/>
                </a:solidFill>
                <a:latin typeface="Noto Sans SC"/>
                <a:ea typeface="Noto Sans SC"/>
                <a:cs typeface="Noto Sans SC"/>
                <a:sym typeface="Noto Sans SC"/>
              </a:rPr>
              <a:t>基于函数依赖的公理系统 A1 (自反律)、A2 (增广律)、A3 (传递律)，可推导出以下实用规则：</a:t>
            </a:r>
            <a:endParaRPr lang="en-US" sz="1800"/>
          </a:p>
          <a:p>
            <a:pPr indent="0" algn="l">
              <a:lnSpc>
                <a:spcPct val="108333"/>
              </a:lnSpc>
              <a:spcBef>
                <a:spcPts val="1000"/>
              </a:spcBef>
            </a:pPr>
            <a:r>
              <a:rPr lang="en-US" sz="1800" b="1" i="0" u="none" strike="noStrike">
                <a:solidFill>
                  <a:srgbClr val="7030A0"/>
                </a:solidFill>
                <a:latin typeface="Noto Sans SC"/>
                <a:ea typeface="Noto Sans SC"/>
                <a:cs typeface="Noto Sans SC"/>
                <a:sym typeface="Noto Sans SC"/>
              </a:rPr>
              <a:t> 合并性 (Union, A4)：</a:t>
            </a:r>
            <a:br>
              <a:rPr lang="en-US" sz="1800" b="1" i="0" u="none" strike="noStrike">
                <a:solidFill>
                  <a:srgbClr val="7030A0"/>
                </a:solidFill>
                <a:latin typeface="Noto Sans SC"/>
                <a:ea typeface="Noto Sans SC"/>
                <a:cs typeface="Noto Sans SC"/>
                <a:sym typeface="Noto Sans SC"/>
              </a:rPr>
            </a:br>
            <a:r>
              <a:rPr lang="en-US" sz="1800" b="0" i="0" u="none" strike="noStrike">
                <a:solidFill>
                  <a:srgbClr val="1F2329"/>
                </a:solidFill>
                <a:latin typeface="Noto Sans SC"/>
                <a:ea typeface="Noto Sans SC"/>
                <a:cs typeface="Noto Sans SC"/>
                <a:sym typeface="Noto Sans SC"/>
              </a:rPr>
              <a:t>若 X→Y 且 X→Z，则 X→YZ。</a:t>
            </a:r>
          </a:p>
          <a:p>
            <a:pPr indent="0" algn="l">
              <a:lnSpc>
                <a:spcPct val="108333"/>
              </a:lnSpc>
              <a:spcBef>
                <a:spcPts val="1000"/>
              </a:spcBef>
            </a:pPr>
            <a:r>
              <a:rPr lang="en-US" sz="1800" b="1" i="0" u="none" strike="noStrike">
                <a:solidFill>
                  <a:srgbClr val="7030A0"/>
                </a:solidFill>
                <a:latin typeface="Noto Sans SC"/>
                <a:ea typeface="Noto Sans SC"/>
                <a:cs typeface="Noto Sans SC"/>
                <a:sym typeface="Noto Sans SC"/>
              </a:rPr>
              <a:t> 分解性 (Decomposition, A5)：</a:t>
            </a:r>
            <a:br>
              <a:rPr lang="en-US" sz="1800" b="1" i="0" u="none" strike="noStrike">
                <a:solidFill>
                  <a:srgbClr val="7030A0"/>
                </a:solidFill>
                <a:latin typeface="Noto Sans SC"/>
                <a:ea typeface="Noto Sans SC"/>
                <a:cs typeface="Noto Sans SC"/>
                <a:sym typeface="Noto Sans SC"/>
              </a:rPr>
            </a:br>
            <a:r>
              <a:rPr lang="en-US" sz="1800" b="0" i="0" u="none" strike="noStrike">
                <a:solidFill>
                  <a:srgbClr val="1F2329"/>
                </a:solidFill>
                <a:latin typeface="Noto Sans SC"/>
                <a:ea typeface="Noto Sans SC"/>
                <a:cs typeface="Noto Sans SC"/>
                <a:sym typeface="Noto Sans SC"/>
              </a:rPr>
              <a:t>若 X→Y 且 Z⊆Y，则 X→Z。</a:t>
            </a:r>
          </a:p>
          <a:p>
            <a:pPr indent="0" algn="l">
              <a:lnSpc>
                <a:spcPct val="108333"/>
              </a:lnSpc>
              <a:spcBef>
                <a:spcPts val="1000"/>
              </a:spcBef>
            </a:pPr>
            <a:r>
              <a:rPr lang="en-US" sz="1800" b="1" i="0" u="none" strike="noStrike">
                <a:solidFill>
                  <a:srgbClr val="7030A0"/>
                </a:solidFill>
                <a:latin typeface="Noto Sans SC"/>
                <a:ea typeface="Noto Sans SC"/>
                <a:cs typeface="Noto Sans SC"/>
                <a:sym typeface="Noto Sans SC"/>
              </a:rPr>
              <a:t> 伪传递性 (Pseudotransitivity, A6)：</a:t>
            </a:r>
            <a:br>
              <a:rPr lang="en-US" sz="1800" b="1" i="0" u="none" strike="noStrike">
                <a:solidFill>
                  <a:srgbClr val="7030A0"/>
                </a:solidFill>
                <a:latin typeface="Noto Sans SC"/>
                <a:ea typeface="Noto Sans SC"/>
                <a:cs typeface="Noto Sans SC"/>
                <a:sym typeface="Noto Sans SC"/>
              </a:rPr>
            </a:br>
            <a:r>
              <a:rPr lang="en-US" sz="1800" b="0" i="0" u="none" strike="noStrike">
                <a:solidFill>
                  <a:srgbClr val="1F2329"/>
                </a:solidFill>
                <a:latin typeface="Noto Sans SC"/>
                <a:ea typeface="Noto Sans SC"/>
                <a:cs typeface="Noto Sans SC"/>
                <a:sym typeface="Noto Sans SC"/>
              </a:rPr>
              <a:t>若 X→Y 且 WY→Z，则 WX→Z。</a:t>
            </a:r>
          </a:p>
          <a:p>
            <a:pPr indent="0" algn="l">
              <a:lnSpc>
                <a:spcPct val="108333"/>
              </a:lnSpc>
              <a:spcBef>
                <a:spcPts val="1000"/>
              </a:spcBef>
            </a:pPr>
            <a:r>
              <a:rPr lang="en-US" sz="1800" b="1" i="0" u="none" strike="noStrike">
                <a:solidFill>
                  <a:srgbClr val="7030A0"/>
                </a:solidFill>
                <a:latin typeface="Noto Sans SC"/>
                <a:ea typeface="Noto Sans SC"/>
                <a:cs typeface="Noto Sans SC"/>
                <a:sym typeface="Noto Sans SC"/>
              </a:rPr>
              <a:t> 复合性 (Composition, A7)：</a:t>
            </a:r>
            <a:br>
              <a:rPr lang="en-US" sz="1800" b="1" i="0" u="none" strike="noStrike">
                <a:solidFill>
                  <a:srgbClr val="7030A0"/>
                </a:solidFill>
                <a:latin typeface="Noto Sans SC"/>
                <a:ea typeface="Noto Sans SC"/>
                <a:cs typeface="Noto Sans SC"/>
                <a:sym typeface="Noto Sans SC"/>
              </a:rPr>
            </a:br>
            <a:r>
              <a:rPr lang="en-US" sz="1800" b="0" i="0" u="none" strike="noStrike">
                <a:solidFill>
                  <a:srgbClr val="1F2329"/>
                </a:solidFill>
                <a:latin typeface="Noto Sans SC"/>
                <a:ea typeface="Noto Sans SC"/>
                <a:cs typeface="Noto Sans SC"/>
                <a:sym typeface="Noto Sans SC"/>
              </a:rPr>
              <a:t>若 X→Y 且 W→Z，则 XW→YZ。</a:t>
            </a:r>
          </a:p>
          <a:p>
            <a:pPr indent="0" algn="l">
              <a:lnSpc>
                <a:spcPct val="108333"/>
              </a:lnSpc>
              <a:spcBef>
                <a:spcPts val="1400"/>
              </a:spcBef>
            </a:pPr>
            <a:r>
              <a:rPr lang="en-US" sz="1800" b="1" i="0" u="none" strike="noStrike">
                <a:solidFill>
                  <a:srgbClr val="CC3300"/>
                </a:solidFill>
                <a:latin typeface="Noto Sans SC"/>
                <a:ea typeface="Noto Sans SC"/>
                <a:cs typeface="Noto Sans SC"/>
                <a:sym typeface="Noto Sans SC"/>
              </a:rPr>
              <a:t>★ 重要推论 (定理7.3)：</a:t>
            </a:r>
          </a:p>
          <a:p>
            <a:pPr indent="0" algn="l">
              <a:lnSpc>
                <a:spcPct val="108333"/>
              </a:lnSpc>
            </a:pPr>
            <a:r>
              <a:rPr lang="en-US" sz="1800" b="0" i="0" u="none" strike="noStrike">
                <a:solidFill>
                  <a:srgbClr val="1F2329"/>
                </a:solidFill>
                <a:latin typeface="Noto Sans SC"/>
                <a:ea typeface="Noto Sans SC"/>
                <a:cs typeface="Noto Sans SC"/>
                <a:sym typeface="Noto Sans SC"/>
              </a:rPr>
              <a:t>X→A₁A₂…Aₙ 成立，当且仅当 X→Aᵢ 均成立。</a:t>
            </a:r>
            <a:br>
              <a:rPr lang="en-US" sz="1800" b="0" i="0" u="none" strike="noStrike">
                <a:solidFill>
                  <a:srgbClr val="1F2329"/>
                </a:solidFill>
                <a:latin typeface="Noto Sans SC"/>
                <a:ea typeface="Noto Sans SC"/>
                <a:cs typeface="Noto Sans SC"/>
                <a:sym typeface="Noto Sans SC"/>
              </a:rPr>
            </a:br>
            <a:r>
              <a:rPr lang="en-US" sz="1800" b="1" u="none" strike="noStrike">
                <a:solidFill>
                  <a:srgbClr val="1F2329"/>
                </a:solidFill>
                <a:latin typeface="Noto Sans SC"/>
                <a:ea typeface="Noto Sans SC"/>
                <a:cs typeface="Noto Sans SC"/>
                <a:sym typeface="Noto Sans SC"/>
              </a:rPr>
              <a:t>为求最小函数依赖集提供依据。</a:t>
            </a:r>
          </a:p>
        </p:txBody>
      </p:sp>
      <p:sp>
        <p:nvSpPr>
          <p:cNvPr id="4" name="AutoShape 4"/>
          <p:cNvSpPr/>
          <p:nvPr/>
        </p:nvSpPr>
        <p:spPr>
          <a:xfrm>
            <a:off x="7038752" y="1435100"/>
            <a:ext cx="613147" cy="48260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规则</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速览</a:t>
            </a:r>
            <a:endParaRPr lang="en-US" sz="1600" b="1">
              <a:solidFill>
                <a:srgbClr val="FFFFFF"/>
              </a:solidFill>
              <a:latin typeface="Noto Sans SC"/>
              <a:ea typeface="Noto Sans SC"/>
            </a:endParaRPr>
          </a:p>
        </p:txBody>
      </p:sp>
      <p:sp>
        <p:nvSpPr>
          <p:cNvPr id="5" name="AutoShape 5"/>
          <p:cNvSpPr/>
          <p:nvPr/>
        </p:nvSpPr>
        <p:spPr>
          <a:xfrm>
            <a:off x="7726326" y="1435100"/>
            <a:ext cx="3576674" cy="812800"/>
          </a:xfrm>
          <a:prstGeom prst="roundRect">
            <a:avLst>
              <a:gd name="adj" fmla="val 0"/>
            </a:avLst>
          </a:prstGeom>
          <a:solidFill>
            <a:srgbClr val="EEE8FF">
              <a:alpha val="100000"/>
            </a:srgbClr>
          </a:solidFill>
          <a:ln w="25400" cap="flat" cmpd="sng">
            <a:solidFill>
              <a:srgbClr val="7030A0">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7030A0"/>
                </a:solidFill>
                <a:latin typeface="Noto Sans SC"/>
                <a:ea typeface="Noto Sans SC"/>
                <a:cs typeface="Noto Sans SC"/>
                <a:sym typeface="Noto Sans SC"/>
              </a:rPr>
              <a:t>A4 合并律：X→Y, X→Z ⇒ X→YZ</a:t>
            </a:r>
            <a:endParaRPr lang="en-US" sz="1600"/>
          </a:p>
        </p:txBody>
      </p:sp>
      <p:sp>
        <p:nvSpPr>
          <p:cNvPr id="6" name="AutoShape 6"/>
          <p:cNvSpPr/>
          <p:nvPr/>
        </p:nvSpPr>
        <p:spPr>
          <a:xfrm>
            <a:off x="7726326" y="2438400"/>
            <a:ext cx="3576674" cy="812800"/>
          </a:xfrm>
          <a:prstGeom prst="roundRect">
            <a:avLst>
              <a:gd name="adj" fmla="val 0"/>
            </a:avLst>
          </a:prstGeom>
          <a:solidFill>
            <a:srgbClr val="EEE8FF">
              <a:alpha val="100000"/>
            </a:srgbClr>
          </a:solidFill>
          <a:ln w="25400" cap="flat" cmpd="sng">
            <a:solidFill>
              <a:srgbClr val="7030A0">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7030A0"/>
                </a:solidFill>
                <a:latin typeface="Noto Sans SC"/>
                <a:ea typeface="Noto Sans SC"/>
                <a:cs typeface="Noto Sans SC"/>
                <a:sym typeface="Noto Sans SC"/>
              </a:rPr>
              <a:t>A5 分解律：X→Y,Z⊆Y ⇒ X→Z</a:t>
            </a:r>
            <a:endParaRPr lang="en-US" sz="1600"/>
          </a:p>
        </p:txBody>
      </p:sp>
      <p:sp>
        <p:nvSpPr>
          <p:cNvPr id="7" name="AutoShape 7"/>
          <p:cNvSpPr/>
          <p:nvPr/>
        </p:nvSpPr>
        <p:spPr>
          <a:xfrm>
            <a:off x="7726326" y="3441700"/>
            <a:ext cx="3576674" cy="812800"/>
          </a:xfrm>
          <a:prstGeom prst="roundRect">
            <a:avLst>
              <a:gd name="adj" fmla="val 0"/>
            </a:avLst>
          </a:prstGeom>
          <a:solidFill>
            <a:srgbClr val="EEE8FF">
              <a:alpha val="100000"/>
            </a:srgbClr>
          </a:solidFill>
          <a:ln w="25400" cap="flat" cmpd="sng">
            <a:solidFill>
              <a:srgbClr val="7030A0">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7030A0"/>
                </a:solidFill>
                <a:latin typeface="Noto Sans SC"/>
                <a:ea typeface="Noto Sans SC"/>
                <a:cs typeface="Noto Sans SC"/>
                <a:sym typeface="Noto Sans SC"/>
              </a:rPr>
              <a:t>A6 伪传递：X→Y,WY→Z ⇒ WX→Z</a:t>
            </a:r>
            <a:endParaRPr lang="en-US" sz="1600"/>
          </a:p>
        </p:txBody>
      </p:sp>
      <p:sp>
        <p:nvSpPr>
          <p:cNvPr id="8" name="AutoShape 8"/>
          <p:cNvSpPr/>
          <p:nvPr/>
        </p:nvSpPr>
        <p:spPr>
          <a:xfrm>
            <a:off x="7726326" y="4445000"/>
            <a:ext cx="3576674" cy="812800"/>
          </a:xfrm>
          <a:prstGeom prst="roundRect">
            <a:avLst>
              <a:gd name="adj" fmla="val 0"/>
            </a:avLst>
          </a:prstGeom>
          <a:solidFill>
            <a:srgbClr val="EEE8FF">
              <a:alpha val="100000"/>
            </a:srgbClr>
          </a:solidFill>
          <a:ln w="25400" cap="flat" cmpd="sng">
            <a:solidFill>
              <a:srgbClr val="7030A0">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7030A0"/>
                </a:solidFill>
                <a:latin typeface="Noto Sans SC"/>
                <a:ea typeface="Noto Sans SC"/>
                <a:cs typeface="Noto Sans SC"/>
                <a:sym typeface="Noto Sans SC"/>
              </a:rPr>
              <a:t>A7 复合律：X→Y,W→Z ⇒ XW→YZ</a:t>
            </a:r>
            <a:endParaRPr lang="en-US" sz="1600"/>
          </a:p>
        </p:txBody>
      </p:sp>
      <p:sp>
        <p:nvSpPr>
          <p:cNvPr id="9" name="AutoShape 9"/>
          <p:cNvSpPr/>
          <p:nvPr/>
        </p:nvSpPr>
        <p:spPr>
          <a:xfrm>
            <a:off x="7726326" y="5448300"/>
            <a:ext cx="3576674" cy="812800"/>
          </a:xfrm>
          <a:prstGeom prst="roundRect">
            <a:avLst>
              <a:gd name="adj" fmla="val 0"/>
            </a:avLst>
          </a:prstGeom>
          <a:solidFill>
            <a:srgbClr val="FFF3CD">
              <a:alpha val="100000"/>
            </a:srgbClr>
          </a:solidFill>
          <a:ln w="25400" cap="flat" cmpd="sng">
            <a:solidFill>
              <a:srgbClr val="D97706">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B45309"/>
                </a:solidFill>
                <a:latin typeface="Noto Sans SC"/>
                <a:ea typeface="Noto Sans SC"/>
                <a:cs typeface="Noto Sans SC"/>
                <a:sym typeface="Noto Sans SC"/>
              </a:rPr>
              <a:t>定理7.3：X→A₁…Aₙ ⇔ X→Aᵢ</a:t>
            </a:r>
            <a:endParaRPr lang="en-US" sz="16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7.2.3 FD的推理规则(4)</a:t>
            </a:r>
            <a:endParaRPr lang="en-US" sz="2400" b="1">
              <a:solidFill>
                <a:srgbClr val="FFFFFF"/>
              </a:solidFill>
              <a:latin typeface="Noto Sans SC"/>
              <a:ea typeface="Noto Sans SC"/>
            </a:endParaRPr>
          </a:p>
        </p:txBody>
      </p:sp>
      <p:sp>
        <p:nvSpPr>
          <p:cNvPr id="3" name="AutoShape 3"/>
          <p:cNvSpPr/>
          <p:nvPr/>
        </p:nvSpPr>
        <p:spPr>
          <a:xfrm>
            <a:off x="838199" y="1772092"/>
            <a:ext cx="5704368" cy="4579089"/>
          </a:xfrm>
          <a:prstGeom prst="rect">
            <a:avLst/>
          </a:prstGeom>
          <a:solidFill>
            <a:srgbClr val="F8F9FA">
              <a:alpha val="100000"/>
            </a:srgbClr>
          </a:solidFill>
          <a:ln w="12700" cap="flat" cmpd="sng">
            <a:noFill/>
            <a:prstDash val="solid"/>
            <a:round/>
          </a:ln>
        </p:spPr>
        <p:txBody>
          <a:bodyPr vert="horz" wrap="square" lIns="127000" tIns="190500" rIns="127000" bIns="0" rtlCol="0" anchor="t" anchorCtr="0"/>
          <a:lstStyle/>
          <a:p>
            <a:pPr>
              <a:lnSpc>
                <a:spcPct val="108333"/>
              </a:lnSpc>
              <a:spcAft>
                <a:spcPts val="1200"/>
              </a:spcAft>
              <a:defRPr/>
            </a:pPr>
            <a:r>
              <a:rPr lang="en-US" sz="2000" b="1" i="0" u="none" strike="noStrike">
                <a:solidFill>
                  <a:srgbClr val="7030A0"/>
                </a:solidFill>
                <a:latin typeface="Noto Sans SC"/>
                <a:ea typeface="Noto Sans SC"/>
                <a:cs typeface="Noto Sans SC"/>
                <a:sym typeface="Noto Sans SC"/>
              </a:rPr>
              <a:t>已知条件</a:t>
            </a:r>
            <a:r>
              <a:rPr lang="zh-CN" altLang="en-US" sz="2000" b="1">
                <a:solidFill>
                  <a:srgbClr val="7030A0"/>
                </a:solidFill>
                <a:latin typeface="Noto Sans SC"/>
                <a:ea typeface="Noto Sans SC"/>
                <a:cs typeface="Noto Sans SC"/>
                <a:sym typeface="Noto Sans SC"/>
              </a:rPr>
              <a:t>：</a:t>
            </a:r>
            <a:br>
              <a:rPr lang="en-US" altLang="zh-CN" sz="2000" b="1">
                <a:solidFill>
                  <a:srgbClr val="7030A0"/>
                </a:solidFill>
                <a:latin typeface="Noto Sans SC"/>
                <a:ea typeface="Noto Sans SC"/>
                <a:cs typeface="Noto Sans SC"/>
                <a:sym typeface="Noto Sans SC"/>
              </a:rPr>
            </a:br>
            <a:r>
              <a:rPr lang="en-US" sz="1800" b="0" i="0" u="none" strike="noStrike">
                <a:solidFill>
                  <a:srgbClr val="333333"/>
                </a:solidFill>
                <a:latin typeface="Noto Sans SC"/>
                <a:ea typeface="Noto Sans SC"/>
                <a:cs typeface="Noto Sans SC"/>
                <a:sym typeface="Noto Sans SC"/>
              </a:rPr>
              <a:t>关系模式 R (A, B, C)，函数依赖集 F = { A→B, B→C }。</a:t>
            </a:r>
            <a:endParaRPr lang="en-US"/>
          </a:p>
          <a:p>
            <a:pPr indent="0" algn="l">
              <a:lnSpc>
                <a:spcPct val="108333"/>
              </a:lnSpc>
              <a:spcAft>
                <a:spcPts val="1200"/>
              </a:spcAft>
            </a:pPr>
            <a:r>
              <a:rPr lang="en-US" sz="2000" b="1" i="0" u="none" strike="noStrike">
                <a:solidFill>
                  <a:srgbClr val="7030A0"/>
                </a:solidFill>
                <a:latin typeface="Noto Sans SC"/>
                <a:ea typeface="Noto Sans SC"/>
                <a:cs typeface="Noto Sans SC"/>
                <a:sym typeface="Noto Sans SC"/>
              </a:rPr>
              <a:t>根据推理规则推导出的 F⁺ (部分列举)</a:t>
            </a:r>
          </a:p>
          <a:p>
            <a:pPr>
              <a:spcAft>
                <a:spcPts val="800"/>
              </a:spcAft>
            </a:pPr>
            <a:r>
              <a:rPr lang="en-US" sz="1800" b="1" i="0" u="none" strike="noStrike">
                <a:solidFill>
                  <a:srgbClr val="C80A0A"/>
                </a:solidFill>
                <a:latin typeface="Noto Sans SC"/>
                <a:ea typeface="Noto Sans SC"/>
                <a:cs typeface="Noto Sans SC"/>
                <a:sym typeface="Noto Sans SC"/>
              </a:rPr>
              <a:t>① 平凡依赖：</a:t>
            </a:r>
            <a:br>
              <a:rPr lang="en-US" sz="1800" b="0" i="0" u="none" strike="noStrike">
                <a:solidFill>
                  <a:srgbClr val="1F2329"/>
                </a:solidFill>
                <a:latin typeface="Noto Sans SC"/>
                <a:ea typeface="Noto Sans SC"/>
                <a:cs typeface="Noto Sans SC"/>
                <a:sym typeface="Noto Sans SC"/>
              </a:rPr>
            </a:br>
            <a:r>
              <a:rPr lang="en-US" sz="1600" b="0" i="0" u="none" strike="noStrike">
                <a:solidFill>
                  <a:srgbClr val="505050"/>
                </a:solidFill>
                <a:latin typeface="Noto Sans SC"/>
                <a:ea typeface="Noto Sans SC"/>
                <a:cs typeface="Noto Sans SC"/>
                <a:sym typeface="Noto Sans SC"/>
              </a:rPr>
              <a:t>A→∅, B→∅, </a:t>
            </a:r>
            <a:r>
              <a:rPr lang="en-US" altLang="zh-CN" sz="1600">
                <a:solidFill>
                  <a:srgbClr val="505050"/>
                </a:solidFill>
                <a:latin typeface="Noto Sans SC"/>
                <a:ea typeface="Noto Sans SC"/>
                <a:cs typeface="Noto Sans SC"/>
                <a:sym typeface="Noto Sans SC"/>
              </a:rPr>
              <a:t>C→∅, AB→∅, AC→∅, BC→∅, ABC→∅, </a:t>
            </a:r>
            <a:br>
              <a:rPr lang="en-US" altLang="zh-CN" sz="1600">
                <a:solidFill>
                  <a:srgbClr val="505050"/>
                </a:solidFill>
                <a:latin typeface="Noto Sans SC"/>
                <a:ea typeface="Noto Sans SC"/>
                <a:cs typeface="Noto Sans SC"/>
                <a:sym typeface="Noto Sans SC"/>
              </a:rPr>
            </a:br>
            <a:r>
              <a:rPr lang="en-US" altLang="zh-CN" sz="1600">
                <a:solidFill>
                  <a:srgbClr val="505050"/>
                </a:solidFill>
                <a:latin typeface="Noto Sans SC"/>
                <a:ea typeface="Noto Sans SC"/>
                <a:cs typeface="Noto Sans SC"/>
                <a:sym typeface="Noto Sans SC"/>
              </a:rPr>
              <a:t>A→A, </a:t>
            </a:r>
            <a:r>
              <a:rPr lang="en-US" sz="1600" b="0" i="0" u="none" strike="noStrike">
                <a:solidFill>
                  <a:srgbClr val="505050"/>
                </a:solidFill>
                <a:latin typeface="Noto Sans SC"/>
                <a:ea typeface="Noto Sans SC"/>
                <a:cs typeface="Noto Sans SC"/>
                <a:sym typeface="Noto Sans SC"/>
              </a:rPr>
              <a:t>B→B, C→C, </a:t>
            </a:r>
            <a:r>
              <a:rPr lang="en-US" altLang="zh-CN" sz="1600">
                <a:solidFill>
                  <a:srgbClr val="505050"/>
                </a:solidFill>
                <a:latin typeface="Noto Sans SC"/>
                <a:ea typeface="Noto Sans SC"/>
                <a:cs typeface="Noto Sans SC"/>
                <a:sym typeface="Noto Sans SC"/>
              </a:rPr>
              <a:t>AB→AB,</a:t>
            </a:r>
            <a:r>
              <a:rPr lang="zh-CN" altLang="en-US" sz="1600">
                <a:solidFill>
                  <a:srgbClr val="505050"/>
                </a:solidFill>
                <a:latin typeface="Noto Sans SC"/>
                <a:ea typeface="Noto Sans SC"/>
                <a:cs typeface="Noto Sans SC"/>
                <a:sym typeface="Noto Sans SC"/>
              </a:rPr>
              <a:t> </a:t>
            </a:r>
            <a:r>
              <a:rPr lang="en-US" altLang="zh-CN" sz="1600">
                <a:solidFill>
                  <a:srgbClr val="505050"/>
                </a:solidFill>
                <a:latin typeface="Noto Sans SC"/>
                <a:ea typeface="Noto Sans SC"/>
                <a:cs typeface="Noto Sans SC"/>
                <a:sym typeface="Noto Sans SC"/>
              </a:rPr>
              <a:t>AC→AC, BC→BC, ABC→ABC, </a:t>
            </a:r>
            <a:br>
              <a:rPr lang="en-US" altLang="zh-CN" sz="1600">
                <a:solidFill>
                  <a:srgbClr val="505050"/>
                </a:solidFill>
                <a:latin typeface="Noto Sans SC"/>
                <a:ea typeface="Noto Sans SC"/>
                <a:cs typeface="Noto Sans SC"/>
                <a:sym typeface="Noto Sans SC"/>
              </a:rPr>
            </a:br>
            <a:r>
              <a:rPr lang="en-US" altLang="zh-CN" sz="1600">
                <a:solidFill>
                  <a:srgbClr val="505050"/>
                </a:solidFill>
                <a:latin typeface="Noto Sans SC"/>
                <a:ea typeface="Noto Sans SC"/>
                <a:cs typeface="Noto Sans SC"/>
                <a:sym typeface="Noto Sans SC"/>
              </a:rPr>
              <a:t>AB→A, AB→B, AC→A, AC→C, BC→B, BC→C, </a:t>
            </a:r>
            <a:r>
              <a:rPr lang="en-US" sz="1600" b="0" i="0" u="none" strike="noStrike">
                <a:solidFill>
                  <a:srgbClr val="505050"/>
                </a:solidFill>
                <a:latin typeface="Noto Sans SC"/>
                <a:ea typeface="Noto Sans SC"/>
                <a:cs typeface="Noto Sans SC"/>
                <a:sym typeface="Noto Sans SC"/>
              </a:rPr>
              <a:t>…</a:t>
            </a:r>
          </a:p>
          <a:p>
            <a:pPr indent="0" algn="l">
              <a:lnSpc>
                <a:spcPct val="100000"/>
              </a:lnSpc>
              <a:spcAft>
                <a:spcPts val="800"/>
              </a:spcAft>
            </a:pPr>
            <a:r>
              <a:rPr lang="en-US" sz="1800" b="1" i="0" u="none" strike="noStrike">
                <a:solidFill>
                  <a:srgbClr val="C80A0A"/>
                </a:solidFill>
                <a:latin typeface="Noto Sans SC"/>
                <a:ea typeface="Noto Sans SC"/>
                <a:cs typeface="Noto Sans SC"/>
                <a:sym typeface="Noto Sans SC"/>
              </a:rPr>
              <a:t>② 直接依赖 (来自F)：</a:t>
            </a:r>
            <a:br>
              <a:rPr lang="en-US" sz="1800" b="0" i="0" u="none" strike="noStrike">
                <a:solidFill>
                  <a:srgbClr val="1F2329"/>
                </a:solidFill>
                <a:latin typeface="Noto Sans SC"/>
                <a:ea typeface="Noto Sans SC"/>
                <a:cs typeface="Noto Sans SC"/>
                <a:sym typeface="Noto Sans SC"/>
              </a:rPr>
            </a:br>
            <a:r>
              <a:rPr lang="en-US" sz="1800" b="0" i="0" u="none" strike="noStrike">
                <a:solidFill>
                  <a:srgbClr val="505050"/>
                </a:solidFill>
                <a:latin typeface="Noto Sans SC"/>
                <a:ea typeface="Noto Sans SC"/>
                <a:cs typeface="Noto Sans SC"/>
                <a:sym typeface="Noto Sans SC"/>
              </a:rPr>
              <a:t>A→B, B→C</a:t>
            </a:r>
          </a:p>
          <a:p>
            <a:pPr indent="0" algn="l">
              <a:lnSpc>
                <a:spcPct val="100000"/>
              </a:lnSpc>
              <a:spcAft>
                <a:spcPts val="800"/>
              </a:spcAft>
            </a:pPr>
            <a:r>
              <a:rPr lang="en-US" sz="1800" b="1" i="0" u="none" strike="noStrike">
                <a:solidFill>
                  <a:srgbClr val="C80A0A"/>
                </a:solidFill>
                <a:latin typeface="Noto Sans SC"/>
                <a:ea typeface="Noto Sans SC"/>
                <a:cs typeface="Noto Sans SC"/>
                <a:sym typeface="Noto Sans SC"/>
              </a:rPr>
              <a:t>③ 传递依赖 (传递律)：</a:t>
            </a:r>
            <a:br>
              <a:rPr lang="en-US" sz="1800" b="0" i="0" u="none" strike="noStrike">
                <a:solidFill>
                  <a:srgbClr val="1F2329"/>
                </a:solidFill>
                <a:latin typeface="Noto Sans SC"/>
                <a:ea typeface="Noto Sans SC"/>
                <a:cs typeface="Noto Sans SC"/>
                <a:sym typeface="Noto Sans SC"/>
              </a:rPr>
            </a:br>
            <a:r>
              <a:rPr lang="en-US" sz="1800" b="0" i="0" u="none" strike="noStrike">
                <a:solidFill>
                  <a:srgbClr val="505050"/>
                </a:solidFill>
                <a:latin typeface="Noto Sans SC"/>
                <a:ea typeface="Noto Sans SC"/>
                <a:cs typeface="Noto Sans SC"/>
                <a:sym typeface="Noto Sans SC"/>
              </a:rPr>
              <a:t>A→C</a:t>
            </a:r>
          </a:p>
          <a:p>
            <a:pPr indent="0" algn="l">
              <a:lnSpc>
                <a:spcPct val="100000"/>
              </a:lnSpc>
            </a:pPr>
            <a:r>
              <a:rPr lang="en-US" sz="1800" b="1" i="0" u="none" strike="noStrike">
                <a:solidFill>
                  <a:srgbClr val="C80A0A"/>
                </a:solidFill>
                <a:latin typeface="Noto Sans SC"/>
                <a:ea typeface="Noto Sans SC"/>
                <a:cs typeface="Noto Sans SC"/>
                <a:sym typeface="Noto Sans SC"/>
              </a:rPr>
              <a:t>④ 合并与增广依赖：</a:t>
            </a:r>
            <a:br>
              <a:rPr lang="en-US" sz="1800" b="0" i="0" u="none" strike="noStrike">
                <a:solidFill>
                  <a:srgbClr val="1F2329"/>
                </a:solidFill>
                <a:latin typeface="Noto Sans SC"/>
                <a:ea typeface="Noto Sans SC"/>
                <a:cs typeface="Noto Sans SC"/>
                <a:sym typeface="Noto Sans SC"/>
              </a:rPr>
            </a:br>
            <a:r>
              <a:rPr lang="en-US" sz="1800" b="0" i="0" u="none" strike="noStrike">
                <a:solidFill>
                  <a:srgbClr val="505050"/>
                </a:solidFill>
                <a:latin typeface="Noto Sans SC"/>
                <a:ea typeface="Noto Sans SC"/>
                <a:cs typeface="Noto Sans SC"/>
                <a:sym typeface="Noto Sans SC"/>
              </a:rPr>
              <a:t>A→AB, A→BC, A→ABC, AB→BC, …</a:t>
            </a:r>
          </a:p>
        </p:txBody>
      </p:sp>
      <p:sp>
        <p:nvSpPr>
          <p:cNvPr id="4" name="AutoShape 4"/>
          <p:cNvSpPr/>
          <p:nvPr/>
        </p:nvSpPr>
        <p:spPr>
          <a:xfrm>
            <a:off x="6974958" y="1772092"/>
            <a:ext cx="4267200" cy="4586178"/>
          </a:xfrm>
          <a:prstGeom prst="rect">
            <a:avLst/>
          </a:prstGeom>
          <a:solidFill>
            <a:srgbClr val="FFFAE6">
              <a:alpha val="100000"/>
            </a:srgbClr>
          </a:solidFill>
          <a:ln w="12700" cap="flat" cmpd="sng">
            <a:noFill/>
            <a:prstDash val="solid"/>
            <a:round/>
          </a:ln>
        </p:spPr>
        <p:txBody>
          <a:bodyPr vert="horz" wrap="square" lIns="190500" tIns="0" rIns="190500" bIns="0" rtlCol="0" anchor="ctr" anchorCtr="0"/>
          <a:lstStyle/>
          <a:p>
            <a:pPr indent="0" algn="just">
              <a:lnSpc>
                <a:spcPct val="125000"/>
              </a:lnSpc>
              <a:spcAft>
                <a:spcPts val="2000"/>
              </a:spcAft>
              <a:defRPr/>
            </a:pPr>
            <a:r>
              <a:rPr lang="en-US" sz="2400" b="1" i="0" u="none" strike="noStrike">
                <a:solidFill>
                  <a:srgbClr val="B45000"/>
                </a:solidFill>
                <a:latin typeface="Noto Sans SC"/>
                <a:ea typeface="Noto Sans SC"/>
                <a:cs typeface="Noto Sans SC"/>
                <a:sym typeface="Noto Sans SC"/>
              </a:rPr>
              <a:t>💡 关键观察与结论</a:t>
            </a:r>
            <a:endParaRPr lang="en-US"/>
          </a:p>
          <a:p>
            <a:pPr algn="just">
              <a:lnSpc>
                <a:spcPct val="125000"/>
              </a:lnSpc>
              <a:spcAft>
                <a:spcPts val="1500"/>
              </a:spcAft>
            </a:pPr>
            <a:r>
              <a:rPr lang="en-US" sz="1800" b="0" i="0" u="none" strike="noStrike">
                <a:solidFill>
                  <a:srgbClr val="333333"/>
                </a:solidFill>
                <a:latin typeface="Noto Sans SC"/>
                <a:ea typeface="Noto Sans SC"/>
                <a:cs typeface="Noto Sans SC"/>
                <a:sym typeface="Noto Sans SC"/>
              </a:rPr>
              <a:t>在本例中，R仅有3个属性，F仅有2条依赖，但计算出</a:t>
            </a:r>
            <a:r>
              <a:rPr lang="en-US" altLang="zh-CN" sz="1800">
                <a:solidFill>
                  <a:srgbClr val="333333"/>
                </a:solidFill>
                <a:latin typeface="Noto Sans SC"/>
                <a:ea typeface="Noto Sans SC"/>
                <a:cs typeface="Noto Sans SC"/>
                <a:sym typeface="Noto Sans SC"/>
              </a:rPr>
              <a:t> FD </a:t>
            </a:r>
            <a:r>
              <a:rPr lang="en-US" sz="1800" b="0" i="0" u="none" strike="noStrike">
                <a:solidFill>
                  <a:srgbClr val="333333"/>
                </a:solidFill>
                <a:latin typeface="Noto Sans SC"/>
                <a:ea typeface="Noto Sans SC"/>
                <a:cs typeface="Noto Sans SC"/>
                <a:sym typeface="Noto Sans SC"/>
              </a:rPr>
              <a:t>的闭包 F⁺ 理论上包含了</a:t>
            </a:r>
            <a:r>
              <a:rPr lang="en-US" sz="2000" b="1" i="0" u="none" strike="noStrike">
                <a:solidFill>
                  <a:srgbClr val="D93025"/>
                </a:solidFill>
                <a:latin typeface="Noto Sans SC"/>
                <a:ea typeface="Noto Sans SC"/>
                <a:cs typeface="Noto Sans SC"/>
                <a:sym typeface="Noto Sans SC"/>
              </a:rPr>
              <a:t>43条</a:t>
            </a:r>
            <a:r>
              <a:rPr lang="en-US" sz="1800" b="0" i="0" u="none" strike="noStrike">
                <a:solidFill>
                  <a:srgbClr val="333333"/>
                </a:solidFill>
                <a:latin typeface="Noto Sans SC"/>
                <a:ea typeface="Noto Sans SC"/>
                <a:cs typeface="Noto Sans SC"/>
                <a:sym typeface="Noto Sans SC"/>
              </a:rPr>
              <a:t>不同的函数依赖。</a:t>
            </a:r>
          </a:p>
          <a:p>
            <a:pPr indent="0" algn="just">
              <a:lnSpc>
                <a:spcPct val="125000"/>
              </a:lnSpc>
              <a:spcAft>
                <a:spcPts val="1500"/>
              </a:spcAft>
            </a:pPr>
            <a:r>
              <a:rPr lang="en-US" sz="1800" b="0" i="0" u="none" strike="noStrike">
                <a:solidFill>
                  <a:srgbClr val="333333"/>
                </a:solidFill>
                <a:latin typeface="Noto Sans SC"/>
                <a:ea typeface="Noto Sans SC"/>
                <a:cs typeface="Noto Sans SC"/>
                <a:sym typeface="Noto Sans SC"/>
              </a:rPr>
              <a:t>这直观地说明了：</a:t>
            </a:r>
            <a:r>
              <a:rPr lang="en-US" sz="1800" b="1" i="0" u="none" strike="noStrike">
                <a:solidFill>
                  <a:srgbClr val="000000"/>
                </a:solidFill>
                <a:latin typeface="Noto Sans SC"/>
                <a:ea typeface="Noto Sans SC"/>
                <a:cs typeface="Noto Sans SC"/>
                <a:sym typeface="Noto Sans SC"/>
              </a:rPr>
              <a:t>直接枚举并计算F⁺ 是极其繁琐、低效且不切实际的。</a:t>
            </a:r>
          </a:p>
          <a:p>
            <a:pPr indent="0" algn="just">
              <a:lnSpc>
                <a:spcPct val="125000"/>
              </a:lnSpc>
            </a:pPr>
            <a:r>
              <a:rPr lang="en-US" sz="1800">
                <a:solidFill>
                  <a:srgbClr val="333333"/>
                </a:solidFill>
                <a:latin typeface="Noto Sans SC"/>
                <a:ea typeface="Noto Sans SC"/>
                <a:sym typeface="Noto Sans SC"/>
              </a:rPr>
              <a:t>在实际应用中</a:t>
            </a:r>
            <a:r>
              <a:rPr lang="en-US" sz="1800" b="0" i="0" u="none" strike="noStrike">
                <a:solidFill>
                  <a:srgbClr val="333333"/>
                </a:solidFill>
                <a:latin typeface="Noto Sans SC"/>
                <a:ea typeface="Noto Sans SC"/>
                <a:cs typeface="Noto Sans SC"/>
                <a:sym typeface="Noto Sans SC"/>
              </a:rPr>
              <a:t>，通常不需要生成完整的F⁺。</a:t>
            </a:r>
            <a:r>
              <a:rPr lang="zh-CN" altLang="en-US" sz="1800" b="0" i="0" u="none" strike="noStrike">
                <a:solidFill>
                  <a:srgbClr val="333333"/>
                </a:solidFill>
                <a:latin typeface="Noto Sans SC"/>
                <a:ea typeface="Noto Sans SC"/>
                <a:cs typeface="Noto Sans SC"/>
                <a:sym typeface="Noto Sans SC"/>
              </a:rPr>
              <a:t>我们</a:t>
            </a:r>
            <a:r>
              <a:rPr lang="en-US" sz="1800" b="1" i="0" u="none" strike="noStrike">
                <a:solidFill>
                  <a:srgbClr val="333333"/>
                </a:solidFill>
                <a:latin typeface="Noto Sans SC"/>
                <a:ea typeface="Noto Sans SC"/>
                <a:cs typeface="Noto Sans SC"/>
                <a:sym typeface="Noto Sans SC"/>
              </a:rPr>
              <a:t>需要更高效的算法来直接判断</a:t>
            </a:r>
            <a:r>
              <a:rPr lang="en-US" sz="1800" b="1" i="0" u="none" strike="noStrike">
                <a:solidFill>
                  <a:srgbClr val="FF0000"/>
                </a:solidFill>
                <a:latin typeface="Noto Sans SC"/>
                <a:ea typeface="Noto Sans SC"/>
                <a:cs typeface="Noto Sans SC"/>
                <a:sym typeface="Noto Sans SC"/>
              </a:rPr>
              <a:t>某函数依赖X→Y是否被F逻辑蕴涵</a:t>
            </a:r>
            <a:r>
              <a:rPr lang="zh-CN" altLang="en-US" sz="1800" b="1" i="0" u="none" strike="noStrike">
                <a:solidFill>
                  <a:srgbClr val="FF0000"/>
                </a:solidFill>
                <a:latin typeface="Noto Sans SC"/>
                <a:ea typeface="Noto Sans SC"/>
                <a:cs typeface="Noto Sans SC"/>
                <a:sym typeface="Noto Sans SC"/>
              </a:rPr>
              <a:t>？</a:t>
            </a:r>
            <a:endParaRPr lang="en-US" altLang="zh-CN" sz="1800" b="1" i="0" u="none" strike="noStrike">
              <a:solidFill>
                <a:srgbClr val="FF0000"/>
              </a:solidFill>
              <a:latin typeface="Noto Sans SC"/>
              <a:ea typeface="Noto Sans SC"/>
              <a:cs typeface="Noto Sans SC"/>
              <a:sym typeface="Noto Sans SC"/>
            </a:endParaRPr>
          </a:p>
          <a:p>
            <a:pPr indent="0" algn="just">
              <a:lnSpc>
                <a:spcPct val="125000"/>
              </a:lnSpc>
            </a:pPr>
            <a:r>
              <a:rPr lang="zh-CN" altLang="en-US" sz="1800" b="0" i="0" u="none" strike="noStrike">
                <a:solidFill>
                  <a:srgbClr val="333333"/>
                </a:solidFill>
                <a:highlight>
                  <a:srgbClr val="FFFF00"/>
                </a:highlight>
                <a:latin typeface="Noto Sans SC"/>
                <a:ea typeface="Noto Sans SC"/>
                <a:cs typeface="Noto Sans SC"/>
                <a:sym typeface="Noto Sans SC"/>
              </a:rPr>
              <a:t>通过计算</a:t>
            </a:r>
            <a:r>
              <a:rPr lang="en-US" sz="1800" b="0" i="0" u="none" strike="noStrike">
                <a:solidFill>
                  <a:srgbClr val="333333"/>
                </a:solidFill>
                <a:highlight>
                  <a:srgbClr val="FFFF00"/>
                </a:highlight>
                <a:latin typeface="Noto Sans SC"/>
                <a:ea typeface="Noto Sans SC"/>
                <a:cs typeface="Noto Sans SC"/>
                <a:sym typeface="Noto Sans SC"/>
              </a:rPr>
              <a:t>属性</a:t>
            </a:r>
            <a:r>
              <a:rPr lang="zh-CN" altLang="en-US" sz="1800" b="0" i="0" u="none" strike="noStrike">
                <a:solidFill>
                  <a:srgbClr val="333333"/>
                </a:solidFill>
                <a:highlight>
                  <a:srgbClr val="FFFF00"/>
                </a:highlight>
                <a:latin typeface="Noto Sans SC"/>
                <a:ea typeface="Noto Sans SC"/>
                <a:cs typeface="Noto Sans SC"/>
                <a:sym typeface="Noto Sans SC"/>
              </a:rPr>
              <a:t>集</a:t>
            </a:r>
            <a:r>
              <a:rPr lang="en-US" altLang="zh-CN" sz="1800" b="0" i="0" u="none" strike="noStrike">
                <a:solidFill>
                  <a:srgbClr val="333333"/>
                </a:solidFill>
                <a:highlight>
                  <a:srgbClr val="FFFF00"/>
                </a:highlight>
                <a:latin typeface="Noto Sans SC"/>
                <a:ea typeface="Noto Sans SC"/>
                <a:cs typeface="Noto Sans SC"/>
                <a:sym typeface="Noto Sans SC"/>
              </a:rPr>
              <a:t>X</a:t>
            </a:r>
            <a:r>
              <a:rPr lang="zh-CN" altLang="en-US" sz="1800" b="0" i="0" u="none" strike="noStrike">
                <a:solidFill>
                  <a:srgbClr val="333333"/>
                </a:solidFill>
                <a:highlight>
                  <a:srgbClr val="FFFF00"/>
                </a:highlight>
                <a:latin typeface="Noto Sans SC"/>
                <a:ea typeface="Noto Sans SC"/>
                <a:cs typeface="Noto Sans SC"/>
                <a:sym typeface="Noto Sans SC"/>
              </a:rPr>
              <a:t>的</a:t>
            </a:r>
            <a:r>
              <a:rPr lang="en-US" sz="1800" b="0" i="0" u="none" strike="noStrike">
                <a:solidFill>
                  <a:srgbClr val="333333"/>
                </a:solidFill>
                <a:highlight>
                  <a:srgbClr val="FFFF00"/>
                </a:highlight>
                <a:latin typeface="Noto Sans SC"/>
                <a:ea typeface="Noto Sans SC"/>
                <a:cs typeface="Noto Sans SC"/>
                <a:sym typeface="Noto Sans SC"/>
              </a:rPr>
              <a:t>闭包</a:t>
            </a:r>
            <a:r>
              <a:rPr lang="zh-CN" altLang="en-US" sz="1800" b="0" i="0" u="none" strike="noStrike">
                <a:solidFill>
                  <a:srgbClr val="333333"/>
                </a:solidFill>
                <a:highlight>
                  <a:srgbClr val="FFFF00"/>
                </a:highlight>
                <a:latin typeface="Noto Sans SC"/>
                <a:ea typeface="Noto Sans SC"/>
                <a:cs typeface="Noto Sans SC"/>
                <a:sym typeface="Noto Sans SC"/>
              </a:rPr>
              <a:t>来判断！</a:t>
            </a:r>
            <a:endParaRPr lang="en-US" sz="1800" b="0" i="0" u="none" strike="noStrike">
              <a:solidFill>
                <a:srgbClr val="333333"/>
              </a:solidFill>
              <a:highlight>
                <a:srgbClr val="FFFF00"/>
              </a:highlight>
              <a:latin typeface="Noto Sans SC"/>
              <a:ea typeface="Noto Sans SC"/>
              <a:cs typeface="Noto Sans SC"/>
              <a:sym typeface="Noto Sans SC"/>
            </a:endParaRPr>
          </a:p>
        </p:txBody>
      </p:sp>
      <p:sp>
        <p:nvSpPr>
          <p:cNvPr id="5" name="AutoShape 4">
            <a:extLst>
              <a:ext uri="{FF2B5EF4-FFF2-40B4-BE49-F238E27FC236}">
                <a16:creationId xmlns:a16="http://schemas.microsoft.com/office/drawing/2014/main" id="{7018C3CF-6FF1-78EC-5D1F-521B9CB9588D}"/>
              </a:ext>
            </a:extLst>
          </p:cNvPr>
          <p:cNvSpPr/>
          <p:nvPr/>
        </p:nvSpPr>
        <p:spPr>
          <a:xfrm>
            <a:off x="838200" y="1192324"/>
            <a:ext cx="3697512"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4</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：计算</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FD</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的闭包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F⁺ </a:t>
            </a:r>
            <a:endParaRPr lang="zh-CN" altLang="en-US" sz="2000">
              <a:solidFill>
                <a:srgbClr val="7030A0"/>
              </a:solidFill>
              <a:latin typeface="Noto Sans SC Black" panose="020B0200000000000000" pitchFamily="34" charset="-122"/>
              <a:ea typeface="Noto Sans SC Black" panose="020B0200000000000000" pitchFamily="34" charset="-122"/>
              <a:sym typeface="Noto Sans SC"/>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7.2.4  FD 推理规则的完备性</a:t>
            </a:r>
            <a:r>
              <a:rPr lang="zh-CN" altLang="en-US" sz="2400" b="1">
                <a:solidFill>
                  <a:srgbClr val="FFFFFF"/>
                </a:solidFill>
                <a:latin typeface="Noto Sans SC"/>
                <a:ea typeface="Noto Sans SC"/>
                <a:sym typeface="Noto Sans SC"/>
              </a:rPr>
              <a:t>（</a:t>
            </a:r>
            <a:r>
              <a:rPr lang="en-US" altLang="zh-CN" sz="2400" b="1">
                <a:solidFill>
                  <a:srgbClr val="FFFFFF"/>
                </a:solidFill>
                <a:latin typeface="Noto Sans SC"/>
                <a:ea typeface="Noto Sans SC"/>
                <a:sym typeface="Noto Sans SC"/>
              </a:rPr>
              <a:t>1</a:t>
            </a:r>
            <a:r>
              <a:rPr lang="zh-CN" altLang="en-US" sz="2400" b="1">
                <a:solidFill>
                  <a:srgbClr val="FFFFFF"/>
                </a:solidFill>
                <a:latin typeface="Noto Sans SC"/>
                <a:ea typeface="Noto Sans SC"/>
                <a:sym typeface="Noto Sans SC"/>
              </a:rPr>
              <a:t>）</a:t>
            </a:r>
            <a:endParaRPr lang="en-US" sz="2400" b="1">
              <a:solidFill>
                <a:srgbClr val="FFFFFF"/>
              </a:solidFill>
              <a:latin typeface="Noto Sans SC"/>
              <a:ea typeface="Noto Sans SC"/>
            </a:endParaRPr>
          </a:p>
        </p:txBody>
      </p:sp>
      <p:sp>
        <p:nvSpPr>
          <p:cNvPr id="3" name="AutoShape 3"/>
          <p:cNvSpPr/>
          <p:nvPr/>
        </p:nvSpPr>
        <p:spPr>
          <a:xfrm>
            <a:off x="838199" y="1498600"/>
            <a:ext cx="3889745" cy="4349307"/>
          </a:xfrm>
          <a:prstGeom prst="rect">
            <a:avLst/>
          </a:prstGeom>
          <a:solidFill>
            <a:srgbClr val="FFFFFF">
              <a:alpha val="100000"/>
            </a:srgbClr>
          </a:solidFill>
          <a:ln w="12700" cap="flat" cmpd="sng">
            <a:noFill/>
            <a:prstDash val="solid"/>
            <a:round/>
          </a:ln>
        </p:spPr>
        <p:txBody>
          <a:bodyPr vert="horz" wrap="square" lIns="0" tIns="0" rIns="0" bIns="0" rtlCol="0" anchor="t" anchorCtr="0"/>
          <a:lstStyle/>
          <a:p>
            <a:pPr indent="0" algn="just">
              <a:lnSpc>
                <a:spcPct val="116666"/>
              </a:lnSpc>
              <a:spcAft>
                <a:spcPts val="1200"/>
              </a:spcAft>
              <a:defRPr/>
            </a:pPr>
            <a:r>
              <a:rPr lang="en-US" sz="2400" b="1" i="0" u="none" strike="noStrike">
                <a:solidFill>
                  <a:srgbClr val="FF0000"/>
                </a:solidFill>
                <a:latin typeface="Noto Sans SC"/>
                <a:ea typeface="Noto Sans SC"/>
                <a:cs typeface="Noto Sans SC"/>
                <a:sym typeface="Noto Sans SC"/>
              </a:rPr>
              <a:t>▌ 推理规则的“正确性”</a:t>
            </a:r>
            <a:endParaRPr lang="en-US"/>
          </a:p>
          <a:p>
            <a:pPr indent="0" algn="just">
              <a:lnSpc>
                <a:spcPct val="108333"/>
              </a:lnSpc>
              <a:spcAft>
                <a:spcPts val="1800"/>
              </a:spcAft>
            </a:pPr>
            <a:r>
              <a:rPr lang="en-US" sz="1800" b="0" i="0" u="none" strike="noStrike">
                <a:solidFill>
                  <a:srgbClr val="333333"/>
                </a:solidFill>
                <a:latin typeface="Noto Sans SC"/>
                <a:ea typeface="Noto Sans SC"/>
                <a:cs typeface="Noto Sans SC"/>
                <a:sym typeface="Noto Sans SC"/>
              </a:rPr>
              <a:t>指“从函数依赖集 F 使用推理规则推出的 FD，必定在 F 的闭包 F⁺ 中”。即，保证推出的结论绝对正确。</a:t>
            </a:r>
          </a:p>
          <a:p>
            <a:pPr indent="0" algn="just">
              <a:lnSpc>
                <a:spcPct val="116666"/>
              </a:lnSpc>
              <a:spcAft>
                <a:spcPts val="1200"/>
              </a:spcAft>
            </a:pPr>
            <a:r>
              <a:rPr lang="en-US" sz="2400" b="1" i="0" u="none" strike="noStrike">
                <a:solidFill>
                  <a:srgbClr val="FF0000"/>
                </a:solidFill>
                <a:latin typeface="Noto Sans SC"/>
                <a:ea typeface="Noto Sans SC"/>
                <a:cs typeface="Noto Sans SC"/>
                <a:sym typeface="Noto Sans SC"/>
              </a:rPr>
              <a:t>▌ 推理规则的“完备性”</a:t>
            </a:r>
          </a:p>
          <a:p>
            <a:pPr indent="0" algn="just">
              <a:lnSpc>
                <a:spcPct val="108333"/>
              </a:lnSpc>
              <a:spcAft>
                <a:spcPts val="1800"/>
              </a:spcAft>
            </a:pPr>
            <a:r>
              <a:rPr lang="en-US" sz="1800" b="0" i="0" u="none" strike="noStrike">
                <a:solidFill>
                  <a:srgbClr val="333333"/>
                </a:solidFill>
                <a:latin typeface="Noto Sans SC"/>
                <a:ea typeface="Noto Sans SC"/>
                <a:cs typeface="Noto Sans SC"/>
                <a:sym typeface="Noto Sans SC"/>
              </a:rPr>
              <a:t>指“F⁺ 中的所有 FD，都能从 F 集通过使用推理规则推导出来”。即，保证不遗漏任何正确的结论。</a:t>
            </a:r>
          </a:p>
          <a:p>
            <a:pPr indent="0" algn="just">
              <a:lnSpc>
                <a:spcPct val="116666"/>
              </a:lnSpc>
            </a:pPr>
            <a:r>
              <a:rPr lang="en-US" sz="2000" b="1" i="0" u="none" strike="noStrike">
                <a:solidFill>
                  <a:srgbClr val="7030A0"/>
                </a:solidFill>
                <a:latin typeface="Noto Sans SC"/>
                <a:ea typeface="Noto Sans SC"/>
                <a:cs typeface="Noto Sans SC"/>
                <a:sym typeface="Noto Sans SC"/>
              </a:rPr>
              <a:t>定理 7.5</a:t>
            </a:r>
            <a:r>
              <a:rPr lang="zh-CN" altLang="en-US" sz="2000" b="1" i="0" u="none" strike="noStrike">
                <a:solidFill>
                  <a:srgbClr val="7030A0"/>
                </a:solidFill>
                <a:latin typeface="Noto Sans SC"/>
                <a:ea typeface="Noto Sans SC"/>
                <a:cs typeface="Noto Sans SC"/>
                <a:sym typeface="Noto Sans SC"/>
              </a:rPr>
              <a:t>：</a:t>
            </a:r>
            <a:endParaRPr lang="en-US" altLang="zh-CN" sz="2000" b="1" i="0" u="none" strike="noStrike">
              <a:solidFill>
                <a:srgbClr val="7030A0"/>
              </a:solidFill>
              <a:latin typeface="Noto Sans SC"/>
              <a:ea typeface="Noto Sans SC"/>
              <a:cs typeface="Noto Sans SC"/>
              <a:sym typeface="Noto Sans SC"/>
            </a:endParaRPr>
          </a:p>
          <a:p>
            <a:pPr indent="0" algn="just">
              <a:lnSpc>
                <a:spcPct val="116666"/>
              </a:lnSpc>
            </a:pPr>
            <a:r>
              <a:rPr lang="en-US" sz="1800" b="1" i="0" u="none" strike="noStrike">
                <a:solidFill>
                  <a:srgbClr val="000000"/>
                </a:solidFill>
                <a:latin typeface="Noto Sans SC"/>
                <a:ea typeface="Noto Sans SC"/>
                <a:cs typeface="Noto Sans SC"/>
                <a:sym typeface="Noto Sans SC"/>
              </a:rPr>
              <a:t>FD 推理规则 {A1, A2, A3} 是完备的。</a:t>
            </a:r>
          </a:p>
        </p:txBody>
      </p:sp>
      <p:sp>
        <p:nvSpPr>
          <p:cNvPr id="4" name="AutoShape 4"/>
          <p:cNvSpPr/>
          <p:nvPr/>
        </p:nvSpPr>
        <p:spPr>
          <a:xfrm>
            <a:off x="6542567" y="1511300"/>
            <a:ext cx="4811233" cy="4336607"/>
          </a:xfrm>
          <a:prstGeom prst="rect">
            <a:avLst/>
          </a:prstGeom>
          <a:solidFill>
            <a:srgbClr val="FFFFFF">
              <a:alpha val="100000"/>
            </a:srgbClr>
          </a:solidFill>
          <a:ln w="12700" cap="flat" cmpd="sng">
            <a:noFill/>
            <a:prstDash val="solid"/>
            <a:round/>
          </a:ln>
        </p:spPr>
        <p:txBody>
          <a:bodyPr vert="horz" wrap="square" lIns="0" tIns="0" rIns="0" bIns="0" rtlCol="0" anchor="t" anchorCtr="0"/>
          <a:lstStyle/>
          <a:p>
            <a:pPr indent="0" algn="l">
              <a:lnSpc>
                <a:spcPct val="116666"/>
              </a:lnSpc>
              <a:spcAft>
                <a:spcPts val="1500"/>
              </a:spcAft>
              <a:defRPr/>
            </a:pPr>
            <a:r>
              <a:rPr lang="en-US" sz="2400" b="1" i="0" u="none" strike="noStrike">
                <a:solidFill>
                  <a:srgbClr val="FF0000"/>
                </a:solidFill>
                <a:latin typeface="Noto Sans SC"/>
                <a:ea typeface="Noto Sans SC"/>
                <a:cs typeface="Noto Sans SC"/>
                <a:sym typeface="Noto Sans SC"/>
              </a:rPr>
              <a:t>▌ 证明思路 (反证法)</a:t>
            </a:r>
            <a:endParaRPr lang="en-US"/>
          </a:p>
          <a:p>
            <a:pPr indent="0" algn="l">
              <a:lnSpc>
                <a:spcPct val="108333"/>
              </a:lnSpc>
              <a:spcAft>
                <a:spcPts val="1500"/>
              </a:spcAft>
            </a:pPr>
            <a:r>
              <a:rPr lang="en-US" sz="1800" b="0" i="0" u="none" strike="noStrike">
                <a:solidFill>
                  <a:srgbClr val="333333"/>
                </a:solidFill>
                <a:latin typeface="Noto Sans SC"/>
                <a:ea typeface="Noto Sans SC"/>
                <a:cs typeface="Noto Sans SC"/>
                <a:sym typeface="Noto Sans SC"/>
              </a:rPr>
              <a:t>要证明规则的完备性，等价于证明：</a:t>
            </a:r>
            <a:r>
              <a:rPr lang="en-US" sz="1800" b="1" i="0" u="none" strike="noStrike">
                <a:solidFill>
                  <a:srgbClr val="C00000"/>
                </a:solidFill>
                <a:latin typeface="Noto Sans SC"/>
                <a:ea typeface="Noto Sans SC"/>
                <a:cs typeface="Noto Sans SC"/>
                <a:sym typeface="Noto Sans SC"/>
              </a:rPr>
              <a:t>不能从 F 使用推理规则推出的 FD，必然不在 F⁺ 中。</a:t>
            </a:r>
          </a:p>
          <a:p>
            <a:pPr indent="0" algn="l">
              <a:lnSpc>
                <a:spcPct val="108333"/>
              </a:lnSpc>
            </a:pPr>
            <a:r>
              <a:rPr lang="en-US" sz="1800" b="0" i="0" u="none" strike="noStrike">
                <a:solidFill>
                  <a:srgbClr val="333333"/>
                </a:solidFill>
                <a:latin typeface="Noto Sans SC"/>
                <a:ea typeface="Noto Sans SC"/>
                <a:cs typeface="Noto Sans SC"/>
                <a:sym typeface="Noto Sans SC"/>
              </a:rPr>
              <a:t>具体的构造性证明步骤如下：</a:t>
            </a:r>
          </a:p>
          <a:p>
            <a:pPr marL="342900" indent="-342900" algn="l">
              <a:lnSpc>
                <a:spcPct val="116666"/>
              </a:lnSpc>
              <a:spcBef>
                <a:spcPts val="800"/>
              </a:spcBef>
              <a:buFont typeface="+mj-lt"/>
              <a:buAutoNum type="arabicPeriod"/>
            </a:pPr>
            <a:r>
              <a:rPr lang="en-US" sz="1800" b="0" i="0" u="none" strike="noStrike">
                <a:solidFill>
                  <a:srgbClr val="000000"/>
                </a:solidFill>
                <a:latin typeface="Noto Sans SC"/>
                <a:ea typeface="Noto Sans SC"/>
                <a:cs typeface="Noto Sans SC"/>
                <a:sym typeface="Noto Sans SC"/>
              </a:rPr>
              <a:t>假设：存在 FD X→Y 无法由 F 推出。</a:t>
            </a:r>
          </a:p>
          <a:p>
            <a:pPr marL="342900" indent="-342900" algn="l">
              <a:lnSpc>
                <a:spcPct val="116666"/>
              </a:lnSpc>
              <a:spcBef>
                <a:spcPts val="800"/>
              </a:spcBef>
              <a:buFont typeface="+mj-lt"/>
              <a:buAutoNum type="arabicPeriod"/>
            </a:pPr>
            <a:r>
              <a:rPr lang="en-US" sz="1800" b="0" i="0" u="none" strike="noStrike">
                <a:solidFill>
                  <a:srgbClr val="000000"/>
                </a:solidFill>
                <a:latin typeface="Noto Sans SC"/>
                <a:ea typeface="Noto Sans SC"/>
                <a:cs typeface="Noto Sans SC"/>
                <a:sym typeface="Noto Sans SC"/>
              </a:rPr>
              <a:t>构造：建立一个特殊的二元组关系 r，使其满足 F 中的所有 FD，但不满足 X→Y。</a:t>
            </a:r>
          </a:p>
          <a:p>
            <a:pPr marL="342900" indent="-342900" algn="l">
              <a:lnSpc>
                <a:spcPct val="116666"/>
              </a:lnSpc>
              <a:spcBef>
                <a:spcPts val="800"/>
              </a:spcBef>
              <a:buFont typeface="+mj-lt"/>
              <a:buAutoNum type="arabicPeriod"/>
            </a:pPr>
            <a:r>
              <a:rPr lang="en-US" sz="1800" b="0" i="0" u="none" strike="noStrike">
                <a:solidFill>
                  <a:srgbClr val="000000"/>
                </a:solidFill>
                <a:latin typeface="Noto Sans SC"/>
                <a:ea typeface="Noto Sans SC"/>
                <a:cs typeface="Noto Sans SC"/>
                <a:sym typeface="Noto Sans SC"/>
              </a:rPr>
              <a:t>结论：既然关系 r 满足 F 但不满足 X→Y，说明 X→Y 不是 F 的逻辑蕴涵，即 X→Y ∉ F⁺。由此证得推理规则的完备性。</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838200" y="1760280"/>
            <a:ext cx="3365500" cy="45720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sz="1800"/>
          </a:p>
        </p:txBody>
      </p:sp>
      <p:sp>
        <p:nvSpPr>
          <p:cNvPr id="4" name="AutoShape 4"/>
          <p:cNvSpPr/>
          <p:nvPr/>
        </p:nvSpPr>
        <p:spPr>
          <a:xfrm>
            <a:off x="1028699" y="1950780"/>
            <a:ext cx="2983319" cy="4191000"/>
          </a:xfrm>
          <a:prstGeom prst="rect">
            <a:avLst/>
          </a:prstGeom>
          <a:noFill/>
          <a:ln w="12700" cap="flat" cmpd="sng">
            <a:noFill/>
            <a:prstDash val="solid"/>
            <a:round/>
          </a:ln>
        </p:spPr>
        <p:txBody>
          <a:bodyPr vert="horz" wrap="square" lIns="0" tIns="0" rIns="0" bIns="0" rtlCol="0" anchor="t" anchorCtr="0"/>
          <a:lstStyle/>
          <a:p>
            <a:pPr indent="0" algn="l">
              <a:lnSpc>
                <a:spcPct val="100000"/>
              </a:lnSpc>
              <a:spcAft>
                <a:spcPts val="1200"/>
              </a:spcAft>
              <a:defRPr/>
            </a:pPr>
            <a:r>
              <a:rPr lang="en-US" sz="2000" b="1" i="0" u="none" strike="noStrike">
                <a:solidFill>
                  <a:srgbClr val="D97706"/>
                </a:solidFill>
                <a:latin typeface="Noto Sans SC"/>
                <a:ea typeface="Noto Sans SC"/>
                <a:cs typeface="Noto Sans SC"/>
                <a:sym typeface="Noto Sans SC"/>
              </a:rPr>
              <a:t>构造思路</a:t>
            </a:r>
            <a:endParaRPr lang="en-US"/>
          </a:p>
          <a:p>
            <a:pPr indent="0" algn="l">
              <a:lnSpc>
                <a:spcPct val="108333"/>
              </a:lnSpc>
              <a:spcAft>
                <a:spcPts val="800"/>
              </a:spcAft>
            </a:pPr>
            <a:r>
              <a:rPr lang="en-US" sz="1600" b="0" i="0" u="none" strike="noStrike">
                <a:solidFill>
                  <a:srgbClr val="374151"/>
                </a:solidFill>
                <a:latin typeface="Noto Sans SC"/>
                <a:ea typeface="Noto Sans SC"/>
                <a:cs typeface="Noto Sans SC"/>
                <a:sym typeface="Noto Sans SC"/>
              </a:rPr>
              <a:t>假设函数依赖</a:t>
            </a:r>
            <a:r>
              <a:rPr lang="en-US" sz="1600" b="1" i="0" u="none" strike="noStrike">
                <a:solidFill>
                  <a:srgbClr val="374151"/>
                </a:solidFill>
                <a:latin typeface="Noto Sans SC"/>
                <a:ea typeface="Noto Sans SC"/>
                <a:cs typeface="Noto Sans SC"/>
                <a:sym typeface="Noto Sans SC"/>
              </a:rPr>
              <a:t>X → Y</a:t>
            </a:r>
            <a:r>
              <a:rPr lang="en-US" sz="1600" b="0" i="0" u="none" strike="noStrike">
                <a:solidFill>
                  <a:srgbClr val="374151"/>
                </a:solidFill>
                <a:latin typeface="Noto Sans SC"/>
                <a:ea typeface="Noto Sans SC"/>
                <a:cs typeface="Noto Sans SC"/>
                <a:sym typeface="Noto Sans SC"/>
              </a:rPr>
              <a:t>无法从给定的依赖集 F 中，通过已知的推理规则推导得出。</a:t>
            </a:r>
          </a:p>
          <a:p>
            <a:pPr indent="0" algn="l">
              <a:lnSpc>
                <a:spcPct val="108333"/>
              </a:lnSpc>
              <a:spcAft>
                <a:spcPts val="800"/>
              </a:spcAft>
            </a:pPr>
            <a:r>
              <a:rPr lang="en-US" sz="1600" b="0" i="0" u="none" strike="noStrike">
                <a:solidFill>
                  <a:srgbClr val="374151"/>
                </a:solidFill>
                <a:latin typeface="Noto Sans SC"/>
                <a:ea typeface="Noto Sans SC"/>
                <a:cs typeface="Noto Sans SC"/>
                <a:sym typeface="Noto Sans SC"/>
              </a:rPr>
              <a:t>构造一个仅包含两个元组（行）的极小关系 r，来作为逻辑反例：</a:t>
            </a:r>
          </a:p>
          <a:p>
            <a:pPr indent="0" algn="l">
              <a:lnSpc>
                <a:spcPct val="100000"/>
              </a:lnSpc>
              <a:spcBef>
                <a:spcPts val="600"/>
              </a:spcBef>
            </a:pPr>
            <a:r>
              <a:rPr lang="en-US" sz="1600" b="1" i="0" u="none" strike="noStrike">
                <a:solidFill>
                  <a:srgbClr val="1F2937"/>
                </a:solidFill>
                <a:latin typeface="Noto Sans SC"/>
                <a:ea typeface="Noto Sans SC"/>
                <a:cs typeface="Noto Sans SC"/>
                <a:sym typeface="Noto Sans SC"/>
              </a:rPr>
              <a:t> 元组 t1：</a:t>
            </a:r>
          </a:p>
          <a:p>
            <a:pPr indent="0" algn="l">
              <a:lnSpc>
                <a:spcPct val="100000"/>
              </a:lnSpc>
              <a:spcBef>
                <a:spcPts val="600"/>
              </a:spcBef>
            </a:pPr>
            <a:r>
              <a:rPr lang="en-US" sz="1600" b="0" i="0" u="none" strike="noStrike">
                <a:solidFill>
                  <a:srgbClr val="4B5563"/>
                </a:solidFill>
                <a:latin typeface="Noto Sans SC"/>
                <a:ea typeface="Noto Sans SC"/>
                <a:cs typeface="Noto Sans SC"/>
                <a:sym typeface="Noto Sans SC"/>
              </a:rPr>
              <a:t>所有属性上的取值均为 1。</a:t>
            </a:r>
          </a:p>
          <a:p>
            <a:pPr indent="0" algn="l">
              <a:lnSpc>
                <a:spcPct val="100000"/>
              </a:lnSpc>
              <a:spcBef>
                <a:spcPts val="600"/>
              </a:spcBef>
            </a:pPr>
            <a:r>
              <a:rPr lang="en-US" sz="1600" b="1" i="0" u="none" strike="noStrike">
                <a:solidFill>
                  <a:srgbClr val="1F2937"/>
                </a:solidFill>
                <a:latin typeface="Noto Sans SC"/>
                <a:ea typeface="Noto Sans SC"/>
                <a:cs typeface="Noto Sans SC"/>
                <a:sym typeface="Noto Sans SC"/>
              </a:rPr>
              <a:t> 元组 t2：</a:t>
            </a:r>
          </a:p>
          <a:p>
            <a:pPr indent="0" algn="l">
              <a:lnSpc>
                <a:spcPct val="100000"/>
              </a:lnSpc>
              <a:spcBef>
                <a:spcPts val="600"/>
              </a:spcBef>
            </a:pPr>
            <a:r>
              <a:rPr lang="en-US" sz="1600" b="0" i="0" u="none" strike="noStrike">
                <a:solidFill>
                  <a:srgbClr val="4B5563"/>
                </a:solidFill>
                <a:latin typeface="Noto Sans SC"/>
                <a:ea typeface="Noto Sans SC"/>
                <a:cs typeface="Noto Sans SC"/>
                <a:sym typeface="Noto Sans SC"/>
              </a:rPr>
              <a:t>在 X 的属性闭包 X⁺ 中的属性取值为 1，在其余属性上取值均为 0。</a:t>
            </a:r>
          </a:p>
        </p:txBody>
      </p:sp>
      <p:sp>
        <p:nvSpPr>
          <p:cNvPr id="5" name="AutoShape 5"/>
          <p:cNvSpPr/>
          <p:nvPr/>
        </p:nvSpPr>
        <p:spPr>
          <a:xfrm>
            <a:off x="4572000" y="1760280"/>
            <a:ext cx="3124200" cy="4572000"/>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sz="2000"/>
          </a:p>
        </p:txBody>
      </p:sp>
      <p:sp>
        <p:nvSpPr>
          <p:cNvPr id="6" name="AutoShape 6"/>
          <p:cNvSpPr/>
          <p:nvPr/>
        </p:nvSpPr>
        <p:spPr>
          <a:xfrm>
            <a:off x="4784650" y="1950780"/>
            <a:ext cx="2721049" cy="4191000"/>
          </a:xfrm>
          <a:prstGeom prst="rect">
            <a:avLst/>
          </a:prstGeom>
          <a:noFill/>
          <a:ln w="12700" cap="flat" cmpd="sng">
            <a:noFill/>
            <a:prstDash val="solid"/>
            <a:round/>
          </a:ln>
        </p:spPr>
        <p:txBody>
          <a:bodyPr vert="horz" wrap="square" lIns="0" tIns="0" rIns="0" bIns="0" rtlCol="0" anchor="t" anchorCtr="0"/>
          <a:lstStyle/>
          <a:p>
            <a:pPr indent="0" algn="ctr">
              <a:lnSpc>
                <a:spcPct val="100000"/>
              </a:lnSpc>
              <a:spcAft>
                <a:spcPts val="1800"/>
              </a:spcAft>
              <a:defRPr/>
            </a:pPr>
            <a:r>
              <a:rPr lang="en-US" sz="2000" b="1" i="0" u="none" strike="noStrike">
                <a:solidFill>
                  <a:srgbClr val="2563EB"/>
                </a:solidFill>
                <a:latin typeface="Noto Sans SC"/>
                <a:ea typeface="Noto Sans SC"/>
                <a:cs typeface="Noto Sans SC"/>
                <a:sym typeface="Noto Sans SC"/>
              </a:rPr>
              <a:t>关系 r 的具体形式</a:t>
            </a:r>
            <a:endParaRPr lang="en-US"/>
          </a:p>
          <a:p>
            <a:pPr indent="0" algn="ctr">
              <a:lnSpc>
                <a:spcPct val="125000"/>
              </a:lnSpc>
            </a:pPr>
            <a:r>
              <a:rPr lang="en-US" sz="1600" b="1" i="0" u="none" strike="noStrike">
                <a:solidFill>
                  <a:srgbClr val="1F2937"/>
                </a:solidFill>
                <a:latin typeface="Noto Sans SC"/>
                <a:ea typeface="Noto Sans SC"/>
                <a:cs typeface="Noto Sans SC"/>
                <a:sym typeface="Noto Sans SC"/>
              </a:rPr>
              <a:t>r | X⁺ 中的属性 | 其它属性</a:t>
            </a:r>
          </a:p>
          <a:p>
            <a:pPr indent="0" algn="ctr">
              <a:lnSpc>
                <a:spcPct val="125000"/>
              </a:lnSpc>
            </a:pPr>
            <a:r>
              <a:rPr lang="en-US" sz="1600" b="0" i="0" u="none" strike="noStrike">
                <a:solidFill>
                  <a:srgbClr val="374151"/>
                </a:solidFill>
                <a:latin typeface="Noto Sans SC"/>
                <a:ea typeface="Noto Sans SC"/>
                <a:cs typeface="Noto Sans SC"/>
                <a:sym typeface="Noto Sans SC"/>
              </a:rPr>
              <a:t>t₁ | 1, 1, …, 1 | 1, 1, …, 1</a:t>
            </a:r>
          </a:p>
          <a:p>
            <a:pPr indent="0" algn="ctr">
              <a:lnSpc>
                <a:spcPct val="125000"/>
              </a:lnSpc>
              <a:spcAft>
                <a:spcPts val="2000"/>
              </a:spcAft>
            </a:pPr>
            <a:r>
              <a:rPr lang="en-US" sz="1600" b="0" i="0" u="none" strike="noStrike">
                <a:solidFill>
                  <a:srgbClr val="374151"/>
                </a:solidFill>
                <a:latin typeface="Noto Sans SC"/>
                <a:ea typeface="Noto Sans SC"/>
                <a:cs typeface="Noto Sans SC"/>
                <a:sym typeface="Noto Sans SC"/>
              </a:rPr>
              <a:t>t₂ | 1, 1, …, 1 | 0, 0, …, 0</a:t>
            </a:r>
          </a:p>
          <a:p>
            <a:pPr indent="0" algn="just">
              <a:lnSpc>
                <a:spcPct val="108333"/>
              </a:lnSpc>
            </a:pPr>
            <a:r>
              <a:rPr lang="en-US" sz="1600" b="0" i="0" u="none" strike="noStrike">
                <a:solidFill>
                  <a:srgbClr val="6B7280"/>
                </a:solidFill>
                <a:latin typeface="Noto Sans SC"/>
                <a:ea typeface="Noto Sans SC"/>
                <a:cs typeface="Noto Sans SC"/>
                <a:sym typeface="Noto Sans SC"/>
              </a:rPr>
              <a:t>注：属性闭包 X⁺ 是指仅用推理规则能从 X 推出的所有属性集合。若 Y ⊈ X⁺，则 X 无法函数决定 Y。</a:t>
            </a:r>
          </a:p>
        </p:txBody>
      </p:sp>
      <p:sp>
        <p:nvSpPr>
          <p:cNvPr id="7" name="AutoShape 7"/>
          <p:cNvSpPr/>
          <p:nvPr/>
        </p:nvSpPr>
        <p:spPr>
          <a:xfrm>
            <a:off x="7950200" y="1760280"/>
            <a:ext cx="3302000" cy="4572000"/>
          </a:xfrm>
          <a:prstGeom prst="roundRect">
            <a:avLst>
              <a:gd name="adj" fmla="val 0"/>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sp>
        <p:nvSpPr>
          <p:cNvPr id="8" name="AutoShape 8"/>
          <p:cNvSpPr/>
          <p:nvPr/>
        </p:nvSpPr>
        <p:spPr>
          <a:xfrm>
            <a:off x="8140700" y="1950780"/>
            <a:ext cx="2921000" cy="4191000"/>
          </a:xfrm>
          <a:prstGeom prst="rect">
            <a:avLst/>
          </a:prstGeom>
          <a:noFill/>
          <a:ln w="12700" cap="flat" cmpd="sng">
            <a:noFill/>
            <a:prstDash val="solid"/>
            <a:round/>
          </a:ln>
        </p:spPr>
        <p:txBody>
          <a:bodyPr vert="horz" wrap="square" lIns="0" tIns="0" rIns="0" bIns="0" rtlCol="0" anchor="t" anchorCtr="0"/>
          <a:lstStyle/>
          <a:p>
            <a:pPr indent="0" algn="ctr">
              <a:lnSpc>
                <a:spcPct val="100000"/>
              </a:lnSpc>
              <a:spcAft>
                <a:spcPts val="1200"/>
              </a:spcAft>
              <a:defRPr/>
            </a:pPr>
            <a:r>
              <a:rPr lang="en-US" sz="2000" b="1" i="0" u="none" strike="noStrike">
                <a:solidFill>
                  <a:srgbClr val="15803D"/>
                </a:solidFill>
                <a:latin typeface="Noto Sans SC"/>
                <a:ea typeface="Noto Sans SC"/>
                <a:cs typeface="Noto Sans SC"/>
                <a:sym typeface="Noto Sans SC"/>
              </a:rPr>
              <a:t>核心证明逻辑</a:t>
            </a:r>
            <a:endParaRPr lang="en-US"/>
          </a:p>
          <a:p>
            <a:pPr marL="342900" indent="-342900" algn="l">
              <a:lnSpc>
                <a:spcPct val="108333"/>
              </a:lnSpc>
              <a:spcAft>
                <a:spcPts val="1200"/>
              </a:spcAft>
              <a:buFont typeface="+mj-lt"/>
              <a:buAutoNum type="arabicPeriod"/>
            </a:pPr>
            <a:r>
              <a:rPr lang="en-US" sz="1600" b="1" i="0" u="none" strike="noStrike">
                <a:solidFill>
                  <a:srgbClr val="1F2937"/>
                </a:solidFill>
                <a:latin typeface="Noto Sans SC"/>
                <a:ea typeface="Noto Sans SC"/>
                <a:cs typeface="Noto Sans SC"/>
                <a:sym typeface="Noto Sans SC"/>
              </a:rPr>
              <a:t>F 中的所有 FD 在 r 上均成立</a:t>
            </a:r>
            <a:br>
              <a:rPr lang="en-US" sz="1800" b="0" i="0" u="none" strike="noStrike">
                <a:solidFill>
                  <a:srgbClr val="1F2329"/>
                </a:solidFill>
                <a:latin typeface="Noto Sans SC"/>
                <a:ea typeface="Noto Sans SC"/>
                <a:cs typeface="Noto Sans SC"/>
                <a:sym typeface="Noto Sans SC"/>
              </a:rPr>
            </a:br>
            <a:r>
              <a:rPr lang="en-US" sz="1600" b="0" i="0" u="none" strike="noStrike">
                <a:solidFill>
                  <a:srgbClr val="4B5563"/>
                </a:solidFill>
                <a:latin typeface="Noto Sans SC"/>
                <a:ea typeface="Noto Sans SC"/>
                <a:cs typeface="Noto Sans SC"/>
                <a:sym typeface="Noto Sans SC"/>
              </a:rPr>
              <a:t>对于任意 V→W ∈ F，若 V⊆X⁺，则 W⊆X⁺，故 t1[W]=t2[W]=1，依赖成立。</a:t>
            </a:r>
            <a:endParaRPr lang="en-US" b="0" i="0" u="none" strike="noStrike">
              <a:solidFill>
                <a:srgbClr val="4B5563"/>
              </a:solidFill>
              <a:latin typeface="Noto Sans SC"/>
              <a:ea typeface="Noto Sans SC"/>
              <a:cs typeface="Noto Sans SC"/>
              <a:sym typeface="Noto Sans SC"/>
            </a:endParaRPr>
          </a:p>
          <a:p>
            <a:pPr marL="342900" indent="-342900" algn="l">
              <a:lnSpc>
                <a:spcPct val="108333"/>
              </a:lnSpc>
              <a:buFont typeface="+mj-lt"/>
              <a:buAutoNum type="arabicPeriod"/>
            </a:pPr>
            <a:r>
              <a:rPr lang="en-US" sz="1600" b="1" i="0" u="none" strike="noStrike">
                <a:solidFill>
                  <a:srgbClr val="DC2626"/>
                </a:solidFill>
                <a:latin typeface="Noto Sans SC"/>
                <a:ea typeface="Noto Sans SC"/>
                <a:cs typeface="Noto Sans SC"/>
                <a:sym typeface="Noto Sans SC"/>
              </a:rPr>
              <a:t>X → Y 在 r 上不成立</a:t>
            </a:r>
            <a:br>
              <a:rPr lang="en-US" sz="1800" b="0" i="0" u="none" strike="noStrike">
                <a:solidFill>
                  <a:srgbClr val="1F2329"/>
                </a:solidFill>
                <a:latin typeface="Noto Sans SC"/>
                <a:ea typeface="Noto Sans SC"/>
                <a:cs typeface="Noto Sans SC"/>
                <a:sym typeface="Noto Sans SC"/>
              </a:rPr>
            </a:br>
            <a:r>
              <a:rPr lang="en-US" sz="1600" b="0" i="0" u="none" strike="noStrike">
                <a:solidFill>
                  <a:srgbClr val="4B5563"/>
                </a:solidFill>
                <a:latin typeface="Noto Sans SC"/>
                <a:ea typeface="Noto Sans SC"/>
                <a:cs typeface="Noto Sans SC"/>
                <a:sym typeface="Noto Sans SC"/>
              </a:rPr>
              <a:t>由假设，Y 不在 X⁺ 中。故 t1[Y]=1，t2[Y]=0。</a:t>
            </a:r>
            <a:br>
              <a:rPr lang="en-US" sz="2000" b="0" i="0" u="none" strike="noStrike">
                <a:solidFill>
                  <a:srgbClr val="1F2329"/>
                </a:solidFill>
                <a:latin typeface="Noto Sans SC"/>
                <a:ea typeface="Noto Sans SC"/>
                <a:cs typeface="Noto Sans SC"/>
                <a:sym typeface="Noto Sans SC"/>
              </a:rPr>
            </a:br>
            <a:r>
              <a:rPr lang="en-US" sz="1600" b="0" i="0" u="none" strike="noStrike">
                <a:solidFill>
                  <a:srgbClr val="4B5563"/>
                </a:solidFill>
                <a:latin typeface="Noto Sans SC"/>
                <a:ea typeface="Noto Sans SC"/>
                <a:cs typeface="Noto Sans SC"/>
                <a:sym typeface="Noto Sans SC"/>
              </a:rPr>
              <a:t>这说明：X 上的值相等，但 Y 上的值不等。因此 X→Y 在 r 上不满足。</a:t>
            </a:r>
            <a:endParaRPr lang="en-US" b="0" i="0" u="none" strike="noStrike">
              <a:solidFill>
                <a:srgbClr val="4B5563"/>
              </a:solidFill>
              <a:latin typeface="Noto Sans SC"/>
              <a:ea typeface="Noto Sans SC"/>
              <a:cs typeface="Noto Sans SC"/>
              <a:sym typeface="Noto Sans SC"/>
            </a:endParaRPr>
          </a:p>
        </p:txBody>
      </p:sp>
      <p:sp>
        <p:nvSpPr>
          <p:cNvPr id="9" name="AutoShape 2">
            <a:extLst>
              <a:ext uri="{FF2B5EF4-FFF2-40B4-BE49-F238E27FC236}">
                <a16:creationId xmlns:a16="http://schemas.microsoft.com/office/drawing/2014/main" id="{566AB964-DC4F-6CAB-EEAF-889D04C6AF32}"/>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7.2.4  FD 推理规则的完备性</a:t>
            </a:r>
            <a:r>
              <a:rPr lang="zh-CN" altLang="en-US" sz="2400" b="1">
                <a:solidFill>
                  <a:srgbClr val="FFFFFF"/>
                </a:solidFill>
                <a:latin typeface="Noto Sans SC"/>
                <a:ea typeface="Noto Sans SC"/>
                <a:sym typeface="Noto Sans SC"/>
              </a:rPr>
              <a:t>（</a:t>
            </a:r>
            <a:r>
              <a:rPr lang="en-US" altLang="zh-CN" sz="2400" b="1">
                <a:solidFill>
                  <a:srgbClr val="FFFFFF"/>
                </a:solidFill>
                <a:latin typeface="Noto Sans SC"/>
                <a:ea typeface="Noto Sans SC"/>
                <a:sym typeface="Noto Sans SC"/>
              </a:rPr>
              <a:t>2</a:t>
            </a:r>
            <a:r>
              <a:rPr lang="zh-CN" altLang="en-US" sz="2400" b="1">
                <a:solidFill>
                  <a:srgbClr val="FFFFFF"/>
                </a:solidFill>
                <a:latin typeface="Noto Sans SC"/>
                <a:ea typeface="Noto Sans SC"/>
                <a:sym typeface="Noto Sans SC"/>
              </a:rPr>
              <a:t>）</a:t>
            </a:r>
            <a:endParaRPr lang="en-US" sz="2400" b="1">
              <a:solidFill>
                <a:srgbClr val="FFFFFF"/>
              </a:solidFill>
              <a:latin typeface="Noto Sans SC"/>
              <a:ea typeface="Noto Sans SC"/>
            </a:endParaRPr>
          </a:p>
        </p:txBody>
      </p:sp>
      <p:sp>
        <p:nvSpPr>
          <p:cNvPr id="10" name="AutoShape 4">
            <a:extLst>
              <a:ext uri="{FF2B5EF4-FFF2-40B4-BE49-F238E27FC236}">
                <a16:creationId xmlns:a16="http://schemas.microsoft.com/office/drawing/2014/main" id="{D6216659-4026-C0AF-AA31-5E7F6D6BF825}"/>
              </a:ext>
            </a:extLst>
          </p:cNvPr>
          <p:cNvSpPr/>
          <p:nvPr/>
        </p:nvSpPr>
        <p:spPr>
          <a:xfrm>
            <a:off x="838200" y="1192324"/>
            <a:ext cx="2921000" cy="302732"/>
          </a:xfrm>
          <a:prstGeom prst="rect">
            <a:avLst/>
          </a:prstGeom>
          <a:noFill/>
          <a:ln w="12700" cap="flat" cmpd="sng">
            <a:noFill/>
            <a:prstDash val="solid"/>
            <a:round/>
          </a:ln>
        </p:spPr>
        <p:txBody>
          <a:bodyPr vert="horz" wrap="square" lIns="0" tIns="0" rIns="0" bIns="0" rtlCol="0" anchor="t" anchorCtr="0"/>
          <a:lstStyle/>
          <a:p>
            <a:pPr>
              <a:spcAft>
                <a:spcPts val="1200"/>
              </a:spcAft>
              <a:defRPr/>
            </a:pPr>
            <a:r>
              <a:rPr lang="en-US" altLang="zh-CN" sz="2400" b="1">
                <a:solidFill>
                  <a:srgbClr val="C0392B"/>
                </a:solidFill>
                <a:latin typeface="Noto Sans SC"/>
                <a:ea typeface="Noto Sans SC"/>
                <a:cs typeface="Noto Sans SC"/>
                <a:sym typeface="Noto Sans SC"/>
              </a:rPr>
              <a:t>▍</a:t>
            </a:r>
            <a:r>
              <a:rPr lang="en-US" altLang="zh-CN" sz="2400" b="1">
                <a:solidFill>
                  <a:srgbClr val="C0392B"/>
                </a:solidFill>
                <a:latin typeface="Noto Sans SC"/>
                <a:ea typeface="Noto Sans SC"/>
                <a:sym typeface="Noto Sans SC"/>
              </a:rPr>
              <a:t>构造反例关系 r</a:t>
            </a:r>
            <a:endParaRPr lang="en-US" sz="2400" b="1">
              <a:solidFill>
                <a:srgbClr val="C0392B"/>
              </a:solidFill>
              <a:latin typeface="Noto Sans SC"/>
              <a:ea typeface="Noto Sans SC"/>
              <a:sym typeface="Noto Sans SC"/>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645337"/>
          </a:xfrm>
          <a:prstGeom prst="roundRect">
            <a:avLst>
              <a:gd name="adj" fmla="val 0"/>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7.2.5 属性集的闭包（1）</a:t>
            </a:r>
            <a:endParaRPr lang="en-US" sz="2400" b="1">
              <a:solidFill>
                <a:srgbClr val="FFFFFF"/>
              </a:solidFill>
              <a:latin typeface="Noto Sans SC"/>
              <a:ea typeface="Noto Sans SC"/>
            </a:endParaRPr>
          </a:p>
        </p:txBody>
      </p:sp>
      <p:sp>
        <p:nvSpPr>
          <p:cNvPr id="3" name="AutoShape 3"/>
          <p:cNvSpPr/>
          <p:nvPr/>
        </p:nvSpPr>
        <p:spPr>
          <a:xfrm>
            <a:off x="838200" y="1397000"/>
            <a:ext cx="4917558" cy="4953000"/>
          </a:xfrm>
          <a:prstGeom prst="roundRect">
            <a:avLst>
              <a:gd name="adj" fmla="val 3076"/>
            </a:avLst>
          </a:prstGeom>
          <a:solidFill>
            <a:srgbClr val="F9F5FF">
              <a:alpha val="100000"/>
            </a:srgbClr>
          </a:solidFill>
          <a:ln w="25400" cap="flat" cmpd="sng">
            <a:solidFill>
              <a:srgbClr val="7030A0">
                <a:alpha val="30000"/>
              </a:srgbClr>
            </a:solidFill>
            <a:prstDash val="solid"/>
            <a:round/>
          </a:ln>
        </p:spPr>
        <p:txBody>
          <a:bodyPr vert="horz" wrap="square" lIns="63500" tIns="63500" rIns="63500" bIns="63500" rtlCol="0" anchor="ctr"/>
          <a:lstStyle/>
          <a:p>
            <a:pPr algn="ctr">
              <a:lnSpc>
                <a:spcPct val="114000"/>
              </a:lnSpc>
              <a:spcAft>
                <a:spcPts val="600"/>
              </a:spcAft>
              <a:defRPr/>
            </a:pPr>
            <a:endParaRPr/>
          </a:p>
        </p:txBody>
      </p:sp>
      <p:sp>
        <p:nvSpPr>
          <p:cNvPr id="4" name="AutoShape 4"/>
          <p:cNvSpPr/>
          <p:nvPr/>
        </p:nvSpPr>
        <p:spPr>
          <a:xfrm>
            <a:off x="1092200" y="1651000"/>
            <a:ext cx="4436730" cy="4445000"/>
          </a:xfrm>
          <a:prstGeom prst="rect">
            <a:avLst/>
          </a:prstGeom>
          <a:noFill/>
          <a:ln w="12700" cap="flat" cmpd="sng">
            <a:noFill/>
            <a:prstDash val="solid"/>
            <a:round/>
          </a:ln>
        </p:spPr>
        <p:txBody>
          <a:bodyPr vert="horz" wrap="square" lIns="0" tIns="0" rIns="0" bIns="0" rtlCol="0" anchor="ctr" anchorCtr="0"/>
          <a:lstStyle/>
          <a:p>
            <a:pPr indent="0" algn="l">
              <a:lnSpc>
                <a:spcPct val="114000"/>
              </a:lnSpc>
              <a:spcBef>
                <a:spcPts val="600"/>
              </a:spcBef>
              <a:spcAft>
                <a:spcPts val="600"/>
              </a:spcAft>
              <a:defRPr/>
            </a:pPr>
            <a:r>
              <a:rPr lang="en-US" sz="2000" b="1" i="0" u="none" strike="noStrike">
                <a:solidFill>
                  <a:srgbClr val="7030A0"/>
                </a:solidFill>
                <a:latin typeface="Noto Sans SC"/>
                <a:ea typeface="Noto Sans SC"/>
                <a:cs typeface="Noto Sans SC"/>
                <a:sym typeface="Noto Sans SC"/>
              </a:rPr>
              <a:t>❓ 现实困境</a:t>
            </a:r>
            <a:endParaRPr lang="en-US" sz="1200"/>
          </a:p>
          <a:p>
            <a:pPr indent="0" algn="l">
              <a:lnSpc>
                <a:spcPct val="114000"/>
              </a:lnSpc>
              <a:spcBef>
                <a:spcPts val="600"/>
              </a:spcBef>
              <a:spcAft>
                <a:spcPts val="600"/>
              </a:spcAft>
            </a:pPr>
            <a:r>
              <a:rPr lang="en-US" sz="1600" b="0" i="0" u="none" strike="noStrike">
                <a:solidFill>
                  <a:srgbClr val="333333"/>
                </a:solidFill>
                <a:latin typeface="Noto Sans SC"/>
                <a:ea typeface="Noto Sans SC"/>
                <a:cs typeface="Noto Sans SC"/>
                <a:sym typeface="Noto Sans SC"/>
              </a:rPr>
              <a:t>若要直接判断函数依赖 X→Y 是否被依赖集 F 逻辑蕴涵，需计算 F 的闭包 F+。但 F+ 包含海量推导结果，计算与验证极其复杂，效率极低。</a:t>
            </a:r>
          </a:p>
          <a:p>
            <a:pPr indent="0" algn="l">
              <a:lnSpc>
                <a:spcPct val="114000"/>
              </a:lnSpc>
              <a:spcBef>
                <a:spcPts val="600"/>
              </a:spcBef>
              <a:spcAft>
                <a:spcPts val="600"/>
              </a:spcAft>
            </a:pPr>
            <a:r>
              <a:rPr lang="en-US" sz="2000" b="1" i="0" u="none" strike="noStrike">
                <a:solidFill>
                  <a:srgbClr val="D97706"/>
                </a:solidFill>
                <a:latin typeface="Noto Sans SC"/>
                <a:ea typeface="Noto Sans SC"/>
                <a:cs typeface="Noto Sans SC"/>
                <a:sym typeface="Noto Sans SC"/>
              </a:rPr>
              <a:t>💡 破局思路</a:t>
            </a:r>
          </a:p>
          <a:p>
            <a:pPr indent="0" algn="l">
              <a:lnSpc>
                <a:spcPct val="114000"/>
              </a:lnSpc>
              <a:spcBef>
                <a:spcPts val="600"/>
              </a:spcBef>
              <a:spcAft>
                <a:spcPts val="600"/>
              </a:spcAft>
            </a:pPr>
            <a:r>
              <a:rPr lang="en-US" sz="1600" b="0" i="0" u="none" strike="noStrike">
                <a:solidFill>
                  <a:srgbClr val="333333"/>
                </a:solidFill>
                <a:latin typeface="Noto Sans SC"/>
                <a:ea typeface="Noto Sans SC"/>
                <a:cs typeface="Noto Sans SC"/>
                <a:sym typeface="Noto Sans SC"/>
              </a:rPr>
              <a:t>引入</a:t>
            </a:r>
            <a:r>
              <a:rPr lang="en-US" sz="1600" b="1" i="0" u="none" strike="noStrike">
                <a:solidFill>
                  <a:srgbClr val="333333"/>
                </a:solidFill>
                <a:latin typeface="Noto Sans SC"/>
                <a:ea typeface="Noto Sans SC"/>
                <a:cs typeface="Noto Sans SC"/>
                <a:sym typeface="Noto Sans SC"/>
              </a:rPr>
              <a:t>“属性集的闭包”</a:t>
            </a:r>
            <a:r>
              <a:rPr lang="en-US" sz="1600" b="0" i="0" u="none" strike="noStrike">
                <a:solidFill>
                  <a:srgbClr val="333333"/>
                </a:solidFill>
                <a:latin typeface="Noto Sans SC"/>
                <a:ea typeface="Noto Sans SC"/>
                <a:cs typeface="Noto Sans SC"/>
                <a:sym typeface="Noto Sans SC"/>
              </a:rPr>
              <a:t>概念，避开直接计算庞大的 F+，转而计算特定属性集 X 的闭包 X+，从而高效解决判断问题。</a:t>
            </a:r>
          </a:p>
          <a:p>
            <a:pPr indent="0" algn="l">
              <a:lnSpc>
                <a:spcPct val="114000"/>
              </a:lnSpc>
              <a:spcBef>
                <a:spcPts val="600"/>
              </a:spcBef>
              <a:spcAft>
                <a:spcPts val="600"/>
              </a:spcAft>
            </a:pPr>
            <a:r>
              <a:rPr lang="en-US" sz="2000" b="1" i="0" u="none" strike="noStrike">
                <a:solidFill>
                  <a:srgbClr val="2563EB"/>
                </a:solidFill>
                <a:latin typeface="Noto Sans SC"/>
                <a:ea typeface="Noto Sans SC"/>
                <a:cs typeface="Noto Sans SC"/>
                <a:sym typeface="Noto Sans SC"/>
              </a:rPr>
              <a:t>📚 定义 7.7</a:t>
            </a:r>
          </a:p>
          <a:p>
            <a:pPr indent="0" algn="l">
              <a:lnSpc>
                <a:spcPct val="114000"/>
              </a:lnSpc>
              <a:spcBef>
                <a:spcPts val="600"/>
              </a:spcBef>
              <a:spcAft>
                <a:spcPts val="600"/>
              </a:spcAft>
            </a:pPr>
            <a:r>
              <a:rPr lang="en-US" sz="1600" b="0" i="0" u="none" strike="noStrike">
                <a:solidFill>
                  <a:srgbClr val="333333"/>
                </a:solidFill>
                <a:latin typeface="Noto Sans SC"/>
                <a:ea typeface="Noto Sans SC"/>
                <a:cs typeface="Noto Sans SC"/>
                <a:sym typeface="Noto Sans SC"/>
              </a:rPr>
              <a:t>设 F 是属性集 U 上的函数依赖集，X ⊆ U。属性集 X 的闭包（记作</a:t>
            </a:r>
            <a:r>
              <a:rPr lang="en-US" sz="1600" b="1" i="1" u="none" strike="noStrike">
                <a:solidFill>
                  <a:srgbClr val="333333"/>
                </a:solidFill>
                <a:latin typeface="Noto Sans SC"/>
                <a:ea typeface="Noto Sans SC"/>
                <a:cs typeface="Noto Sans SC"/>
                <a:sym typeface="Noto Sans SC"/>
              </a:rPr>
              <a:t>X+</a:t>
            </a:r>
            <a:r>
              <a:rPr lang="en-US" sz="1600" b="0" i="0" u="none" strike="noStrike">
                <a:solidFill>
                  <a:srgbClr val="333333"/>
                </a:solidFill>
                <a:latin typeface="Noto Sans SC"/>
                <a:ea typeface="Noto Sans SC"/>
                <a:cs typeface="Noto Sans SC"/>
                <a:sym typeface="Noto Sans SC"/>
              </a:rPr>
              <a:t>），是从 F 出发，使用推理规则能推出的所有满足 X→A 的属性 A 的集合。</a:t>
            </a:r>
          </a:p>
        </p:txBody>
      </p:sp>
      <p:sp>
        <p:nvSpPr>
          <p:cNvPr id="5" name="AutoShape 5"/>
          <p:cNvSpPr/>
          <p:nvPr/>
        </p:nvSpPr>
        <p:spPr>
          <a:xfrm>
            <a:off x="6553200" y="1397000"/>
            <a:ext cx="4800600" cy="1524000"/>
          </a:xfrm>
          <a:prstGeom prst="roundRect">
            <a:avLst>
              <a:gd name="adj" fmla="val 8333"/>
            </a:avLst>
          </a:prstGeom>
          <a:solidFill>
            <a:srgbClr val="111827">
              <a:alpha val="100000"/>
            </a:srgbClr>
          </a:solidFill>
          <a:ln w="25400" cap="flat" cmpd="sng">
            <a:solidFill>
              <a:srgbClr val="7030A0">
                <a:alpha val="100000"/>
              </a:srgbClr>
            </a:solidFill>
            <a:prstDash val="solid"/>
            <a:round/>
          </a:ln>
        </p:spPr>
        <p:txBody>
          <a:bodyPr vert="horz" wrap="square" lIns="63500" tIns="63500" rIns="63500" bIns="63500" rtlCol="0" anchor="ctr"/>
          <a:lstStyle/>
          <a:p>
            <a:pPr algn="ctr">
              <a:defRPr/>
            </a:pPr>
            <a:endParaRPr sz="1800"/>
          </a:p>
        </p:txBody>
      </p:sp>
      <p:sp>
        <p:nvSpPr>
          <p:cNvPr id="6" name="AutoShape 6"/>
          <p:cNvSpPr/>
          <p:nvPr/>
        </p:nvSpPr>
        <p:spPr>
          <a:xfrm>
            <a:off x="6743700" y="1587500"/>
            <a:ext cx="441960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FBBF24"/>
                </a:solidFill>
                <a:latin typeface="Noto Sans SC"/>
                <a:ea typeface="Noto Sans SC"/>
                <a:cs typeface="Noto Sans SC"/>
                <a:sym typeface="Noto Sans SC"/>
              </a:rPr>
              <a:t>X+ 核心表达式</a:t>
            </a:r>
            <a:endParaRPr lang="en-US" sz="1200"/>
          </a:p>
          <a:p>
            <a:pPr indent="0" algn="ctr">
              <a:lnSpc>
                <a:spcPct val="125000"/>
              </a:lnSpc>
            </a:pPr>
            <a:r>
              <a:rPr lang="en-US" sz="2400" b="1" i="0" u="none" strike="noStrike">
                <a:solidFill>
                  <a:srgbClr val="FFFFFF"/>
                </a:solidFill>
                <a:latin typeface="Noto Sans SC"/>
                <a:ea typeface="Noto Sans SC"/>
                <a:cs typeface="Noto Sans SC"/>
                <a:sym typeface="Noto Sans SC"/>
              </a:rPr>
              <a:t>X+ = { A | X → A ∈ F+ }</a:t>
            </a:r>
          </a:p>
        </p:txBody>
      </p:sp>
      <p:sp>
        <p:nvSpPr>
          <p:cNvPr id="7" name="AutoShape 7"/>
          <p:cNvSpPr/>
          <p:nvPr/>
        </p:nvSpPr>
        <p:spPr>
          <a:xfrm>
            <a:off x="6553200" y="3111500"/>
            <a:ext cx="4800600" cy="1524000"/>
          </a:xfrm>
          <a:prstGeom prst="roundRect">
            <a:avLst>
              <a:gd name="adj" fmla="val 8333"/>
            </a:avLst>
          </a:prstGeom>
          <a:solidFill>
            <a:srgbClr val="111827">
              <a:alpha val="100000"/>
            </a:srgbClr>
          </a:solidFill>
          <a:ln w="25400" cap="flat" cmpd="sng">
            <a:solidFill>
              <a:srgbClr val="10B981">
                <a:alpha val="100000"/>
              </a:srgbClr>
            </a:solidFill>
            <a:prstDash val="solid"/>
            <a:round/>
          </a:ln>
        </p:spPr>
        <p:txBody>
          <a:bodyPr vert="horz" wrap="square" lIns="63500" tIns="63500" rIns="63500" bIns="63500" rtlCol="0" anchor="ctr"/>
          <a:lstStyle/>
          <a:p>
            <a:pPr algn="ctr">
              <a:defRPr/>
            </a:pPr>
            <a:endParaRPr sz="1800"/>
          </a:p>
        </p:txBody>
      </p:sp>
      <p:sp>
        <p:nvSpPr>
          <p:cNvPr id="8" name="AutoShape 8"/>
          <p:cNvSpPr/>
          <p:nvPr/>
        </p:nvSpPr>
        <p:spPr>
          <a:xfrm>
            <a:off x="6743700" y="3302000"/>
            <a:ext cx="441960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34D399"/>
                </a:solidFill>
                <a:latin typeface="Noto Sans SC"/>
                <a:ea typeface="Noto Sans SC"/>
                <a:cs typeface="Noto Sans SC"/>
                <a:sym typeface="Noto Sans SC"/>
              </a:rPr>
              <a:t>⚡ 定理 7.4 (充要条件)</a:t>
            </a:r>
            <a:endParaRPr lang="en-US" sz="1200"/>
          </a:p>
          <a:p>
            <a:pPr indent="0" algn="ctr">
              <a:lnSpc>
                <a:spcPct val="116666"/>
              </a:lnSpc>
            </a:pPr>
            <a:r>
              <a:rPr lang="en-US" sz="1600" b="0" i="0" u="none" strike="noStrike">
                <a:solidFill>
                  <a:srgbClr val="E5E7EB"/>
                </a:solidFill>
                <a:latin typeface="Noto Sans SC"/>
                <a:ea typeface="Noto Sans SC"/>
                <a:cs typeface="Noto Sans SC"/>
                <a:sym typeface="Noto Sans SC"/>
              </a:rPr>
              <a:t>X → Y 可由 F 推出 ⇔ </a:t>
            </a:r>
            <a:r>
              <a:rPr lang="en-US" sz="1600" b="1" i="0" u="none" strike="noStrike">
                <a:solidFill>
                  <a:srgbClr val="E5E7EB"/>
                </a:solidFill>
                <a:latin typeface="Noto Sans SC"/>
                <a:ea typeface="Noto Sans SC"/>
                <a:cs typeface="Noto Sans SC"/>
                <a:sym typeface="Noto Sans SC"/>
              </a:rPr>
              <a:t>Y ⊆ X+</a:t>
            </a:r>
          </a:p>
        </p:txBody>
      </p:sp>
      <p:sp>
        <p:nvSpPr>
          <p:cNvPr id="9" name="AutoShape 9"/>
          <p:cNvSpPr/>
          <p:nvPr/>
        </p:nvSpPr>
        <p:spPr>
          <a:xfrm>
            <a:off x="6553200" y="4826000"/>
            <a:ext cx="4800600" cy="1524000"/>
          </a:xfrm>
          <a:prstGeom prst="roundRect">
            <a:avLst>
              <a:gd name="adj" fmla="val 8333"/>
            </a:avLst>
          </a:prstGeom>
          <a:solidFill>
            <a:srgbClr val="111827">
              <a:alpha val="100000"/>
            </a:srgbClr>
          </a:solidFill>
          <a:ln w="25400" cap="flat" cmpd="sng">
            <a:solidFill>
              <a:srgbClr val="EF4444">
                <a:alpha val="100000"/>
              </a:srgbClr>
            </a:solidFill>
            <a:prstDash val="solid"/>
            <a:round/>
          </a:ln>
        </p:spPr>
        <p:txBody>
          <a:bodyPr vert="horz" wrap="square" lIns="63500" tIns="63500" rIns="63500" bIns="63500" rtlCol="0" anchor="ctr"/>
          <a:lstStyle/>
          <a:p>
            <a:pPr algn="ctr">
              <a:defRPr/>
            </a:pPr>
            <a:endParaRPr sz="1800"/>
          </a:p>
        </p:txBody>
      </p:sp>
      <p:sp>
        <p:nvSpPr>
          <p:cNvPr id="10" name="AutoShape 10"/>
          <p:cNvSpPr/>
          <p:nvPr/>
        </p:nvSpPr>
        <p:spPr>
          <a:xfrm>
            <a:off x="6960781" y="5016500"/>
            <a:ext cx="4012020" cy="1143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2000" b="1" i="0" u="none" strike="noStrike">
                <a:solidFill>
                  <a:srgbClr val="F87171"/>
                </a:solidFill>
                <a:latin typeface="Noto Sans SC"/>
                <a:ea typeface="Noto Sans SC"/>
                <a:cs typeface="Noto Sans SC"/>
                <a:sym typeface="Noto Sans SC"/>
              </a:rPr>
              <a:t>🔥 理论价值</a:t>
            </a:r>
            <a:endParaRPr lang="en-US" sz="1200"/>
          </a:p>
          <a:p>
            <a:pPr indent="0" algn="just">
              <a:lnSpc>
                <a:spcPct val="108333"/>
              </a:lnSpc>
            </a:pPr>
            <a:r>
              <a:rPr lang="en-US" sz="1600" b="0" i="0" u="none" strike="noStrike">
                <a:solidFill>
                  <a:srgbClr val="E5E7EB"/>
                </a:solidFill>
                <a:latin typeface="Noto Sans SC"/>
                <a:ea typeface="Noto Sans SC"/>
                <a:cs typeface="Noto Sans SC"/>
                <a:sym typeface="Noto Sans SC"/>
              </a:rPr>
              <a:t>将判断逻辑蕴涵的问题，从计算</a:t>
            </a:r>
            <a:r>
              <a:rPr lang="en-US" sz="1600" b="1" i="0" u="none" strike="noStrike">
                <a:solidFill>
                  <a:srgbClr val="E5E7EB"/>
                </a:solidFill>
                <a:latin typeface="Noto Sans SC"/>
                <a:ea typeface="Noto Sans SC"/>
                <a:cs typeface="Noto Sans SC"/>
                <a:sym typeface="Noto Sans SC"/>
              </a:rPr>
              <a:t>指数级复杂度</a:t>
            </a:r>
            <a:r>
              <a:rPr lang="en-US" sz="1600" b="0" i="0" u="none" strike="noStrike">
                <a:solidFill>
                  <a:srgbClr val="E5E7EB"/>
                </a:solidFill>
                <a:latin typeface="Noto Sans SC"/>
                <a:ea typeface="Noto Sans SC"/>
                <a:cs typeface="Noto Sans SC"/>
                <a:sym typeface="Noto Sans SC"/>
              </a:rPr>
              <a:t>的 F+，转化为计算</a:t>
            </a:r>
            <a:r>
              <a:rPr lang="en-US" sz="1600" b="1" i="0" u="none" strike="noStrike">
                <a:solidFill>
                  <a:srgbClr val="E5E7EB"/>
                </a:solidFill>
                <a:latin typeface="Noto Sans SC"/>
                <a:ea typeface="Noto Sans SC"/>
                <a:cs typeface="Noto Sans SC"/>
                <a:sym typeface="Noto Sans SC"/>
              </a:rPr>
              <a:t>多项式级复杂度</a:t>
            </a:r>
            <a:r>
              <a:rPr lang="en-US" sz="1600" b="0" i="0" u="none" strike="noStrike">
                <a:solidFill>
                  <a:srgbClr val="E5E7EB"/>
                </a:solidFill>
                <a:latin typeface="Noto Sans SC"/>
                <a:ea typeface="Noto Sans SC"/>
                <a:cs typeface="Noto Sans SC"/>
                <a:sym typeface="Noto Sans SC"/>
              </a:rPr>
              <a:t>的 X+，极大降低了计算难度。</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901700" y="1270000"/>
            <a:ext cx="4953000" cy="508000"/>
          </a:xfrm>
          <a:prstGeom prst="roundRect">
            <a:avLst>
              <a:gd name="adj" fmla="val 0"/>
            </a:avLst>
          </a:prstGeom>
          <a:solidFill>
            <a:srgbClr val="FFC000">
              <a:alpha val="100000"/>
            </a:srgbClr>
          </a:solidFill>
          <a:ln w="25400" cap="flat" cmpd="sng">
            <a:noFill/>
            <a:prstDash val="solid"/>
            <a:round/>
          </a:ln>
        </p:spPr>
        <p:txBody>
          <a:bodyPr vert="horz" wrap="square" lIns="63500" tIns="63500" rIns="63500" bIns="63500" rtlCol="0" anchor="ctr"/>
          <a:lstStyle/>
          <a:p>
            <a:pPr algn="ctr">
              <a:defRPr/>
            </a:pPr>
            <a:endParaRPr sz="1800"/>
          </a:p>
        </p:txBody>
      </p:sp>
      <p:sp>
        <p:nvSpPr>
          <p:cNvPr id="4" name="AutoShape 4"/>
          <p:cNvSpPr/>
          <p:nvPr/>
        </p:nvSpPr>
        <p:spPr>
          <a:xfrm>
            <a:off x="901700" y="1270000"/>
            <a:ext cx="4953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a:ea typeface="Noto Sans SC"/>
                <a:cs typeface="Noto Sans SC"/>
                <a:sym typeface="Noto Sans SC"/>
              </a:rPr>
              <a:t>算法 7.1：求属性集 X 的闭包 X⁺</a:t>
            </a:r>
            <a:endParaRPr lang="en-US" sz="1200"/>
          </a:p>
        </p:txBody>
      </p:sp>
      <p:sp>
        <p:nvSpPr>
          <p:cNvPr id="5" name="AutoShape 5"/>
          <p:cNvSpPr/>
          <p:nvPr/>
        </p:nvSpPr>
        <p:spPr>
          <a:xfrm>
            <a:off x="901700" y="2032000"/>
            <a:ext cx="4953000" cy="3937000"/>
          </a:xfrm>
          <a:prstGeom prst="roundRect">
            <a:avLst>
              <a:gd name="adj" fmla="val 2580"/>
            </a:avLst>
          </a:prstGeom>
          <a:solidFill>
            <a:srgbClr val="F5F5F5">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092200" y="2222500"/>
            <a:ext cx="4572000" cy="3556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600" b="0" i="0" u="none" strike="noStrike">
                <a:solidFill>
                  <a:srgbClr val="000000"/>
                </a:solidFill>
                <a:latin typeface="Noto Sans SC"/>
                <a:ea typeface="Noto Sans SC"/>
                <a:cs typeface="Noto Sans SC"/>
                <a:sym typeface="Noto Sans SC"/>
              </a:rPr>
              <a:t>X⁺ := X   // 初始化：闭包包含X自身</a:t>
            </a:r>
            <a:endParaRPr lang="en-US" sz="1200"/>
          </a:p>
          <a:p>
            <a:pPr indent="0" algn="l">
              <a:lnSpc>
                <a:spcPct val="116666"/>
              </a:lnSpc>
            </a:pPr>
            <a:r>
              <a:rPr lang="en-US" sz="1600" b="0" i="0" u="none" strike="noStrike">
                <a:solidFill>
                  <a:srgbClr val="000000"/>
                </a:solidFill>
                <a:latin typeface="Noto Sans SC"/>
                <a:ea typeface="Noto Sans SC"/>
                <a:cs typeface="Noto Sans SC"/>
                <a:sym typeface="Noto Sans SC"/>
              </a:rPr>
              <a:t>do {</a:t>
            </a:r>
          </a:p>
          <a:p>
            <a:pPr marL="254000" indent="0" algn="l">
              <a:lnSpc>
                <a:spcPct val="116666"/>
              </a:lnSpc>
            </a:pPr>
            <a:r>
              <a:rPr lang="en-US" sz="1600" b="0" i="0" u="none" strike="noStrike">
                <a:solidFill>
                  <a:srgbClr val="000000"/>
                </a:solidFill>
                <a:latin typeface="Noto Sans SC"/>
                <a:ea typeface="Noto Sans SC"/>
                <a:cs typeface="Noto Sans SC"/>
                <a:sym typeface="Noto Sans SC"/>
              </a:rPr>
              <a:t>old_X⁺ := X⁺   // 保存当前闭包状态</a:t>
            </a:r>
          </a:p>
          <a:p>
            <a:pPr marL="254000" indent="0" algn="l">
              <a:lnSpc>
                <a:spcPct val="116666"/>
              </a:lnSpc>
            </a:pPr>
            <a:r>
              <a:rPr lang="en-US" sz="1600" b="0" i="0" u="none" strike="noStrike">
                <a:solidFill>
                  <a:srgbClr val="000000"/>
                </a:solidFill>
                <a:latin typeface="Noto Sans SC"/>
                <a:ea typeface="Noto Sans SC"/>
                <a:cs typeface="Noto Sans SC"/>
                <a:sym typeface="Noto Sans SC"/>
              </a:rPr>
              <a:t>for F 中每个 FD Y → Z do {</a:t>
            </a:r>
          </a:p>
          <a:p>
            <a:pPr marL="508000" indent="0" algn="l">
              <a:lnSpc>
                <a:spcPct val="116666"/>
              </a:lnSpc>
            </a:pPr>
            <a:r>
              <a:rPr lang="en-US" sz="1600" b="0" i="0" u="none" strike="noStrike">
                <a:solidFill>
                  <a:srgbClr val="000000"/>
                </a:solidFill>
                <a:latin typeface="Noto Sans SC"/>
                <a:ea typeface="Noto Sans SC"/>
                <a:cs typeface="Noto Sans SC"/>
                <a:sym typeface="Noto Sans SC"/>
              </a:rPr>
              <a:t>if Y ⊆ X⁺ then</a:t>
            </a:r>
          </a:p>
          <a:p>
            <a:pPr marL="762000" indent="0" algn="l">
              <a:lnSpc>
                <a:spcPct val="116666"/>
              </a:lnSpc>
            </a:pPr>
            <a:r>
              <a:rPr lang="en-US" sz="1600" b="0" i="0" u="none" strike="noStrike">
                <a:solidFill>
                  <a:srgbClr val="000000"/>
                </a:solidFill>
                <a:latin typeface="Noto Sans SC"/>
                <a:ea typeface="Noto Sans SC"/>
                <a:cs typeface="Noto Sans SC"/>
                <a:sym typeface="Noto Sans SC"/>
              </a:rPr>
              <a:t>X⁺ := X⁺ ∪ Z   // 合并依赖右侧属性</a:t>
            </a:r>
          </a:p>
          <a:p>
            <a:pPr marL="254000" indent="0" algn="l">
              <a:lnSpc>
                <a:spcPct val="116666"/>
              </a:lnSpc>
            </a:pPr>
            <a:r>
              <a:rPr lang="en-US" sz="1600" b="0" i="0" u="none" strike="noStrike">
                <a:solidFill>
                  <a:srgbClr val="000000"/>
                </a:solidFill>
                <a:latin typeface="Noto Sans SC"/>
                <a:ea typeface="Noto Sans SC"/>
                <a:cs typeface="Noto Sans SC"/>
                <a:sym typeface="Noto Sans SC"/>
              </a:rPr>
              <a:t>}</a:t>
            </a:r>
          </a:p>
          <a:p>
            <a:pPr indent="0" algn="l">
              <a:lnSpc>
                <a:spcPct val="116666"/>
              </a:lnSpc>
            </a:pPr>
            <a:r>
              <a:rPr lang="en-US" sz="1600" b="0" i="0" u="none" strike="noStrike">
                <a:solidFill>
                  <a:srgbClr val="000000"/>
                </a:solidFill>
                <a:latin typeface="Noto Sans SC"/>
                <a:ea typeface="Noto Sans SC"/>
                <a:cs typeface="Noto Sans SC"/>
                <a:sym typeface="Noto Sans SC"/>
              </a:rPr>
              <a:t>} while (X⁺ ≠ old_X⁺)  // 直到闭包收敛</a:t>
            </a:r>
          </a:p>
          <a:p>
            <a:pPr indent="0" algn="l">
              <a:lnSpc>
                <a:spcPct val="133333"/>
              </a:lnSpc>
              <a:spcBef>
                <a:spcPts val="1000"/>
              </a:spcBef>
            </a:pPr>
            <a:r>
              <a:rPr lang="en-US" sz="1600" b="0" i="0" u="none" strike="noStrike">
                <a:solidFill>
                  <a:srgbClr val="6B7280"/>
                </a:solidFill>
                <a:latin typeface="Noto Sans SC"/>
                <a:ea typeface="Noto Sans SC"/>
                <a:cs typeface="Noto Sans SC"/>
                <a:sym typeface="Noto Sans SC"/>
              </a:rPr>
              <a:t>💡 核心逻辑：不断寻找并利用F中的函数依赖，将右侧属性加入闭包，直到集合不再扩大。</a:t>
            </a:r>
          </a:p>
        </p:txBody>
      </p:sp>
      <p:sp>
        <p:nvSpPr>
          <p:cNvPr id="8" name="AutoShape 8"/>
          <p:cNvSpPr/>
          <p:nvPr/>
        </p:nvSpPr>
        <p:spPr>
          <a:xfrm>
            <a:off x="6350000" y="1270000"/>
            <a:ext cx="4953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200"/>
          </a:p>
        </p:txBody>
      </p:sp>
      <p:sp>
        <p:nvSpPr>
          <p:cNvPr id="9" name="AutoShape 9"/>
          <p:cNvSpPr/>
          <p:nvPr/>
        </p:nvSpPr>
        <p:spPr>
          <a:xfrm>
            <a:off x="6350000" y="2032000"/>
            <a:ext cx="4953000" cy="3937000"/>
          </a:xfrm>
          <a:prstGeom prst="roundRect">
            <a:avLst>
              <a:gd name="adj" fmla="val 2580"/>
            </a:avLst>
          </a:prstGeom>
          <a:solidFill>
            <a:srgbClr val="EFF6FF">
              <a:alpha val="100000"/>
            </a:srgbClr>
          </a:solidFill>
          <a:ln w="12700" cap="flat" cmpd="sng">
            <a:solidFill>
              <a:srgbClr val="DBEAFE">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6540500" y="2222500"/>
            <a:ext cx="4572000" cy="3556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1E40AF"/>
                </a:solidFill>
                <a:latin typeface="Noto Sans SC"/>
                <a:ea typeface="Noto Sans SC"/>
                <a:cs typeface="Noto Sans SC"/>
                <a:sym typeface="Noto Sans SC"/>
              </a:rPr>
              <a:t>设定：</a:t>
            </a:r>
            <a:r>
              <a:rPr lang="en-US" sz="1600" b="0" i="0" u="none" strike="noStrike">
                <a:solidFill>
                  <a:srgbClr val="374151"/>
                </a:solidFill>
                <a:latin typeface="Noto Sans SC"/>
                <a:ea typeface="Noto Sans SC"/>
                <a:cs typeface="Noto Sans SC"/>
                <a:sym typeface="Noto Sans SC"/>
              </a:rPr>
              <a:t>U = {A, B, C, D}, F = {A→B, B→C, D→B}</a:t>
            </a:r>
            <a:endParaRPr lang="en-US" sz="1600"/>
          </a:p>
          <a:p>
            <a:pPr indent="0" algn="l">
              <a:lnSpc>
                <a:spcPct val="100000"/>
              </a:lnSpc>
              <a:spcBef>
                <a:spcPts val="1200"/>
              </a:spcBef>
            </a:pPr>
            <a:r>
              <a:rPr lang="en-US" sz="1600" b="1" i="0" u="none" strike="noStrike">
                <a:solidFill>
                  <a:srgbClr val="D97706"/>
                </a:solidFill>
                <a:latin typeface="Noto Sans SC"/>
                <a:ea typeface="Noto Sans SC"/>
                <a:cs typeface="Noto Sans SC"/>
                <a:sym typeface="Noto Sans SC"/>
              </a:rPr>
              <a:t>① 求 A⁺ (A的闭包)</a:t>
            </a:r>
          </a:p>
          <a:p>
            <a:pPr marL="412750" indent="-285750">
              <a:lnSpc>
                <a:spcPct val="108333"/>
              </a:lnSpc>
              <a:buFont typeface="Arial" panose="020B0604020202020204" pitchFamily="34" charset="0"/>
              <a:buChar char="•"/>
            </a:pPr>
            <a:r>
              <a:rPr lang="en-US" sz="1600" b="0" i="0" u="none" strike="noStrike">
                <a:solidFill>
                  <a:srgbClr val="374151"/>
                </a:solidFill>
                <a:latin typeface="Noto Sans SC"/>
                <a:ea typeface="Noto Sans SC"/>
                <a:cs typeface="Noto Sans SC"/>
                <a:sym typeface="Noto Sans SC"/>
              </a:rPr>
              <a:t>初始：</a:t>
            </a:r>
            <a:r>
              <a:rPr lang="en-US" altLang="zh-CN" sz="1600" b="1">
                <a:solidFill>
                  <a:srgbClr val="D97706"/>
                </a:solidFill>
                <a:latin typeface="Noto Sans SC"/>
                <a:ea typeface="Noto Sans SC"/>
                <a:cs typeface="Noto Sans SC"/>
                <a:sym typeface="Noto Sans SC"/>
              </a:rPr>
              <a:t> A⁺=</a:t>
            </a:r>
            <a:r>
              <a:rPr lang="en-US" sz="1600" b="0" i="0" u="none" strike="noStrike">
                <a:solidFill>
                  <a:srgbClr val="374151"/>
                </a:solidFill>
                <a:latin typeface="Noto Sans SC"/>
                <a:ea typeface="Noto Sans SC"/>
                <a:cs typeface="Noto Sans SC"/>
                <a:sym typeface="Noto Sans SC"/>
              </a:rPr>
              <a:t>{A}</a:t>
            </a:r>
          </a:p>
          <a:p>
            <a:pPr marL="412750" indent="-285750">
              <a:lnSpc>
                <a:spcPct val="108333"/>
              </a:lnSpc>
              <a:buFont typeface="Arial" panose="020B0604020202020204" pitchFamily="34" charset="0"/>
              <a:buChar char="•"/>
            </a:pPr>
            <a:r>
              <a:rPr lang="en-US" sz="1600" b="0" i="0" u="none" strike="noStrike">
                <a:solidFill>
                  <a:srgbClr val="374151"/>
                </a:solidFill>
                <a:latin typeface="Noto Sans SC"/>
                <a:ea typeface="Noto Sans SC"/>
                <a:cs typeface="Noto Sans SC"/>
                <a:sym typeface="Noto Sans SC"/>
              </a:rPr>
              <a:t>由 A→B 得：</a:t>
            </a:r>
            <a:r>
              <a:rPr lang="en-US" altLang="zh-CN" sz="1600" b="1">
                <a:solidFill>
                  <a:srgbClr val="D97706"/>
                </a:solidFill>
                <a:latin typeface="Noto Sans SC"/>
                <a:ea typeface="Noto Sans SC"/>
                <a:cs typeface="Noto Sans SC"/>
                <a:sym typeface="Noto Sans SC"/>
              </a:rPr>
              <a:t>A⁺= </a:t>
            </a:r>
            <a:r>
              <a:rPr lang="en-US" sz="1600" b="0" i="0" u="none" strike="noStrike">
                <a:solidFill>
                  <a:srgbClr val="374151"/>
                </a:solidFill>
                <a:latin typeface="Noto Sans SC"/>
                <a:ea typeface="Noto Sans SC"/>
                <a:cs typeface="Noto Sans SC"/>
                <a:sym typeface="Noto Sans SC"/>
              </a:rPr>
              <a:t>{A, B} </a:t>
            </a:r>
            <a:br>
              <a:rPr lang="en-US" sz="1600" b="0" i="0" u="none" strike="noStrike">
                <a:solidFill>
                  <a:srgbClr val="374151"/>
                </a:solidFill>
                <a:latin typeface="Noto Sans SC"/>
                <a:ea typeface="Noto Sans SC"/>
                <a:cs typeface="Noto Sans SC"/>
                <a:sym typeface="Noto Sans SC"/>
              </a:rPr>
            </a:br>
            <a:r>
              <a:rPr lang="en-US" sz="1600" b="0" i="0" u="none" strike="noStrike">
                <a:solidFill>
                  <a:srgbClr val="374151"/>
                </a:solidFill>
                <a:latin typeface="Noto Sans SC"/>
                <a:ea typeface="Noto Sans SC"/>
                <a:cs typeface="Noto Sans SC"/>
                <a:sym typeface="Noto Sans SC"/>
              </a:rPr>
              <a:t>由 B→C 得：</a:t>
            </a:r>
            <a:r>
              <a:rPr lang="en-US" altLang="zh-CN" sz="1600" b="1">
                <a:solidFill>
                  <a:srgbClr val="D97706"/>
                </a:solidFill>
                <a:latin typeface="Noto Sans SC"/>
                <a:ea typeface="Noto Sans SC"/>
                <a:cs typeface="Noto Sans SC"/>
                <a:sym typeface="Noto Sans SC"/>
              </a:rPr>
              <a:t>A⁺= </a:t>
            </a:r>
            <a:r>
              <a:rPr lang="en-US" sz="1600" b="0" i="0" u="none" strike="noStrike">
                <a:solidFill>
                  <a:srgbClr val="374151"/>
                </a:solidFill>
                <a:latin typeface="Noto Sans SC"/>
                <a:ea typeface="Noto Sans SC"/>
                <a:cs typeface="Noto Sans SC"/>
                <a:sym typeface="Noto Sans SC"/>
              </a:rPr>
              <a:t>{A, B, C}</a:t>
            </a:r>
          </a:p>
          <a:p>
            <a:pPr marL="412750" indent="-285750" algn="l">
              <a:lnSpc>
                <a:spcPct val="108333"/>
              </a:lnSpc>
              <a:buFont typeface="Arial" panose="020B0604020202020204" pitchFamily="34" charset="0"/>
              <a:buChar char="•"/>
            </a:pPr>
            <a:r>
              <a:rPr lang="en-US" sz="1600" b="0" i="0" u="none" strike="noStrike">
                <a:solidFill>
                  <a:srgbClr val="374151"/>
                </a:solidFill>
                <a:latin typeface="Noto Sans SC"/>
                <a:ea typeface="Noto Sans SC"/>
                <a:cs typeface="Noto Sans SC"/>
                <a:sym typeface="Noto Sans SC"/>
              </a:rPr>
              <a:t>最终结果：</a:t>
            </a:r>
            <a:r>
              <a:rPr lang="en-US" sz="1600" b="1" i="0" u="none" strike="noStrike">
                <a:solidFill>
                  <a:srgbClr val="DC2626"/>
                </a:solidFill>
                <a:latin typeface="Noto Sans SC"/>
                <a:ea typeface="Noto Sans SC"/>
                <a:cs typeface="Noto Sans SC"/>
                <a:sym typeface="Noto Sans SC"/>
              </a:rPr>
              <a:t>A⁺ = {A, B, C}</a:t>
            </a:r>
          </a:p>
          <a:p>
            <a:pPr indent="0" algn="l">
              <a:lnSpc>
                <a:spcPct val="100000"/>
              </a:lnSpc>
              <a:spcBef>
                <a:spcPts val="1200"/>
              </a:spcBef>
            </a:pPr>
            <a:r>
              <a:rPr lang="en-US" sz="1600" b="1" i="0" u="none" strike="noStrike">
                <a:solidFill>
                  <a:srgbClr val="D97706"/>
                </a:solidFill>
                <a:latin typeface="Noto Sans SC"/>
                <a:ea typeface="Noto Sans SC"/>
                <a:cs typeface="Noto Sans SC"/>
                <a:sym typeface="Noto Sans SC"/>
              </a:rPr>
              <a:t>② 求 (AD)⁺ (AD的闭包)</a:t>
            </a:r>
          </a:p>
          <a:p>
            <a:pPr marL="412750" indent="-285750">
              <a:lnSpc>
                <a:spcPct val="108333"/>
              </a:lnSpc>
              <a:buFont typeface="Arial" panose="020B0604020202020204" pitchFamily="34" charset="0"/>
              <a:buChar char="•"/>
            </a:pPr>
            <a:r>
              <a:rPr lang="en-US" sz="1600" b="0" i="0" u="none" strike="noStrike">
                <a:solidFill>
                  <a:srgbClr val="374151"/>
                </a:solidFill>
                <a:latin typeface="Noto Sans SC"/>
                <a:ea typeface="Noto Sans SC"/>
                <a:cs typeface="Noto Sans SC"/>
                <a:sym typeface="Noto Sans SC"/>
              </a:rPr>
              <a:t>初始：</a:t>
            </a:r>
            <a:r>
              <a:rPr lang="en-US" altLang="zh-CN" sz="1600" b="1">
                <a:solidFill>
                  <a:srgbClr val="D97706"/>
                </a:solidFill>
                <a:latin typeface="Noto Sans SC"/>
                <a:ea typeface="Noto Sans SC"/>
                <a:cs typeface="Noto Sans SC"/>
                <a:sym typeface="Noto Sans SC"/>
              </a:rPr>
              <a:t> (AD)⁺=</a:t>
            </a:r>
            <a:r>
              <a:rPr lang="en-US" sz="1600" b="0" i="0" u="none" strike="noStrike">
                <a:solidFill>
                  <a:srgbClr val="374151"/>
                </a:solidFill>
                <a:latin typeface="Noto Sans SC"/>
                <a:ea typeface="Noto Sans SC"/>
                <a:cs typeface="Noto Sans SC"/>
                <a:sym typeface="Noto Sans SC"/>
              </a:rPr>
              <a:t>{A, D}</a:t>
            </a:r>
          </a:p>
          <a:p>
            <a:pPr marL="412750" indent="-285750">
              <a:lnSpc>
                <a:spcPct val="108333"/>
              </a:lnSpc>
              <a:buFont typeface="Arial" panose="020B0604020202020204" pitchFamily="34" charset="0"/>
              <a:buChar char="•"/>
            </a:pPr>
            <a:r>
              <a:rPr lang="en-US" sz="1600" b="0" i="0" u="none" strike="noStrike">
                <a:solidFill>
                  <a:srgbClr val="374151"/>
                </a:solidFill>
                <a:latin typeface="Noto Sans SC"/>
                <a:ea typeface="Noto Sans SC"/>
                <a:cs typeface="Noto Sans SC"/>
                <a:sym typeface="Noto Sans SC"/>
              </a:rPr>
              <a:t>由 A→B, D→B 得：</a:t>
            </a:r>
            <a:r>
              <a:rPr lang="en-US" altLang="zh-CN" sz="1600" b="1">
                <a:solidFill>
                  <a:srgbClr val="D97706"/>
                </a:solidFill>
                <a:latin typeface="Noto Sans SC"/>
                <a:ea typeface="Noto Sans SC"/>
                <a:cs typeface="Noto Sans SC"/>
                <a:sym typeface="Noto Sans SC"/>
              </a:rPr>
              <a:t>(AD)⁺= </a:t>
            </a:r>
            <a:r>
              <a:rPr lang="en-US" sz="1600" b="0" i="0" u="none" strike="noStrike">
                <a:solidFill>
                  <a:srgbClr val="374151"/>
                </a:solidFill>
                <a:latin typeface="Noto Sans SC"/>
                <a:ea typeface="Noto Sans SC"/>
                <a:cs typeface="Noto Sans SC"/>
                <a:sym typeface="Noto Sans SC"/>
              </a:rPr>
              <a:t>{A, D, B}</a:t>
            </a:r>
            <a:br>
              <a:rPr lang="en-US" sz="1600" b="0" i="0" u="none" strike="noStrike">
                <a:solidFill>
                  <a:srgbClr val="374151"/>
                </a:solidFill>
                <a:latin typeface="Noto Sans SC"/>
                <a:ea typeface="Noto Sans SC"/>
                <a:cs typeface="Noto Sans SC"/>
                <a:sym typeface="Noto Sans SC"/>
              </a:rPr>
            </a:br>
            <a:r>
              <a:rPr lang="en-US" sz="1600" b="0" i="0" u="none" strike="noStrike">
                <a:solidFill>
                  <a:srgbClr val="374151"/>
                </a:solidFill>
                <a:latin typeface="Noto Sans SC"/>
                <a:ea typeface="Noto Sans SC"/>
                <a:cs typeface="Noto Sans SC"/>
                <a:sym typeface="Noto Sans SC"/>
              </a:rPr>
              <a:t>由 B→C 得：</a:t>
            </a:r>
            <a:r>
              <a:rPr lang="en-US" altLang="zh-CN" sz="1600" b="1">
                <a:solidFill>
                  <a:srgbClr val="D97706"/>
                </a:solidFill>
                <a:latin typeface="Noto Sans SC"/>
                <a:ea typeface="Noto Sans SC"/>
                <a:cs typeface="Noto Sans SC"/>
                <a:sym typeface="Noto Sans SC"/>
              </a:rPr>
              <a:t>(AD)⁺= </a:t>
            </a:r>
            <a:r>
              <a:rPr lang="en-US" sz="1600" b="0" i="0" u="none" strike="noStrike">
                <a:solidFill>
                  <a:srgbClr val="374151"/>
                </a:solidFill>
                <a:latin typeface="Noto Sans SC"/>
                <a:ea typeface="Noto Sans SC"/>
                <a:cs typeface="Noto Sans SC"/>
                <a:sym typeface="Noto Sans SC"/>
              </a:rPr>
              <a:t>{A, D, B, C}</a:t>
            </a:r>
          </a:p>
          <a:p>
            <a:pPr marL="412750" indent="-285750" algn="l">
              <a:lnSpc>
                <a:spcPct val="108333"/>
              </a:lnSpc>
              <a:buFont typeface="Arial" panose="020B0604020202020204" pitchFamily="34" charset="0"/>
              <a:buChar char="•"/>
            </a:pPr>
            <a:r>
              <a:rPr lang="en-US" sz="1600" b="0" i="0" u="none" strike="noStrike">
                <a:solidFill>
                  <a:srgbClr val="374151"/>
                </a:solidFill>
                <a:latin typeface="Noto Sans SC"/>
                <a:ea typeface="Noto Sans SC"/>
                <a:cs typeface="Noto Sans SC"/>
                <a:sym typeface="Noto Sans SC"/>
              </a:rPr>
              <a:t>最终结果：</a:t>
            </a:r>
            <a:r>
              <a:rPr lang="en-US" sz="1600" b="1" i="0" u="none" strike="noStrike">
                <a:solidFill>
                  <a:srgbClr val="DC2626"/>
                </a:solidFill>
                <a:latin typeface="Noto Sans SC"/>
                <a:ea typeface="Noto Sans SC"/>
                <a:cs typeface="Noto Sans SC"/>
                <a:sym typeface="Noto Sans SC"/>
              </a:rPr>
              <a:t>(AD)⁺ = {A, B, C, D} = U</a:t>
            </a:r>
          </a:p>
        </p:txBody>
      </p:sp>
      <p:sp>
        <p:nvSpPr>
          <p:cNvPr id="11" name="AutoShape 2">
            <a:extLst>
              <a:ext uri="{FF2B5EF4-FFF2-40B4-BE49-F238E27FC236}">
                <a16:creationId xmlns:a16="http://schemas.microsoft.com/office/drawing/2014/main" id="{97A89F32-74E7-43CC-0370-28DD4F8F90FE}"/>
              </a:ext>
            </a:extLst>
          </p:cNvPr>
          <p:cNvSpPr/>
          <p:nvPr/>
        </p:nvSpPr>
        <p:spPr>
          <a:xfrm>
            <a:off x="838200" y="368300"/>
            <a:ext cx="10515600" cy="645337"/>
          </a:xfrm>
          <a:prstGeom prst="roundRect">
            <a:avLst>
              <a:gd name="adj" fmla="val 0"/>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7.2.5 属性集的闭包（2）</a:t>
            </a:r>
            <a:endParaRPr lang="en-US" sz="2400" b="1">
              <a:solidFill>
                <a:srgbClr val="FFFFFF"/>
              </a:solidFill>
              <a:latin typeface="Noto Sans SC"/>
              <a:ea typeface="Noto Sans SC"/>
            </a:endParaRPr>
          </a:p>
        </p:txBody>
      </p:sp>
      <p:sp>
        <p:nvSpPr>
          <p:cNvPr id="2" name="AutoShape 4">
            <a:extLst>
              <a:ext uri="{FF2B5EF4-FFF2-40B4-BE49-F238E27FC236}">
                <a16:creationId xmlns:a16="http://schemas.microsoft.com/office/drawing/2014/main" id="{31E63783-3F16-04C1-74A9-F8FF6596F6CA}"/>
              </a:ext>
            </a:extLst>
          </p:cNvPr>
          <p:cNvSpPr/>
          <p:nvPr/>
        </p:nvSpPr>
        <p:spPr>
          <a:xfrm>
            <a:off x="6350000" y="1334280"/>
            <a:ext cx="3697512"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5</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：计算属性集闭包</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7.2.6  FD集的最小依赖集 (1)</a:t>
            </a:r>
            <a:endParaRPr lang="en-US" sz="2400" b="1">
              <a:solidFill>
                <a:srgbClr val="FFFFFF"/>
              </a:solidFill>
              <a:latin typeface="Noto Sans SC"/>
              <a:ea typeface="Noto Sans SC"/>
            </a:endParaRPr>
          </a:p>
        </p:txBody>
      </p:sp>
      <p:sp>
        <p:nvSpPr>
          <p:cNvPr id="3" name="AutoShape 3"/>
          <p:cNvSpPr/>
          <p:nvPr/>
        </p:nvSpPr>
        <p:spPr>
          <a:xfrm>
            <a:off x="838200" y="1193800"/>
            <a:ext cx="5874488" cy="5518888"/>
          </a:xfrm>
          <a:prstGeom prst="rect">
            <a:avLst/>
          </a:prstGeom>
          <a:noFill/>
          <a:ln w="12700" cap="flat" cmpd="sng">
            <a:noFill/>
            <a:prstDash val="solid"/>
            <a:round/>
          </a:ln>
        </p:spPr>
        <p:txBody>
          <a:bodyPr vert="horz" wrap="square" lIns="127000" tIns="127000" rIns="127000" bIns="127000" rtlCol="0" anchor="t" anchorCtr="0"/>
          <a:lstStyle/>
          <a:p>
            <a:pPr indent="0" algn="just">
              <a:lnSpc>
                <a:spcPct val="116666"/>
              </a:lnSpc>
              <a:spcBef>
                <a:spcPts val="600"/>
              </a:spcBef>
              <a:spcAft>
                <a:spcPts val="600"/>
              </a:spcAft>
              <a:defRPr/>
            </a:pPr>
            <a:r>
              <a:rPr lang="en-US" sz="2000" b="1" i="0" u="none" strike="noStrike">
                <a:solidFill>
                  <a:srgbClr val="7030A0"/>
                </a:solidFill>
                <a:latin typeface="Noto Sans SC"/>
                <a:ea typeface="Noto Sans SC"/>
                <a:cs typeface="Noto Sans SC"/>
                <a:sym typeface="Noto Sans SC"/>
              </a:rPr>
              <a:t>▍定义 7.8：等价的FD集</a:t>
            </a:r>
            <a:endParaRPr lang="en-US"/>
          </a:p>
          <a:p>
            <a:pPr indent="0" algn="just">
              <a:lnSpc>
                <a:spcPct val="116666"/>
              </a:lnSpc>
              <a:spcAft>
                <a:spcPts val="600"/>
              </a:spcAft>
            </a:pPr>
            <a:r>
              <a:rPr lang="en-US" sz="1800" b="0" i="0" u="none" strike="noStrike">
                <a:solidFill>
                  <a:srgbClr val="333333"/>
                </a:solidFill>
                <a:latin typeface="Noto Sans SC"/>
                <a:ea typeface="Noto Sans SC"/>
                <a:cs typeface="Noto Sans SC"/>
                <a:sym typeface="Noto Sans SC"/>
              </a:rPr>
              <a:t>若两个函数依赖集 F 和 G 的闭包相等（即 F⁺ = G⁺），则称 F 和 G 是</a:t>
            </a:r>
            <a:r>
              <a:rPr lang="en-US" sz="1800" b="1" i="0" u="none" strike="noStrike">
                <a:solidFill>
                  <a:srgbClr val="333333"/>
                </a:solidFill>
                <a:latin typeface="Noto Sans SC"/>
                <a:ea typeface="Noto Sans SC"/>
                <a:cs typeface="Noto Sans SC"/>
                <a:sym typeface="Noto Sans SC"/>
              </a:rPr>
              <a:t>等价</a:t>
            </a:r>
            <a:r>
              <a:rPr lang="en-US" sz="1800" b="0" i="0" u="none" strike="noStrike">
                <a:solidFill>
                  <a:srgbClr val="333333"/>
                </a:solidFill>
                <a:latin typeface="Noto Sans SC"/>
                <a:ea typeface="Noto Sans SC"/>
                <a:cs typeface="Noto Sans SC"/>
                <a:sym typeface="Noto Sans SC"/>
              </a:rPr>
              <a:t>的，也可称 F 覆盖 G 或 G 覆盖 F。</a:t>
            </a:r>
          </a:p>
          <a:p>
            <a:pPr indent="0" algn="just">
              <a:lnSpc>
                <a:spcPct val="116666"/>
              </a:lnSpc>
              <a:spcBef>
                <a:spcPts val="600"/>
              </a:spcBef>
              <a:spcAft>
                <a:spcPts val="600"/>
              </a:spcAft>
            </a:pPr>
            <a:r>
              <a:rPr lang="en-US" sz="2000" b="1" i="0" u="none" strike="noStrike">
                <a:solidFill>
                  <a:srgbClr val="7030A0"/>
                </a:solidFill>
                <a:latin typeface="Noto Sans SC"/>
                <a:ea typeface="Noto Sans SC"/>
                <a:cs typeface="Noto Sans SC"/>
                <a:sym typeface="Noto Sans SC"/>
              </a:rPr>
              <a:t>▍定义 7.9：最小依赖集 (Minimal Cover)</a:t>
            </a:r>
          </a:p>
          <a:p>
            <a:pPr indent="0" algn="just">
              <a:lnSpc>
                <a:spcPct val="116666"/>
              </a:lnSpc>
              <a:spcAft>
                <a:spcPts val="600"/>
              </a:spcAft>
            </a:pPr>
            <a:r>
              <a:rPr lang="en-US" sz="1800" b="0" i="0" u="none" strike="noStrike">
                <a:solidFill>
                  <a:srgbClr val="333333"/>
                </a:solidFill>
                <a:latin typeface="Noto Sans SC"/>
                <a:ea typeface="Noto Sans SC"/>
                <a:cs typeface="Noto Sans SC"/>
                <a:sym typeface="Noto Sans SC"/>
              </a:rPr>
              <a:t>一个函数依赖集 G 是</a:t>
            </a:r>
            <a:r>
              <a:rPr lang="en-US" sz="1800" b="1" i="0" u="none" strike="noStrike">
                <a:solidFill>
                  <a:srgbClr val="333333"/>
                </a:solidFill>
                <a:latin typeface="Noto Sans SC"/>
                <a:ea typeface="Noto Sans SC"/>
                <a:cs typeface="Noto Sans SC"/>
                <a:sym typeface="Noto Sans SC"/>
              </a:rPr>
              <a:t>最小</a:t>
            </a:r>
            <a:r>
              <a:rPr lang="en-US" sz="1800" b="0" i="0" u="none" strike="noStrike">
                <a:solidFill>
                  <a:srgbClr val="333333"/>
                </a:solidFill>
                <a:latin typeface="Noto Sans SC"/>
                <a:ea typeface="Noto Sans SC"/>
                <a:cs typeface="Noto Sans SC"/>
                <a:sym typeface="Noto Sans SC"/>
              </a:rPr>
              <a:t>的，当且仅当它同时满足以下三个条件：</a:t>
            </a:r>
          </a:p>
          <a:p>
            <a:pPr marL="342900" indent="-342900" algn="just">
              <a:lnSpc>
                <a:spcPct val="116666"/>
              </a:lnSpc>
              <a:spcAft>
                <a:spcPts val="600"/>
              </a:spcAft>
              <a:buFont typeface="+mj-lt"/>
              <a:buAutoNum type="arabicPeriod"/>
            </a:pPr>
            <a:r>
              <a:rPr lang="en-US" sz="1600" b="1" i="0" u="none" strike="noStrike">
                <a:solidFill>
                  <a:srgbClr val="555555"/>
                </a:solidFill>
                <a:latin typeface="Noto Sans SC"/>
                <a:ea typeface="Noto Sans SC"/>
                <a:cs typeface="Noto Sans SC"/>
                <a:sym typeface="Noto Sans SC"/>
              </a:rPr>
              <a:t>右部单属性：</a:t>
            </a:r>
            <a:r>
              <a:rPr lang="en-US" sz="1600" b="0" i="0" u="none" strike="noStrike">
                <a:solidFill>
                  <a:srgbClr val="555555"/>
                </a:solidFill>
                <a:latin typeface="Noto Sans SC"/>
                <a:ea typeface="Noto Sans SC"/>
                <a:cs typeface="Noto Sans SC"/>
                <a:sym typeface="Noto Sans SC"/>
              </a:rPr>
              <a:t>G 中每个函数依赖的右部必须是单个属性。</a:t>
            </a:r>
          </a:p>
          <a:p>
            <a:pPr marL="342900" indent="-342900" algn="just">
              <a:lnSpc>
                <a:spcPct val="116666"/>
              </a:lnSpc>
              <a:spcAft>
                <a:spcPts val="600"/>
              </a:spcAft>
              <a:buFont typeface="+mj-lt"/>
              <a:buAutoNum type="arabicPeriod"/>
            </a:pPr>
            <a:r>
              <a:rPr lang="en-US" sz="1600" b="1" i="0" u="none" strike="noStrike">
                <a:solidFill>
                  <a:srgbClr val="555555"/>
                </a:solidFill>
                <a:latin typeface="Noto Sans SC"/>
                <a:ea typeface="Noto Sans SC"/>
                <a:cs typeface="Noto Sans SC"/>
                <a:sym typeface="Noto Sans SC"/>
              </a:rPr>
              <a:t>无冗余依赖：</a:t>
            </a:r>
            <a:r>
              <a:rPr lang="en-US" sz="1600" b="0" i="0" u="none" strike="noStrike">
                <a:solidFill>
                  <a:srgbClr val="555555"/>
                </a:solidFill>
                <a:latin typeface="Noto Sans SC"/>
                <a:ea typeface="Noto Sans SC"/>
                <a:cs typeface="Noto Sans SC"/>
                <a:sym typeface="Noto Sans SC"/>
              </a:rPr>
              <a:t>G 中不存在这样的依赖 X→Y，使得 G 去掉它之后仍与原集等价。</a:t>
            </a:r>
          </a:p>
          <a:p>
            <a:pPr marL="342900" indent="-342900" algn="just">
              <a:lnSpc>
                <a:spcPct val="116666"/>
              </a:lnSpc>
              <a:spcAft>
                <a:spcPts val="600"/>
              </a:spcAft>
              <a:buFont typeface="+mj-lt"/>
              <a:buAutoNum type="arabicPeriod"/>
            </a:pPr>
            <a:r>
              <a:rPr lang="en-US" sz="1600" b="1" i="0" u="none" strike="noStrike">
                <a:solidFill>
                  <a:srgbClr val="555555"/>
                </a:solidFill>
                <a:latin typeface="Noto Sans SC"/>
                <a:ea typeface="Noto Sans SC"/>
                <a:cs typeface="Noto Sans SC"/>
                <a:sym typeface="Noto Sans SC"/>
              </a:rPr>
              <a:t>左部无冗余属性：</a:t>
            </a:r>
            <a:r>
              <a:rPr lang="en-US" sz="1600" b="0" i="0" u="none" strike="noStrike">
                <a:solidFill>
                  <a:srgbClr val="555555"/>
                </a:solidFill>
                <a:latin typeface="Noto Sans SC"/>
                <a:ea typeface="Noto Sans SC"/>
                <a:cs typeface="Noto Sans SC"/>
                <a:sym typeface="Noto Sans SC"/>
              </a:rPr>
              <a:t>G 中每个依赖的左部没有多余的属性，去掉任何一个属性都会改变依赖的含义。</a:t>
            </a:r>
          </a:p>
          <a:p>
            <a:pPr indent="0" algn="just">
              <a:lnSpc>
                <a:spcPct val="116666"/>
              </a:lnSpc>
              <a:spcBef>
                <a:spcPts val="600"/>
              </a:spcBef>
              <a:spcAft>
                <a:spcPts val="600"/>
              </a:spcAft>
            </a:pPr>
            <a:r>
              <a:rPr lang="en-US" sz="2000" b="1" i="0" u="none" strike="noStrike">
                <a:solidFill>
                  <a:srgbClr val="D93025"/>
                </a:solidFill>
                <a:latin typeface="Noto Sans SC"/>
                <a:ea typeface="Noto Sans SC"/>
                <a:cs typeface="Noto Sans SC"/>
                <a:sym typeface="Noto Sans SC"/>
              </a:rPr>
              <a:t>★ 核心意义</a:t>
            </a:r>
          </a:p>
          <a:p>
            <a:pPr indent="0" algn="just">
              <a:lnSpc>
                <a:spcPct val="116666"/>
              </a:lnSpc>
            </a:pPr>
            <a:r>
              <a:rPr lang="en-US" sz="1800" b="0" i="0" u="none" strike="noStrike">
                <a:solidFill>
                  <a:srgbClr val="333333"/>
                </a:solidFill>
                <a:latin typeface="Noto Sans SC"/>
                <a:ea typeface="Noto Sans SC"/>
                <a:cs typeface="Noto Sans SC"/>
                <a:sym typeface="Noto Sans SC"/>
              </a:rPr>
              <a:t>最小依赖集是与原依赖集</a:t>
            </a:r>
            <a:r>
              <a:rPr lang="en-US" sz="1800" b="1" i="0" u="none" strike="noStrike">
                <a:solidFill>
                  <a:srgbClr val="333333"/>
                </a:solidFill>
                <a:latin typeface="Noto Sans SC"/>
                <a:ea typeface="Noto Sans SC"/>
                <a:cs typeface="Noto Sans SC"/>
                <a:sym typeface="Noto Sans SC"/>
              </a:rPr>
              <a:t>等价的、最简洁的</a:t>
            </a:r>
            <a:r>
              <a:rPr lang="en-US" sz="1800" b="0" i="0" u="none" strike="noStrike">
                <a:solidFill>
                  <a:srgbClr val="333333"/>
                </a:solidFill>
                <a:latin typeface="Noto Sans SC"/>
                <a:ea typeface="Noto Sans SC"/>
                <a:cs typeface="Noto Sans SC"/>
                <a:sym typeface="Noto Sans SC"/>
              </a:rPr>
              <a:t>表示形式，去除了所有冗余信息，是数据库模式分解的重要基础。</a:t>
            </a:r>
          </a:p>
        </p:txBody>
      </p:sp>
      <p:sp>
        <p:nvSpPr>
          <p:cNvPr id="4" name="AutoShape 4"/>
          <p:cNvSpPr/>
          <p:nvPr/>
        </p:nvSpPr>
        <p:spPr>
          <a:xfrm>
            <a:off x="7534940" y="1761166"/>
            <a:ext cx="593060" cy="43561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关键</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要点</a:t>
            </a:r>
            <a:endParaRPr lang="en-US" sz="1600" b="1">
              <a:solidFill>
                <a:srgbClr val="FFFFFF"/>
              </a:solidFill>
              <a:latin typeface="Noto Sans SC"/>
              <a:ea typeface="Noto Sans SC"/>
            </a:endParaRPr>
          </a:p>
        </p:txBody>
      </p:sp>
      <p:sp>
        <p:nvSpPr>
          <p:cNvPr id="5" name="AutoShape 5"/>
          <p:cNvSpPr/>
          <p:nvPr/>
        </p:nvSpPr>
        <p:spPr>
          <a:xfrm>
            <a:off x="8140700" y="1761166"/>
            <a:ext cx="3213100" cy="647700"/>
          </a:xfrm>
          <a:prstGeom prst="roundRect">
            <a:avLst>
              <a:gd name="adj" fmla="val 0"/>
            </a:avLst>
          </a:prstGeom>
          <a:solidFill>
            <a:srgbClr val="1E3A8A">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定义：等价 FD 集</a:t>
            </a:r>
            <a:endParaRPr lang="en-US" sz="1200"/>
          </a:p>
        </p:txBody>
      </p:sp>
      <p:sp>
        <p:nvSpPr>
          <p:cNvPr id="6" name="AutoShape 6"/>
          <p:cNvSpPr/>
          <p:nvPr/>
        </p:nvSpPr>
        <p:spPr>
          <a:xfrm>
            <a:off x="8140700" y="2688266"/>
            <a:ext cx="3213100" cy="647700"/>
          </a:xfrm>
          <a:prstGeom prst="roundRect">
            <a:avLst>
              <a:gd name="adj" fmla="val 0"/>
            </a:avLst>
          </a:prstGeom>
          <a:solidFill>
            <a:srgbClr val="10B981">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条件一：右部必须是单属性</a:t>
            </a:r>
            <a:endParaRPr lang="en-US" sz="1200"/>
          </a:p>
        </p:txBody>
      </p:sp>
      <p:sp>
        <p:nvSpPr>
          <p:cNvPr id="7" name="AutoShape 7"/>
          <p:cNvSpPr/>
          <p:nvPr/>
        </p:nvSpPr>
        <p:spPr>
          <a:xfrm>
            <a:off x="8140700" y="3628066"/>
            <a:ext cx="3213100" cy="647700"/>
          </a:xfrm>
          <a:prstGeom prst="roundRect">
            <a:avLst>
              <a:gd name="adj" fmla="val 0"/>
            </a:avLst>
          </a:prstGeom>
          <a:solidFill>
            <a:srgbClr val="F59E0B">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条件二：集合无冗余依赖</a:t>
            </a:r>
            <a:endParaRPr lang="en-US" sz="1200"/>
          </a:p>
        </p:txBody>
      </p:sp>
      <p:sp>
        <p:nvSpPr>
          <p:cNvPr id="8" name="AutoShape 8"/>
          <p:cNvSpPr/>
          <p:nvPr/>
        </p:nvSpPr>
        <p:spPr>
          <a:xfrm>
            <a:off x="8140700" y="4567866"/>
            <a:ext cx="3213100" cy="647700"/>
          </a:xfrm>
          <a:prstGeom prst="roundRect">
            <a:avLst>
              <a:gd name="adj" fmla="val 0"/>
            </a:avLst>
          </a:prstGeom>
          <a:solidFill>
            <a:srgbClr val="EF4444">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条件三：左部无多余属性</a:t>
            </a:r>
            <a:endParaRPr lang="en-US" sz="1200"/>
          </a:p>
        </p:txBody>
      </p:sp>
      <p:sp>
        <p:nvSpPr>
          <p:cNvPr id="9" name="AutoShape 9"/>
          <p:cNvSpPr/>
          <p:nvPr/>
        </p:nvSpPr>
        <p:spPr>
          <a:xfrm>
            <a:off x="8140700" y="5456866"/>
            <a:ext cx="3213100" cy="647700"/>
          </a:xfrm>
          <a:prstGeom prst="roundRect">
            <a:avLst>
              <a:gd name="adj" fmla="val 0"/>
            </a:avLst>
          </a:prstGeom>
          <a:solidFill>
            <a:srgbClr val="7C3AED">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目标：最简洁的等价表示</a:t>
            </a:r>
            <a:endParaRPr lang="en-US" sz="12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5" name="AutoShape 5"/>
          <p:cNvSpPr/>
          <p:nvPr/>
        </p:nvSpPr>
        <p:spPr>
          <a:xfrm>
            <a:off x="838200" y="2013098"/>
            <a:ext cx="4853763" cy="4476602"/>
          </a:xfrm>
          <a:prstGeom prst="roundRect">
            <a:avLst>
              <a:gd name="adj" fmla="val 0"/>
            </a:avLst>
          </a:prstGeom>
          <a:solidFill>
            <a:srgbClr val="F8F9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1346792" y="2130351"/>
            <a:ext cx="3863162" cy="4359349"/>
          </a:xfrm>
          <a:prstGeom prst="rect">
            <a:avLst/>
          </a:prstGeom>
          <a:noFill/>
          <a:ln w="12700" cap="flat" cmpd="sng">
            <a:noFill/>
            <a:prstDash val="solid"/>
            <a:round/>
          </a:ln>
        </p:spPr>
        <p:txBody>
          <a:bodyPr vert="horz" wrap="square" lIns="0" tIns="0" rIns="0" bIns="0" rtlCol="0" anchor="t" anchorCtr="0"/>
          <a:lstStyle/>
          <a:p>
            <a:pPr indent="0" algn="l">
              <a:lnSpc>
                <a:spcPct val="125000"/>
              </a:lnSpc>
            </a:pPr>
            <a:r>
              <a:rPr lang="en-US" sz="1800" b="1" i="0" u="none" strike="noStrike">
                <a:solidFill>
                  <a:srgbClr val="7030A0"/>
                </a:solidFill>
                <a:latin typeface="Noto Sans SC"/>
                <a:ea typeface="Noto Sans SC"/>
                <a:cs typeface="Noto Sans SC"/>
                <a:sym typeface="Noto Sans SC"/>
              </a:rPr>
              <a:t>第一步：分解右部为单属性</a:t>
            </a:r>
          </a:p>
          <a:p>
            <a:pPr indent="0" algn="l">
              <a:lnSpc>
                <a:spcPct val="125000"/>
              </a:lnSpc>
            </a:pPr>
            <a:r>
              <a:rPr lang="en-US" b="0" i="0" u="none" strike="noStrike">
                <a:solidFill>
                  <a:srgbClr val="4B5563"/>
                </a:solidFill>
                <a:latin typeface="Noto Sans SC"/>
                <a:ea typeface="Noto Sans SC"/>
                <a:cs typeface="Noto Sans SC"/>
                <a:sym typeface="Noto Sans SC"/>
              </a:rPr>
              <a:t>将 A→BC 分解为 A→B, A→C，去重后：</a:t>
            </a:r>
          </a:p>
          <a:p>
            <a:pPr indent="0" algn="l">
              <a:lnSpc>
                <a:spcPct val="125000"/>
              </a:lnSpc>
            </a:pPr>
            <a:r>
              <a:rPr lang="en-US" b="0" i="0" u="none" strike="noStrike">
                <a:solidFill>
                  <a:srgbClr val="1F2329"/>
                </a:solidFill>
                <a:latin typeface="Noto Sans SC"/>
                <a:ea typeface="Noto Sans SC"/>
                <a:cs typeface="Noto Sans SC"/>
                <a:sym typeface="Noto Sans SC"/>
              </a:rPr>
              <a:t>F = {A→B, A→C, B→C, AB→C}</a:t>
            </a:r>
          </a:p>
          <a:p>
            <a:pPr indent="0" algn="l">
              <a:lnSpc>
                <a:spcPct val="125000"/>
              </a:lnSpc>
            </a:pPr>
            <a:endParaRPr lang="en-US" b="0" i="0" u="none" strike="noStrike">
              <a:solidFill>
                <a:srgbClr val="1F2329"/>
              </a:solidFill>
              <a:latin typeface="Noto Sans SC"/>
              <a:ea typeface="Noto Sans SC"/>
              <a:cs typeface="Noto Sans SC"/>
              <a:sym typeface="Noto Sans SC"/>
            </a:endParaRPr>
          </a:p>
          <a:p>
            <a:pPr indent="0" algn="l">
              <a:lnSpc>
                <a:spcPct val="125000"/>
              </a:lnSpc>
              <a:spcBef>
                <a:spcPts val="600"/>
              </a:spcBef>
            </a:pPr>
            <a:r>
              <a:rPr lang="en-US" sz="1800" b="1" i="0" u="none" strike="noStrike">
                <a:solidFill>
                  <a:srgbClr val="7030A0"/>
                </a:solidFill>
                <a:latin typeface="Noto Sans SC"/>
                <a:ea typeface="Noto Sans SC"/>
                <a:cs typeface="Noto Sans SC"/>
                <a:sym typeface="Noto Sans SC"/>
              </a:rPr>
              <a:t>第二步：消除冗余依赖</a:t>
            </a:r>
          </a:p>
          <a:p>
            <a:pPr indent="0" algn="l">
              <a:lnSpc>
                <a:spcPct val="125000"/>
              </a:lnSpc>
            </a:pPr>
            <a:r>
              <a:rPr lang="en-US" i="0" u="none" strike="noStrike">
                <a:solidFill>
                  <a:srgbClr val="1F2329"/>
                </a:solidFill>
                <a:highlight>
                  <a:srgbClr val="FFFF00"/>
                </a:highlight>
                <a:latin typeface="Noto Sans SC"/>
                <a:ea typeface="Noto Sans SC"/>
                <a:cs typeface="Noto Sans SC"/>
                <a:sym typeface="Noto Sans SC"/>
              </a:rPr>
              <a:t>检查 A→C</a:t>
            </a:r>
            <a:r>
              <a:rPr lang="zh-CN" altLang="en-US" i="0" u="none" strike="noStrike">
                <a:solidFill>
                  <a:srgbClr val="1F2329"/>
                </a:solidFill>
                <a:highlight>
                  <a:srgbClr val="FFFF00"/>
                </a:highlight>
                <a:latin typeface="Noto Sans SC"/>
                <a:ea typeface="Noto Sans SC"/>
                <a:cs typeface="Noto Sans SC"/>
                <a:sym typeface="Noto Sans SC"/>
              </a:rPr>
              <a:t>是否冗余</a:t>
            </a:r>
            <a:endParaRPr lang="en-US" i="0" u="none" strike="noStrike">
              <a:solidFill>
                <a:srgbClr val="1F2329"/>
              </a:solidFill>
              <a:highlight>
                <a:srgbClr val="FFFF00"/>
              </a:highlight>
              <a:latin typeface="Noto Sans SC"/>
              <a:ea typeface="Noto Sans SC"/>
              <a:cs typeface="Noto Sans SC"/>
              <a:sym typeface="Noto Sans SC"/>
            </a:endParaRPr>
          </a:p>
          <a:p>
            <a:pPr indent="0" algn="l">
              <a:lnSpc>
                <a:spcPct val="125000"/>
              </a:lnSpc>
            </a:pPr>
            <a:r>
              <a:rPr lang="en-US" b="0" i="0" u="none" strike="noStrike">
                <a:solidFill>
                  <a:srgbClr val="4B5563"/>
                </a:solidFill>
                <a:latin typeface="Noto Sans SC"/>
                <a:ea typeface="Noto Sans SC"/>
                <a:cs typeface="Noto Sans SC"/>
                <a:sym typeface="Noto Sans SC"/>
              </a:rPr>
              <a:t>设 F</a:t>
            </a:r>
            <a:r>
              <a:rPr lang="en-US" b="0" i="0" u="none" strike="noStrike" baseline="-25000">
                <a:solidFill>
                  <a:srgbClr val="4B5563"/>
                </a:solidFill>
                <a:latin typeface="Noto Sans SC"/>
                <a:ea typeface="Noto Sans SC"/>
                <a:cs typeface="Noto Sans SC"/>
                <a:sym typeface="Noto Sans SC"/>
              </a:rPr>
              <a:t>1</a:t>
            </a:r>
            <a:r>
              <a:rPr lang="en-US" b="0" i="0" u="none" strike="noStrike">
                <a:solidFill>
                  <a:srgbClr val="4B5563"/>
                </a:solidFill>
                <a:latin typeface="Noto Sans SC"/>
                <a:ea typeface="Noto Sans SC"/>
                <a:cs typeface="Noto Sans SC"/>
                <a:sym typeface="Noto Sans SC"/>
              </a:rPr>
              <a:t> = F - {A→C} = {A→B, B→C, AB→C}</a:t>
            </a:r>
          </a:p>
          <a:p>
            <a:pPr>
              <a:lnSpc>
                <a:spcPct val="125000"/>
              </a:lnSpc>
            </a:pPr>
            <a:r>
              <a:rPr lang="en-US" b="0" i="0" u="none" strike="noStrike">
                <a:solidFill>
                  <a:srgbClr val="4B5563"/>
                </a:solidFill>
                <a:latin typeface="Noto Sans SC"/>
                <a:ea typeface="Noto Sans SC"/>
                <a:cs typeface="Noto Sans SC"/>
                <a:sym typeface="Noto Sans SC"/>
              </a:rPr>
              <a:t>求</a:t>
            </a:r>
            <a:r>
              <a:rPr lang="zh-CN" altLang="en-US">
                <a:solidFill>
                  <a:srgbClr val="4B5563"/>
                </a:solidFill>
                <a:latin typeface="Noto Sans SC"/>
                <a:ea typeface="Noto Sans SC"/>
                <a:cs typeface="Noto Sans SC"/>
                <a:sym typeface="Noto Sans SC"/>
              </a:rPr>
              <a:t>属性</a:t>
            </a:r>
            <a:r>
              <a:rPr lang="en-US" altLang="zh-CN" b="0" i="0" u="none" strike="noStrike">
                <a:solidFill>
                  <a:srgbClr val="4B5563"/>
                </a:solidFill>
                <a:latin typeface="Noto Sans SC"/>
                <a:ea typeface="Noto Sans SC"/>
                <a:cs typeface="Noto Sans SC"/>
                <a:sym typeface="Noto Sans SC"/>
              </a:rPr>
              <a:t>A</a:t>
            </a:r>
            <a:r>
              <a:rPr lang="zh-CN" altLang="en-US" b="0" i="0" u="none" strike="noStrike">
                <a:solidFill>
                  <a:srgbClr val="4B5563"/>
                </a:solidFill>
                <a:latin typeface="Noto Sans SC"/>
                <a:ea typeface="Noto Sans SC"/>
                <a:cs typeface="Noto Sans SC"/>
                <a:sym typeface="Noto Sans SC"/>
              </a:rPr>
              <a:t>的</a:t>
            </a:r>
            <a:r>
              <a:rPr lang="en-US" b="0" i="0" u="none" strike="noStrike">
                <a:solidFill>
                  <a:srgbClr val="4B5563"/>
                </a:solidFill>
                <a:latin typeface="Noto Sans SC"/>
                <a:ea typeface="Noto Sans SC"/>
                <a:cs typeface="Noto Sans SC"/>
                <a:sym typeface="Noto Sans SC"/>
              </a:rPr>
              <a:t>闭包</a:t>
            </a:r>
            <a:r>
              <a:rPr lang="zh-CN" altLang="en-US" b="0" i="0" u="none" strike="noStrike">
                <a:solidFill>
                  <a:srgbClr val="4B5563"/>
                </a:solidFill>
                <a:latin typeface="Noto Sans SC"/>
                <a:ea typeface="Noto Sans SC"/>
                <a:cs typeface="Noto Sans SC"/>
                <a:sym typeface="Noto Sans SC"/>
              </a:rPr>
              <a:t>：</a:t>
            </a:r>
            <a:r>
              <a:rPr lang="en-US" altLang="zh-CN">
                <a:solidFill>
                  <a:srgbClr val="4B5563"/>
                </a:solidFill>
                <a:latin typeface="Noto Sans SC"/>
                <a:ea typeface="Noto Sans SC"/>
                <a:cs typeface="Noto Sans SC"/>
                <a:sym typeface="Noto Sans SC"/>
              </a:rPr>
              <a:t>A+ = ABC</a:t>
            </a:r>
            <a:endParaRPr lang="en-US" b="0" i="0" u="none" strike="noStrike">
              <a:solidFill>
                <a:srgbClr val="4B5563"/>
              </a:solidFill>
              <a:latin typeface="Noto Sans SC"/>
              <a:ea typeface="Noto Sans SC"/>
              <a:cs typeface="Noto Sans SC"/>
              <a:sym typeface="Noto Sans SC"/>
            </a:endParaRPr>
          </a:p>
          <a:p>
            <a:pPr>
              <a:lnSpc>
                <a:spcPct val="125000"/>
              </a:lnSpc>
            </a:pPr>
            <a:r>
              <a:rPr lang="en-US" b="1" i="0" u="none" strike="noStrike">
                <a:solidFill>
                  <a:srgbClr val="4B5563"/>
                </a:solidFill>
                <a:latin typeface="Noto Sans SC"/>
                <a:ea typeface="Noto Sans SC"/>
                <a:cs typeface="Noto Sans SC"/>
                <a:sym typeface="Noto Sans SC"/>
              </a:rPr>
              <a:t>∵ </a:t>
            </a:r>
            <a:r>
              <a:rPr lang="en-US" b="0" i="0" u="none" strike="noStrike">
                <a:solidFill>
                  <a:srgbClr val="4B5563"/>
                </a:solidFill>
                <a:latin typeface="Noto Sans SC"/>
                <a:ea typeface="Noto Sans SC"/>
                <a:cs typeface="Noto Sans SC"/>
                <a:sym typeface="Noto Sans SC"/>
              </a:rPr>
              <a:t>C 在</a:t>
            </a:r>
            <a:r>
              <a:rPr lang="en-US" altLang="zh-CN" b="0" i="0" u="none" strike="noStrike">
                <a:solidFill>
                  <a:srgbClr val="4B5563"/>
                </a:solidFill>
                <a:latin typeface="Noto Sans SC"/>
                <a:ea typeface="Noto Sans SC"/>
                <a:cs typeface="Noto Sans SC"/>
                <a:sym typeface="Noto Sans SC"/>
              </a:rPr>
              <a:t>A</a:t>
            </a:r>
            <a:r>
              <a:rPr lang="zh-CN" altLang="en-US" b="0" i="0" u="none" strike="noStrike">
                <a:solidFill>
                  <a:srgbClr val="4B5563"/>
                </a:solidFill>
                <a:latin typeface="Noto Sans SC"/>
                <a:ea typeface="Noto Sans SC"/>
                <a:cs typeface="Noto Sans SC"/>
                <a:sym typeface="Noto Sans SC"/>
              </a:rPr>
              <a:t>的闭包中 </a:t>
            </a:r>
            <a:r>
              <a:rPr lang="zh-CN" altLang="en-US" b="1" i="0" u="none" strike="noStrike">
                <a:solidFill>
                  <a:srgbClr val="4B5563"/>
                </a:solidFill>
                <a:latin typeface="Noto Sans SC"/>
                <a:ea typeface="Noto Sans SC"/>
                <a:cs typeface="Noto Sans SC"/>
                <a:sym typeface="Noto Sans SC"/>
              </a:rPr>
              <a:t>∴</a:t>
            </a:r>
            <a:r>
              <a:rPr lang="en-US" b="0" i="0" u="none" strike="noStrike">
                <a:solidFill>
                  <a:srgbClr val="4B5563"/>
                </a:solidFill>
                <a:latin typeface="Noto Sans SC"/>
                <a:ea typeface="Noto Sans SC"/>
                <a:cs typeface="Noto Sans SC"/>
                <a:sym typeface="Noto Sans SC"/>
              </a:rPr>
              <a:t> A→C 是冗余的，删除。</a:t>
            </a:r>
          </a:p>
          <a:p>
            <a:pPr indent="0" algn="l">
              <a:lnSpc>
                <a:spcPct val="125000"/>
              </a:lnSpc>
            </a:pPr>
            <a:r>
              <a:rPr lang="zh-CN" altLang="en-US" b="1" i="0" u="none" strike="noStrike">
                <a:solidFill>
                  <a:srgbClr val="1F2329"/>
                </a:solidFill>
                <a:latin typeface="Noto Sans SC"/>
                <a:ea typeface="Noto Sans SC"/>
                <a:cs typeface="Noto Sans SC"/>
                <a:sym typeface="Noto Sans SC"/>
              </a:rPr>
              <a:t>得到：</a:t>
            </a:r>
            <a:r>
              <a:rPr lang="en-US" b="1" i="0" u="none" strike="noStrike">
                <a:solidFill>
                  <a:srgbClr val="1F2329"/>
                </a:solidFill>
                <a:latin typeface="Noto Sans SC"/>
                <a:ea typeface="Noto Sans SC"/>
                <a:cs typeface="Noto Sans SC"/>
                <a:sym typeface="Noto Sans SC"/>
              </a:rPr>
              <a:t>F = {A→B, B→C, AB→C}</a:t>
            </a:r>
          </a:p>
          <a:p>
            <a:pPr>
              <a:lnSpc>
                <a:spcPct val="125000"/>
              </a:lnSpc>
              <a:defRPr/>
            </a:pPr>
            <a:r>
              <a:rPr lang="en-US" altLang="zh-CN">
                <a:solidFill>
                  <a:srgbClr val="1F2329"/>
                </a:solidFill>
                <a:highlight>
                  <a:srgbClr val="FFFF00"/>
                </a:highlight>
                <a:latin typeface="Noto Sans SC"/>
                <a:ea typeface="Noto Sans SC"/>
                <a:sym typeface="Noto Sans SC"/>
              </a:rPr>
              <a:t>检查 AB→C</a:t>
            </a:r>
            <a:r>
              <a:rPr lang="zh-CN" altLang="en-US">
                <a:solidFill>
                  <a:srgbClr val="1F2329"/>
                </a:solidFill>
                <a:highlight>
                  <a:srgbClr val="FFFF00"/>
                </a:highlight>
                <a:latin typeface="Noto Sans SC"/>
                <a:ea typeface="Noto Sans SC"/>
                <a:sym typeface="Noto Sans SC"/>
              </a:rPr>
              <a:t>是否冗余</a:t>
            </a:r>
            <a:endParaRPr lang="en-US" altLang="zh-CN">
              <a:solidFill>
                <a:srgbClr val="1F2329"/>
              </a:solidFill>
              <a:highlight>
                <a:srgbClr val="FFFF00"/>
              </a:highlight>
              <a:latin typeface="Noto Sans SC"/>
              <a:ea typeface="Noto Sans SC"/>
            </a:endParaRPr>
          </a:p>
          <a:p>
            <a:pPr>
              <a:lnSpc>
                <a:spcPct val="125000"/>
              </a:lnSpc>
            </a:pPr>
            <a:r>
              <a:rPr lang="en-US" altLang="zh-CN">
                <a:solidFill>
                  <a:srgbClr val="4B5563"/>
                </a:solidFill>
                <a:latin typeface="Noto Sans SC"/>
                <a:ea typeface="Noto Sans SC"/>
                <a:cs typeface="Noto Sans SC"/>
                <a:sym typeface="Noto Sans SC"/>
              </a:rPr>
              <a:t>设 F</a:t>
            </a:r>
            <a:r>
              <a:rPr lang="en-US" altLang="zh-CN" baseline="-25000">
                <a:solidFill>
                  <a:srgbClr val="4B5563"/>
                </a:solidFill>
                <a:latin typeface="Noto Sans SC"/>
                <a:ea typeface="Noto Sans SC"/>
                <a:cs typeface="Noto Sans SC"/>
                <a:sym typeface="Noto Sans SC"/>
              </a:rPr>
              <a:t>2</a:t>
            </a:r>
            <a:r>
              <a:rPr lang="en-US" altLang="zh-CN">
                <a:solidFill>
                  <a:srgbClr val="4B5563"/>
                </a:solidFill>
                <a:latin typeface="Noto Sans SC"/>
                <a:ea typeface="Noto Sans SC"/>
                <a:cs typeface="Noto Sans SC"/>
                <a:sym typeface="Noto Sans SC"/>
              </a:rPr>
              <a:t> = F - {AB→C} = {A→B, B→C} </a:t>
            </a:r>
            <a:br>
              <a:rPr lang="en-US" altLang="zh-CN">
                <a:solidFill>
                  <a:srgbClr val="4B5563"/>
                </a:solidFill>
                <a:latin typeface="Noto Sans SC"/>
                <a:ea typeface="Noto Sans SC"/>
                <a:cs typeface="Noto Sans SC"/>
                <a:sym typeface="Noto Sans SC"/>
              </a:rPr>
            </a:br>
            <a:r>
              <a:rPr lang="en-US" altLang="zh-CN">
                <a:solidFill>
                  <a:srgbClr val="4B5563"/>
                </a:solidFill>
                <a:latin typeface="Noto Sans SC"/>
                <a:ea typeface="Noto Sans SC"/>
                <a:cs typeface="Noto Sans SC"/>
                <a:sym typeface="Noto Sans SC"/>
              </a:rPr>
              <a:t>求</a:t>
            </a:r>
            <a:r>
              <a:rPr lang="zh-CN" altLang="en-US">
                <a:solidFill>
                  <a:srgbClr val="4B5563"/>
                </a:solidFill>
                <a:latin typeface="Noto Sans SC"/>
                <a:ea typeface="Noto Sans SC"/>
                <a:cs typeface="Noto Sans SC"/>
                <a:sym typeface="Noto Sans SC"/>
              </a:rPr>
              <a:t>属性集</a:t>
            </a:r>
            <a:r>
              <a:rPr lang="en-US" altLang="zh-CN">
                <a:solidFill>
                  <a:srgbClr val="4B5563"/>
                </a:solidFill>
                <a:latin typeface="Noto Sans SC"/>
                <a:ea typeface="Noto Sans SC"/>
                <a:cs typeface="Noto Sans SC"/>
                <a:sym typeface="Noto Sans SC"/>
              </a:rPr>
              <a:t>AB</a:t>
            </a:r>
            <a:r>
              <a:rPr lang="zh-CN" altLang="en-US">
                <a:solidFill>
                  <a:srgbClr val="4B5563"/>
                </a:solidFill>
                <a:latin typeface="Noto Sans SC"/>
                <a:ea typeface="Noto Sans SC"/>
                <a:cs typeface="Noto Sans SC"/>
                <a:sym typeface="Noto Sans SC"/>
              </a:rPr>
              <a:t>的</a:t>
            </a:r>
            <a:r>
              <a:rPr lang="en-US" altLang="zh-CN">
                <a:solidFill>
                  <a:srgbClr val="4B5563"/>
                </a:solidFill>
                <a:latin typeface="Noto Sans SC"/>
                <a:ea typeface="Noto Sans SC"/>
                <a:cs typeface="Noto Sans SC"/>
                <a:sym typeface="Noto Sans SC"/>
              </a:rPr>
              <a:t>闭包：(AB)+ = ABC</a:t>
            </a:r>
          </a:p>
          <a:p>
            <a:pPr>
              <a:lnSpc>
                <a:spcPct val="125000"/>
              </a:lnSpc>
            </a:pPr>
            <a:r>
              <a:rPr lang="en-US" altLang="zh-CN" b="1">
                <a:solidFill>
                  <a:srgbClr val="4B5563"/>
                </a:solidFill>
                <a:latin typeface="Noto Sans SC"/>
                <a:ea typeface="Noto Sans SC"/>
                <a:cs typeface="Noto Sans SC"/>
                <a:sym typeface="Noto Sans SC"/>
              </a:rPr>
              <a:t>∵</a:t>
            </a:r>
            <a:r>
              <a:rPr lang="en-US" altLang="zh-CN">
                <a:solidFill>
                  <a:srgbClr val="4B5563"/>
                </a:solidFill>
                <a:latin typeface="Noto Sans SC"/>
                <a:ea typeface="Noto Sans SC"/>
                <a:cs typeface="Noto Sans SC"/>
                <a:sym typeface="Noto Sans SC"/>
              </a:rPr>
              <a:t> C 在AB</a:t>
            </a:r>
            <a:r>
              <a:rPr lang="zh-CN" altLang="en-US">
                <a:solidFill>
                  <a:srgbClr val="4B5563"/>
                </a:solidFill>
                <a:latin typeface="Noto Sans SC"/>
                <a:ea typeface="Noto Sans SC"/>
                <a:cs typeface="Noto Sans SC"/>
                <a:sym typeface="Noto Sans SC"/>
              </a:rPr>
              <a:t>的</a:t>
            </a:r>
            <a:r>
              <a:rPr lang="en-US" altLang="zh-CN">
                <a:solidFill>
                  <a:srgbClr val="4B5563"/>
                </a:solidFill>
                <a:latin typeface="Noto Sans SC"/>
                <a:ea typeface="Noto Sans SC"/>
                <a:cs typeface="Noto Sans SC"/>
                <a:sym typeface="Noto Sans SC"/>
              </a:rPr>
              <a:t>闭包</a:t>
            </a:r>
            <a:r>
              <a:rPr lang="zh-CN" altLang="en-US">
                <a:solidFill>
                  <a:srgbClr val="4B5563"/>
                </a:solidFill>
                <a:latin typeface="Noto Sans SC"/>
                <a:ea typeface="Noto Sans SC"/>
                <a:cs typeface="Noto Sans SC"/>
                <a:sym typeface="Noto Sans SC"/>
              </a:rPr>
              <a:t>中</a:t>
            </a:r>
            <a:r>
              <a:rPr lang="zh-CN" altLang="en-US" b="1">
                <a:solidFill>
                  <a:srgbClr val="4B5563"/>
                </a:solidFill>
                <a:latin typeface="Noto Sans SC"/>
                <a:ea typeface="Noto Sans SC"/>
                <a:cs typeface="Noto Sans SC"/>
                <a:sym typeface="Noto Sans SC"/>
              </a:rPr>
              <a:t> ∴ </a:t>
            </a:r>
            <a:r>
              <a:rPr lang="en-US" altLang="zh-CN">
                <a:solidFill>
                  <a:srgbClr val="4B5563"/>
                </a:solidFill>
                <a:latin typeface="Noto Sans SC"/>
                <a:ea typeface="Noto Sans SC"/>
                <a:cs typeface="Noto Sans SC"/>
                <a:sym typeface="Noto Sans SC"/>
              </a:rPr>
              <a:t>AB→C 是冗余的，删除。</a:t>
            </a:r>
          </a:p>
          <a:p>
            <a:pPr>
              <a:lnSpc>
                <a:spcPct val="125000"/>
              </a:lnSpc>
            </a:pPr>
            <a:r>
              <a:rPr lang="zh-CN" altLang="en-US" b="1">
                <a:solidFill>
                  <a:srgbClr val="1F2329"/>
                </a:solidFill>
                <a:latin typeface="Noto Sans SC"/>
                <a:ea typeface="Noto Sans SC"/>
                <a:cs typeface="Noto Sans SC"/>
                <a:sym typeface="Noto Sans SC"/>
              </a:rPr>
              <a:t>得到：</a:t>
            </a:r>
            <a:r>
              <a:rPr lang="en-US" altLang="zh-CN" b="1">
                <a:solidFill>
                  <a:srgbClr val="1F2329"/>
                </a:solidFill>
                <a:latin typeface="Noto Sans SC"/>
                <a:ea typeface="Noto Sans SC"/>
                <a:cs typeface="Noto Sans SC"/>
                <a:sym typeface="Noto Sans SC"/>
              </a:rPr>
              <a:t>F = {A→B, B→C}</a:t>
            </a:r>
            <a:endParaRPr lang="en-US" b="1" i="0" u="none" strike="noStrike">
              <a:solidFill>
                <a:srgbClr val="1F2329"/>
              </a:solidFill>
              <a:latin typeface="Noto Sans SC"/>
              <a:ea typeface="Noto Sans SC"/>
              <a:cs typeface="Noto Sans SC"/>
              <a:sym typeface="Noto Sans SC"/>
            </a:endParaRPr>
          </a:p>
        </p:txBody>
      </p:sp>
      <p:sp>
        <p:nvSpPr>
          <p:cNvPr id="9" name="AutoShape 9"/>
          <p:cNvSpPr/>
          <p:nvPr/>
        </p:nvSpPr>
        <p:spPr>
          <a:xfrm>
            <a:off x="6641805" y="1985008"/>
            <a:ext cx="4711995" cy="4504692"/>
          </a:xfrm>
          <a:prstGeom prst="roundRect">
            <a:avLst>
              <a:gd name="adj" fmla="val 0"/>
            </a:avLst>
          </a:prstGeom>
          <a:solidFill>
            <a:srgbClr val="F8F9FA">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173433" y="2123082"/>
            <a:ext cx="3671776" cy="4298983"/>
          </a:xfrm>
          <a:prstGeom prst="rect">
            <a:avLst/>
          </a:prstGeom>
          <a:noFill/>
          <a:ln w="12700" cap="flat" cmpd="sng">
            <a:noFill/>
            <a:prstDash val="solid"/>
            <a:round/>
          </a:ln>
        </p:spPr>
        <p:txBody>
          <a:bodyPr vert="horz" wrap="square" lIns="0" tIns="0" rIns="0" bIns="0" rtlCol="0" anchor="t" anchorCtr="0"/>
          <a:lstStyle/>
          <a:p>
            <a:pPr>
              <a:lnSpc>
                <a:spcPct val="125000"/>
              </a:lnSpc>
              <a:defRPr/>
            </a:pPr>
            <a:r>
              <a:rPr lang="en-US" altLang="zh-CN">
                <a:solidFill>
                  <a:srgbClr val="1F2329"/>
                </a:solidFill>
                <a:highlight>
                  <a:srgbClr val="FFFF00"/>
                </a:highlight>
                <a:latin typeface="Noto Sans SC"/>
                <a:ea typeface="Noto Sans SC"/>
                <a:sym typeface="Noto Sans SC"/>
              </a:rPr>
              <a:t>检查 A→B</a:t>
            </a:r>
            <a:r>
              <a:rPr lang="zh-CN" altLang="en-US">
                <a:solidFill>
                  <a:srgbClr val="1F2329"/>
                </a:solidFill>
                <a:highlight>
                  <a:srgbClr val="FFFF00"/>
                </a:highlight>
                <a:latin typeface="Noto Sans SC"/>
                <a:ea typeface="Noto Sans SC"/>
                <a:sym typeface="Noto Sans SC"/>
              </a:rPr>
              <a:t>是否冗余</a:t>
            </a:r>
            <a:endParaRPr lang="en-US" altLang="zh-CN">
              <a:solidFill>
                <a:srgbClr val="1F2329"/>
              </a:solidFill>
              <a:highlight>
                <a:srgbClr val="FFFF00"/>
              </a:highlight>
              <a:latin typeface="Noto Sans SC"/>
              <a:ea typeface="Noto Sans SC"/>
            </a:endParaRPr>
          </a:p>
          <a:p>
            <a:pPr>
              <a:lnSpc>
                <a:spcPct val="125000"/>
              </a:lnSpc>
            </a:pPr>
            <a:r>
              <a:rPr lang="en-US" altLang="zh-CN">
                <a:solidFill>
                  <a:srgbClr val="4B5563"/>
                </a:solidFill>
                <a:latin typeface="Noto Sans SC"/>
                <a:ea typeface="Noto Sans SC"/>
                <a:cs typeface="Noto Sans SC"/>
                <a:sym typeface="Noto Sans SC"/>
              </a:rPr>
              <a:t>设 F</a:t>
            </a:r>
            <a:r>
              <a:rPr lang="en-US" altLang="zh-CN" baseline="-25000">
                <a:solidFill>
                  <a:srgbClr val="4B5563"/>
                </a:solidFill>
                <a:latin typeface="Noto Sans SC"/>
                <a:ea typeface="Noto Sans SC"/>
                <a:cs typeface="Noto Sans SC"/>
                <a:sym typeface="Noto Sans SC"/>
              </a:rPr>
              <a:t>3</a:t>
            </a:r>
            <a:r>
              <a:rPr lang="en-US" altLang="zh-CN">
                <a:solidFill>
                  <a:srgbClr val="4B5563"/>
                </a:solidFill>
                <a:latin typeface="Noto Sans SC"/>
                <a:ea typeface="Noto Sans SC"/>
                <a:cs typeface="Noto Sans SC"/>
                <a:sym typeface="Noto Sans SC"/>
              </a:rPr>
              <a:t> = F - {A→B} = {B→C} </a:t>
            </a:r>
            <a:br>
              <a:rPr lang="en-US" altLang="zh-CN">
                <a:solidFill>
                  <a:srgbClr val="4B5563"/>
                </a:solidFill>
                <a:latin typeface="Noto Sans SC"/>
                <a:ea typeface="Noto Sans SC"/>
                <a:cs typeface="Noto Sans SC"/>
                <a:sym typeface="Noto Sans SC"/>
              </a:rPr>
            </a:br>
            <a:r>
              <a:rPr lang="en-US" altLang="zh-CN">
                <a:solidFill>
                  <a:srgbClr val="4B5563"/>
                </a:solidFill>
                <a:latin typeface="Noto Sans SC"/>
                <a:ea typeface="Noto Sans SC"/>
                <a:cs typeface="Noto Sans SC"/>
                <a:sym typeface="Noto Sans SC"/>
              </a:rPr>
              <a:t>求</a:t>
            </a:r>
            <a:r>
              <a:rPr lang="zh-CN" altLang="en-US">
                <a:solidFill>
                  <a:srgbClr val="4B5563"/>
                </a:solidFill>
                <a:latin typeface="Noto Sans SC"/>
                <a:ea typeface="Noto Sans SC"/>
                <a:cs typeface="Noto Sans SC"/>
                <a:sym typeface="Noto Sans SC"/>
              </a:rPr>
              <a:t>属性集</a:t>
            </a:r>
            <a:r>
              <a:rPr lang="en-US" altLang="zh-CN">
                <a:solidFill>
                  <a:srgbClr val="4B5563"/>
                </a:solidFill>
                <a:latin typeface="Noto Sans SC"/>
                <a:ea typeface="Noto Sans SC"/>
                <a:cs typeface="Noto Sans SC"/>
                <a:sym typeface="Noto Sans SC"/>
              </a:rPr>
              <a:t>A</a:t>
            </a:r>
            <a:r>
              <a:rPr lang="zh-CN" altLang="en-US">
                <a:solidFill>
                  <a:srgbClr val="4B5563"/>
                </a:solidFill>
                <a:latin typeface="Noto Sans SC"/>
                <a:ea typeface="Noto Sans SC"/>
                <a:cs typeface="Noto Sans SC"/>
                <a:sym typeface="Noto Sans SC"/>
              </a:rPr>
              <a:t>的</a:t>
            </a:r>
            <a:r>
              <a:rPr lang="en-US" altLang="zh-CN">
                <a:solidFill>
                  <a:srgbClr val="4B5563"/>
                </a:solidFill>
                <a:latin typeface="Noto Sans SC"/>
                <a:ea typeface="Noto Sans SC"/>
                <a:cs typeface="Noto Sans SC"/>
                <a:sym typeface="Noto Sans SC"/>
              </a:rPr>
              <a:t>闭包：A+ =A</a:t>
            </a:r>
          </a:p>
          <a:p>
            <a:pPr>
              <a:lnSpc>
                <a:spcPct val="125000"/>
              </a:lnSpc>
            </a:pPr>
            <a:r>
              <a:rPr lang="en-US" altLang="zh-CN" b="1">
                <a:solidFill>
                  <a:srgbClr val="4B5563"/>
                </a:solidFill>
                <a:latin typeface="Noto Sans SC"/>
                <a:ea typeface="Noto Sans SC"/>
                <a:cs typeface="Noto Sans SC"/>
                <a:sym typeface="Noto Sans SC"/>
              </a:rPr>
              <a:t>∵</a:t>
            </a:r>
            <a:r>
              <a:rPr lang="en-US" altLang="zh-CN">
                <a:solidFill>
                  <a:srgbClr val="4B5563"/>
                </a:solidFill>
                <a:latin typeface="Noto Sans SC"/>
                <a:ea typeface="Noto Sans SC"/>
                <a:cs typeface="Noto Sans SC"/>
                <a:sym typeface="Noto Sans SC"/>
              </a:rPr>
              <a:t> B </a:t>
            </a:r>
            <a:r>
              <a:rPr lang="zh-CN" altLang="en-US">
                <a:solidFill>
                  <a:srgbClr val="4B5563"/>
                </a:solidFill>
                <a:latin typeface="Noto Sans SC"/>
                <a:ea typeface="Noto Sans SC"/>
                <a:cs typeface="Noto Sans SC"/>
                <a:sym typeface="Noto Sans SC"/>
              </a:rPr>
              <a:t>不</a:t>
            </a:r>
            <a:r>
              <a:rPr lang="en-US" altLang="zh-CN">
                <a:solidFill>
                  <a:srgbClr val="4B5563"/>
                </a:solidFill>
                <a:latin typeface="Noto Sans SC"/>
                <a:ea typeface="Noto Sans SC"/>
                <a:cs typeface="Noto Sans SC"/>
                <a:sym typeface="Noto Sans SC"/>
              </a:rPr>
              <a:t>在A</a:t>
            </a:r>
            <a:r>
              <a:rPr lang="zh-CN" altLang="en-US">
                <a:solidFill>
                  <a:srgbClr val="4B5563"/>
                </a:solidFill>
                <a:latin typeface="Noto Sans SC"/>
                <a:ea typeface="Noto Sans SC"/>
                <a:cs typeface="Noto Sans SC"/>
                <a:sym typeface="Noto Sans SC"/>
              </a:rPr>
              <a:t>的</a:t>
            </a:r>
            <a:r>
              <a:rPr lang="en-US" altLang="zh-CN">
                <a:solidFill>
                  <a:srgbClr val="4B5563"/>
                </a:solidFill>
                <a:latin typeface="Noto Sans SC"/>
                <a:ea typeface="Noto Sans SC"/>
                <a:cs typeface="Noto Sans SC"/>
                <a:sym typeface="Noto Sans SC"/>
              </a:rPr>
              <a:t>闭包</a:t>
            </a:r>
            <a:r>
              <a:rPr lang="zh-CN" altLang="en-US">
                <a:solidFill>
                  <a:srgbClr val="4B5563"/>
                </a:solidFill>
                <a:latin typeface="Noto Sans SC"/>
                <a:ea typeface="Noto Sans SC"/>
                <a:cs typeface="Noto Sans SC"/>
                <a:sym typeface="Noto Sans SC"/>
              </a:rPr>
              <a:t>中 </a:t>
            </a:r>
            <a:r>
              <a:rPr lang="en-US" altLang="zh-CN">
                <a:solidFill>
                  <a:srgbClr val="4B5563"/>
                </a:solidFill>
                <a:latin typeface="Noto Sans SC"/>
                <a:ea typeface="Noto Sans SC"/>
                <a:cs typeface="Noto Sans SC"/>
                <a:sym typeface="Noto Sans SC"/>
              </a:rPr>
              <a:t> </a:t>
            </a:r>
            <a:r>
              <a:rPr lang="zh-CN" altLang="en-US" b="1">
                <a:solidFill>
                  <a:srgbClr val="4B5563"/>
                </a:solidFill>
                <a:latin typeface="Noto Sans SC"/>
                <a:ea typeface="Noto Sans SC"/>
                <a:cs typeface="Noto Sans SC"/>
                <a:sym typeface="Noto Sans SC"/>
              </a:rPr>
              <a:t>∴ </a:t>
            </a:r>
            <a:r>
              <a:rPr lang="en-US" altLang="zh-CN">
                <a:solidFill>
                  <a:srgbClr val="4B5563"/>
                </a:solidFill>
                <a:latin typeface="Noto Sans SC"/>
                <a:ea typeface="Noto Sans SC"/>
                <a:cs typeface="Noto Sans SC"/>
                <a:sym typeface="Noto Sans SC"/>
              </a:rPr>
              <a:t>A→B</a:t>
            </a:r>
            <a:r>
              <a:rPr lang="zh-CN" altLang="en-US">
                <a:solidFill>
                  <a:srgbClr val="4B5563"/>
                </a:solidFill>
                <a:latin typeface="Noto Sans SC"/>
                <a:ea typeface="Noto Sans SC"/>
                <a:cs typeface="Noto Sans SC"/>
                <a:sym typeface="Noto Sans SC"/>
              </a:rPr>
              <a:t>不是</a:t>
            </a:r>
            <a:r>
              <a:rPr lang="en-US" altLang="zh-CN">
                <a:solidFill>
                  <a:srgbClr val="4B5563"/>
                </a:solidFill>
                <a:latin typeface="Noto Sans SC"/>
                <a:ea typeface="Noto Sans SC"/>
                <a:cs typeface="Noto Sans SC"/>
                <a:sym typeface="Noto Sans SC"/>
              </a:rPr>
              <a:t>冗余的。</a:t>
            </a:r>
          </a:p>
          <a:p>
            <a:pPr>
              <a:lnSpc>
                <a:spcPct val="125000"/>
              </a:lnSpc>
            </a:pPr>
            <a:r>
              <a:rPr lang="zh-CN" altLang="en-US" b="1">
                <a:solidFill>
                  <a:srgbClr val="1F2329"/>
                </a:solidFill>
                <a:latin typeface="Noto Sans SC"/>
                <a:ea typeface="Noto Sans SC"/>
                <a:cs typeface="Noto Sans SC"/>
                <a:sym typeface="Noto Sans SC"/>
              </a:rPr>
              <a:t>得到：</a:t>
            </a:r>
            <a:r>
              <a:rPr lang="en-US" altLang="zh-CN" b="1">
                <a:solidFill>
                  <a:srgbClr val="1F2329"/>
                </a:solidFill>
                <a:latin typeface="Noto Sans SC"/>
                <a:ea typeface="Noto Sans SC"/>
                <a:cs typeface="Noto Sans SC"/>
                <a:sym typeface="Noto Sans SC"/>
              </a:rPr>
              <a:t>F = {A→B, B→C}</a:t>
            </a:r>
          </a:p>
          <a:p>
            <a:pPr>
              <a:lnSpc>
                <a:spcPct val="125000"/>
              </a:lnSpc>
              <a:defRPr/>
            </a:pPr>
            <a:r>
              <a:rPr lang="en-US" altLang="zh-CN">
                <a:solidFill>
                  <a:srgbClr val="1F2329"/>
                </a:solidFill>
                <a:highlight>
                  <a:srgbClr val="FFFF00"/>
                </a:highlight>
                <a:latin typeface="Noto Sans SC"/>
                <a:ea typeface="Noto Sans SC"/>
                <a:sym typeface="Noto Sans SC"/>
              </a:rPr>
              <a:t>检查 B→C</a:t>
            </a:r>
            <a:r>
              <a:rPr lang="zh-CN" altLang="en-US">
                <a:solidFill>
                  <a:srgbClr val="1F2329"/>
                </a:solidFill>
                <a:highlight>
                  <a:srgbClr val="FFFF00"/>
                </a:highlight>
                <a:latin typeface="Noto Sans SC"/>
                <a:ea typeface="Noto Sans SC"/>
                <a:sym typeface="Noto Sans SC"/>
              </a:rPr>
              <a:t>是否冗余</a:t>
            </a:r>
            <a:endParaRPr lang="en-US" altLang="zh-CN">
              <a:solidFill>
                <a:srgbClr val="1F2329"/>
              </a:solidFill>
              <a:highlight>
                <a:srgbClr val="FFFF00"/>
              </a:highlight>
              <a:latin typeface="Noto Sans SC"/>
              <a:ea typeface="Noto Sans SC"/>
            </a:endParaRPr>
          </a:p>
          <a:p>
            <a:pPr>
              <a:lnSpc>
                <a:spcPct val="125000"/>
              </a:lnSpc>
            </a:pPr>
            <a:r>
              <a:rPr lang="en-US" altLang="zh-CN">
                <a:solidFill>
                  <a:srgbClr val="4B5563"/>
                </a:solidFill>
                <a:latin typeface="Noto Sans SC"/>
                <a:ea typeface="Noto Sans SC"/>
                <a:cs typeface="Noto Sans SC"/>
                <a:sym typeface="Noto Sans SC"/>
              </a:rPr>
              <a:t>设 F</a:t>
            </a:r>
            <a:r>
              <a:rPr lang="en-US" altLang="zh-CN" baseline="-25000">
                <a:solidFill>
                  <a:srgbClr val="4B5563"/>
                </a:solidFill>
                <a:latin typeface="Noto Sans SC"/>
                <a:ea typeface="Noto Sans SC"/>
                <a:cs typeface="Noto Sans SC"/>
                <a:sym typeface="Noto Sans SC"/>
              </a:rPr>
              <a:t>3</a:t>
            </a:r>
            <a:r>
              <a:rPr lang="en-US" altLang="zh-CN">
                <a:solidFill>
                  <a:srgbClr val="4B5563"/>
                </a:solidFill>
                <a:latin typeface="Noto Sans SC"/>
                <a:ea typeface="Noto Sans SC"/>
                <a:cs typeface="Noto Sans SC"/>
                <a:sym typeface="Noto Sans SC"/>
              </a:rPr>
              <a:t> = F - {B→C} = {A→B} </a:t>
            </a:r>
            <a:br>
              <a:rPr lang="en-US" altLang="zh-CN">
                <a:solidFill>
                  <a:srgbClr val="4B5563"/>
                </a:solidFill>
                <a:latin typeface="Noto Sans SC"/>
                <a:ea typeface="Noto Sans SC"/>
                <a:cs typeface="Noto Sans SC"/>
                <a:sym typeface="Noto Sans SC"/>
              </a:rPr>
            </a:br>
            <a:r>
              <a:rPr lang="en-US" altLang="zh-CN">
                <a:solidFill>
                  <a:srgbClr val="4B5563"/>
                </a:solidFill>
                <a:latin typeface="Noto Sans SC"/>
                <a:ea typeface="Noto Sans SC"/>
                <a:cs typeface="Noto Sans SC"/>
                <a:sym typeface="Noto Sans SC"/>
              </a:rPr>
              <a:t>求</a:t>
            </a:r>
            <a:r>
              <a:rPr lang="zh-CN" altLang="en-US">
                <a:solidFill>
                  <a:srgbClr val="4B5563"/>
                </a:solidFill>
                <a:latin typeface="Noto Sans SC"/>
                <a:ea typeface="Noto Sans SC"/>
                <a:cs typeface="Noto Sans SC"/>
                <a:sym typeface="Noto Sans SC"/>
              </a:rPr>
              <a:t>属性集</a:t>
            </a:r>
            <a:r>
              <a:rPr lang="en-US" altLang="zh-CN">
                <a:solidFill>
                  <a:srgbClr val="4B5563"/>
                </a:solidFill>
                <a:latin typeface="Noto Sans SC"/>
                <a:ea typeface="Noto Sans SC"/>
                <a:cs typeface="Noto Sans SC"/>
                <a:sym typeface="Noto Sans SC"/>
              </a:rPr>
              <a:t>B</a:t>
            </a:r>
            <a:r>
              <a:rPr lang="zh-CN" altLang="en-US">
                <a:solidFill>
                  <a:srgbClr val="4B5563"/>
                </a:solidFill>
                <a:latin typeface="Noto Sans SC"/>
                <a:ea typeface="Noto Sans SC"/>
                <a:cs typeface="Noto Sans SC"/>
                <a:sym typeface="Noto Sans SC"/>
              </a:rPr>
              <a:t>的</a:t>
            </a:r>
            <a:r>
              <a:rPr lang="en-US" altLang="zh-CN">
                <a:solidFill>
                  <a:srgbClr val="4B5563"/>
                </a:solidFill>
                <a:latin typeface="Noto Sans SC"/>
                <a:ea typeface="Noto Sans SC"/>
                <a:cs typeface="Noto Sans SC"/>
                <a:sym typeface="Noto Sans SC"/>
              </a:rPr>
              <a:t>闭包：B+ =B</a:t>
            </a:r>
          </a:p>
          <a:p>
            <a:pPr>
              <a:lnSpc>
                <a:spcPct val="125000"/>
              </a:lnSpc>
            </a:pPr>
            <a:r>
              <a:rPr lang="en-US" altLang="zh-CN" b="1">
                <a:solidFill>
                  <a:srgbClr val="4B5563"/>
                </a:solidFill>
                <a:latin typeface="Noto Sans SC"/>
                <a:ea typeface="Noto Sans SC"/>
                <a:cs typeface="Noto Sans SC"/>
                <a:sym typeface="Noto Sans SC"/>
              </a:rPr>
              <a:t>∵ </a:t>
            </a:r>
            <a:r>
              <a:rPr lang="en-US" altLang="zh-CN">
                <a:solidFill>
                  <a:srgbClr val="4B5563"/>
                </a:solidFill>
                <a:latin typeface="Noto Sans SC"/>
                <a:ea typeface="Noto Sans SC"/>
                <a:cs typeface="Noto Sans SC"/>
                <a:sym typeface="Noto Sans SC"/>
              </a:rPr>
              <a:t>C</a:t>
            </a:r>
            <a:r>
              <a:rPr lang="zh-CN" altLang="en-US">
                <a:solidFill>
                  <a:srgbClr val="4B5563"/>
                </a:solidFill>
                <a:latin typeface="Noto Sans SC"/>
                <a:ea typeface="Noto Sans SC"/>
                <a:cs typeface="Noto Sans SC"/>
                <a:sym typeface="Noto Sans SC"/>
              </a:rPr>
              <a:t>不</a:t>
            </a:r>
            <a:r>
              <a:rPr lang="en-US" altLang="zh-CN">
                <a:solidFill>
                  <a:srgbClr val="4B5563"/>
                </a:solidFill>
                <a:latin typeface="Noto Sans SC"/>
                <a:ea typeface="Noto Sans SC"/>
                <a:cs typeface="Noto Sans SC"/>
                <a:sym typeface="Noto Sans SC"/>
              </a:rPr>
              <a:t>在B</a:t>
            </a:r>
            <a:r>
              <a:rPr lang="zh-CN" altLang="en-US">
                <a:solidFill>
                  <a:srgbClr val="4B5563"/>
                </a:solidFill>
                <a:latin typeface="Noto Sans SC"/>
                <a:ea typeface="Noto Sans SC"/>
                <a:cs typeface="Noto Sans SC"/>
                <a:sym typeface="Noto Sans SC"/>
              </a:rPr>
              <a:t>的</a:t>
            </a:r>
            <a:r>
              <a:rPr lang="en-US" altLang="zh-CN">
                <a:solidFill>
                  <a:srgbClr val="4B5563"/>
                </a:solidFill>
                <a:latin typeface="Noto Sans SC"/>
                <a:ea typeface="Noto Sans SC"/>
                <a:cs typeface="Noto Sans SC"/>
                <a:sym typeface="Noto Sans SC"/>
              </a:rPr>
              <a:t>闭包</a:t>
            </a:r>
            <a:r>
              <a:rPr lang="zh-CN" altLang="en-US">
                <a:solidFill>
                  <a:srgbClr val="4B5563"/>
                </a:solidFill>
                <a:latin typeface="Noto Sans SC"/>
                <a:ea typeface="Noto Sans SC"/>
                <a:cs typeface="Noto Sans SC"/>
                <a:sym typeface="Noto Sans SC"/>
              </a:rPr>
              <a:t>中 </a:t>
            </a:r>
            <a:r>
              <a:rPr lang="en-US" altLang="zh-CN">
                <a:solidFill>
                  <a:srgbClr val="4B5563"/>
                </a:solidFill>
                <a:latin typeface="Noto Sans SC"/>
                <a:ea typeface="Noto Sans SC"/>
                <a:cs typeface="Noto Sans SC"/>
                <a:sym typeface="Noto Sans SC"/>
              </a:rPr>
              <a:t> </a:t>
            </a:r>
            <a:r>
              <a:rPr lang="zh-CN" altLang="en-US" b="1">
                <a:solidFill>
                  <a:srgbClr val="4B5563"/>
                </a:solidFill>
                <a:latin typeface="Noto Sans SC"/>
                <a:ea typeface="Noto Sans SC"/>
                <a:cs typeface="Noto Sans SC"/>
                <a:sym typeface="Noto Sans SC"/>
              </a:rPr>
              <a:t>∴</a:t>
            </a:r>
            <a:r>
              <a:rPr lang="zh-CN" altLang="en-US">
                <a:solidFill>
                  <a:srgbClr val="4B5563"/>
                </a:solidFill>
                <a:latin typeface="Noto Sans SC"/>
                <a:ea typeface="Noto Sans SC"/>
                <a:cs typeface="Noto Sans SC"/>
                <a:sym typeface="Noto Sans SC"/>
              </a:rPr>
              <a:t> </a:t>
            </a:r>
            <a:r>
              <a:rPr lang="en-US" altLang="zh-CN">
                <a:solidFill>
                  <a:srgbClr val="4B5563"/>
                </a:solidFill>
                <a:latin typeface="Noto Sans SC"/>
                <a:ea typeface="Noto Sans SC"/>
                <a:cs typeface="Noto Sans SC"/>
                <a:sym typeface="Noto Sans SC"/>
              </a:rPr>
              <a:t>B→C</a:t>
            </a:r>
            <a:r>
              <a:rPr lang="zh-CN" altLang="en-US">
                <a:solidFill>
                  <a:srgbClr val="4B5563"/>
                </a:solidFill>
                <a:latin typeface="Noto Sans SC"/>
                <a:ea typeface="Noto Sans SC"/>
                <a:cs typeface="Noto Sans SC"/>
                <a:sym typeface="Noto Sans SC"/>
              </a:rPr>
              <a:t>不是</a:t>
            </a:r>
            <a:r>
              <a:rPr lang="en-US" altLang="zh-CN">
                <a:solidFill>
                  <a:srgbClr val="4B5563"/>
                </a:solidFill>
                <a:latin typeface="Noto Sans SC"/>
                <a:ea typeface="Noto Sans SC"/>
                <a:cs typeface="Noto Sans SC"/>
                <a:sym typeface="Noto Sans SC"/>
              </a:rPr>
              <a:t>冗余的。</a:t>
            </a:r>
          </a:p>
          <a:p>
            <a:pPr>
              <a:lnSpc>
                <a:spcPct val="125000"/>
              </a:lnSpc>
            </a:pPr>
            <a:r>
              <a:rPr lang="zh-CN" altLang="en-US" b="1">
                <a:solidFill>
                  <a:srgbClr val="1F2329"/>
                </a:solidFill>
                <a:latin typeface="Noto Sans SC"/>
                <a:ea typeface="Noto Sans SC"/>
                <a:cs typeface="Noto Sans SC"/>
                <a:sym typeface="Noto Sans SC"/>
              </a:rPr>
              <a:t>得到：</a:t>
            </a:r>
            <a:r>
              <a:rPr lang="en-US" altLang="zh-CN" b="1">
                <a:solidFill>
                  <a:srgbClr val="1F2329"/>
                </a:solidFill>
                <a:latin typeface="Noto Sans SC"/>
                <a:ea typeface="Noto Sans SC"/>
                <a:cs typeface="Noto Sans SC"/>
                <a:sym typeface="Noto Sans SC"/>
              </a:rPr>
              <a:t>F = {A→B, B→C}</a:t>
            </a:r>
          </a:p>
          <a:p>
            <a:pPr>
              <a:lnSpc>
                <a:spcPct val="125000"/>
              </a:lnSpc>
            </a:pPr>
            <a:endParaRPr lang="en-US" altLang="zh-CN" b="1">
              <a:solidFill>
                <a:srgbClr val="1F2329"/>
              </a:solidFill>
              <a:latin typeface="Noto Sans SC"/>
              <a:ea typeface="Noto Sans SC"/>
              <a:cs typeface="Noto Sans SC"/>
              <a:sym typeface="Noto Sans SC"/>
            </a:endParaRPr>
          </a:p>
          <a:p>
            <a:pPr>
              <a:lnSpc>
                <a:spcPct val="125000"/>
              </a:lnSpc>
              <a:spcBef>
                <a:spcPts val="600"/>
              </a:spcBef>
            </a:pPr>
            <a:r>
              <a:rPr lang="en-US" sz="1800" b="1">
                <a:solidFill>
                  <a:srgbClr val="7030A0"/>
                </a:solidFill>
                <a:latin typeface="Noto Sans SC"/>
                <a:ea typeface="Noto Sans SC"/>
                <a:sym typeface="Noto Sans SC"/>
              </a:rPr>
              <a:t>第三步：消除左部冗余属性</a:t>
            </a:r>
          </a:p>
          <a:p>
            <a:pPr indent="0" algn="l">
              <a:lnSpc>
                <a:spcPct val="108333"/>
              </a:lnSpc>
            </a:pPr>
            <a:r>
              <a:rPr lang="en-US" b="0" i="0" u="none" strike="noStrike">
                <a:solidFill>
                  <a:srgbClr val="4B5563"/>
                </a:solidFill>
                <a:latin typeface="Noto Sans SC"/>
                <a:ea typeface="Noto Sans SC"/>
                <a:cs typeface="Noto Sans SC"/>
                <a:sym typeface="Noto Sans SC"/>
              </a:rPr>
              <a:t>检查 A→B 和 B→C 的左部，均为单属性，无可消除的冗余属性。</a:t>
            </a:r>
          </a:p>
          <a:p>
            <a:pPr indent="0" algn="l">
              <a:lnSpc>
                <a:spcPct val="108333"/>
              </a:lnSpc>
              <a:spcBef>
                <a:spcPts val="1000"/>
              </a:spcBef>
            </a:pPr>
            <a:r>
              <a:rPr lang="en-US" sz="1800" b="1" i="0" u="none" strike="noStrike">
                <a:solidFill>
                  <a:srgbClr val="DC2626"/>
                </a:solidFill>
                <a:latin typeface="Noto Sans SC"/>
                <a:ea typeface="Noto Sans SC"/>
                <a:cs typeface="Noto Sans SC"/>
                <a:sym typeface="Noto Sans SC"/>
              </a:rPr>
              <a:t>最小依赖集 Fmin = {A→B, B→C}</a:t>
            </a:r>
          </a:p>
        </p:txBody>
      </p:sp>
      <p:sp>
        <p:nvSpPr>
          <p:cNvPr id="13" name="AutoShape 2">
            <a:extLst>
              <a:ext uri="{FF2B5EF4-FFF2-40B4-BE49-F238E27FC236}">
                <a16:creationId xmlns:a16="http://schemas.microsoft.com/office/drawing/2014/main" id="{6DD93703-4878-E22C-B5FF-FE616FC6A60C}"/>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7.2.6  FD集的最小依赖集 (2)</a:t>
            </a:r>
            <a:endParaRPr lang="en-US" sz="2400" b="1">
              <a:solidFill>
                <a:srgbClr val="FFFFFF"/>
              </a:solidFill>
              <a:latin typeface="Noto Sans SC"/>
              <a:ea typeface="Noto Sans SC"/>
            </a:endParaRPr>
          </a:p>
        </p:txBody>
      </p:sp>
      <p:sp>
        <p:nvSpPr>
          <p:cNvPr id="16" name="文本框 15">
            <a:extLst>
              <a:ext uri="{FF2B5EF4-FFF2-40B4-BE49-F238E27FC236}">
                <a16:creationId xmlns:a16="http://schemas.microsoft.com/office/drawing/2014/main" id="{9AA480D5-F159-40D3-10B4-8AA9D3A1D391}"/>
              </a:ext>
            </a:extLst>
          </p:cNvPr>
          <p:cNvSpPr txBox="1"/>
          <p:nvPr/>
        </p:nvSpPr>
        <p:spPr>
          <a:xfrm>
            <a:off x="838199" y="1613688"/>
            <a:ext cx="4853763" cy="371320"/>
          </a:xfrm>
          <a:prstGeom prst="rect">
            <a:avLst/>
          </a:prstGeom>
          <a:noFill/>
        </p:spPr>
        <p:txBody>
          <a:bodyPr wrap="square">
            <a:spAutoFit/>
          </a:bodyPr>
          <a:lstStyle/>
          <a:p>
            <a:pPr indent="0" algn="l">
              <a:lnSpc>
                <a:spcPct val="108333"/>
              </a:lnSpc>
              <a:defRPr/>
            </a:pPr>
            <a:r>
              <a:rPr lang="en-US" altLang="zh-CN" sz="1800" b="1" i="0" u="none" strike="noStrike">
                <a:solidFill>
                  <a:srgbClr val="D97706"/>
                </a:solidFill>
                <a:latin typeface="Noto Sans SC"/>
                <a:ea typeface="Noto Sans SC"/>
                <a:cs typeface="Noto Sans SC"/>
                <a:sym typeface="Noto Sans SC"/>
              </a:rPr>
              <a:t>初始依赖集：</a:t>
            </a:r>
            <a:r>
              <a:rPr lang="en-US" altLang="zh-CN" sz="1800" b="0" i="0" u="none" strike="noStrike">
                <a:solidFill>
                  <a:srgbClr val="1F2329"/>
                </a:solidFill>
                <a:latin typeface="Noto Sans SC"/>
                <a:ea typeface="Noto Sans SC"/>
                <a:cs typeface="Noto Sans SC"/>
                <a:sym typeface="Noto Sans SC"/>
              </a:rPr>
              <a:t>F = {A→BC, B→C, A→B, AB→C}</a:t>
            </a:r>
            <a:endParaRPr lang="en-US" altLang="zh-CN" sz="1600"/>
          </a:p>
        </p:txBody>
      </p:sp>
      <p:sp>
        <p:nvSpPr>
          <p:cNvPr id="2" name="AutoShape 4">
            <a:extLst>
              <a:ext uri="{FF2B5EF4-FFF2-40B4-BE49-F238E27FC236}">
                <a16:creationId xmlns:a16="http://schemas.microsoft.com/office/drawing/2014/main" id="{3576DD29-CD53-EDF7-BF75-331460B78940}"/>
              </a:ext>
            </a:extLst>
          </p:cNvPr>
          <p:cNvSpPr/>
          <p:nvPr/>
        </p:nvSpPr>
        <p:spPr>
          <a:xfrm>
            <a:off x="838199" y="1174582"/>
            <a:ext cx="4084084"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6</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：求</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F</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的最小依赖集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Fmin</a:t>
            </a:r>
            <a:endParaRPr lang="zh-CN" altLang="en-US" sz="2000">
              <a:solidFill>
                <a:srgbClr val="7030A0"/>
              </a:solidFill>
              <a:latin typeface="Noto Sans SC Black" panose="020B0200000000000000" pitchFamily="34" charset="-122"/>
              <a:ea typeface="Noto Sans SC Black" panose="020B0200000000000000" pitchFamily="34" charset="-122"/>
              <a:sym typeface="Noto Sans SC"/>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81000"/>
            <a:ext cx="10515600" cy="668079"/>
          </a:xfrm>
          <a:prstGeom prst="roundRect">
            <a:avLst>
              <a:gd name="adj" fmla="val 0"/>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altLang="zh-CN" sz="2400" b="1">
                <a:solidFill>
                  <a:srgbClr val="FFFFFF"/>
                </a:solidFill>
                <a:latin typeface="Noto Sans SC"/>
                <a:ea typeface="Noto Sans SC"/>
                <a:sym typeface="Noto Sans SC"/>
              </a:rPr>
              <a:t>7.2.7  候选键 (Candidate Key)</a:t>
            </a:r>
            <a:r>
              <a:rPr lang="zh-CN" altLang="en-US" sz="2400" b="1">
                <a:solidFill>
                  <a:srgbClr val="FFFFFF"/>
                </a:solidFill>
                <a:latin typeface="Noto Sans SC"/>
                <a:ea typeface="Noto Sans SC"/>
                <a:sym typeface="Noto Sans SC"/>
              </a:rPr>
              <a:t>（</a:t>
            </a:r>
            <a:r>
              <a:rPr lang="en-US" altLang="zh-CN" sz="2400" b="1">
                <a:solidFill>
                  <a:srgbClr val="FFFFFF"/>
                </a:solidFill>
                <a:latin typeface="Noto Sans SC"/>
                <a:ea typeface="Noto Sans SC"/>
                <a:sym typeface="Noto Sans SC"/>
              </a:rPr>
              <a:t>1</a:t>
            </a:r>
            <a:r>
              <a:rPr lang="zh-CN" altLang="en-US" sz="2400" b="1">
                <a:solidFill>
                  <a:srgbClr val="FFFFFF"/>
                </a:solidFill>
                <a:latin typeface="Noto Sans SC"/>
                <a:ea typeface="Noto Sans SC"/>
                <a:sym typeface="Noto Sans SC"/>
              </a:rPr>
              <a:t>）</a:t>
            </a:r>
            <a:endParaRPr sz="2400" b="1">
              <a:solidFill>
                <a:srgbClr val="FFFFFF"/>
              </a:solidFill>
              <a:latin typeface="Noto Sans SC"/>
              <a:ea typeface="Noto Sans SC"/>
            </a:endParaRPr>
          </a:p>
        </p:txBody>
      </p:sp>
      <p:sp>
        <p:nvSpPr>
          <p:cNvPr id="4" name="AutoShape 4"/>
          <p:cNvSpPr/>
          <p:nvPr/>
        </p:nvSpPr>
        <p:spPr>
          <a:xfrm>
            <a:off x="802316" y="1630326"/>
            <a:ext cx="5207000" cy="4579088"/>
          </a:xfrm>
          <a:prstGeom prst="roundRect">
            <a:avLst>
              <a:gd name="adj" fmla="val 0"/>
            </a:avLst>
          </a:prstGeom>
          <a:solidFill>
            <a:srgbClr val="F3E8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04876" y="1916814"/>
            <a:ext cx="4401879" cy="4070602"/>
          </a:xfrm>
          <a:prstGeom prst="rect">
            <a:avLst/>
          </a:prstGeom>
          <a:noFill/>
          <a:ln w="12700" cap="flat" cmpd="sng">
            <a:noFill/>
            <a:prstDash val="solid"/>
            <a:round/>
          </a:ln>
        </p:spPr>
        <p:txBody>
          <a:bodyPr vert="horz" wrap="square" lIns="0" tIns="0" rIns="0" bIns="0" rtlCol="0" anchor="t" anchorCtr="0">
            <a:spAutoFit/>
          </a:bodyPr>
          <a:lstStyle/>
          <a:p>
            <a:pPr indent="0" algn="l">
              <a:lnSpc>
                <a:spcPct val="100000"/>
              </a:lnSpc>
              <a:spcAft>
                <a:spcPts val="1000"/>
              </a:spcAft>
              <a:defRPr/>
            </a:pPr>
            <a:r>
              <a:rPr lang="en-US" sz="1800" b="1" i="0" u="none" strike="noStrike">
                <a:solidFill>
                  <a:srgbClr val="6D28D9"/>
                </a:solidFill>
                <a:latin typeface="Noto Sans SC"/>
                <a:ea typeface="Noto Sans SC"/>
                <a:cs typeface="Noto Sans SC"/>
                <a:sym typeface="Noto Sans SC"/>
              </a:rPr>
              <a:t>📌 概念回顾：超键 vs 候选键</a:t>
            </a:r>
            <a:endParaRPr lang="en-US" sz="1200"/>
          </a:p>
          <a:p>
            <a:pPr>
              <a:lnSpc>
                <a:spcPct val="125000"/>
              </a:lnSpc>
              <a:spcAft>
                <a:spcPts val="600"/>
              </a:spcAft>
            </a:pPr>
            <a:r>
              <a:rPr lang="en-US" sz="1600" b="1" i="0" u="none" strike="noStrike">
                <a:solidFill>
                  <a:srgbClr val="1F2937"/>
                </a:solidFill>
                <a:latin typeface="Noto Sans SC"/>
                <a:ea typeface="Noto Sans SC"/>
                <a:cs typeface="Noto Sans SC"/>
                <a:sym typeface="Noto Sans SC"/>
              </a:rPr>
              <a:t>超键 (Superkey)</a:t>
            </a:r>
          </a:p>
          <a:p>
            <a:pPr>
              <a:lnSpc>
                <a:spcPct val="125000"/>
              </a:lnSpc>
              <a:spcAft>
                <a:spcPts val="600"/>
              </a:spcAft>
            </a:pPr>
            <a:r>
              <a:rPr lang="en-US" sz="1600" b="0" i="0" u="none" strike="noStrike">
                <a:solidFill>
                  <a:srgbClr val="374151"/>
                </a:solidFill>
                <a:latin typeface="Noto Sans SC"/>
                <a:ea typeface="Noto Sans SC"/>
                <a:cs typeface="Noto Sans SC"/>
                <a:sym typeface="Noto Sans SC"/>
              </a:rPr>
              <a:t>若属性集 X 满足函数依赖 X→U（U 为全部属性），则 X 是关系模式 R 的超键。超键是能唯一标识元组的属性集，但不一定最小。</a:t>
            </a:r>
            <a:br>
              <a:rPr lang="en-US" sz="1600" b="0" i="0" u="none" strike="noStrike">
                <a:solidFill>
                  <a:srgbClr val="374151"/>
                </a:solidFill>
                <a:latin typeface="Noto Sans SC"/>
                <a:ea typeface="Noto Sans SC"/>
                <a:cs typeface="Noto Sans SC"/>
                <a:sym typeface="Noto Sans SC"/>
              </a:rPr>
            </a:br>
            <a:r>
              <a:rPr lang="en-US" altLang="zh-CN" sz="1600">
                <a:solidFill>
                  <a:srgbClr val="374151"/>
                </a:solidFill>
                <a:latin typeface="Noto Sans SC"/>
                <a:ea typeface="Noto Sans SC"/>
                <a:cs typeface="Noto Sans SC"/>
                <a:sym typeface="Noto Sans SC"/>
              </a:rPr>
              <a:t> </a:t>
            </a:r>
            <a:r>
              <a:rPr lang="zh-CN" altLang="en-US" sz="1600">
                <a:solidFill>
                  <a:srgbClr val="374151"/>
                </a:solidFill>
                <a:latin typeface="Noto Sans SC"/>
                <a:ea typeface="Noto Sans SC"/>
                <a:cs typeface="Noto Sans SC"/>
                <a:sym typeface="Noto Sans SC"/>
              </a:rPr>
              <a:t>∵ </a:t>
            </a:r>
            <a:r>
              <a:rPr lang="en-US" altLang="zh-CN" sz="1600">
                <a:solidFill>
                  <a:srgbClr val="374151"/>
                </a:solidFill>
                <a:latin typeface="Noto Sans SC"/>
                <a:ea typeface="Noto Sans SC"/>
                <a:cs typeface="Noto Sans SC"/>
                <a:sym typeface="Noto Sans SC"/>
              </a:rPr>
              <a:t>X → U  </a:t>
            </a:r>
            <a:r>
              <a:rPr lang="zh-CN" altLang="en-US" sz="1600">
                <a:solidFill>
                  <a:srgbClr val="374151"/>
                </a:solidFill>
                <a:latin typeface="Noto Sans SC"/>
                <a:ea typeface="Noto Sans SC"/>
                <a:cs typeface="Noto Sans SC"/>
                <a:sym typeface="Noto Sans SC"/>
              </a:rPr>
              <a:t>∴ </a:t>
            </a:r>
            <a:r>
              <a:rPr lang="en-US" altLang="zh-CN" sz="1600">
                <a:solidFill>
                  <a:srgbClr val="374151"/>
                </a:solidFill>
                <a:latin typeface="Noto Sans SC"/>
                <a:ea typeface="Noto Sans SC"/>
                <a:cs typeface="Noto Sans SC"/>
                <a:sym typeface="Noto Sans SC"/>
              </a:rPr>
              <a:t>X+ = U</a:t>
            </a:r>
            <a:br>
              <a:rPr lang="en-US" altLang="zh-CN" sz="1600">
                <a:solidFill>
                  <a:srgbClr val="374151"/>
                </a:solidFill>
                <a:latin typeface="Noto Sans SC"/>
                <a:ea typeface="Noto Sans SC"/>
                <a:cs typeface="Noto Sans SC"/>
                <a:sym typeface="Noto Sans SC"/>
              </a:rPr>
            </a:br>
            <a:r>
              <a:rPr lang="zh-CN" altLang="en-US" sz="1600">
                <a:solidFill>
                  <a:srgbClr val="7030A0"/>
                </a:solidFill>
                <a:latin typeface="Noto Sans SC"/>
                <a:ea typeface="Noto Sans SC"/>
                <a:cs typeface="Noto Sans SC"/>
                <a:sym typeface="Noto Sans SC"/>
              </a:rPr>
              <a:t>属性集的闭包</a:t>
            </a:r>
            <a:r>
              <a:rPr lang="en-US" altLang="zh-CN" sz="1600">
                <a:solidFill>
                  <a:srgbClr val="7030A0"/>
                </a:solidFill>
                <a:latin typeface="Noto Sans SC"/>
                <a:ea typeface="Noto Sans SC"/>
                <a:cs typeface="Noto Sans SC"/>
                <a:sym typeface="Noto Sans SC"/>
              </a:rPr>
              <a:t>=U</a:t>
            </a:r>
            <a:r>
              <a:rPr lang="zh-CN" altLang="en-US" sz="1600">
                <a:solidFill>
                  <a:srgbClr val="7030A0"/>
                </a:solidFill>
                <a:latin typeface="Noto Sans SC"/>
                <a:ea typeface="Noto Sans SC"/>
                <a:cs typeface="Noto Sans SC"/>
                <a:sym typeface="Noto Sans SC"/>
              </a:rPr>
              <a:t>，则属性集是</a:t>
            </a:r>
            <a:r>
              <a:rPr lang="en-US" altLang="zh-CN" sz="1600">
                <a:solidFill>
                  <a:srgbClr val="7030A0"/>
                </a:solidFill>
                <a:latin typeface="Noto Sans SC"/>
                <a:ea typeface="Noto Sans SC"/>
                <a:cs typeface="Noto Sans SC"/>
                <a:sym typeface="Noto Sans SC"/>
              </a:rPr>
              <a:t>超键</a:t>
            </a:r>
            <a:r>
              <a:rPr lang="zh-CN" altLang="en-US" sz="1600">
                <a:solidFill>
                  <a:srgbClr val="7030A0"/>
                </a:solidFill>
                <a:latin typeface="Noto Sans SC"/>
                <a:ea typeface="Noto Sans SC"/>
                <a:cs typeface="Noto Sans SC"/>
                <a:sym typeface="Noto Sans SC"/>
              </a:rPr>
              <a:t>。</a:t>
            </a:r>
            <a:endParaRPr lang="en-US" sz="1600" b="0" i="0" u="none" strike="noStrike">
              <a:solidFill>
                <a:srgbClr val="7030A0"/>
              </a:solidFill>
              <a:latin typeface="Noto Sans SC"/>
              <a:ea typeface="Noto Sans SC"/>
              <a:cs typeface="Noto Sans SC"/>
              <a:sym typeface="Noto Sans SC"/>
            </a:endParaRPr>
          </a:p>
          <a:p>
            <a:pPr>
              <a:lnSpc>
                <a:spcPct val="125000"/>
              </a:lnSpc>
              <a:spcBef>
                <a:spcPts val="1200"/>
              </a:spcBef>
            </a:pPr>
            <a:r>
              <a:rPr lang="en-US" sz="1600" b="1" i="0" u="none" strike="noStrike">
                <a:solidFill>
                  <a:srgbClr val="1F2937"/>
                </a:solidFill>
                <a:latin typeface="Noto Sans SC"/>
                <a:ea typeface="Noto Sans SC"/>
                <a:cs typeface="Noto Sans SC"/>
                <a:sym typeface="Noto Sans SC"/>
              </a:rPr>
              <a:t>候选键 (Candidate Key, CK)</a:t>
            </a:r>
          </a:p>
          <a:p>
            <a:pPr>
              <a:lnSpc>
                <a:spcPct val="125000"/>
              </a:lnSpc>
            </a:pPr>
            <a:r>
              <a:rPr lang="en-US" sz="1600" b="0" i="0" u="none" strike="noStrike">
                <a:solidFill>
                  <a:srgbClr val="374151"/>
                </a:solidFill>
                <a:latin typeface="Noto Sans SC"/>
                <a:ea typeface="Noto Sans SC"/>
                <a:cs typeface="Noto Sans SC"/>
                <a:sym typeface="Noto Sans SC"/>
              </a:rPr>
              <a:t>X 是超键，且它的任意真子集都不是超键</a:t>
            </a:r>
            <a:r>
              <a:rPr lang="zh-CN" altLang="en-US" sz="1600" b="0" i="0" u="none" strike="noStrike">
                <a:solidFill>
                  <a:srgbClr val="374151"/>
                </a:solidFill>
                <a:latin typeface="Noto Sans SC"/>
                <a:ea typeface="Noto Sans SC"/>
                <a:cs typeface="Noto Sans SC"/>
                <a:sym typeface="Noto Sans SC"/>
              </a:rPr>
              <a:t>，</a:t>
            </a:r>
            <a:r>
              <a:rPr lang="en-US" sz="1600" b="0" i="0" u="none" strike="noStrike">
                <a:solidFill>
                  <a:srgbClr val="374151"/>
                </a:solidFill>
                <a:latin typeface="Noto Sans SC"/>
                <a:ea typeface="Noto Sans SC"/>
                <a:cs typeface="Noto Sans SC"/>
                <a:sym typeface="Noto Sans SC"/>
              </a:rPr>
              <a:t>即：能唯一标识元组的</a:t>
            </a:r>
            <a:r>
              <a:rPr lang="en-US" sz="1600" b="1" i="0" u="none" strike="noStrike">
                <a:solidFill>
                  <a:srgbClr val="D97706"/>
                </a:solidFill>
                <a:latin typeface="Noto Sans SC"/>
                <a:ea typeface="Noto Sans SC"/>
                <a:cs typeface="Noto Sans SC"/>
                <a:sym typeface="Noto Sans SC"/>
              </a:rPr>
              <a:t>最小属性集</a:t>
            </a:r>
            <a:r>
              <a:rPr lang="en-US" sz="1600" b="0" i="0" u="none" strike="noStrike">
                <a:solidFill>
                  <a:srgbClr val="374151"/>
                </a:solidFill>
                <a:latin typeface="Noto Sans SC"/>
                <a:ea typeface="Noto Sans SC"/>
                <a:cs typeface="Noto Sans SC"/>
                <a:sym typeface="Noto Sans SC"/>
              </a:rPr>
              <a:t>。</a:t>
            </a:r>
            <a:r>
              <a:rPr lang="zh-CN" altLang="en-US" sz="1600" b="1" i="0" u="none" strike="noStrike">
                <a:solidFill>
                  <a:srgbClr val="7030A0"/>
                </a:solidFill>
                <a:latin typeface="Noto Sans SC"/>
                <a:ea typeface="Noto Sans SC"/>
                <a:cs typeface="Noto Sans SC"/>
                <a:sym typeface="Noto Sans SC"/>
              </a:rPr>
              <a:t>属性组</a:t>
            </a:r>
            <a:r>
              <a:rPr lang="en-US" altLang="zh-CN" sz="1600" b="1" i="0" u="none" strike="noStrike">
                <a:solidFill>
                  <a:srgbClr val="7030A0"/>
                </a:solidFill>
                <a:latin typeface="Noto Sans SC"/>
                <a:ea typeface="Noto Sans SC"/>
                <a:cs typeface="Noto Sans SC"/>
                <a:sym typeface="Noto Sans SC"/>
              </a:rPr>
              <a:t>X</a:t>
            </a:r>
            <a:r>
              <a:rPr lang="zh-CN" altLang="en-US" sz="1600" b="1" i="0" u="none" strike="noStrike">
                <a:solidFill>
                  <a:srgbClr val="7030A0"/>
                </a:solidFill>
                <a:latin typeface="Noto Sans SC"/>
                <a:ea typeface="Noto Sans SC"/>
                <a:cs typeface="Noto Sans SC"/>
                <a:sym typeface="Noto Sans SC"/>
              </a:rPr>
              <a:t>的闭包</a:t>
            </a:r>
            <a:r>
              <a:rPr lang="en-US" altLang="zh-CN" sz="1600" b="1">
                <a:solidFill>
                  <a:srgbClr val="7030A0"/>
                </a:solidFill>
                <a:latin typeface="Noto Sans SC"/>
                <a:ea typeface="Noto Sans SC"/>
                <a:cs typeface="Noto Sans SC"/>
                <a:sym typeface="Noto Sans SC"/>
              </a:rPr>
              <a:t> = U </a:t>
            </a:r>
            <a:r>
              <a:rPr lang="zh-CN" altLang="en-US" sz="1600" b="1">
                <a:solidFill>
                  <a:srgbClr val="7030A0"/>
                </a:solidFill>
                <a:latin typeface="Noto Sans SC"/>
                <a:ea typeface="Noto Sans SC"/>
                <a:cs typeface="Noto Sans SC"/>
                <a:sym typeface="Noto Sans SC"/>
              </a:rPr>
              <a:t>且 属性组</a:t>
            </a:r>
            <a:r>
              <a:rPr lang="en-US" altLang="zh-CN" sz="1600" b="1">
                <a:solidFill>
                  <a:srgbClr val="7030A0"/>
                </a:solidFill>
                <a:latin typeface="Noto Sans SC"/>
                <a:ea typeface="Noto Sans SC"/>
                <a:cs typeface="Noto Sans SC"/>
                <a:sym typeface="Noto Sans SC"/>
              </a:rPr>
              <a:t>X</a:t>
            </a:r>
            <a:r>
              <a:rPr lang="zh-CN" altLang="en-US" sz="1600" b="1">
                <a:solidFill>
                  <a:srgbClr val="7030A0"/>
                </a:solidFill>
                <a:latin typeface="Noto Sans SC"/>
                <a:ea typeface="Noto Sans SC"/>
                <a:cs typeface="Noto Sans SC"/>
                <a:sym typeface="Noto Sans SC"/>
              </a:rPr>
              <a:t>的任意真子集的闭包</a:t>
            </a:r>
            <a:r>
              <a:rPr lang="en-US" altLang="zh-CN" sz="1600" b="1">
                <a:solidFill>
                  <a:srgbClr val="7030A0"/>
                </a:solidFill>
                <a:latin typeface="Noto Sans SC"/>
                <a:ea typeface="Noto Sans SC"/>
                <a:cs typeface="Noto Sans SC"/>
                <a:sym typeface="Noto Sans SC"/>
              </a:rPr>
              <a:t> </a:t>
            </a:r>
            <a:r>
              <a:rPr lang="zh-CN" altLang="en-US" sz="1600" b="1">
                <a:solidFill>
                  <a:srgbClr val="7030A0"/>
                </a:solidFill>
                <a:latin typeface="Noto Sans SC"/>
                <a:ea typeface="Noto Sans SC"/>
                <a:cs typeface="Noto Sans SC"/>
                <a:sym typeface="Noto Sans SC"/>
              </a:rPr>
              <a:t>≠</a:t>
            </a:r>
            <a:r>
              <a:rPr lang="en-US" altLang="zh-CN" sz="1600" b="1">
                <a:solidFill>
                  <a:srgbClr val="7030A0"/>
                </a:solidFill>
                <a:latin typeface="Noto Sans SC"/>
                <a:ea typeface="Noto Sans SC"/>
                <a:cs typeface="Noto Sans SC"/>
                <a:sym typeface="Noto Sans SC"/>
              </a:rPr>
              <a:t> U</a:t>
            </a:r>
            <a:r>
              <a:rPr lang="zh-CN" altLang="en-US" sz="1600" b="1">
                <a:solidFill>
                  <a:srgbClr val="7030A0"/>
                </a:solidFill>
                <a:latin typeface="Noto Sans SC"/>
                <a:ea typeface="Noto Sans SC"/>
                <a:cs typeface="Noto Sans SC"/>
                <a:sym typeface="Noto Sans SC"/>
              </a:rPr>
              <a:t>，则属性组</a:t>
            </a:r>
            <a:r>
              <a:rPr lang="en-US" altLang="zh-CN" sz="1600" b="1">
                <a:solidFill>
                  <a:srgbClr val="7030A0"/>
                </a:solidFill>
                <a:latin typeface="Noto Sans SC"/>
                <a:ea typeface="Noto Sans SC"/>
                <a:cs typeface="Noto Sans SC"/>
                <a:sym typeface="Noto Sans SC"/>
              </a:rPr>
              <a:t>X</a:t>
            </a:r>
            <a:r>
              <a:rPr lang="zh-CN" altLang="en-US" sz="1600" b="1">
                <a:solidFill>
                  <a:srgbClr val="7030A0"/>
                </a:solidFill>
                <a:latin typeface="Noto Sans SC"/>
                <a:ea typeface="Noto Sans SC"/>
                <a:cs typeface="Noto Sans SC"/>
                <a:sym typeface="Noto Sans SC"/>
              </a:rPr>
              <a:t>是候选码</a:t>
            </a:r>
            <a:r>
              <a:rPr lang="zh-CN" altLang="en-US" sz="1600">
                <a:solidFill>
                  <a:srgbClr val="374151"/>
                </a:solidFill>
                <a:latin typeface="Noto Sans SC"/>
                <a:ea typeface="Noto Sans SC"/>
                <a:cs typeface="Noto Sans SC"/>
                <a:sym typeface="Noto Sans SC"/>
              </a:rPr>
              <a:t>。</a:t>
            </a:r>
            <a:endParaRPr lang="en-US" sz="1600" b="0" i="0" u="none" strike="noStrike">
              <a:solidFill>
                <a:srgbClr val="374151"/>
              </a:solidFill>
              <a:latin typeface="Noto Sans SC"/>
              <a:ea typeface="Noto Sans SC"/>
              <a:cs typeface="Noto Sans SC"/>
              <a:sym typeface="Noto Sans SC"/>
            </a:endParaRPr>
          </a:p>
        </p:txBody>
      </p:sp>
      <p:sp>
        <p:nvSpPr>
          <p:cNvPr id="6" name="AutoShape 6"/>
          <p:cNvSpPr/>
          <p:nvPr/>
        </p:nvSpPr>
        <p:spPr>
          <a:xfrm>
            <a:off x="6348228" y="1626783"/>
            <a:ext cx="5005572" cy="4579088"/>
          </a:xfrm>
          <a:prstGeom prst="roundRect">
            <a:avLst>
              <a:gd name="adj" fmla="val 0"/>
            </a:avLst>
          </a:prstGeom>
          <a:solidFill>
            <a:srgbClr val="EFF6FF">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713869" y="1898502"/>
            <a:ext cx="4274289" cy="3266262"/>
          </a:xfrm>
          <a:prstGeom prst="rect">
            <a:avLst/>
          </a:prstGeom>
          <a:noFill/>
          <a:ln w="12700" cap="flat" cmpd="sng">
            <a:noFill/>
            <a:prstDash val="solid"/>
            <a:round/>
          </a:ln>
        </p:spPr>
        <p:txBody>
          <a:bodyPr vert="horz" wrap="square" lIns="0" tIns="0" rIns="0" bIns="0" rtlCol="0" anchor="t" anchorCtr="0"/>
          <a:lstStyle/>
          <a:p>
            <a:pPr indent="0" algn="l">
              <a:lnSpc>
                <a:spcPct val="125000"/>
              </a:lnSpc>
              <a:spcAft>
                <a:spcPts val="600"/>
              </a:spcAft>
              <a:defRPr/>
            </a:pPr>
            <a:r>
              <a:rPr lang="en-US" sz="2000" b="1" i="0" u="none" strike="noStrike">
                <a:solidFill>
                  <a:srgbClr val="2563EB"/>
                </a:solidFill>
                <a:latin typeface="Noto Sans SC"/>
                <a:ea typeface="Noto Sans SC"/>
                <a:cs typeface="Noto Sans SC"/>
                <a:sym typeface="Noto Sans SC"/>
              </a:rPr>
              <a:t>💡 </a:t>
            </a:r>
            <a:r>
              <a:rPr lang="en-US" sz="1800" b="1" i="0" u="none" strike="noStrike">
                <a:solidFill>
                  <a:srgbClr val="2563EB"/>
                </a:solidFill>
                <a:latin typeface="Noto Sans SC"/>
                <a:ea typeface="Noto Sans SC"/>
                <a:cs typeface="Noto Sans SC"/>
                <a:sym typeface="Noto Sans SC"/>
              </a:rPr>
              <a:t>求</a:t>
            </a:r>
            <a:r>
              <a:rPr lang="zh-CN" altLang="en-US" sz="1800" b="1" i="0" u="none" strike="noStrike">
                <a:solidFill>
                  <a:srgbClr val="2563EB"/>
                </a:solidFill>
                <a:latin typeface="Noto Sans SC"/>
                <a:ea typeface="Noto Sans SC"/>
                <a:cs typeface="Noto Sans SC"/>
                <a:sym typeface="Noto Sans SC"/>
              </a:rPr>
              <a:t>关系模式</a:t>
            </a:r>
            <a:r>
              <a:rPr lang="en-US" altLang="zh-CN" sz="1800" b="1" i="0" u="none" strike="noStrike">
                <a:solidFill>
                  <a:srgbClr val="2563EB"/>
                </a:solidFill>
                <a:latin typeface="Noto Sans SC"/>
                <a:ea typeface="Noto Sans SC"/>
                <a:cs typeface="Noto Sans SC"/>
                <a:sym typeface="Noto Sans SC"/>
              </a:rPr>
              <a:t>R</a:t>
            </a:r>
            <a:r>
              <a:rPr lang="zh-CN" altLang="en-US" sz="1800" b="1" i="0" u="none" strike="noStrike">
                <a:solidFill>
                  <a:srgbClr val="2563EB"/>
                </a:solidFill>
                <a:latin typeface="Noto Sans SC"/>
                <a:ea typeface="Noto Sans SC"/>
                <a:cs typeface="Noto Sans SC"/>
                <a:sym typeface="Noto Sans SC"/>
              </a:rPr>
              <a:t>的</a:t>
            </a:r>
            <a:r>
              <a:rPr lang="en-US" sz="1800" b="1" i="0" u="none" strike="noStrike">
                <a:solidFill>
                  <a:srgbClr val="2563EB"/>
                </a:solidFill>
                <a:latin typeface="Noto Sans SC"/>
                <a:ea typeface="Noto Sans SC"/>
                <a:cs typeface="Noto Sans SC"/>
                <a:sym typeface="Noto Sans SC"/>
              </a:rPr>
              <a:t>候选键的</a:t>
            </a:r>
            <a:r>
              <a:rPr lang="zh-CN" altLang="en-US" sz="1800" b="1" i="0" u="none" strike="noStrike">
                <a:solidFill>
                  <a:srgbClr val="2563EB"/>
                </a:solidFill>
                <a:latin typeface="Noto Sans SC"/>
                <a:ea typeface="Noto Sans SC"/>
                <a:cs typeface="Noto Sans SC"/>
                <a:sym typeface="Noto Sans SC"/>
              </a:rPr>
              <a:t>算法（通用）</a:t>
            </a:r>
            <a:endParaRPr lang="en-US" sz="2000"/>
          </a:p>
          <a:p>
            <a:pPr>
              <a:lnSpc>
                <a:spcPct val="125000"/>
              </a:lnSpc>
              <a:spcAft>
                <a:spcPts val="600"/>
              </a:spcAft>
            </a:pPr>
            <a:r>
              <a:rPr lang="zh-CN" altLang="en-US" sz="1600">
                <a:solidFill>
                  <a:srgbClr val="374151"/>
                </a:solidFill>
                <a:latin typeface="Noto Sans SC"/>
                <a:ea typeface="Noto Sans SC"/>
                <a:cs typeface="Noto Sans SC"/>
                <a:sym typeface="Noto Sans SC"/>
              </a:rPr>
              <a:t>对于</a:t>
            </a:r>
            <a:r>
              <a:rPr lang="en-US" altLang="zh-CN" sz="1600">
                <a:solidFill>
                  <a:srgbClr val="374151"/>
                </a:solidFill>
                <a:latin typeface="Noto Sans SC"/>
                <a:ea typeface="Noto Sans SC"/>
                <a:cs typeface="Noto Sans SC"/>
                <a:sym typeface="Noto Sans SC"/>
              </a:rPr>
              <a:t>R(U,F)</a:t>
            </a:r>
            <a:r>
              <a:rPr lang="zh-CN" altLang="en-US" sz="1600">
                <a:solidFill>
                  <a:srgbClr val="374151"/>
                </a:solidFill>
                <a:latin typeface="Noto Sans SC"/>
                <a:ea typeface="Noto Sans SC"/>
                <a:cs typeface="Noto Sans SC"/>
                <a:sym typeface="Noto Sans SC"/>
              </a:rPr>
              <a:t>：</a:t>
            </a:r>
            <a:endParaRPr lang="en-US" altLang="zh-CN" sz="1600">
              <a:solidFill>
                <a:srgbClr val="374151"/>
              </a:solidFill>
              <a:latin typeface="Noto Sans SC"/>
              <a:ea typeface="Noto Sans SC"/>
              <a:cs typeface="Noto Sans SC"/>
              <a:sym typeface="Noto Sans SC"/>
            </a:endParaRPr>
          </a:p>
          <a:p>
            <a:pPr marL="342900" indent="-342900">
              <a:lnSpc>
                <a:spcPct val="125000"/>
              </a:lnSpc>
              <a:spcAft>
                <a:spcPts val="600"/>
              </a:spcAft>
              <a:buFont typeface="+mj-lt"/>
              <a:buAutoNum type="arabicPeriod"/>
            </a:pPr>
            <a:r>
              <a:rPr lang="zh-CN" altLang="en-US" sz="1600">
                <a:solidFill>
                  <a:srgbClr val="374151"/>
                </a:solidFill>
                <a:latin typeface="Noto Sans SC"/>
                <a:ea typeface="Noto Sans SC"/>
                <a:cs typeface="Noto Sans SC"/>
                <a:sym typeface="Noto Sans SC"/>
              </a:rPr>
              <a:t>逐一检查其单属性是否是候选码，是，加入候选码集合；</a:t>
            </a:r>
            <a:endParaRPr lang="en-US" altLang="zh-CN" sz="1600">
              <a:solidFill>
                <a:srgbClr val="374151"/>
              </a:solidFill>
              <a:latin typeface="Noto Sans SC"/>
              <a:ea typeface="Noto Sans SC"/>
              <a:cs typeface="Noto Sans SC"/>
              <a:sym typeface="Noto Sans SC"/>
            </a:endParaRPr>
          </a:p>
          <a:p>
            <a:pPr marL="342900" indent="-342900">
              <a:lnSpc>
                <a:spcPct val="125000"/>
              </a:lnSpc>
              <a:spcAft>
                <a:spcPts val="600"/>
              </a:spcAft>
              <a:buFont typeface="+mj-lt"/>
              <a:buAutoNum type="arabicPeriod"/>
            </a:pPr>
            <a:r>
              <a:rPr lang="zh-CN" altLang="en-US" sz="1600">
                <a:solidFill>
                  <a:srgbClr val="374151"/>
                </a:solidFill>
                <a:latin typeface="Noto Sans SC"/>
                <a:ea typeface="Noto Sans SC"/>
                <a:cs typeface="Noto Sans SC"/>
                <a:sym typeface="Noto Sans SC"/>
              </a:rPr>
              <a:t>逐一检查不包含候选键的二元属性组是否是候选码，是，加入候选码集合；</a:t>
            </a:r>
            <a:endParaRPr lang="en-US" altLang="zh-CN" sz="1600">
              <a:solidFill>
                <a:srgbClr val="374151"/>
              </a:solidFill>
              <a:latin typeface="Noto Sans SC"/>
              <a:ea typeface="Noto Sans SC"/>
              <a:cs typeface="Noto Sans SC"/>
              <a:sym typeface="Noto Sans SC"/>
            </a:endParaRPr>
          </a:p>
          <a:p>
            <a:pPr marL="342900" indent="-342900">
              <a:lnSpc>
                <a:spcPct val="125000"/>
              </a:lnSpc>
              <a:spcAft>
                <a:spcPts val="600"/>
              </a:spcAft>
              <a:buFont typeface="+mj-lt"/>
              <a:buAutoNum type="arabicPeriod"/>
            </a:pPr>
            <a:r>
              <a:rPr lang="zh-CN" altLang="en-US" sz="1600">
                <a:solidFill>
                  <a:srgbClr val="374151"/>
                </a:solidFill>
                <a:latin typeface="Noto Sans SC"/>
                <a:ea typeface="Noto Sans SC"/>
                <a:cs typeface="Noto Sans SC"/>
                <a:sym typeface="Noto Sans SC"/>
              </a:rPr>
              <a:t>以此类推，逐一检查完所有不包含候选键的所有属性组是否是候选选键；</a:t>
            </a:r>
            <a:endParaRPr lang="en-US" altLang="zh-CN" sz="1600">
              <a:solidFill>
                <a:srgbClr val="374151"/>
              </a:solidFill>
              <a:latin typeface="Noto Sans SC"/>
              <a:ea typeface="Noto Sans SC"/>
              <a:cs typeface="Noto Sans SC"/>
              <a:sym typeface="Noto Sans SC"/>
            </a:endParaRPr>
          </a:p>
          <a:p>
            <a:pPr>
              <a:lnSpc>
                <a:spcPct val="125000"/>
              </a:lnSpc>
              <a:spcAft>
                <a:spcPts val="600"/>
              </a:spcAft>
            </a:pPr>
            <a:r>
              <a:rPr lang="zh-CN" altLang="en-US" sz="1600">
                <a:solidFill>
                  <a:srgbClr val="374151"/>
                </a:solidFill>
                <a:latin typeface="Noto Sans SC"/>
                <a:ea typeface="Noto Sans SC"/>
                <a:cs typeface="Noto Sans SC"/>
                <a:sym typeface="Noto Sans SC"/>
              </a:rPr>
              <a:t>最终得到关系模式的所有</a:t>
            </a:r>
            <a:r>
              <a:rPr lang="en-US" altLang="zh-CN" sz="1600">
                <a:solidFill>
                  <a:srgbClr val="374151"/>
                </a:solidFill>
                <a:latin typeface="Noto Sans SC"/>
                <a:ea typeface="Noto Sans SC"/>
                <a:cs typeface="Noto Sans SC"/>
                <a:sym typeface="Noto Sans SC"/>
              </a:rPr>
              <a:t>CK</a:t>
            </a:r>
            <a:r>
              <a:rPr lang="zh-CN" altLang="en-US" sz="1600">
                <a:solidFill>
                  <a:srgbClr val="374151"/>
                </a:solidFill>
                <a:latin typeface="Noto Sans SC"/>
                <a:ea typeface="Noto Sans SC"/>
                <a:cs typeface="Noto Sans SC"/>
                <a:sym typeface="Noto Sans SC"/>
              </a:rPr>
              <a:t>（最少有</a:t>
            </a:r>
            <a:r>
              <a:rPr lang="en-US" altLang="zh-CN" sz="1600">
                <a:solidFill>
                  <a:srgbClr val="374151"/>
                </a:solidFill>
                <a:latin typeface="Noto Sans SC"/>
                <a:ea typeface="Noto Sans SC"/>
                <a:cs typeface="Noto Sans SC"/>
                <a:sym typeface="Noto Sans SC"/>
              </a:rPr>
              <a:t>1</a:t>
            </a:r>
            <a:r>
              <a:rPr lang="zh-CN" altLang="en-US" sz="1600">
                <a:solidFill>
                  <a:srgbClr val="374151"/>
                </a:solidFill>
                <a:latin typeface="Noto Sans SC"/>
                <a:ea typeface="Noto Sans SC"/>
                <a:cs typeface="Noto Sans SC"/>
                <a:sym typeface="Noto Sans SC"/>
              </a:rPr>
              <a:t>个）。</a:t>
            </a:r>
            <a:endParaRPr lang="en-US" sz="1600" b="0" i="0" u="none" strike="noStrike">
              <a:solidFill>
                <a:srgbClr val="374151"/>
              </a:solidFill>
              <a:latin typeface="Noto Sans SC"/>
              <a:ea typeface="Noto Sans SC"/>
              <a:cs typeface="Noto Sans SC"/>
              <a:sym typeface="Noto Sans SC"/>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4" name="AutoShape 4"/>
          <p:cNvSpPr/>
          <p:nvPr/>
        </p:nvSpPr>
        <p:spPr>
          <a:xfrm>
            <a:off x="696432" y="1916519"/>
            <a:ext cx="5328683" cy="4491370"/>
          </a:xfrm>
          <a:prstGeom prst="rect">
            <a:avLst/>
          </a:prstGeom>
          <a:noFill/>
          <a:ln w="12700" cap="flat" cmpd="sng">
            <a:noFill/>
            <a:prstDash val="solid"/>
            <a:round/>
          </a:ln>
        </p:spPr>
        <p:txBody>
          <a:bodyPr vert="horz" wrap="square" lIns="127000" tIns="127000" rIns="127000" bIns="0" rtlCol="0" anchor="t" anchorCtr="0"/>
          <a:lstStyle/>
          <a:p>
            <a:pPr indent="0">
              <a:lnSpc>
                <a:spcPct val="125000"/>
              </a:lnSpc>
              <a:spcAft>
                <a:spcPts val="600"/>
              </a:spcAft>
              <a:defRPr/>
            </a:pPr>
            <a:r>
              <a:rPr lang="en-US" sz="1600" b="0" i="0" u="none" strike="noStrike">
                <a:solidFill>
                  <a:srgbClr val="1F2329"/>
                </a:solidFill>
                <a:latin typeface="Noto Sans SC"/>
                <a:ea typeface="Noto Sans SC"/>
                <a:cs typeface="Noto Sans SC"/>
                <a:sym typeface="Noto Sans SC"/>
              </a:rPr>
              <a:t>已知关系模式 R(U, F)，U = {A, B, C}，F = {A→BC, B→C, A→B, AB→C}。求 R 的候选键。</a:t>
            </a:r>
            <a:endParaRPr lang="en-US" sz="1600"/>
          </a:p>
          <a:p>
            <a:pPr indent="0">
              <a:lnSpc>
                <a:spcPct val="125000"/>
              </a:lnSpc>
              <a:spcAft>
                <a:spcPts val="600"/>
              </a:spcAft>
            </a:pPr>
            <a:r>
              <a:rPr lang="zh-CN" altLang="en-US" sz="1600" b="1" i="0" u="none" strike="noStrike">
                <a:solidFill>
                  <a:srgbClr val="1F2329"/>
                </a:solidFill>
                <a:latin typeface="Noto Sans SC"/>
                <a:ea typeface="Noto Sans SC"/>
                <a:cs typeface="Noto Sans SC"/>
                <a:sym typeface="Noto Sans SC"/>
              </a:rPr>
              <a:t>解法</a:t>
            </a:r>
            <a:r>
              <a:rPr lang="en-US" altLang="zh-CN" sz="1600" b="1" i="0" u="none" strike="noStrike">
                <a:solidFill>
                  <a:srgbClr val="1F2329"/>
                </a:solidFill>
                <a:latin typeface="Noto Sans SC"/>
                <a:ea typeface="Noto Sans SC"/>
                <a:cs typeface="Noto Sans SC"/>
                <a:sym typeface="Noto Sans SC"/>
              </a:rPr>
              <a:t>A</a:t>
            </a:r>
            <a:r>
              <a:rPr lang="en-US" sz="1600" b="1" i="0" u="none" strike="noStrike">
                <a:solidFill>
                  <a:srgbClr val="1F2329"/>
                </a:solidFill>
                <a:latin typeface="Noto Sans SC"/>
                <a:ea typeface="Noto Sans SC"/>
                <a:cs typeface="Noto Sans SC"/>
                <a:sym typeface="Noto Sans SC"/>
              </a:rPr>
              <a:t>：</a:t>
            </a:r>
          </a:p>
          <a:p>
            <a:pPr>
              <a:lnSpc>
                <a:spcPct val="125000"/>
              </a:lnSpc>
              <a:spcAft>
                <a:spcPts val="600"/>
              </a:spcAft>
            </a:pPr>
            <a:r>
              <a:rPr lang="zh-CN" altLang="en-US" sz="1600" b="0" i="0" u="none" strike="noStrike">
                <a:solidFill>
                  <a:srgbClr val="505050"/>
                </a:solidFill>
                <a:latin typeface="Noto Sans SC"/>
                <a:ea typeface="Noto Sans SC"/>
                <a:cs typeface="Noto Sans SC"/>
                <a:sym typeface="Noto Sans SC"/>
              </a:rPr>
              <a:t>从单属性开始逐个检查，直到检查完所有不包含候选键的所有属性组。</a:t>
            </a:r>
            <a:endParaRPr lang="en-US" sz="1600" b="1" i="0" u="none" strike="noStrike">
              <a:solidFill>
                <a:srgbClr val="DC2626"/>
              </a:solidFill>
              <a:latin typeface="Noto Sans SC"/>
              <a:ea typeface="Noto Sans SC"/>
              <a:cs typeface="Noto Sans SC"/>
              <a:sym typeface="Noto Sans SC"/>
            </a:endParaRPr>
          </a:p>
        </p:txBody>
      </p:sp>
      <p:sp>
        <p:nvSpPr>
          <p:cNvPr id="9" name="AutoShape 2">
            <a:extLst>
              <a:ext uri="{FF2B5EF4-FFF2-40B4-BE49-F238E27FC236}">
                <a16:creationId xmlns:a16="http://schemas.microsoft.com/office/drawing/2014/main" id="{90DF1DF2-24E2-CBBE-1A01-4C2CA4F567A7}"/>
              </a:ext>
            </a:extLst>
          </p:cNvPr>
          <p:cNvSpPr/>
          <p:nvPr/>
        </p:nvSpPr>
        <p:spPr>
          <a:xfrm>
            <a:off x="838200" y="381000"/>
            <a:ext cx="10515600" cy="668079"/>
          </a:xfrm>
          <a:prstGeom prst="roundRect">
            <a:avLst>
              <a:gd name="adj" fmla="val 0"/>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altLang="zh-CN" sz="2400" b="1">
                <a:solidFill>
                  <a:srgbClr val="FFFFFF"/>
                </a:solidFill>
                <a:latin typeface="Noto Sans SC"/>
                <a:ea typeface="Noto Sans SC"/>
                <a:sym typeface="Noto Sans SC"/>
              </a:rPr>
              <a:t>7.2.7  候选键 </a:t>
            </a:r>
            <a:r>
              <a:rPr lang="zh-CN" altLang="en-US" sz="2400" b="1">
                <a:solidFill>
                  <a:srgbClr val="FFFFFF"/>
                </a:solidFill>
                <a:latin typeface="Noto Sans SC"/>
                <a:ea typeface="Noto Sans SC"/>
                <a:sym typeface="Noto Sans SC"/>
              </a:rPr>
              <a:t>（</a:t>
            </a:r>
            <a:r>
              <a:rPr lang="en-US" altLang="zh-CN" sz="2400" b="1">
                <a:solidFill>
                  <a:srgbClr val="FFFFFF"/>
                </a:solidFill>
                <a:latin typeface="Noto Sans SC"/>
                <a:ea typeface="Noto Sans SC"/>
                <a:sym typeface="Noto Sans SC"/>
              </a:rPr>
              <a:t>2</a:t>
            </a:r>
            <a:r>
              <a:rPr lang="zh-CN" altLang="en-US" sz="2400" b="1">
                <a:solidFill>
                  <a:srgbClr val="FFFFFF"/>
                </a:solidFill>
                <a:latin typeface="Noto Sans SC"/>
                <a:ea typeface="Noto Sans SC"/>
                <a:sym typeface="Noto Sans SC"/>
              </a:rPr>
              <a:t>）</a:t>
            </a:r>
            <a:endParaRPr sz="2400" b="1">
              <a:solidFill>
                <a:srgbClr val="FFFFFF"/>
              </a:solidFill>
              <a:latin typeface="Noto Sans SC"/>
              <a:ea typeface="Noto Sans SC"/>
            </a:endParaRPr>
          </a:p>
        </p:txBody>
      </p:sp>
      <p:sp>
        <p:nvSpPr>
          <p:cNvPr id="11" name="AutoShape 6">
            <a:extLst>
              <a:ext uri="{FF2B5EF4-FFF2-40B4-BE49-F238E27FC236}">
                <a16:creationId xmlns:a16="http://schemas.microsoft.com/office/drawing/2014/main" id="{AE852132-601A-116C-5C04-8D54D30A0A6B}"/>
              </a:ext>
            </a:extLst>
          </p:cNvPr>
          <p:cNvSpPr/>
          <p:nvPr/>
        </p:nvSpPr>
        <p:spPr>
          <a:xfrm>
            <a:off x="696433" y="3818861"/>
            <a:ext cx="5328682" cy="2364750"/>
          </a:xfrm>
          <a:prstGeom prst="rect">
            <a:avLst/>
          </a:prstGeom>
          <a:solidFill>
            <a:schemeClr val="accent4">
              <a:lumMod val="20000"/>
              <a:lumOff val="80000"/>
            </a:schemeClr>
          </a:solidFill>
          <a:ln w="12700" cap="flat" cmpd="sng">
            <a:noFill/>
            <a:prstDash val="solid"/>
            <a:round/>
          </a:ln>
        </p:spPr>
        <p:txBody>
          <a:bodyPr vert="horz" wrap="square" lIns="127000" tIns="127000" rIns="127000" bIns="0" rtlCol="0" anchor="t" anchorCtr="0">
            <a:spAutoFit/>
          </a:bodyPr>
          <a:lstStyle/>
          <a:p>
            <a:pPr marL="285750" indent="-285750">
              <a:spcBef>
                <a:spcPts val="800"/>
              </a:spcBef>
              <a:buFont typeface="Arial" panose="020B0604020202020204" pitchFamily="34" charset="0"/>
              <a:buChar char="•"/>
            </a:pPr>
            <a:r>
              <a:rPr lang="en-US" altLang="zh-CN" sz="1600"/>
              <a:t>A+ = ABC = U</a:t>
            </a:r>
            <a:r>
              <a:rPr lang="zh-CN" altLang="en-US" sz="1600"/>
              <a:t>，</a:t>
            </a:r>
            <a:r>
              <a:rPr lang="en-US" altLang="zh-CN" sz="1600"/>
              <a:t>A</a:t>
            </a:r>
            <a:r>
              <a:rPr lang="zh-CN" altLang="en-US" sz="1600"/>
              <a:t>是候选键，不再检查包含</a:t>
            </a:r>
            <a:r>
              <a:rPr lang="en-US" altLang="zh-CN" sz="1600"/>
              <a:t>A</a:t>
            </a:r>
            <a:r>
              <a:rPr lang="zh-CN" altLang="en-US" sz="1600"/>
              <a:t>的属性组</a:t>
            </a:r>
            <a:endParaRPr lang="en-US" altLang="zh-CN" sz="1600"/>
          </a:p>
          <a:p>
            <a:pPr marL="285750" indent="-285750">
              <a:spcBef>
                <a:spcPts val="800"/>
              </a:spcBef>
              <a:buFont typeface="Arial" panose="020B0604020202020204" pitchFamily="34" charset="0"/>
              <a:buChar char="•"/>
            </a:pPr>
            <a:r>
              <a:rPr lang="en-US" altLang="zh-CN" sz="1600">
                <a:sym typeface="Noto Sans SC"/>
              </a:rPr>
              <a:t>B+ = BC</a:t>
            </a:r>
            <a:r>
              <a:rPr lang="zh-CN" altLang="en-US" sz="1600">
                <a:sym typeface="Noto Sans SC"/>
              </a:rPr>
              <a:t>，</a:t>
            </a:r>
            <a:r>
              <a:rPr lang="en-US" altLang="zh-CN" sz="1600">
                <a:sym typeface="Noto Sans SC"/>
              </a:rPr>
              <a:t>B</a:t>
            </a:r>
            <a:r>
              <a:rPr lang="zh-CN" altLang="en-US" sz="1600">
                <a:sym typeface="Noto Sans SC"/>
              </a:rPr>
              <a:t>不是</a:t>
            </a:r>
            <a:r>
              <a:rPr lang="zh-CN" altLang="en-US" sz="1600"/>
              <a:t>候选键</a:t>
            </a:r>
            <a:endParaRPr lang="en-US" altLang="zh-CN" sz="1600">
              <a:sym typeface="Noto Sans SC"/>
            </a:endParaRPr>
          </a:p>
          <a:p>
            <a:pPr marL="285750" indent="-285750">
              <a:spcBef>
                <a:spcPts val="800"/>
              </a:spcBef>
              <a:buFont typeface="Arial" panose="020B0604020202020204" pitchFamily="34" charset="0"/>
              <a:buChar char="•"/>
            </a:pPr>
            <a:r>
              <a:rPr lang="en-US" sz="1600">
                <a:sym typeface="Noto Sans SC"/>
              </a:rPr>
              <a:t>C+ = C</a:t>
            </a:r>
            <a:r>
              <a:rPr lang="zh-CN" altLang="en-US" sz="1600">
                <a:sym typeface="Noto Sans SC"/>
              </a:rPr>
              <a:t>，</a:t>
            </a:r>
            <a:r>
              <a:rPr lang="en-US" altLang="zh-CN" sz="1600">
                <a:sym typeface="Noto Sans SC"/>
              </a:rPr>
              <a:t>C</a:t>
            </a:r>
            <a:r>
              <a:rPr lang="zh-CN" altLang="en-US" sz="1600">
                <a:sym typeface="Noto Sans SC"/>
              </a:rPr>
              <a:t>不是</a:t>
            </a:r>
            <a:r>
              <a:rPr lang="zh-CN" altLang="en-US" sz="1600"/>
              <a:t>候选键</a:t>
            </a:r>
            <a:endParaRPr lang="en-US" sz="1600">
              <a:sym typeface="Noto Sans SC"/>
            </a:endParaRPr>
          </a:p>
          <a:p>
            <a:pPr marL="285750" indent="-285750">
              <a:spcBef>
                <a:spcPts val="800"/>
              </a:spcBef>
              <a:buFont typeface="Arial" panose="020B0604020202020204" pitchFamily="34" charset="0"/>
              <a:buChar char="•"/>
            </a:pPr>
            <a:r>
              <a:rPr lang="en-US" sz="1600">
                <a:sym typeface="Noto Sans SC"/>
              </a:rPr>
              <a:t>(BC)+ = BC</a:t>
            </a:r>
            <a:r>
              <a:rPr lang="zh-CN" altLang="en-US" sz="1600">
                <a:sym typeface="Noto Sans SC"/>
              </a:rPr>
              <a:t>，</a:t>
            </a:r>
            <a:r>
              <a:rPr lang="en-US" altLang="zh-CN" sz="1600">
                <a:sym typeface="Noto Sans SC"/>
              </a:rPr>
              <a:t>BC</a:t>
            </a:r>
            <a:r>
              <a:rPr lang="zh-CN" altLang="en-US" sz="1600">
                <a:sym typeface="Noto Sans SC"/>
              </a:rPr>
              <a:t>不是</a:t>
            </a:r>
            <a:r>
              <a:rPr lang="zh-CN" altLang="en-US" sz="1600"/>
              <a:t>候选键</a:t>
            </a:r>
            <a:endParaRPr lang="en-US" sz="1600">
              <a:sym typeface="Noto Sans SC"/>
            </a:endParaRPr>
          </a:p>
          <a:p>
            <a:pPr algn="l">
              <a:lnSpc>
                <a:spcPct val="100000"/>
              </a:lnSpc>
              <a:spcBef>
                <a:spcPts val="800"/>
              </a:spcBef>
            </a:pPr>
            <a:r>
              <a:rPr lang="zh-CN" altLang="en-US" sz="1600">
                <a:sym typeface="Noto Sans SC"/>
              </a:rPr>
              <a:t>已检查完所有不含候选码的属性组，没有发现候选码。</a:t>
            </a:r>
            <a:endParaRPr lang="en-US" altLang="zh-CN" sz="1600">
              <a:sym typeface="Noto Sans SC"/>
            </a:endParaRPr>
          </a:p>
          <a:p>
            <a:pPr algn="l">
              <a:lnSpc>
                <a:spcPct val="100000"/>
              </a:lnSpc>
              <a:spcBef>
                <a:spcPts val="800"/>
              </a:spcBef>
            </a:pPr>
            <a:r>
              <a:rPr lang="zh-CN" altLang="en-US" sz="1600">
                <a:solidFill>
                  <a:srgbClr val="7030A0"/>
                </a:solidFill>
                <a:sym typeface="Noto Sans SC"/>
              </a:rPr>
              <a:t>结论：</a:t>
            </a:r>
            <a:r>
              <a:rPr lang="en-US" altLang="zh-CN" sz="1600">
                <a:solidFill>
                  <a:srgbClr val="7030A0"/>
                </a:solidFill>
                <a:sym typeface="Noto Sans SC"/>
              </a:rPr>
              <a:t>R</a:t>
            </a:r>
            <a:r>
              <a:rPr lang="zh-CN" altLang="en-US" sz="1600">
                <a:solidFill>
                  <a:srgbClr val="7030A0"/>
                </a:solidFill>
                <a:sym typeface="Noto Sans SC"/>
              </a:rPr>
              <a:t>的候选码只有</a:t>
            </a:r>
            <a:r>
              <a:rPr lang="en-US" altLang="zh-CN" sz="1600">
                <a:solidFill>
                  <a:srgbClr val="7030A0"/>
                </a:solidFill>
                <a:sym typeface="Noto Sans SC"/>
              </a:rPr>
              <a:t>1</a:t>
            </a:r>
            <a:r>
              <a:rPr lang="zh-CN" altLang="en-US" sz="1600">
                <a:solidFill>
                  <a:srgbClr val="7030A0"/>
                </a:solidFill>
                <a:sym typeface="Noto Sans SC"/>
              </a:rPr>
              <a:t>个，是</a:t>
            </a:r>
            <a:r>
              <a:rPr lang="en-US" altLang="zh-CN" sz="1600">
                <a:solidFill>
                  <a:srgbClr val="7030A0"/>
                </a:solidFill>
                <a:sym typeface="Noto Sans SC"/>
              </a:rPr>
              <a:t>(A)</a:t>
            </a:r>
            <a:r>
              <a:rPr lang="zh-CN" altLang="en-US" sz="1600">
                <a:solidFill>
                  <a:srgbClr val="7030A0"/>
                </a:solidFill>
                <a:sym typeface="Noto Sans SC"/>
              </a:rPr>
              <a:t>。</a:t>
            </a:r>
            <a:endParaRPr lang="en-US" sz="1600">
              <a:solidFill>
                <a:srgbClr val="7030A0"/>
              </a:solidFill>
              <a:sym typeface="Noto Sans SC"/>
            </a:endParaRPr>
          </a:p>
        </p:txBody>
      </p:sp>
      <p:sp>
        <p:nvSpPr>
          <p:cNvPr id="13" name="AutoShape 6">
            <a:extLst>
              <a:ext uri="{FF2B5EF4-FFF2-40B4-BE49-F238E27FC236}">
                <a16:creationId xmlns:a16="http://schemas.microsoft.com/office/drawing/2014/main" id="{6510D482-8144-D263-B453-0845212E029E}"/>
              </a:ext>
            </a:extLst>
          </p:cNvPr>
          <p:cNvSpPr/>
          <p:nvPr/>
        </p:nvSpPr>
        <p:spPr>
          <a:xfrm>
            <a:off x="7272669" y="2585611"/>
            <a:ext cx="4222898" cy="2262158"/>
          </a:xfrm>
          <a:prstGeom prst="rect">
            <a:avLst/>
          </a:prstGeom>
          <a:noFill/>
          <a:ln w="12700" cap="flat" cmpd="sng">
            <a:noFill/>
            <a:prstDash val="solid"/>
            <a:round/>
          </a:ln>
        </p:spPr>
        <p:txBody>
          <a:bodyPr vert="horz" wrap="square" lIns="127000" tIns="127000" rIns="127000" bIns="0" rtlCol="0" anchor="t" anchorCtr="0">
            <a:spAutoFit/>
          </a:bodyPr>
          <a:lstStyle/>
          <a:p>
            <a:pPr>
              <a:spcBef>
                <a:spcPts val="800"/>
              </a:spcBef>
            </a:pPr>
            <a:r>
              <a:rPr lang="en-US" altLang="zh-CN" sz="1600" b="1">
                <a:solidFill>
                  <a:srgbClr val="1F2329"/>
                </a:solidFill>
                <a:latin typeface="Noto Sans SC"/>
                <a:ea typeface="Noto Sans SC"/>
                <a:cs typeface="Noto Sans SC"/>
                <a:sym typeface="Noto Sans SC"/>
              </a:rPr>
              <a:t>解</a:t>
            </a:r>
            <a:r>
              <a:rPr lang="zh-CN" altLang="en-US" sz="1600" b="1">
                <a:solidFill>
                  <a:srgbClr val="1F2329"/>
                </a:solidFill>
                <a:latin typeface="Noto Sans SC"/>
                <a:ea typeface="Noto Sans SC"/>
                <a:cs typeface="Noto Sans SC"/>
                <a:sym typeface="Noto Sans SC"/>
              </a:rPr>
              <a:t>法</a:t>
            </a:r>
            <a:r>
              <a:rPr lang="en-US" altLang="zh-CN" sz="1600" b="1">
                <a:solidFill>
                  <a:srgbClr val="1F2329"/>
                </a:solidFill>
                <a:latin typeface="Noto Sans SC"/>
                <a:ea typeface="Noto Sans SC"/>
                <a:cs typeface="Noto Sans SC"/>
                <a:sym typeface="Noto Sans SC"/>
              </a:rPr>
              <a:t>B</a:t>
            </a:r>
            <a:r>
              <a:rPr lang="zh-CN" altLang="en-US" sz="1600" b="1">
                <a:solidFill>
                  <a:srgbClr val="1F2329"/>
                </a:solidFill>
                <a:latin typeface="Noto Sans SC"/>
                <a:ea typeface="Noto Sans SC"/>
                <a:cs typeface="Noto Sans SC"/>
                <a:sym typeface="Noto Sans SC"/>
              </a:rPr>
              <a:t>（先求</a:t>
            </a:r>
            <a:r>
              <a:rPr lang="en-US" altLang="zh-CN" sz="1600" b="1">
                <a:solidFill>
                  <a:srgbClr val="1F2329"/>
                </a:solidFill>
                <a:latin typeface="Noto Sans SC"/>
                <a:ea typeface="Noto Sans SC"/>
                <a:cs typeface="Noto Sans SC"/>
                <a:sym typeface="Noto Sans SC"/>
              </a:rPr>
              <a:t>Fmin</a:t>
            </a:r>
            <a:r>
              <a:rPr lang="zh-CN" altLang="en-US" sz="1600" b="1">
                <a:solidFill>
                  <a:srgbClr val="1F2329"/>
                </a:solidFill>
                <a:latin typeface="Noto Sans SC"/>
                <a:ea typeface="Noto Sans SC"/>
                <a:cs typeface="Noto Sans SC"/>
                <a:sym typeface="Noto Sans SC"/>
              </a:rPr>
              <a:t>）</a:t>
            </a:r>
            <a:r>
              <a:rPr lang="en-US" altLang="zh-CN" sz="1600" b="1">
                <a:solidFill>
                  <a:srgbClr val="1F2329"/>
                </a:solidFill>
                <a:latin typeface="Noto Sans SC"/>
                <a:ea typeface="Noto Sans SC"/>
                <a:cs typeface="Noto Sans SC"/>
                <a:sym typeface="Noto Sans SC"/>
              </a:rPr>
              <a:t>：</a:t>
            </a:r>
          </a:p>
          <a:p>
            <a:pPr marL="342900" indent="-342900">
              <a:spcBef>
                <a:spcPts val="800"/>
              </a:spcBef>
              <a:buFont typeface="+mj-lt"/>
              <a:buAutoNum type="arabicPeriod"/>
            </a:pPr>
            <a:r>
              <a:rPr lang="zh-CN" altLang="en-US" sz="1600">
                <a:solidFill>
                  <a:srgbClr val="505050"/>
                </a:solidFill>
                <a:latin typeface="Noto Sans SC"/>
                <a:ea typeface="Noto Sans SC"/>
                <a:cs typeface="Noto Sans SC"/>
                <a:sym typeface="Noto Sans SC"/>
              </a:rPr>
              <a:t>求</a:t>
            </a:r>
            <a:r>
              <a:rPr lang="en-US" altLang="zh-CN" sz="1600">
                <a:solidFill>
                  <a:srgbClr val="505050"/>
                </a:solidFill>
                <a:latin typeface="Noto Sans SC"/>
                <a:ea typeface="Noto Sans SC"/>
                <a:cs typeface="Noto Sans SC"/>
                <a:sym typeface="Noto Sans SC"/>
              </a:rPr>
              <a:t>Fmin</a:t>
            </a:r>
            <a:r>
              <a:rPr lang="zh-CN" altLang="en-US" sz="1600">
                <a:solidFill>
                  <a:srgbClr val="505050"/>
                </a:solidFill>
                <a:latin typeface="Noto Sans SC"/>
                <a:ea typeface="Noto Sans SC"/>
                <a:cs typeface="Noto Sans SC"/>
                <a:sym typeface="Noto Sans SC"/>
              </a:rPr>
              <a:t>。</a:t>
            </a:r>
            <a:endParaRPr lang="en-US" altLang="zh-CN" sz="1600">
              <a:solidFill>
                <a:srgbClr val="505050"/>
              </a:solidFill>
              <a:latin typeface="Noto Sans SC"/>
              <a:ea typeface="Noto Sans SC"/>
              <a:cs typeface="Noto Sans SC"/>
              <a:sym typeface="Noto Sans SC"/>
            </a:endParaRPr>
          </a:p>
          <a:p>
            <a:pPr marL="342900" indent="-342900">
              <a:spcBef>
                <a:spcPts val="800"/>
              </a:spcBef>
              <a:buFont typeface="+mj-lt"/>
              <a:buAutoNum type="arabicPeriod"/>
            </a:pPr>
            <a:r>
              <a:rPr lang="zh-CN" altLang="en-US" sz="1600">
                <a:solidFill>
                  <a:srgbClr val="505050"/>
                </a:solidFill>
                <a:latin typeface="Noto Sans SC"/>
                <a:ea typeface="Noto Sans SC"/>
                <a:cs typeface="Noto Sans SC"/>
                <a:sym typeface="Noto Sans SC"/>
              </a:rPr>
              <a:t>从单属性开始逐个检查，直到检查完所有不包含候选键的所有属性组。</a:t>
            </a:r>
            <a:endParaRPr lang="en-US" altLang="zh-CN" sz="1600">
              <a:solidFill>
                <a:srgbClr val="505050"/>
              </a:solidFill>
              <a:latin typeface="Noto Sans SC"/>
              <a:ea typeface="Noto Sans SC"/>
              <a:cs typeface="Noto Sans SC"/>
              <a:sym typeface="Noto Sans SC"/>
            </a:endParaRPr>
          </a:p>
          <a:p>
            <a:pPr marL="342900" indent="-342900">
              <a:spcBef>
                <a:spcPts val="800"/>
              </a:spcBef>
              <a:buFont typeface="+mj-lt"/>
              <a:buAutoNum type="arabicPeriod"/>
            </a:pPr>
            <a:endParaRPr lang="en-US" altLang="zh-CN" sz="1600">
              <a:solidFill>
                <a:srgbClr val="505050"/>
              </a:solidFill>
              <a:latin typeface="Noto Sans SC"/>
              <a:ea typeface="Noto Sans SC"/>
              <a:sym typeface="Noto Sans SC"/>
            </a:endParaRPr>
          </a:p>
          <a:p>
            <a:pPr>
              <a:spcBef>
                <a:spcPts val="800"/>
              </a:spcBef>
            </a:pPr>
            <a:r>
              <a:rPr lang="zh-CN" altLang="en-US" sz="1600">
                <a:solidFill>
                  <a:srgbClr val="505050"/>
                </a:solidFill>
                <a:latin typeface="Noto Sans SC"/>
                <a:ea typeface="Noto Sans SC"/>
                <a:sym typeface="Noto Sans SC"/>
              </a:rPr>
              <a:t>很多教材给出上述方法，注意：求</a:t>
            </a:r>
            <a:r>
              <a:rPr lang="en-US" altLang="zh-CN" sz="1600">
                <a:solidFill>
                  <a:srgbClr val="505050"/>
                </a:solidFill>
                <a:latin typeface="Noto Sans SC"/>
                <a:ea typeface="Noto Sans SC"/>
                <a:sym typeface="Noto Sans SC"/>
              </a:rPr>
              <a:t>Fmin</a:t>
            </a:r>
            <a:r>
              <a:rPr lang="zh-CN" altLang="en-US" sz="1600">
                <a:solidFill>
                  <a:srgbClr val="505050"/>
                </a:solidFill>
                <a:latin typeface="Noto Sans SC"/>
                <a:ea typeface="Noto Sans SC"/>
                <a:sym typeface="Noto Sans SC"/>
              </a:rPr>
              <a:t>不是必须的！</a:t>
            </a:r>
            <a:endParaRPr lang="en-US" altLang="zh-CN" sz="1600">
              <a:solidFill>
                <a:srgbClr val="7030A0"/>
              </a:solidFill>
              <a:sym typeface="Noto Sans SC"/>
            </a:endParaRPr>
          </a:p>
        </p:txBody>
      </p:sp>
      <p:sp>
        <p:nvSpPr>
          <p:cNvPr id="2" name="AutoShape 4">
            <a:extLst>
              <a:ext uri="{FF2B5EF4-FFF2-40B4-BE49-F238E27FC236}">
                <a16:creationId xmlns:a16="http://schemas.microsoft.com/office/drawing/2014/main" id="{6C9BF0F4-DC60-712D-5F85-584ED4B2B481}"/>
              </a:ext>
            </a:extLst>
          </p:cNvPr>
          <p:cNvSpPr/>
          <p:nvPr/>
        </p:nvSpPr>
        <p:spPr>
          <a:xfrm>
            <a:off x="838200" y="1311761"/>
            <a:ext cx="4084084"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：求关系模式</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R</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的候选键</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B8C0F-FEF6-434E-31B7-6906EA2889AF}"/>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81FAAFE1-02FE-5E78-88BC-0B88B0438D79}"/>
              </a:ext>
            </a:extLst>
          </p:cNvPr>
          <p:cNvSpPr/>
          <p:nvPr/>
        </p:nvSpPr>
        <p:spPr>
          <a:xfrm>
            <a:off x="838200" y="368300"/>
            <a:ext cx="10515600" cy="558800"/>
          </a:xfrm>
          <a:prstGeom prst="rect">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zh-CN" altLang="en-US" sz="2800">
                <a:solidFill>
                  <a:srgbClr val="FFFFFF"/>
                </a:solidFill>
                <a:latin typeface="Noto Sans SC Black" panose="020B0200000000000000" pitchFamily="34" charset="-122"/>
                <a:ea typeface="Noto Sans SC Black" panose="020B0200000000000000" pitchFamily="34" charset="-122"/>
                <a:sym typeface="Noto Sans SC"/>
              </a:rPr>
              <a:t>课外作业</a:t>
            </a:r>
            <a:endParaRPr lang="en-US" sz="2800">
              <a:solidFill>
                <a:srgbClr val="FFFFFF"/>
              </a:solidFill>
              <a:latin typeface="Noto Sans SC Black" panose="020B0200000000000000" pitchFamily="34" charset="-122"/>
              <a:ea typeface="Noto Sans SC Black" panose="020B0200000000000000" pitchFamily="34" charset="-122"/>
            </a:endParaRPr>
          </a:p>
        </p:txBody>
      </p:sp>
      <p:sp>
        <p:nvSpPr>
          <p:cNvPr id="3" name="AutoShape 3">
            <a:extLst>
              <a:ext uri="{FF2B5EF4-FFF2-40B4-BE49-F238E27FC236}">
                <a16:creationId xmlns:a16="http://schemas.microsoft.com/office/drawing/2014/main" id="{5A485F2F-5D41-0490-F316-1DE417D335FC}"/>
              </a:ext>
            </a:extLst>
          </p:cNvPr>
          <p:cNvSpPr/>
          <p:nvPr/>
        </p:nvSpPr>
        <p:spPr>
          <a:xfrm>
            <a:off x="3367862" y="1918585"/>
            <a:ext cx="5456275" cy="361317"/>
          </a:xfrm>
          <a:prstGeom prst="rect">
            <a:avLst/>
          </a:prstGeom>
          <a:noFill/>
          <a:ln w="12700" cap="flat" cmpd="sng">
            <a:noFill/>
            <a:prstDash val="solid"/>
            <a:round/>
          </a:ln>
        </p:spPr>
        <p:txBody>
          <a:bodyPr vert="horz" wrap="square" lIns="0" tIns="0" rIns="0" bIns="0" rtlCol="0" anchor="t" anchorCtr="0">
            <a:spAutoFit/>
          </a:bodyPr>
          <a:lstStyle/>
          <a:p>
            <a:pPr indent="0" algn="l">
              <a:lnSpc>
                <a:spcPct val="130000"/>
              </a:lnSpc>
              <a:defRPr/>
            </a:pPr>
            <a:r>
              <a:rPr lang="en-US" altLang="zh-CN" sz="2000" b="1">
                <a:solidFill>
                  <a:srgbClr val="7030A0"/>
                </a:solidFill>
                <a:latin typeface="Noto Sans SC"/>
                <a:ea typeface="Noto Sans SC"/>
                <a:sym typeface="Noto Sans SC"/>
              </a:rPr>
              <a:t>《</a:t>
            </a:r>
            <a:r>
              <a:rPr lang="en-US" sz="2000" b="1">
                <a:solidFill>
                  <a:srgbClr val="7030A0"/>
                </a:solidFill>
                <a:latin typeface="Noto Sans SC"/>
                <a:ea typeface="Noto Sans SC"/>
                <a:sym typeface="Noto Sans SC"/>
              </a:rPr>
              <a:t>DB</a:t>
            </a:r>
            <a:r>
              <a:rPr lang="zh-CN" altLang="en-US" sz="2000" b="1">
                <a:solidFill>
                  <a:srgbClr val="7030A0"/>
                </a:solidFill>
                <a:latin typeface="Noto Sans SC"/>
                <a:ea typeface="Noto Sans SC"/>
                <a:sym typeface="Noto Sans SC"/>
              </a:rPr>
              <a:t>作业</a:t>
            </a:r>
            <a:r>
              <a:rPr lang="en-US" altLang="zh-CN" sz="2000" b="1">
                <a:solidFill>
                  <a:srgbClr val="7030A0"/>
                </a:solidFill>
                <a:latin typeface="Noto Sans SC"/>
                <a:ea typeface="Noto Sans SC"/>
                <a:sym typeface="Noto Sans SC"/>
              </a:rPr>
              <a:t>07A</a:t>
            </a:r>
            <a:r>
              <a:rPr lang="zh-CN" altLang="en-US" sz="2000" b="1">
                <a:solidFill>
                  <a:srgbClr val="7030A0"/>
                </a:solidFill>
                <a:latin typeface="Noto Sans SC"/>
                <a:ea typeface="Noto Sans SC"/>
                <a:sym typeface="Noto Sans SC"/>
              </a:rPr>
              <a:t>：关系数据库规范化设计理论</a:t>
            </a:r>
            <a:r>
              <a:rPr lang="en-US" altLang="zh-CN" sz="2000" b="1">
                <a:solidFill>
                  <a:srgbClr val="7030A0"/>
                </a:solidFill>
                <a:latin typeface="Noto Sans SC"/>
                <a:ea typeface="Noto Sans SC"/>
                <a:sym typeface="Noto Sans SC"/>
              </a:rPr>
              <a:t>》</a:t>
            </a:r>
            <a:endParaRPr lang="en-US" sz="1600">
              <a:solidFill>
                <a:srgbClr val="555555"/>
              </a:solidFill>
              <a:latin typeface="Noto Sans SC"/>
              <a:ea typeface="Noto Sans SC"/>
              <a:sym typeface="Noto Sans SC"/>
            </a:endParaRPr>
          </a:p>
        </p:txBody>
      </p:sp>
    </p:spTree>
    <p:extLst>
      <p:ext uri="{BB962C8B-B14F-4D97-AF65-F5344CB8AC3E}">
        <p14:creationId xmlns:p14="http://schemas.microsoft.com/office/powerpoint/2010/main" val="668129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762000"/>
          </a:xfrm>
          <a:prstGeom prst="rect">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en-US" sz="2800">
                <a:solidFill>
                  <a:srgbClr val="FFFFFF"/>
                </a:solidFill>
                <a:latin typeface="Noto Sans SC Black" panose="020B0200000000000000" pitchFamily="34" charset="-122"/>
                <a:ea typeface="Noto Sans SC Black" panose="020B0200000000000000" pitchFamily="34" charset="-122"/>
                <a:sym typeface="Noto Sans SC"/>
              </a:rPr>
              <a:t>7.3 模式分解</a:t>
            </a:r>
            <a:endParaRPr lang="en-US" sz="2800">
              <a:solidFill>
                <a:srgbClr val="FFFFFF"/>
              </a:solidFill>
              <a:latin typeface="Noto Sans SC Black" panose="020B0200000000000000" pitchFamily="34" charset="-122"/>
              <a:ea typeface="Noto Sans SC Black" panose="020B0200000000000000" pitchFamily="34" charset="-122"/>
            </a:endParaRPr>
          </a:p>
        </p:txBody>
      </p:sp>
      <p:sp>
        <p:nvSpPr>
          <p:cNvPr id="4" name="AutoShape 4"/>
          <p:cNvSpPr/>
          <p:nvPr/>
        </p:nvSpPr>
        <p:spPr>
          <a:xfrm>
            <a:off x="838200" y="1938669"/>
            <a:ext cx="5207000" cy="1206500"/>
          </a:xfrm>
          <a:prstGeom prst="roundRect">
            <a:avLst>
              <a:gd name="adj" fmla="val 0"/>
            </a:avLst>
          </a:prstGeom>
          <a:solidFill>
            <a:srgbClr val="F3E8FF">
              <a:alpha val="100000"/>
            </a:srgbClr>
          </a:solidFill>
          <a:ln w="12700" cap="flat" cmpd="sng">
            <a:solidFill>
              <a:srgbClr val="7030A0">
                <a:alpha val="2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965200" y="2065669"/>
            <a:ext cx="4953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030A0"/>
                </a:solidFill>
                <a:latin typeface="Noto Sans SC"/>
                <a:ea typeface="Noto Sans SC"/>
                <a:cs typeface="Noto Sans SC"/>
                <a:sym typeface="Noto Sans SC"/>
              </a:rPr>
              <a:t>7.3.1 模式分解问题</a:t>
            </a:r>
            <a:endParaRPr lang="en-US" sz="1100"/>
          </a:p>
          <a:p>
            <a:pPr indent="0" algn="l">
              <a:lnSpc>
                <a:spcPct val="125000"/>
              </a:lnSpc>
            </a:pPr>
            <a:r>
              <a:rPr lang="en-US" sz="1600" b="0" i="0" u="none" strike="noStrike">
                <a:solidFill>
                  <a:srgbClr val="4B5563"/>
                </a:solidFill>
                <a:latin typeface="Noto Sans SC"/>
                <a:ea typeface="Noto Sans SC"/>
                <a:cs typeface="Noto Sans SC"/>
                <a:sym typeface="Noto Sans SC"/>
              </a:rPr>
              <a:t>明确模式分解的定义与核心目标，理解为什么要进行关系模式的分解。</a:t>
            </a:r>
          </a:p>
        </p:txBody>
      </p:sp>
      <p:sp>
        <p:nvSpPr>
          <p:cNvPr id="6" name="AutoShape 6"/>
          <p:cNvSpPr/>
          <p:nvPr/>
        </p:nvSpPr>
        <p:spPr>
          <a:xfrm>
            <a:off x="838200" y="3335669"/>
            <a:ext cx="5207000" cy="1206500"/>
          </a:xfrm>
          <a:prstGeom prst="roundRect">
            <a:avLst>
              <a:gd name="adj" fmla="val 0"/>
            </a:avLst>
          </a:prstGeom>
          <a:solidFill>
            <a:srgbClr val="F3E8FF">
              <a:alpha val="100000"/>
            </a:srgbClr>
          </a:solidFill>
          <a:ln w="12700" cap="flat" cmpd="sng">
            <a:solidFill>
              <a:srgbClr val="7030A0">
                <a:alpha val="2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965200" y="3462669"/>
            <a:ext cx="4953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030A0"/>
                </a:solidFill>
                <a:latin typeface="Noto Sans SC"/>
                <a:ea typeface="Noto Sans SC"/>
                <a:cs typeface="Noto Sans SC"/>
                <a:sym typeface="Noto Sans SC"/>
              </a:rPr>
              <a:t>7.3.2 无损分解</a:t>
            </a:r>
            <a:endParaRPr lang="en-US" sz="1100"/>
          </a:p>
          <a:p>
            <a:pPr indent="0" algn="l">
              <a:lnSpc>
                <a:spcPct val="125000"/>
              </a:lnSpc>
            </a:pPr>
            <a:r>
              <a:rPr lang="en-US" sz="1600" b="0" i="0" u="none" strike="noStrike">
                <a:solidFill>
                  <a:srgbClr val="4B5563"/>
                </a:solidFill>
                <a:latin typeface="Noto Sans SC"/>
                <a:ea typeface="Noto Sans SC"/>
                <a:cs typeface="Noto Sans SC"/>
                <a:sym typeface="Noto Sans SC"/>
              </a:rPr>
              <a:t>分解后不丢失信息，是衡量分解质量的首要标准，保证数据还原的准确性。</a:t>
            </a:r>
          </a:p>
        </p:txBody>
      </p:sp>
      <p:sp>
        <p:nvSpPr>
          <p:cNvPr id="8" name="AutoShape 8"/>
          <p:cNvSpPr/>
          <p:nvPr/>
        </p:nvSpPr>
        <p:spPr>
          <a:xfrm>
            <a:off x="838200" y="4732669"/>
            <a:ext cx="5207000" cy="1206500"/>
          </a:xfrm>
          <a:prstGeom prst="roundRect">
            <a:avLst>
              <a:gd name="adj" fmla="val 0"/>
            </a:avLst>
          </a:prstGeom>
          <a:solidFill>
            <a:srgbClr val="F3E8FF">
              <a:alpha val="100000"/>
            </a:srgbClr>
          </a:solidFill>
          <a:ln w="12700" cap="flat" cmpd="sng">
            <a:solidFill>
              <a:srgbClr val="7030A0">
                <a:alpha val="20000"/>
              </a:srgbClr>
            </a:solidFill>
            <a:prstDash val="solid"/>
            <a:round/>
          </a:ln>
        </p:spPr>
        <p:txBody>
          <a:bodyPr vert="horz" wrap="square" lIns="63500" tIns="63500" rIns="63500" bIns="63500" rtlCol="0" anchor="ctr"/>
          <a:lstStyle/>
          <a:p>
            <a:pPr algn="ctr">
              <a:defRPr/>
            </a:pPr>
            <a:endParaRPr/>
          </a:p>
        </p:txBody>
      </p:sp>
      <p:sp>
        <p:nvSpPr>
          <p:cNvPr id="9" name="AutoShape 9"/>
          <p:cNvSpPr/>
          <p:nvPr/>
        </p:nvSpPr>
        <p:spPr>
          <a:xfrm>
            <a:off x="965200" y="4859669"/>
            <a:ext cx="4953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7030A0"/>
                </a:solidFill>
                <a:latin typeface="Noto Sans SC"/>
                <a:ea typeface="Noto Sans SC"/>
                <a:cs typeface="Noto Sans SC"/>
                <a:sym typeface="Noto Sans SC"/>
              </a:rPr>
              <a:t>7.3.3 模式分解的优缺点</a:t>
            </a:r>
            <a:endParaRPr lang="en-US" sz="1100"/>
          </a:p>
          <a:p>
            <a:pPr indent="0" algn="l">
              <a:lnSpc>
                <a:spcPct val="125000"/>
              </a:lnSpc>
            </a:pPr>
            <a:r>
              <a:rPr lang="en-US" sz="1600" b="0" i="0" u="none" strike="noStrike">
                <a:solidFill>
                  <a:srgbClr val="4B5563"/>
                </a:solidFill>
                <a:latin typeface="Noto Sans SC"/>
                <a:ea typeface="Noto Sans SC"/>
                <a:cs typeface="Noto Sans SC"/>
                <a:sym typeface="Noto Sans SC"/>
              </a:rPr>
              <a:t>分析分解带来的优势与潜在问题，权衡性能与数据完整性的利弊。</a:t>
            </a:r>
          </a:p>
        </p:txBody>
      </p:sp>
      <p:sp>
        <p:nvSpPr>
          <p:cNvPr id="10" name="AutoShape 10"/>
          <p:cNvSpPr/>
          <p:nvPr/>
        </p:nvSpPr>
        <p:spPr>
          <a:xfrm>
            <a:off x="6146800" y="1938669"/>
            <a:ext cx="5207000" cy="1206500"/>
          </a:xfrm>
          <a:prstGeom prst="roundRect">
            <a:avLst>
              <a:gd name="adj" fmla="val 0"/>
            </a:avLst>
          </a:prstGeom>
          <a:solidFill>
            <a:srgbClr val="EFF6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endParaRPr/>
          </a:p>
        </p:txBody>
      </p:sp>
      <p:sp>
        <p:nvSpPr>
          <p:cNvPr id="11" name="AutoShape 11"/>
          <p:cNvSpPr/>
          <p:nvPr/>
        </p:nvSpPr>
        <p:spPr>
          <a:xfrm>
            <a:off x="6273800" y="2065669"/>
            <a:ext cx="4953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563EB"/>
                </a:solidFill>
                <a:latin typeface="Noto Sans SC"/>
                <a:ea typeface="Noto Sans SC"/>
                <a:cs typeface="Noto Sans SC"/>
                <a:sym typeface="Noto Sans SC"/>
              </a:rPr>
              <a:t>7.3.4 无损分解的测试方法</a:t>
            </a:r>
            <a:endParaRPr lang="en-US" sz="1100"/>
          </a:p>
          <a:p>
            <a:pPr indent="0" algn="l">
              <a:lnSpc>
                <a:spcPct val="125000"/>
              </a:lnSpc>
            </a:pPr>
            <a:r>
              <a:rPr lang="en-US" sz="1600" b="0" i="0" u="none" strike="noStrike">
                <a:solidFill>
                  <a:srgbClr val="4B5563"/>
                </a:solidFill>
                <a:latin typeface="Noto Sans SC"/>
                <a:ea typeface="Noto Sans SC"/>
                <a:cs typeface="Noto Sans SC"/>
                <a:sym typeface="Noto Sans SC"/>
              </a:rPr>
              <a:t>掌握通用的无损连接性测试算法，判断给定的分解是否满足无损条件。</a:t>
            </a:r>
          </a:p>
        </p:txBody>
      </p:sp>
      <p:sp>
        <p:nvSpPr>
          <p:cNvPr id="12" name="AutoShape 12"/>
          <p:cNvSpPr/>
          <p:nvPr/>
        </p:nvSpPr>
        <p:spPr>
          <a:xfrm>
            <a:off x="6146800" y="3335669"/>
            <a:ext cx="5207000" cy="1206500"/>
          </a:xfrm>
          <a:prstGeom prst="roundRect">
            <a:avLst>
              <a:gd name="adj" fmla="val 0"/>
            </a:avLst>
          </a:prstGeom>
          <a:solidFill>
            <a:srgbClr val="EFF6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endParaRPr/>
          </a:p>
        </p:txBody>
      </p:sp>
      <p:sp>
        <p:nvSpPr>
          <p:cNvPr id="13" name="AutoShape 13"/>
          <p:cNvSpPr/>
          <p:nvPr/>
        </p:nvSpPr>
        <p:spPr>
          <a:xfrm>
            <a:off x="6273800" y="3462669"/>
            <a:ext cx="4953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563EB"/>
                </a:solidFill>
                <a:latin typeface="Noto Sans SC"/>
                <a:ea typeface="Noto Sans SC"/>
                <a:cs typeface="Noto Sans SC"/>
                <a:sym typeface="Noto Sans SC"/>
              </a:rPr>
              <a:t>7.3.5 保持函数依赖的分解</a:t>
            </a:r>
            <a:endParaRPr lang="en-US" sz="1100"/>
          </a:p>
          <a:p>
            <a:pPr indent="0" algn="l">
              <a:lnSpc>
                <a:spcPct val="125000"/>
              </a:lnSpc>
            </a:pPr>
            <a:r>
              <a:rPr lang="en-US" sz="1600" b="0" i="0" u="none" strike="noStrike">
                <a:solidFill>
                  <a:srgbClr val="4B5563"/>
                </a:solidFill>
                <a:latin typeface="Noto Sans SC"/>
                <a:ea typeface="Noto Sans SC"/>
                <a:cs typeface="Noto Sans SC"/>
                <a:sym typeface="Noto Sans SC"/>
              </a:rPr>
              <a:t>确保分解后的关系模式集合依然保持原有的完整性约束，维持数据逻辑一致性。</a:t>
            </a:r>
          </a:p>
        </p:txBody>
      </p:sp>
      <p:sp>
        <p:nvSpPr>
          <p:cNvPr id="14" name="AutoShape 14"/>
          <p:cNvSpPr/>
          <p:nvPr/>
        </p:nvSpPr>
        <p:spPr>
          <a:xfrm>
            <a:off x="6146800" y="4732669"/>
            <a:ext cx="5207000" cy="1206500"/>
          </a:xfrm>
          <a:prstGeom prst="roundRect">
            <a:avLst>
              <a:gd name="adj" fmla="val 0"/>
            </a:avLst>
          </a:prstGeom>
          <a:solidFill>
            <a:srgbClr val="EFF6FF">
              <a:alpha val="100000"/>
            </a:srgbClr>
          </a:solidFill>
          <a:ln w="12700" cap="flat" cmpd="sng">
            <a:solidFill>
              <a:srgbClr val="2563EB">
                <a:alpha val="20000"/>
              </a:srgbClr>
            </a:solidFill>
            <a:prstDash val="solid"/>
            <a:round/>
          </a:ln>
        </p:spPr>
        <p:txBody>
          <a:bodyPr vert="horz" wrap="square" lIns="63500" tIns="63500" rIns="63500" bIns="63500" rtlCol="0" anchor="ctr"/>
          <a:lstStyle/>
          <a:p>
            <a:pPr algn="ctr">
              <a:defRPr/>
            </a:pPr>
            <a:endParaRPr/>
          </a:p>
        </p:txBody>
      </p:sp>
      <p:sp>
        <p:nvSpPr>
          <p:cNvPr id="15" name="AutoShape 15"/>
          <p:cNvSpPr/>
          <p:nvPr/>
        </p:nvSpPr>
        <p:spPr>
          <a:xfrm>
            <a:off x="6273800" y="4859669"/>
            <a:ext cx="4953000" cy="952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2563EB"/>
                </a:solidFill>
                <a:latin typeface="Noto Sans SC"/>
                <a:ea typeface="Noto Sans SC"/>
                <a:cs typeface="Noto Sans SC"/>
                <a:sym typeface="Noto Sans SC"/>
              </a:rPr>
              <a:t>7.3.6 模式分解与模式等价问题</a:t>
            </a:r>
            <a:endParaRPr lang="en-US" sz="1100"/>
          </a:p>
          <a:p>
            <a:pPr indent="0" algn="l">
              <a:lnSpc>
                <a:spcPct val="125000"/>
              </a:lnSpc>
            </a:pPr>
            <a:r>
              <a:rPr lang="en-US" sz="1600" b="0" i="0" u="none" strike="noStrike">
                <a:solidFill>
                  <a:srgbClr val="4B5563"/>
                </a:solidFill>
                <a:latin typeface="Noto Sans SC"/>
                <a:ea typeface="Noto Sans SC"/>
                <a:cs typeface="Noto Sans SC"/>
                <a:sym typeface="Noto Sans SC"/>
              </a:rPr>
              <a:t>综合“无损分解”与“保持函数依赖”两大标准，探讨模式分解的等价性判定。</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SimHei"/>
              </a:rPr>
              <a:t>7.3.1 模式分解问题</a:t>
            </a:r>
            <a:endParaRPr lang="en-US" sz="2400" b="1">
              <a:solidFill>
                <a:srgbClr val="FFFFFF"/>
              </a:solidFill>
              <a:latin typeface="Noto Sans SC"/>
              <a:ea typeface="Noto Sans SC"/>
            </a:endParaRPr>
          </a:p>
        </p:txBody>
      </p:sp>
      <p:sp>
        <p:nvSpPr>
          <p:cNvPr id="3" name="AutoShape 3"/>
          <p:cNvSpPr/>
          <p:nvPr/>
        </p:nvSpPr>
        <p:spPr>
          <a:xfrm>
            <a:off x="838199" y="1193800"/>
            <a:ext cx="4711996" cy="4978400"/>
          </a:xfrm>
          <a:prstGeom prst="rect">
            <a:avLst/>
          </a:prstGeom>
          <a:solidFill>
            <a:srgbClr val="FFFFFF">
              <a:alpha val="100000"/>
            </a:srgbClr>
          </a:solidFill>
          <a:ln w="12700" cap="flat" cmpd="sng">
            <a:noFill/>
            <a:prstDash val="solid"/>
            <a:round/>
          </a:ln>
        </p:spPr>
        <p:txBody>
          <a:bodyPr vert="horz" wrap="square" lIns="127000" tIns="127000" rIns="127000" bIns="127000" rtlCol="0" anchor="t" anchorCtr="0"/>
          <a:lstStyle/>
          <a:p>
            <a:pPr indent="0" algn="l">
              <a:lnSpc>
                <a:spcPct val="100000"/>
              </a:lnSpc>
              <a:spcAft>
                <a:spcPts val="1500"/>
              </a:spcAft>
              <a:defRPr/>
            </a:pPr>
            <a:r>
              <a:rPr lang="en-US" sz="2400" b="1" i="0" u="none" strike="noStrike">
                <a:solidFill>
                  <a:srgbClr val="7030A0"/>
                </a:solidFill>
                <a:latin typeface="Noto Sans SC"/>
                <a:ea typeface="Noto Sans SC"/>
                <a:cs typeface="Noto Sans SC"/>
                <a:sym typeface="Noto Sans SC"/>
              </a:rPr>
              <a:t>▍定义 7.10</a:t>
            </a:r>
            <a:endParaRPr lang="en-US" sz="1200"/>
          </a:p>
          <a:p>
            <a:pPr indent="0" algn="l">
              <a:lnSpc>
                <a:spcPct val="130000"/>
              </a:lnSpc>
              <a:spcAft>
                <a:spcPts val="1000"/>
              </a:spcAft>
            </a:pPr>
            <a:r>
              <a:rPr lang="en-US" sz="1600" b="0" i="0" u="none" strike="noStrike">
                <a:solidFill>
                  <a:srgbClr val="333333"/>
                </a:solidFill>
                <a:latin typeface="Noto Sans SC"/>
                <a:ea typeface="Noto Sans SC"/>
                <a:cs typeface="Noto Sans SC"/>
                <a:sym typeface="Noto Sans SC"/>
              </a:rPr>
              <a:t>设有关系模式 R(U)，将其分解为若干个关系模式的集合</a:t>
            </a:r>
            <a:r>
              <a:rPr lang="en-US" sz="1600" b="0" i="1" u="none" strike="noStrike">
                <a:solidFill>
                  <a:srgbClr val="333333"/>
                </a:solidFill>
                <a:latin typeface="Noto Sans SC"/>
                <a:ea typeface="Noto Sans SC"/>
                <a:cs typeface="Noto Sans SC"/>
                <a:sym typeface="Noto Sans SC"/>
              </a:rPr>
              <a:t>ρ = {R₁, R₂, ..., Rₖ}</a:t>
            </a:r>
            <a:r>
              <a:rPr lang="en-US" sz="1600" b="0" i="0" u="none" strike="noStrike">
                <a:solidFill>
                  <a:srgbClr val="333333"/>
                </a:solidFill>
                <a:latin typeface="Noto Sans SC"/>
                <a:ea typeface="Noto Sans SC"/>
                <a:cs typeface="Noto Sans SC"/>
                <a:sym typeface="Noto Sans SC"/>
              </a:rPr>
              <a:t>，需满足以下两个条件：</a:t>
            </a:r>
          </a:p>
          <a:p>
            <a:pPr marL="342900" indent="-342900" algn="l">
              <a:lnSpc>
                <a:spcPct val="130000"/>
              </a:lnSpc>
              <a:spcAft>
                <a:spcPts val="1000"/>
              </a:spcAft>
              <a:buFont typeface="+mj-lt"/>
              <a:buAutoNum type="arabicPeriod"/>
            </a:pPr>
            <a:r>
              <a:rPr lang="en-US" sz="1600">
                <a:solidFill>
                  <a:srgbClr val="333333"/>
                </a:solidFill>
                <a:latin typeface="Noto Sans SC"/>
                <a:ea typeface="Noto Sans SC"/>
                <a:sym typeface="Noto Sans SC"/>
              </a:rPr>
              <a:t>每个子模式Rᵢ的属性集，都是原模式属性集U的子集。</a:t>
            </a:r>
          </a:p>
          <a:p>
            <a:pPr marL="342900" indent="-342900" algn="l">
              <a:lnSpc>
                <a:spcPct val="130000"/>
              </a:lnSpc>
              <a:spcAft>
                <a:spcPts val="1000"/>
              </a:spcAft>
              <a:buFont typeface="+mj-lt"/>
              <a:buAutoNum type="arabicPeriod"/>
            </a:pPr>
            <a:r>
              <a:rPr lang="en-US" sz="1600">
                <a:solidFill>
                  <a:srgbClr val="333333"/>
                </a:solidFill>
                <a:latin typeface="Noto Sans SC"/>
                <a:ea typeface="Noto Sans SC"/>
                <a:sym typeface="Noto Sans SC"/>
              </a:rPr>
              <a:t>所有子模式的属性集进行并集运算，其结果必须严格等于原模式的属性集U，不能有遗漏。</a:t>
            </a:r>
          </a:p>
          <a:p>
            <a:pPr indent="0" algn="l">
              <a:lnSpc>
                <a:spcPct val="100000"/>
              </a:lnSpc>
              <a:spcAft>
                <a:spcPts val="1000"/>
              </a:spcAft>
            </a:pPr>
            <a:r>
              <a:rPr lang="en-US" sz="2400" b="1" i="0" u="none" strike="noStrike">
                <a:solidFill>
                  <a:srgbClr val="7030A0"/>
                </a:solidFill>
                <a:latin typeface="Noto Sans SC"/>
                <a:ea typeface="Noto Sans SC"/>
                <a:cs typeface="Noto Sans SC"/>
                <a:sym typeface="Noto Sans SC"/>
              </a:rPr>
              <a:t>▍核心思想总结</a:t>
            </a:r>
          </a:p>
          <a:p>
            <a:pPr indent="0" algn="l">
              <a:lnSpc>
                <a:spcPct val="130000"/>
              </a:lnSpc>
            </a:pPr>
            <a:r>
              <a:rPr lang="en-US" sz="1600" b="0" i="0" u="none" strike="noStrike">
                <a:solidFill>
                  <a:srgbClr val="505050"/>
                </a:solidFill>
                <a:latin typeface="Noto Sans SC"/>
                <a:ea typeface="Noto Sans SC"/>
                <a:cs typeface="Noto Sans SC"/>
                <a:sym typeface="Noto Sans SC"/>
              </a:rPr>
              <a:t>模式分解本质上是“拆分”，但必须保证属性不丢失，即“拆而不丢”。这是后续讨论无损连接和保持依赖的基础前提。</a:t>
            </a:r>
          </a:p>
        </p:txBody>
      </p:sp>
      <p:sp>
        <p:nvSpPr>
          <p:cNvPr id="4" name="AutoShape 4"/>
          <p:cNvSpPr/>
          <p:nvPr/>
        </p:nvSpPr>
        <p:spPr>
          <a:xfrm>
            <a:off x="6039293" y="1206499"/>
            <a:ext cx="5314507" cy="5364421"/>
          </a:xfrm>
          <a:prstGeom prst="rect">
            <a:avLst/>
          </a:prstGeom>
          <a:solidFill>
            <a:srgbClr val="FFFFFF">
              <a:alpha val="100000"/>
            </a:srgbClr>
          </a:solidFill>
          <a:ln w="12700" cap="flat" cmpd="sng">
            <a:noFill/>
            <a:prstDash val="solid"/>
            <a:round/>
          </a:ln>
        </p:spPr>
        <p:txBody>
          <a:bodyPr vert="horz" wrap="square" lIns="127000" tIns="127000" rIns="127000" bIns="127000" rtlCol="0" anchor="t" anchorCtr="0"/>
          <a:lstStyle/>
          <a:p>
            <a:pPr indent="0" algn="l">
              <a:lnSpc>
                <a:spcPct val="100000"/>
              </a:lnSpc>
              <a:spcAft>
                <a:spcPts val="1500"/>
              </a:spcAft>
              <a:defRPr/>
            </a:pPr>
            <a:r>
              <a:rPr lang="en-US" sz="2400" b="1" i="0" u="none" strike="noStrike">
                <a:solidFill>
                  <a:srgbClr val="7030A0"/>
                </a:solidFill>
                <a:latin typeface="Noto Sans SC"/>
                <a:ea typeface="Noto Sans SC"/>
                <a:cs typeface="Noto Sans SC"/>
                <a:sym typeface="Noto Sans SC"/>
              </a:rPr>
              <a:t>▍分解的目标</a:t>
            </a:r>
            <a:endParaRPr lang="en-US" sz="1200"/>
          </a:p>
          <a:p>
            <a:pPr indent="0" algn="l">
              <a:lnSpc>
                <a:spcPct val="116666"/>
              </a:lnSpc>
              <a:spcAft>
                <a:spcPts val="2500"/>
              </a:spcAft>
            </a:pPr>
            <a:r>
              <a:rPr lang="en-US" sz="1600" b="0" i="0" u="none" strike="noStrike">
                <a:solidFill>
                  <a:srgbClr val="3C3C3C"/>
                </a:solidFill>
                <a:latin typeface="Noto Sans SC"/>
                <a:ea typeface="Noto Sans SC"/>
                <a:cs typeface="Noto Sans SC"/>
                <a:sym typeface="Noto Sans SC"/>
              </a:rPr>
              <a:t>将一个可能存在数据冗余、插入/删除/更新异常的“大而全”的关系模式，科学地拆解为若干个结构良好、符合范式要求的“小而精”的关系模式集合，从而消除异常并简化管理。</a:t>
            </a:r>
          </a:p>
          <a:p>
            <a:pPr indent="0" algn="l">
              <a:lnSpc>
                <a:spcPct val="100000"/>
              </a:lnSpc>
              <a:spcAft>
                <a:spcPts val="1500"/>
              </a:spcAft>
            </a:pPr>
            <a:r>
              <a:rPr lang="en-US" sz="2400" b="1" i="0" u="none" strike="noStrike">
                <a:solidFill>
                  <a:srgbClr val="7030A0"/>
                </a:solidFill>
                <a:latin typeface="Noto Sans SC"/>
                <a:ea typeface="Noto Sans SC"/>
                <a:cs typeface="Noto Sans SC"/>
                <a:sym typeface="Noto Sans SC"/>
              </a:rPr>
              <a:t>▍分解的两大核心评价标准</a:t>
            </a:r>
          </a:p>
          <a:p>
            <a:pPr indent="0" algn="l">
              <a:lnSpc>
                <a:spcPct val="116666"/>
              </a:lnSpc>
              <a:spcAft>
                <a:spcPts val="1200"/>
              </a:spcAft>
            </a:pPr>
            <a:r>
              <a:rPr lang="en-US" sz="1600" b="1" i="0" u="none" strike="noStrike">
                <a:solidFill>
                  <a:srgbClr val="FF0000"/>
                </a:solidFill>
                <a:latin typeface="Noto Sans SC"/>
                <a:ea typeface="Noto Sans SC"/>
                <a:cs typeface="Noto Sans SC"/>
                <a:sym typeface="Noto Sans SC"/>
              </a:rPr>
              <a:t>1. 数据等价—— 无损分解</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505050"/>
                </a:solidFill>
                <a:latin typeface="Noto Sans SC"/>
                <a:ea typeface="Noto Sans SC"/>
                <a:cs typeface="Noto Sans SC"/>
                <a:sym typeface="Noto Sans SC"/>
              </a:rPr>
              <a:t>关键问题：分解后的若干小表，通过自然连接操作，能否精确地恢复出原始表的全部信息，且不产生多余的“伪元组”？这决定了数据的完整性。</a:t>
            </a:r>
          </a:p>
          <a:p>
            <a:pPr indent="0" algn="l">
              <a:lnSpc>
                <a:spcPct val="116666"/>
              </a:lnSpc>
            </a:pPr>
            <a:r>
              <a:rPr lang="en-US" sz="1600" b="1" i="0" u="none" strike="noStrike">
                <a:solidFill>
                  <a:srgbClr val="FF0000"/>
                </a:solidFill>
                <a:latin typeface="Noto Sans SC"/>
                <a:ea typeface="Noto Sans SC"/>
                <a:cs typeface="Noto Sans SC"/>
                <a:sym typeface="Noto Sans SC"/>
              </a:rPr>
              <a:t>2. 依赖</a:t>
            </a:r>
            <a:r>
              <a:rPr lang="zh-CN" altLang="en-US" sz="1600" b="1">
                <a:solidFill>
                  <a:srgbClr val="FF0000"/>
                </a:solidFill>
                <a:latin typeface="Noto Sans SC"/>
                <a:ea typeface="Noto Sans SC"/>
                <a:cs typeface="Noto Sans SC"/>
                <a:sym typeface="Noto Sans SC"/>
              </a:rPr>
              <a:t>（语义）</a:t>
            </a:r>
            <a:r>
              <a:rPr lang="en-US" sz="1600" b="1" i="0" u="none" strike="noStrike">
                <a:solidFill>
                  <a:srgbClr val="FF0000"/>
                </a:solidFill>
                <a:latin typeface="Noto Sans SC"/>
                <a:ea typeface="Noto Sans SC"/>
                <a:cs typeface="Noto Sans SC"/>
                <a:sym typeface="Noto Sans SC"/>
              </a:rPr>
              <a:t>等价—— 保持依赖</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505050"/>
                </a:solidFill>
                <a:latin typeface="Noto Sans SC"/>
                <a:ea typeface="Noto Sans SC"/>
                <a:cs typeface="Noto Sans SC"/>
                <a:sym typeface="Noto Sans SC"/>
              </a:rPr>
              <a:t>关键问题：分解后，原关系模式中存在的函数依赖关系，在分解后的各个子模式中是否依然被保持和体现？这决定了数据的逻辑/</a:t>
            </a:r>
            <a:r>
              <a:rPr lang="zh-CN" altLang="en-US" sz="1600" b="0" i="0" u="none" strike="noStrike">
                <a:solidFill>
                  <a:srgbClr val="505050"/>
                </a:solidFill>
                <a:latin typeface="Noto Sans SC"/>
                <a:ea typeface="Noto Sans SC"/>
                <a:cs typeface="Noto Sans SC"/>
                <a:sym typeface="Noto Sans SC"/>
              </a:rPr>
              <a:t>语义</a:t>
            </a:r>
            <a:r>
              <a:rPr lang="en-US" sz="1600" b="0" i="0" u="none" strike="noStrike">
                <a:solidFill>
                  <a:srgbClr val="505050"/>
                </a:solidFill>
                <a:latin typeface="Noto Sans SC"/>
                <a:ea typeface="Noto Sans SC"/>
                <a:cs typeface="Noto Sans SC"/>
                <a:sym typeface="Noto Sans SC"/>
              </a:rPr>
              <a:t>一致性。</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787400" y="1623237"/>
            <a:ext cx="5308600" cy="4726763"/>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41400" y="1778000"/>
            <a:ext cx="4792330" cy="4318000"/>
          </a:xfrm>
          <a:prstGeom prst="rect">
            <a:avLst/>
          </a:prstGeom>
          <a:noFill/>
          <a:ln w="12700" cap="flat" cmpd="sng">
            <a:noFill/>
            <a:prstDash val="solid"/>
            <a:round/>
          </a:ln>
        </p:spPr>
        <p:txBody>
          <a:bodyPr vert="horz" wrap="square" lIns="127000" tIns="127000" rIns="127000" bIns="0" rtlCol="0" anchor="t" anchorCtr="0"/>
          <a:lstStyle/>
          <a:p>
            <a:pPr indent="0" algn="l">
              <a:lnSpc>
                <a:spcPct val="108333"/>
              </a:lnSpc>
              <a:spcAft>
                <a:spcPts val="1500"/>
              </a:spcAft>
              <a:defRPr/>
            </a:pPr>
            <a:r>
              <a:rPr lang="en-US" sz="2400" b="1" i="0" u="none" strike="noStrike">
                <a:solidFill>
                  <a:srgbClr val="E36B1A"/>
                </a:solidFill>
                <a:latin typeface="Noto Sans SC"/>
                <a:ea typeface="Noto Sans SC"/>
                <a:cs typeface="Noto Sans SC"/>
                <a:sym typeface="Noto Sans SC"/>
              </a:rPr>
              <a:t>▍定义 7.12：无损连接分解</a:t>
            </a:r>
            <a:endParaRPr lang="en-US"/>
          </a:p>
          <a:p>
            <a:pPr indent="0" algn="l">
              <a:lnSpc>
                <a:spcPct val="116666"/>
              </a:lnSpc>
            </a:pPr>
            <a:r>
              <a:rPr lang="en-US" sz="1800" b="0" i="0" u="none" strike="noStrike">
                <a:solidFill>
                  <a:srgbClr val="374151"/>
                </a:solidFill>
                <a:latin typeface="Noto Sans SC"/>
                <a:ea typeface="Noto Sans SC"/>
                <a:cs typeface="Noto Sans SC"/>
                <a:sym typeface="Noto Sans SC"/>
              </a:rPr>
              <a:t>设关系模式 R 分解为 ρ = {R₁, R₂, ..., Rₖ}。如果对 R 中满足函数依赖集 F 的每一个关系 r，都有：</a:t>
            </a:r>
          </a:p>
          <a:p>
            <a:pPr indent="0" algn="ctr">
              <a:lnSpc>
                <a:spcPct val="133333"/>
              </a:lnSpc>
              <a:spcAft>
                <a:spcPts val="1500"/>
              </a:spcAft>
            </a:pPr>
            <a:r>
              <a:rPr lang="en-US" sz="2000" b="1" i="0" u="none" strike="noStrike">
                <a:solidFill>
                  <a:srgbClr val="2563EB"/>
                </a:solidFill>
                <a:latin typeface="Noto Sans SC"/>
                <a:ea typeface="Noto Sans SC"/>
                <a:cs typeface="Noto Sans SC"/>
                <a:sym typeface="Noto Sans SC"/>
              </a:rPr>
              <a:t>r = π(R₁(r)) ⋈ π(R₂(r)) ⋈ … ⋈ π(Rₖ(r))</a:t>
            </a:r>
          </a:p>
          <a:p>
            <a:pPr indent="0" algn="l">
              <a:lnSpc>
                <a:spcPct val="116666"/>
              </a:lnSpc>
            </a:pPr>
            <a:r>
              <a:rPr lang="en-US" sz="1800" b="0" i="0" u="none" strike="noStrike">
                <a:solidFill>
                  <a:srgbClr val="374151"/>
                </a:solidFill>
                <a:latin typeface="Noto Sans SC"/>
                <a:ea typeface="Noto Sans SC"/>
                <a:cs typeface="Noto Sans SC"/>
                <a:sym typeface="Noto Sans SC"/>
              </a:rPr>
              <a:t>即关系 r 在各个分解后的关系模式上的投影进行自然连接，得到的结果与原关系 r 完全相同，称该分解 ρ 相对于 F 是</a:t>
            </a:r>
            <a:r>
              <a:rPr lang="en-US" sz="1800" b="1" i="0" u="none" strike="noStrike">
                <a:solidFill>
                  <a:srgbClr val="374151"/>
                </a:solidFill>
                <a:latin typeface="Noto Sans SC"/>
                <a:ea typeface="Noto Sans SC"/>
                <a:cs typeface="Noto Sans SC"/>
                <a:sym typeface="Noto Sans SC"/>
              </a:rPr>
              <a:t>无损分解</a:t>
            </a:r>
            <a:r>
              <a:rPr lang="en-US" sz="1800" b="0" i="0" u="none" strike="noStrike">
                <a:solidFill>
                  <a:srgbClr val="374151"/>
                </a:solidFill>
                <a:latin typeface="Noto Sans SC"/>
                <a:ea typeface="Noto Sans SC"/>
                <a:cs typeface="Noto Sans SC"/>
                <a:sym typeface="Noto Sans SC"/>
              </a:rPr>
              <a:t>。</a:t>
            </a:r>
          </a:p>
          <a:p>
            <a:pPr indent="0" algn="l">
              <a:lnSpc>
                <a:spcPct val="116666"/>
              </a:lnSpc>
              <a:spcBef>
                <a:spcPts val="1000"/>
              </a:spcBef>
            </a:pPr>
            <a:r>
              <a:rPr lang="en-US" sz="1800" b="1" i="0" u="none" strike="noStrike">
                <a:solidFill>
                  <a:srgbClr val="10B981"/>
                </a:solidFill>
                <a:latin typeface="Noto Sans SC"/>
                <a:ea typeface="Noto Sans SC"/>
                <a:cs typeface="Noto Sans SC"/>
                <a:sym typeface="Noto Sans SC"/>
              </a:rPr>
              <a:t>💡 核心意义：</a:t>
            </a:r>
            <a:r>
              <a:rPr lang="en-US" sz="1800" b="0" i="0" u="none" strike="noStrike">
                <a:solidFill>
                  <a:srgbClr val="4B5563"/>
                </a:solidFill>
                <a:latin typeface="Noto Sans SC"/>
                <a:ea typeface="Noto Sans SC"/>
                <a:cs typeface="Noto Sans SC"/>
                <a:sym typeface="Noto Sans SC"/>
              </a:rPr>
              <a:t>保证数据在“分解-重构”过程中既不丢失信息，也不引入歧义。</a:t>
            </a:r>
          </a:p>
        </p:txBody>
      </p:sp>
      <p:sp>
        <p:nvSpPr>
          <p:cNvPr id="5" name="AutoShape 5"/>
          <p:cNvSpPr/>
          <p:nvPr/>
        </p:nvSpPr>
        <p:spPr>
          <a:xfrm>
            <a:off x="6223000" y="1623237"/>
            <a:ext cx="5207000" cy="4726763"/>
          </a:xfrm>
          <a:prstGeom prst="roundRect">
            <a:avLst>
              <a:gd name="adj" fmla="val 0"/>
            </a:avLst>
          </a:prstGeom>
          <a:solidFill>
            <a:srgbClr val="FEF2F2">
              <a:alpha val="100000"/>
            </a:srgbClr>
          </a:solidFill>
          <a:ln w="12700" cap="flat" cmpd="sng">
            <a:solidFill>
              <a:srgbClr val="FCA5A5">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477000" y="1778000"/>
            <a:ext cx="4699000" cy="4318000"/>
          </a:xfrm>
          <a:prstGeom prst="rect">
            <a:avLst/>
          </a:prstGeom>
          <a:noFill/>
          <a:ln w="12700" cap="flat" cmpd="sng">
            <a:noFill/>
            <a:prstDash val="solid"/>
            <a:round/>
          </a:ln>
        </p:spPr>
        <p:txBody>
          <a:bodyPr vert="horz" wrap="square" lIns="127000" tIns="127000" rIns="127000" bIns="0" rtlCol="0" anchor="t" anchorCtr="0"/>
          <a:lstStyle/>
          <a:p>
            <a:pPr indent="0" algn="l">
              <a:lnSpc>
                <a:spcPct val="108333"/>
              </a:lnSpc>
              <a:spcAft>
                <a:spcPts val="1500"/>
              </a:spcAft>
              <a:defRPr/>
            </a:pPr>
            <a:r>
              <a:rPr lang="en-US" sz="2400" b="1" i="0" u="none" strike="noStrike">
                <a:solidFill>
                  <a:srgbClr val="DC2626"/>
                </a:solidFill>
                <a:latin typeface="Noto Sans SC"/>
                <a:ea typeface="Noto Sans SC"/>
                <a:cs typeface="Noto Sans SC"/>
                <a:sym typeface="Noto Sans SC"/>
              </a:rPr>
              <a:t>▍反面：损失分解</a:t>
            </a:r>
            <a:endParaRPr lang="en-US"/>
          </a:p>
          <a:p>
            <a:pPr indent="0" algn="l">
              <a:lnSpc>
                <a:spcPct val="116666"/>
              </a:lnSpc>
              <a:spcAft>
                <a:spcPts val="1200"/>
              </a:spcAft>
            </a:pPr>
            <a:r>
              <a:rPr lang="en-US" sz="1800" b="0" i="0" u="none" strike="noStrike">
                <a:solidFill>
                  <a:srgbClr val="374151"/>
                </a:solidFill>
                <a:latin typeface="Noto Sans SC"/>
                <a:ea typeface="Noto Sans SC"/>
                <a:cs typeface="Noto Sans SC"/>
                <a:sym typeface="Noto Sans SC"/>
              </a:rPr>
              <a:t>若分解后，将各投影关系连接的结果集包含了原关系 r 中不存在的元组，则这种分解被称为“损失分解”。</a:t>
            </a:r>
          </a:p>
          <a:p>
            <a:pPr indent="0" algn="l">
              <a:lnSpc>
                <a:spcPct val="116666"/>
              </a:lnSpc>
            </a:pPr>
            <a:r>
              <a:rPr lang="en-US" sz="1800" b="1" i="0" u="none" strike="noStrike">
                <a:solidFill>
                  <a:srgbClr val="1F2937"/>
                </a:solidFill>
                <a:latin typeface="Noto Sans SC"/>
                <a:ea typeface="Noto Sans SC"/>
                <a:cs typeface="Noto Sans SC"/>
                <a:sym typeface="Noto Sans SC"/>
              </a:rPr>
              <a:t>❌ 寄生元组 (Spurious Tuple)：</a:t>
            </a:r>
          </a:p>
          <a:p>
            <a:pPr indent="0" algn="l">
              <a:lnSpc>
                <a:spcPct val="116666"/>
              </a:lnSpc>
            </a:pPr>
            <a:r>
              <a:rPr lang="en-US" sz="1600" b="0" i="0" u="none" strike="noStrike">
                <a:solidFill>
                  <a:srgbClr val="6B7280"/>
                </a:solidFill>
                <a:latin typeface="Noto Sans SC"/>
                <a:ea typeface="Noto Sans SC"/>
                <a:cs typeface="Noto Sans SC"/>
                <a:sym typeface="Noto Sans SC"/>
              </a:rPr>
              <a:t>连接结果中那些比原关系 r 多出的、在原关系中不存在的元组。它们在现实世界中没有对应实体，代表了错误或虚假的信息，会导致数据库中的数据失真。</a:t>
            </a:r>
          </a:p>
          <a:p>
            <a:pPr indent="0" algn="l">
              <a:lnSpc>
                <a:spcPct val="125000"/>
              </a:lnSpc>
              <a:spcBef>
                <a:spcPts val="1500"/>
              </a:spcBef>
            </a:pPr>
            <a:r>
              <a:rPr lang="en-US" sz="1800" b="1" i="0" u="none" strike="noStrike">
                <a:solidFill>
                  <a:srgbClr val="DC2626"/>
                </a:solidFill>
                <a:latin typeface="Noto Sans SC"/>
                <a:ea typeface="Noto Sans SC"/>
                <a:cs typeface="Noto Sans SC"/>
                <a:sym typeface="Noto Sans SC"/>
              </a:rPr>
              <a:t>⚠️ 警示：</a:t>
            </a:r>
            <a:r>
              <a:rPr lang="en-US" sz="1800" b="0" i="0" u="none" strike="noStrike">
                <a:solidFill>
                  <a:srgbClr val="4B5563"/>
                </a:solidFill>
                <a:latin typeface="Noto Sans SC"/>
                <a:ea typeface="Noto Sans SC"/>
                <a:cs typeface="Noto Sans SC"/>
                <a:sym typeface="Noto Sans SC"/>
              </a:rPr>
              <a:t>模式分解必须首先确保是“无损”的，这是关系模式分解的首要基本准则。</a:t>
            </a:r>
            <a:endParaRPr lang="en-US" sz="1600" b="0" i="0" u="none" strike="noStrike">
              <a:solidFill>
                <a:srgbClr val="4B5563"/>
              </a:solidFill>
              <a:latin typeface="Noto Sans SC"/>
              <a:ea typeface="Noto Sans SC"/>
              <a:cs typeface="Noto Sans SC"/>
              <a:sym typeface="Noto Sans SC"/>
            </a:endParaRPr>
          </a:p>
        </p:txBody>
      </p:sp>
      <p:sp>
        <p:nvSpPr>
          <p:cNvPr id="7" name="AutoShape 2">
            <a:extLst>
              <a:ext uri="{FF2B5EF4-FFF2-40B4-BE49-F238E27FC236}">
                <a16:creationId xmlns:a16="http://schemas.microsoft.com/office/drawing/2014/main" id="{17163EA3-127D-A341-BBC9-E719642D3368}"/>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altLang="zh-CN" sz="2400" b="1">
                <a:solidFill>
                  <a:srgbClr val="FFFFFF"/>
                </a:solidFill>
                <a:latin typeface="Noto Sans SC"/>
                <a:ea typeface="Noto Sans SC"/>
                <a:sym typeface="SimHei"/>
              </a:rPr>
              <a:t>7.3.2 </a:t>
            </a:r>
            <a:r>
              <a:rPr lang="zh-CN" altLang="en-US" sz="2400" b="1">
                <a:solidFill>
                  <a:srgbClr val="FFFFFF"/>
                </a:solidFill>
                <a:latin typeface="Noto Sans SC"/>
                <a:ea typeface="Noto Sans SC"/>
                <a:sym typeface="SimHei"/>
              </a:rPr>
              <a:t>无损连接分解 </a:t>
            </a:r>
            <a:r>
              <a:rPr lang="en-US" altLang="zh-CN" sz="2400" b="1">
                <a:solidFill>
                  <a:srgbClr val="FFFFFF"/>
                </a:solidFill>
                <a:latin typeface="Noto Sans SC"/>
                <a:ea typeface="Noto Sans SC"/>
                <a:sym typeface="SimHei"/>
              </a:rPr>
              <a:t>(</a:t>
            </a:r>
            <a:r>
              <a:rPr lang="en-US" sz="2400" b="1">
                <a:solidFill>
                  <a:srgbClr val="FFFFFF"/>
                </a:solidFill>
                <a:latin typeface="Noto Sans SC"/>
                <a:ea typeface="Noto Sans SC"/>
                <a:sym typeface="SimHei"/>
              </a:rPr>
              <a:t>Lossless Join Decomposition)</a:t>
            </a:r>
            <a:r>
              <a:rPr lang="zh-CN" altLang="en-US" sz="2400" b="1">
                <a:solidFill>
                  <a:srgbClr val="FFFFFF"/>
                </a:solidFill>
                <a:latin typeface="Noto Sans SC"/>
                <a:ea typeface="Noto Sans SC"/>
                <a:sym typeface="SimHei"/>
              </a:rPr>
              <a:t>（</a:t>
            </a:r>
            <a:r>
              <a:rPr lang="en-US" altLang="zh-CN" sz="2400" b="1">
                <a:solidFill>
                  <a:srgbClr val="FFFFFF"/>
                </a:solidFill>
                <a:latin typeface="Noto Sans SC"/>
                <a:ea typeface="Noto Sans SC"/>
                <a:sym typeface="SimHei"/>
              </a:rPr>
              <a:t>1</a:t>
            </a:r>
            <a:r>
              <a:rPr lang="zh-CN" altLang="en-US" sz="2400" b="1">
                <a:solidFill>
                  <a:srgbClr val="FFFFFF"/>
                </a:solidFill>
                <a:latin typeface="Noto Sans SC"/>
                <a:ea typeface="Noto Sans SC"/>
                <a:sym typeface="SimHei"/>
              </a:rPr>
              <a:t>）</a:t>
            </a:r>
            <a:endParaRPr lang="en-US" sz="2400" b="1">
              <a:solidFill>
                <a:srgbClr val="FFFFFF"/>
              </a:solidFill>
              <a:latin typeface="Noto Sans SC"/>
              <a:ea typeface="Noto Sans SC"/>
              <a:sym typeface="SimHei"/>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838200" y="2165089"/>
            <a:ext cx="5080000" cy="508000"/>
          </a:xfrm>
          <a:prstGeom prst="roundRect">
            <a:avLst>
              <a:gd name="adj" fmla="val 0"/>
            </a:avLst>
          </a:prstGeom>
          <a:solidFill>
            <a:srgbClr val="FFC000">
              <a:alpha val="100000"/>
            </a:srgbClr>
          </a:solidFill>
          <a:ln w="25400" cap="flat" cmpd="sng">
            <a:noFill/>
            <a:prstDash val="solid"/>
            <a:round/>
          </a:ln>
        </p:spPr>
        <p:txBody>
          <a:bodyPr vert="horz" wrap="square" lIns="63500" tIns="63500" rIns="63500" bIns="63500" rtlCol="0" anchor="ctr"/>
          <a:lstStyle/>
          <a:p>
            <a:pPr algn="ctr">
              <a:defRPr/>
            </a:pPr>
            <a:r>
              <a:rPr lang="en-US" altLang="zh-CN" sz="1800" b="1">
                <a:solidFill>
                  <a:srgbClr val="333333"/>
                </a:solidFill>
                <a:latin typeface="Noto Sans SC"/>
                <a:ea typeface="Noto Sans SC"/>
                <a:cs typeface="Noto Sans SC"/>
                <a:sym typeface="Noto Sans SC"/>
              </a:rPr>
              <a:t>(1) 无损分解</a:t>
            </a:r>
            <a:endParaRPr sz="1800"/>
          </a:p>
        </p:txBody>
      </p:sp>
      <p:sp>
        <p:nvSpPr>
          <p:cNvPr id="5" name="AutoShape 5"/>
          <p:cNvSpPr/>
          <p:nvPr/>
        </p:nvSpPr>
        <p:spPr>
          <a:xfrm>
            <a:off x="888998" y="5156133"/>
            <a:ext cx="5080000" cy="508000"/>
          </a:xfrm>
          <a:prstGeom prst="rect">
            <a:avLst/>
          </a:prstGeom>
          <a:noFill/>
          <a:ln w="12700" cap="flat" cmpd="sng">
            <a:noFill/>
            <a:prstDash val="solid"/>
            <a:round/>
          </a:ln>
        </p:spPr>
        <p:txBody>
          <a:bodyPr vert="horz" wrap="square" lIns="0" tIns="0" rIns="0" bIns="0" rtlCol="0" anchor="t" anchorCtr="0"/>
          <a:lstStyle/>
          <a:p>
            <a:pPr indent="0" algn="l">
              <a:lnSpc>
                <a:spcPct val="150000"/>
              </a:lnSpc>
            </a:pPr>
            <a:r>
              <a:rPr lang="en-US" sz="1800" b="1" i="0" u="none" strike="noStrike">
                <a:solidFill>
                  <a:srgbClr val="22C55E"/>
                </a:solidFill>
                <a:latin typeface="Noto Sans SC"/>
                <a:ea typeface="Noto Sans SC"/>
                <a:cs typeface="Noto Sans SC"/>
                <a:sym typeface="Noto Sans SC"/>
              </a:rPr>
              <a:t>结果：r1 ⋈ r2 = r （完全恢复原始数据）</a:t>
            </a:r>
          </a:p>
        </p:txBody>
      </p:sp>
      <p:sp>
        <p:nvSpPr>
          <p:cNvPr id="6" name="AutoShape 6"/>
          <p:cNvSpPr/>
          <p:nvPr/>
        </p:nvSpPr>
        <p:spPr>
          <a:xfrm>
            <a:off x="6386622" y="2159000"/>
            <a:ext cx="4967177" cy="508000"/>
          </a:xfrm>
          <a:prstGeom prst="roundRect">
            <a:avLst>
              <a:gd name="adj" fmla="val 0"/>
            </a:avLst>
          </a:prstGeom>
          <a:solidFill>
            <a:srgbClr val="EF4444">
              <a:alpha val="100000"/>
            </a:srgbClr>
          </a:solidFill>
          <a:ln w="25400" cap="flat" cmpd="sng">
            <a:noFill/>
            <a:prstDash val="solid"/>
            <a:round/>
          </a:ln>
        </p:spPr>
        <p:txBody>
          <a:bodyPr vert="horz" wrap="square" lIns="63500" tIns="63500" rIns="63500" bIns="63500" rtlCol="0" anchor="ctr"/>
          <a:lstStyle/>
          <a:p>
            <a:pPr algn="ctr">
              <a:defRPr/>
            </a:pPr>
            <a:r>
              <a:rPr lang="en-US" altLang="zh-CN" sz="1800" b="1">
                <a:solidFill>
                  <a:srgbClr val="FFFFFF"/>
                </a:solidFill>
                <a:latin typeface="Noto Sans SC"/>
                <a:ea typeface="Noto Sans SC"/>
                <a:cs typeface="Noto Sans SC"/>
                <a:sym typeface="Noto Sans SC"/>
              </a:rPr>
              <a:t>(2) 损失分解</a:t>
            </a:r>
            <a:endParaRPr sz="1800"/>
          </a:p>
        </p:txBody>
      </p:sp>
      <p:sp>
        <p:nvSpPr>
          <p:cNvPr id="8" name="AutoShape 8"/>
          <p:cNvSpPr/>
          <p:nvPr/>
        </p:nvSpPr>
        <p:spPr>
          <a:xfrm>
            <a:off x="6960781" y="5189347"/>
            <a:ext cx="4393018" cy="389270"/>
          </a:xfrm>
          <a:prstGeom prst="rect">
            <a:avLst/>
          </a:prstGeom>
          <a:noFill/>
          <a:ln w="12700" cap="flat" cmpd="sng">
            <a:noFill/>
            <a:prstDash val="solid"/>
            <a:round/>
          </a:ln>
        </p:spPr>
        <p:txBody>
          <a:bodyPr vert="horz" wrap="square" lIns="0" tIns="0" rIns="0" bIns="0" rtlCol="0" anchor="t" anchorCtr="0"/>
          <a:lstStyle/>
          <a:p>
            <a:pPr indent="0" algn="l">
              <a:lnSpc>
                <a:spcPct val="150000"/>
              </a:lnSpc>
            </a:pPr>
            <a:r>
              <a:rPr lang="en-US" sz="1800" b="1" i="0" u="none" strike="noStrike">
                <a:solidFill>
                  <a:srgbClr val="EF4444"/>
                </a:solidFill>
                <a:latin typeface="Noto Sans SC"/>
                <a:ea typeface="Noto Sans SC"/>
                <a:cs typeface="Noto Sans SC"/>
                <a:sym typeface="Noto Sans SC"/>
              </a:rPr>
              <a:t>结果：r1 ⋈ r2 ≠ r (产生了寄生元组)</a:t>
            </a:r>
          </a:p>
        </p:txBody>
      </p:sp>
      <p:sp>
        <p:nvSpPr>
          <p:cNvPr id="9" name="AutoShape 9"/>
          <p:cNvSpPr/>
          <p:nvPr/>
        </p:nvSpPr>
        <p:spPr>
          <a:xfrm>
            <a:off x="901700" y="5867265"/>
            <a:ext cx="10401300" cy="736009"/>
          </a:xfrm>
          <a:prstGeom prst="roundRect">
            <a:avLst>
              <a:gd name="adj" fmla="val 22857"/>
            </a:avLst>
          </a:prstGeom>
          <a:solidFill>
            <a:srgbClr val="F3F4F6">
              <a:alpha val="100000"/>
            </a:srgbClr>
          </a:solidFill>
          <a:ln w="25400" cap="flat" cmpd="sng">
            <a:noFill/>
            <a:prstDash val="solid"/>
            <a:round/>
          </a:ln>
        </p:spPr>
        <p:txBody>
          <a:bodyPr vert="horz" wrap="square" lIns="63500" tIns="63500" rIns="63500" bIns="63500" rtlCol="0" anchor="ctr"/>
          <a:lstStyle/>
          <a:p>
            <a:pPr algn="ctr">
              <a:defRPr/>
            </a:pPr>
            <a:r>
              <a:rPr lang="zh-CN" altLang="en-US" sz="1600" b="1">
                <a:solidFill>
                  <a:srgbClr val="374151"/>
                </a:solidFill>
                <a:latin typeface="Noto Sans SC"/>
                <a:ea typeface="Noto Sans SC"/>
                <a:cs typeface="Noto Sans SC"/>
                <a:sym typeface="Noto Sans SC"/>
              </a:rPr>
              <a:t>💡 关键结论：并非所有分解都是安全的！必须保证分解具有无损连接性，避免引入错误的“寄生元组”。</a:t>
            </a:r>
            <a:endParaRPr sz="1600"/>
          </a:p>
        </p:txBody>
      </p:sp>
      <p:sp>
        <p:nvSpPr>
          <p:cNvPr id="10" name="AutoShape 10"/>
          <p:cNvSpPr/>
          <p:nvPr/>
        </p:nvSpPr>
        <p:spPr>
          <a:xfrm>
            <a:off x="1028700" y="5952780"/>
            <a:ext cx="10147300" cy="397219"/>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p>
        </p:txBody>
      </p:sp>
      <p:sp>
        <p:nvSpPr>
          <p:cNvPr id="11" name="AutoShape 2">
            <a:extLst>
              <a:ext uri="{FF2B5EF4-FFF2-40B4-BE49-F238E27FC236}">
                <a16:creationId xmlns:a16="http://schemas.microsoft.com/office/drawing/2014/main" id="{547029C3-4C17-ED25-A259-B17A928255B3}"/>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altLang="zh-CN" sz="2400" b="1">
                <a:solidFill>
                  <a:srgbClr val="FFFFFF"/>
                </a:solidFill>
                <a:latin typeface="Noto Sans SC"/>
                <a:ea typeface="Noto Sans SC"/>
                <a:sym typeface="SimHei"/>
              </a:rPr>
              <a:t>7.3.2 </a:t>
            </a:r>
            <a:r>
              <a:rPr lang="zh-CN" altLang="en-US" sz="2400" b="1">
                <a:solidFill>
                  <a:srgbClr val="FFFFFF"/>
                </a:solidFill>
                <a:latin typeface="Noto Sans SC"/>
                <a:ea typeface="Noto Sans SC"/>
                <a:sym typeface="SimHei"/>
              </a:rPr>
              <a:t>无损连接分解 （</a:t>
            </a:r>
            <a:r>
              <a:rPr lang="en-US" altLang="zh-CN" sz="2400" b="1">
                <a:solidFill>
                  <a:srgbClr val="FFFFFF"/>
                </a:solidFill>
                <a:latin typeface="Noto Sans SC"/>
                <a:ea typeface="Noto Sans SC"/>
                <a:sym typeface="SimHei"/>
              </a:rPr>
              <a:t>2</a:t>
            </a:r>
            <a:r>
              <a:rPr lang="zh-CN" altLang="en-US" sz="2400" b="1">
                <a:solidFill>
                  <a:srgbClr val="FFFFFF"/>
                </a:solidFill>
                <a:latin typeface="Noto Sans SC"/>
                <a:ea typeface="Noto Sans SC"/>
                <a:sym typeface="SimHei"/>
              </a:rPr>
              <a:t>）</a:t>
            </a:r>
            <a:endParaRPr lang="en-US" sz="2400" b="1">
              <a:solidFill>
                <a:srgbClr val="FFFFFF"/>
              </a:solidFill>
              <a:latin typeface="Noto Sans SC"/>
              <a:ea typeface="Noto Sans SC"/>
              <a:sym typeface="SimHei"/>
            </a:endParaRPr>
          </a:p>
        </p:txBody>
      </p:sp>
      <p:graphicFrame>
        <p:nvGraphicFramePr>
          <p:cNvPr id="15" name="表格 14">
            <a:extLst>
              <a:ext uri="{FF2B5EF4-FFF2-40B4-BE49-F238E27FC236}">
                <a16:creationId xmlns:a16="http://schemas.microsoft.com/office/drawing/2014/main" id="{EDBA0E2F-E350-B987-2D1C-7D6F12F89867}"/>
              </a:ext>
            </a:extLst>
          </p:cNvPr>
          <p:cNvGraphicFramePr>
            <a:graphicFrameLocks noGrp="1"/>
          </p:cNvGraphicFramePr>
          <p:nvPr>
            <p:extLst>
              <p:ext uri="{D42A27DB-BD31-4B8C-83A1-F6EECF244321}">
                <p14:modId xmlns:p14="http://schemas.microsoft.com/office/powerpoint/2010/main" val="4284626142"/>
              </p:ext>
            </p:extLst>
          </p:nvPr>
        </p:nvGraphicFramePr>
        <p:xfrm>
          <a:off x="925363" y="3364344"/>
          <a:ext cx="968155" cy="1000760"/>
        </p:xfrm>
        <a:graphic>
          <a:graphicData uri="http://schemas.openxmlformats.org/drawingml/2006/table">
            <a:tbl>
              <a:tblPr>
                <a:tableStyleId>{5940675A-B579-460E-94D1-54222C63F5DA}</a:tableStyleId>
              </a:tblPr>
              <a:tblGrid>
                <a:gridCol w="334453">
                  <a:extLst>
                    <a:ext uri="{9D8B030D-6E8A-4147-A177-3AD203B41FA5}">
                      <a16:colId xmlns:a16="http://schemas.microsoft.com/office/drawing/2014/main" val="2162813953"/>
                    </a:ext>
                  </a:extLst>
                </a:gridCol>
                <a:gridCol w="299249">
                  <a:extLst>
                    <a:ext uri="{9D8B030D-6E8A-4147-A177-3AD203B41FA5}">
                      <a16:colId xmlns:a16="http://schemas.microsoft.com/office/drawing/2014/main" val="2963973702"/>
                    </a:ext>
                  </a:extLst>
                </a:gridCol>
                <a:gridCol w="334453">
                  <a:extLst>
                    <a:ext uri="{9D8B030D-6E8A-4147-A177-3AD203B41FA5}">
                      <a16:colId xmlns:a16="http://schemas.microsoft.com/office/drawing/2014/main" val="1318354106"/>
                    </a:ext>
                  </a:extLst>
                </a:gridCol>
              </a:tblGrid>
              <a:tr h="183818">
                <a:tc gridSpan="3">
                  <a:txBody>
                    <a:bodyPr/>
                    <a:lstStyle/>
                    <a:p>
                      <a:pPr algn="ctr" fontAlgn="b">
                        <a:buNone/>
                      </a:pPr>
                      <a:r>
                        <a:rPr lang="zh-CN" altLang="en-US" sz="1600" u="none" strike="noStrike">
                          <a:effectLst/>
                          <a:latin typeface="Noto Sans SC" panose="020B0200000000000000" pitchFamily="34" charset="-122"/>
                          <a:ea typeface="Noto Sans SC" panose="020B0200000000000000" pitchFamily="34" charset="-122"/>
                        </a:rPr>
                        <a:t>关系</a:t>
                      </a:r>
                      <a:r>
                        <a:rPr lang="en-US" sz="1600" u="none" strike="noStrike">
                          <a:effectLst/>
                          <a:latin typeface="Noto Sans SC" panose="020B0200000000000000" pitchFamily="34" charset="-122"/>
                          <a:ea typeface="Noto Sans SC" panose="020B0200000000000000" pitchFamily="34" charset="-122"/>
                        </a:rPr>
                        <a:t>r</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93043079"/>
                  </a:ext>
                </a:extLst>
              </a:tr>
              <a:tr h="183818">
                <a:tc>
                  <a:txBody>
                    <a:bodyPr/>
                    <a:lstStyle/>
                    <a:p>
                      <a:pPr algn="ctr" fontAlgn="ctr">
                        <a:buNone/>
                      </a:pPr>
                      <a:r>
                        <a:rPr lang="en-US" sz="1600" u="none" strike="noStrike">
                          <a:effectLst/>
                          <a:latin typeface="Noto Sans SC" panose="020B0200000000000000" pitchFamily="34" charset="-122"/>
                          <a:ea typeface="Noto Sans SC" panose="020B0200000000000000" pitchFamily="34" charset="-122"/>
                        </a:rPr>
                        <a:t>A</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600" u="none" strike="noStrike">
                          <a:effectLst/>
                          <a:latin typeface="Noto Sans SC" panose="020B0200000000000000" pitchFamily="34" charset="-122"/>
                          <a:ea typeface="Noto Sans SC" panose="020B0200000000000000" pitchFamily="34" charset="-122"/>
                        </a:rPr>
                        <a:t>B</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600" u="none" strike="noStrike">
                          <a:effectLst/>
                          <a:latin typeface="Noto Sans SC" panose="020B0200000000000000" pitchFamily="34" charset="-122"/>
                          <a:ea typeface="Noto Sans SC" panose="020B0200000000000000" pitchFamily="34" charset="-122"/>
                        </a:rPr>
                        <a:t>C</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76841069"/>
                  </a:ext>
                </a:extLst>
              </a:tr>
              <a:tr h="183818">
                <a:tc>
                  <a:txBody>
                    <a:bodyPr/>
                    <a:lstStyle/>
                    <a:p>
                      <a:pPr algn="ctr" fontAlgn="ctr">
                        <a:buNone/>
                      </a:pPr>
                      <a:r>
                        <a:rPr lang="en-US" altLang="zh-CN" sz="1600" u="none" strike="noStrike">
                          <a:effectLst/>
                          <a:latin typeface="Noto Sans SC" panose="020B0200000000000000" pitchFamily="34" charset="-122"/>
                          <a:ea typeface="Noto Sans SC" panose="020B0200000000000000" pitchFamily="34" charset="-122"/>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u="none" strike="noStrike">
                          <a:effectLst/>
                          <a:latin typeface="Noto Sans SC" panose="020B0200000000000000" pitchFamily="34" charset="-122"/>
                          <a:ea typeface="Noto Sans SC" panose="020B0200000000000000" pitchFamily="34" charset="-122"/>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u="none" strike="noStrike">
                          <a:effectLst/>
                          <a:latin typeface="Noto Sans SC" panose="020B0200000000000000" pitchFamily="34" charset="-122"/>
                          <a:ea typeface="Noto Sans SC" panose="020B0200000000000000" pitchFamily="34" charset="-122"/>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8090560"/>
                  </a:ext>
                </a:extLst>
              </a:tr>
              <a:tr h="183818">
                <a:tc>
                  <a:txBody>
                    <a:bodyPr/>
                    <a:lstStyle/>
                    <a:p>
                      <a:pPr algn="ctr" fontAlgn="ctr">
                        <a:buNone/>
                      </a:pPr>
                      <a:r>
                        <a:rPr lang="en-US" altLang="zh-CN" sz="1600" u="none" strike="noStrike">
                          <a:effectLst/>
                          <a:latin typeface="Noto Sans SC" panose="020B0200000000000000" pitchFamily="34" charset="-122"/>
                          <a:ea typeface="Noto Sans SC" panose="020B0200000000000000" pitchFamily="34" charset="-122"/>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u="none" strike="noStrike">
                          <a:effectLst/>
                          <a:latin typeface="Noto Sans SC" panose="020B0200000000000000" pitchFamily="34" charset="-122"/>
                          <a:ea typeface="Noto Sans SC" panose="020B0200000000000000" pitchFamily="34" charset="-122"/>
                        </a:rPr>
                        <a:t>2</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u="none" strike="noStrike">
                          <a:effectLst/>
                          <a:latin typeface="Noto Sans SC" panose="020B0200000000000000" pitchFamily="34" charset="-122"/>
                          <a:ea typeface="Noto Sans SC" panose="020B0200000000000000" pitchFamily="34" charset="-122"/>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1033416"/>
                  </a:ext>
                </a:extLst>
              </a:tr>
            </a:tbl>
          </a:graphicData>
        </a:graphic>
      </p:graphicFrame>
      <p:graphicFrame>
        <p:nvGraphicFramePr>
          <p:cNvPr id="16" name="表格 15">
            <a:extLst>
              <a:ext uri="{FF2B5EF4-FFF2-40B4-BE49-F238E27FC236}">
                <a16:creationId xmlns:a16="http://schemas.microsoft.com/office/drawing/2014/main" id="{D4C11763-7D4E-078B-9156-745919079B51}"/>
              </a:ext>
            </a:extLst>
          </p:cNvPr>
          <p:cNvGraphicFramePr>
            <a:graphicFrameLocks noGrp="1"/>
          </p:cNvGraphicFramePr>
          <p:nvPr>
            <p:extLst>
              <p:ext uri="{D42A27DB-BD31-4B8C-83A1-F6EECF244321}">
                <p14:modId xmlns:p14="http://schemas.microsoft.com/office/powerpoint/2010/main" val="1907105989"/>
              </p:ext>
            </p:extLst>
          </p:nvPr>
        </p:nvGraphicFramePr>
        <p:xfrm>
          <a:off x="2513527" y="2863964"/>
          <a:ext cx="851935" cy="1000760"/>
        </p:xfrm>
        <a:graphic>
          <a:graphicData uri="http://schemas.openxmlformats.org/drawingml/2006/table">
            <a:tbl>
              <a:tblPr>
                <a:tableStyleId>{5940675A-B579-460E-94D1-54222C63F5DA}</a:tableStyleId>
              </a:tblPr>
              <a:tblGrid>
                <a:gridCol w="449633">
                  <a:extLst>
                    <a:ext uri="{9D8B030D-6E8A-4147-A177-3AD203B41FA5}">
                      <a16:colId xmlns:a16="http://schemas.microsoft.com/office/drawing/2014/main" val="1400166068"/>
                    </a:ext>
                  </a:extLst>
                </a:gridCol>
                <a:gridCol w="402302">
                  <a:extLst>
                    <a:ext uri="{9D8B030D-6E8A-4147-A177-3AD203B41FA5}">
                      <a16:colId xmlns:a16="http://schemas.microsoft.com/office/drawing/2014/main" val="4236990079"/>
                    </a:ext>
                  </a:extLst>
                </a:gridCol>
              </a:tblGrid>
              <a:tr h="244405">
                <a:tc gridSpan="2">
                  <a:txBody>
                    <a:bodyPr/>
                    <a:lstStyle/>
                    <a:p>
                      <a:pPr algn="ctr" fontAlgn="b">
                        <a:buNone/>
                      </a:pPr>
                      <a:r>
                        <a:rPr lang="zh-CN" altLang="en-US" sz="1600" u="none" strike="noStrike">
                          <a:effectLst/>
                          <a:latin typeface="Noto Sans SC Medium" panose="020B0200000000000000" pitchFamily="34" charset="-122"/>
                          <a:ea typeface="Noto Sans SC Medium" panose="020B0200000000000000" pitchFamily="34" charset="-122"/>
                        </a:rPr>
                        <a:t>投影</a:t>
                      </a:r>
                      <a:r>
                        <a:rPr lang="en-US" sz="1600" u="none" strike="noStrike">
                          <a:effectLst/>
                          <a:latin typeface="Noto Sans SC Medium" panose="020B0200000000000000" pitchFamily="34" charset="-122"/>
                          <a:ea typeface="Noto Sans SC Medium" panose="020B0200000000000000" pitchFamily="34" charset="-122"/>
                        </a:rPr>
                        <a:t>r1</a:t>
                      </a:r>
                      <a:endParaRPr lang="en-US" sz="1600" b="0" i="0" u="none" strike="noStrike">
                        <a:solidFill>
                          <a:srgbClr val="000000"/>
                        </a:solidFill>
                        <a:effectLst/>
                        <a:latin typeface="Noto Sans SC Medium" panose="020B0200000000000000" pitchFamily="34" charset="-122"/>
                        <a:ea typeface="Noto Sans SC Medium" panose="020B0200000000000000" pitchFamily="34" charset="-122"/>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extLst>
                  <a:ext uri="{0D108BD9-81ED-4DB2-BD59-A6C34878D82A}">
                    <a16:rowId xmlns:a16="http://schemas.microsoft.com/office/drawing/2014/main" val="2419821789"/>
                  </a:ext>
                </a:extLst>
              </a:tr>
              <a:tr h="244405">
                <a:tc>
                  <a:txBody>
                    <a:bodyPr/>
                    <a:lstStyle/>
                    <a:p>
                      <a:pPr algn="ctr" fontAlgn="ctr">
                        <a:buNone/>
                      </a:pPr>
                      <a:r>
                        <a:rPr lang="en-US" sz="1600" u="none" strike="noStrike">
                          <a:effectLst/>
                        </a:rPr>
                        <a:t>A</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none" strike="noStrike">
                          <a:effectLst/>
                        </a:rPr>
                        <a:t>B</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6961030"/>
                  </a:ext>
                </a:extLst>
              </a:tr>
              <a:tr h="244405">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6200489"/>
                  </a:ext>
                </a:extLst>
              </a:tr>
              <a:tr h="244405">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u="none" strike="noStrike">
                          <a:effectLst/>
                        </a:rPr>
                        <a:t>2</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5238924"/>
                  </a:ext>
                </a:extLst>
              </a:tr>
            </a:tbl>
          </a:graphicData>
        </a:graphic>
      </p:graphicFrame>
      <p:graphicFrame>
        <p:nvGraphicFramePr>
          <p:cNvPr id="17" name="表格 16">
            <a:extLst>
              <a:ext uri="{FF2B5EF4-FFF2-40B4-BE49-F238E27FC236}">
                <a16:creationId xmlns:a16="http://schemas.microsoft.com/office/drawing/2014/main" id="{7365B721-53EE-D83D-8E60-4B5700A5A122}"/>
              </a:ext>
            </a:extLst>
          </p:cNvPr>
          <p:cNvGraphicFramePr>
            <a:graphicFrameLocks noGrp="1"/>
          </p:cNvGraphicFramePr>
          <p:nvPr>
            <p:extLst>
              <p:ext uri="{D42A27DB-BD31-4B8C-83A1-F6EECF244321}">
                <p14:modId xmlns:p14="http://schemas.microsoft.com/office/powerpoint/2010/main" val="3508375924"/>
              </p:ext>
            </p:extLst>
          </p:nvPr>
        </p:nvGraphicFramePr>
        <p:xfrm>
          <a:off x="2513527" y="3979869"/>
          <a:ext cx="851936" cy="1017403"/>
        </p:xfrm>
        <a:graphic>
          <a:graphicData uri="http://schemas.openxmlformats.org/drawingml/2006/table">
            <a:tbl>
              <a:tblPr>
                <a:tableStyleId>{5940675A-B579-460E-94D1-54222C63F5DA}</a:tableStyleId>
              </a:tblPr>
              <a:tblGrid>
                <a:gridCol w="425968">
                  <a:extLst>
                    <a:ext uri="{9D8B030D-6E8A-4147-A177-3AD203B41FA5}">
                      <a16:colId xmlns:a16="http://schemas.microsoft.com/office/drawing/2014/main" val="2105737429"/>
                    </a:ext>
                  </a:extLst>
                </a:gridCol>
                <a:gridCol w="425968">
                  <a:extLst>
                    <a:ext uri="{9D8B030D-6E8A-4147-A177-3AD203B41FA5}">
                      <a16:colId xmlns:a16="http://schemas.microsoft.com/office/drawing/2014/main" val="267852953"/>
                    </a:ext>
                  </a:extLst>
                </a:gridCol>
              </a:tblGrid>
              <a:tr h="266833">
                <a:tc gridSpan="2">
                  <a:txBody>
                    <a:bodyPr/>
                    <a:lstStyle/>
                    <a:p>
                      <a:pPr algn="ctr" fontAlgn="b">
                        <a:buNone/>
                      </a:pPr>
                      <a:r>
                        <a:rPr lang="zh-CN" altLang="en-US" sz="1600" u="none" strike="noStrike">
                          <a:effectLst/>
                          <a:latin typeface="Noto Sans SC Medium" panose="020B0200000000000000" pitchFamily="34" charset="-122"/>
                          <a:ea typeface="Noto Sans SC Medium" panose="020B0200000000000000" pitchFamily="34" charset="-122"/>
                        </a:rPr>
                        <a:t>投影</a:t>
                      </a:r>
                      <a:r>
                        <a:rPr lang="en-US" sz="1600" u="none" strike="noStrike">
                          <a:effectLst/>
                          <a:latin typeface="Noto Sans SC Medium" panose="020B0200000000000000" pitchFamily="34" charset="-122"/>
                          <a:ea typeface="Noto Sans SC Medium" panose="020B0200000000000000" pitchFamily="34" charset="-122"/>
                        </a:rPr>
                        <a:t>r2</a:t>
                      </a:r>
                      <a:endParaRPr lang="en-US" sz="1600" b="0" i="0" u="none" strike="noStrike">
                        <a:solidFill>
                          <a:srgbClr val="000000"/>
                        </a:solidFill>
                        <a:effectLst/>
                        <a:latin typeface="Noto Sans SC Medium" panose="020B0200000000000000" pitchFamily="34" charset="-122"/>
                        <a:ea typeface="Noto Sans SC Medium" panose="020B0200000000000000" pitchFamily="34" charset="-122"/>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extLst>
                  <a:ext uri="{0D108BD9-81ED-4DB2-BD59-A6C34878D82A}">
                    <a16:rowId xmlns:a16="http://schemas.microsoft.com/office/drawing/2014/main" val="3281457706"/>
                  </a:ext>
                </a:extLst>
              </a:tr>
              <a:tr h="43692">
                <a:tc>
                  <a:txBody>
                    <a:bodyPr/>
                    <a:lstStyle/>
                    <a:p>
                      <a:pPr algn="ctr" fontAlgn="ctr">
                        <a:buNone/>
                      </a:pPr>
                      <a:r>
                        <a:rPr lang="en-US" sz="1600" u="none" strike="noStrike">
                          <a:effectLst/>
                        </a:rPr>
                        <a:t>A</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600" u="none" strike="noStrike">
                          <a:effectLst/>
                        </a:rPr>
                        <a:t>C</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4540465"/>
                  </a:ext>
                </a:extLst>
              </a:tr>
              <a:tr h="43692">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8121152"/>
                  </a:ext>
                </a:extLst>
              </a:tr>
              <a:tr h="43692">
                <a:tc>
                  <a:txBody>
                    <a:bodyPr/>
                    <a:lstStyle/>
                    <a:p>
                      <a:pPr algn="l" fontAlgn="b">
                        <a:buNone/>
                      </a:pPr>
                      <a:endParaRPr lang="zh-CN" alt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l" fontAlgn="b">
                        <a:buNone/>
                      </a:pPr>
                      <a:endParaRPr lang="zh-CN" alt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9875247"/>
                  </a:ext>
                </a:extLst>
              </a:tr>
            </a:tbl>
          </a:graphicData>
        </a:graphic>
      </p:graphicFrame>
      <p:graphicFrame>
        <p:nvGraphicFramePr>
          <p:cNvPr id="18" name="表格 17">
            <a:extLst>
              <a:ext uri="{FF2B5EF4-FFF2-40B4-BE49-F238E27FC236}">
                <a16:creationId xmlns:a16="http://schemas.microsoft.com/office/drawing/2014/main" id="{7E923193-B7C3-B102-07E1-D411F5F50A83}"/>
              </a:ext>
            </a:extLst>
          </p:cNvPr>
          <p:cNvGraphicFramePr>
            <a:graphicFrameLocks noGrp="1"/>
          </p:cNvGraphicFramePr>
          <p:nvPr>
            <p:extLst>
              <p:ext uri="{D42A27DB-BD31-4B8C-83A1-F6EECF244321}">
                <p14:modId xmlns:p14="http://schemas.microsoft.com/office/powerpoint/2010/main" val="1842993015"/>
              </p:ext>
            </p:extLst>
          </p:nvPr>
        </p:nvGraphicFramePr>
        <p:xfrm>
          <a:off x="4060270" y="3487810"/>
          <a:ext cx="1680682" cy="1000760"/>
        </p:xfrm>
        <a:graphic>
          <a:graphicData uri="http://schemas.openxmlformats.org/drawingml/2006/table">
            <a:tbl>
              <a:tblPr>
                <a:tableStyleId>{5940675A-B579-460E-94D1-54222C63F5DA}</a:tableStyleId>
              </a:tblPr>
              <a:tblGrid>
                <a:gridCol w="580599">
                  <a:extLst>
                    <a:ext uri="{9D8B030D-6E8A-4147-A177-3AD203B41FA5}">
                      <a16:colId xmlns:a16="http://schemas.microsoft.com/office/drawing/2014/main" val="1895928676"/>
                    </a:ext>
                  </a:extLst>
                </a:gridCol>
                <a:gridCol w="519484">
                  <a:extLst>
                    <a:ext uri="{9D8B030D-6E8A-4147-A177-3AD203B41FA5}">
                      <a16:colId xmlns:a16="http://schemas.microsoft.com/office/drawing/2014/main" val="1843492356"/>
                    </a:ext>
                  </a:extLst>
                </a:gridCol>
                <a:gridCol w="580599">
                  <a:extLst>
                    <a:ext uri="{9D8B030D-6E8A-4147-A177-3AD203B41FA5}">
                      <a16:colId xmlns:a16="http://schemas.microsoft.com/office/drawing/2014/main" val="3528052606"/>
                    </a:ext>
                  </a:extLst>
                </a:gridCol>
              </a:tblGrid>
              <a:tr h="44070">
                <a:tc gridSpan="3">
                  <a:txBody>
                    <a:bodyPr/>
                    <a:lstStyle/>
                    <a:p>
                      <a:pPr algn="ctr" fontAlgn="b">
                        <a:buNone/>
                      </a:pPr>
                      <a:r>
                        <a:rPr lang="zh-CN" altLang="en-US" sz="1600" u="none" strike="noStrike">
                          <a:effectLst/>
                          <a:latin typeface="Noto Sans SC Medium" panose="020B0200000000000000" pitchFamily="34" charset="-122"/>
                          <a:ea typeface="Noto Sans SC Medium" panose="020B0200000000000000" pitchFamily="34" charset="-122"/>
                        </a:rPr>
                        <a:t>自然连接 </a:t>
                      </a:r>
                      <a:r>
                        <a:rPr lang="en-US" sz="1600" u="none" strike="noStrike">
                          <a:effectLst/>
                          <a:latin typeface="Noto Sans SC Medium" panose="020B0200000000000000" pitchFamily="34" charset="-122"/>
                          <a:ea typeface="Noto Sans SC Medium" panose="020B0200000000000000" pitchFamily="34" charset="-122"/>
                        </a:rPr>
                        <a:t>r1 ⋈ r2</a:t>
                      </a:r>
                      <a:endParaRPr lang="en-US" sz="1600" b="0" i="0" u="none" strike="noStrike">
                        <a:solidFill>
                          <a:srgbClr val="000000"/>
                        </a:solidFill>
                        <a:effectLst/>
                        <a:latin typeface="Noto Sans SC Medium" panose="020B0200000000000000" pitchFamily="34" charset="-122"/>
                        <a:ea typeface="Noto Sans SC Medium" panose="020B0200000000000000" pitchFamily="34" charset="-122"/>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93856705"/>
                  </a:ext>
                </a:extLst>
              </a:tr>
              <a:tr h="44070">
                <a:tc>
                  <a:txBody>
                    <a:bodyPr/>
                    <a:lstStyle/>
                    <a:p>
                      <a:pPr algn="ctr" fontAlgn="ctr">
                        <a:buNone/>
                      </a:pPr>
                      <a:r>
                        <a:rPr lang="en-US" sz="1600" u="none" strike="noStrike">
                          <a:effectLst/>
                        </a:rPr>
                        <a:t>A</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600" u="none" strike="noStrike">
                          <a:effectLst/>
                        </a:rPr>
                        <a:t>B</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600" u="none" strike="noStrike">
                          <a:effectLst/>
                        </a:rPr>
                        <a:t>C</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3636713"/>
                  </a:ext>
                </a:extLst>
              </a:tr>
              <a:tr h="44070">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57575293"/>
                  </a:ext>
                </a:extLst>
              </a:tr>
              <a:tr h="44070">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altLang="zh-CN" sz="1600" u="none" strike="noStrike">
                          <a:effectLst/>
                        </a:rPr>
                        <a:t>2</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063886"/>
                  </a:ext>
                </a:extLst>
              </a:tr>
            </a:tbl>
          </a:graphicData>
        </a:graphic>
      </p:graphicFrame>
      <p:sp>
        <p:nvSpPr>
          <p:cNvPr id="25" name="左大括号 24">
            <a:extLst>
              <a:ext uri="{FF2B5EF4-FFF2-40B4-BE49-F238E27FC236}">
                <a16:creationId xmlns:a16="http://schemas.microsoft.com/office/drawing/2014/main" id="{08EE8D7E-C3DE-DD0E-C86C-4F593E913464}"/>
              </a:ext>
            </a:extLst>
          </p:cNvPr>
          <p:cNvSpPr/>
          <p:nvPr/>
        </p:nvSpPr>
        <p:spPr>
          <a:xfrm>
            <a:off x="1960265" y="3492616"/>
            <a:ext cx="349323" cy="1093381"/>
          </a:xfrm>
          <a:prstGeom prst="leftBrace">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右大括号 25">
            <a:extLst>
              <a:ext uri="{FF2B5EF4-FFF2-40B4-BE49-F238E27FC236}">
                <a16:creationId xmlns:a16="http://schemas.microsoft.com/office/drawing/2014/main" id="{B3868CB8-A8A9-1A7B-09A9-19FEC5592070}"/>
              </a:ext>
            </a:extLst>
          </p:cNvPr>
          <p:cNvSpPr/>
          <p:nvPr/>
        </p:nvSpPr>
        <p:spPr>
          <a:xfrm>
            <a:off x="3494384" y="3470903"/>
            <a:ext cx="460744" cy="1098187"/>
          </a:xfrm>
          <a:prstGeom prst="rightBrace">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7" name="表格 26">
            <a:extLst>
              <a:ext uri="{FF2B5EF4-FFF2-40B4-BE49-F238E27FC236}">
                <a16:creationId xmlns:a16="http://schemas.microsoft.com/office/drawing/2014/main" id="{66EF76F0-445A-36E0-A1F5-989D90966376}"/>
              </a:ext>
            </a:extLst>
          </p:cNvPr>
          <p:cNvGraphicFramePr>
            <a:graphicFrameLocks noGrp="1"/>
          </p:cNvGraphicFramePr>
          <p:nvPr>
            <p:extLst>
              <p:ext uri="{D42A27DB-BD31-4B8C-83A1-F6EECF244321}">
                <p14:modId xmlns:p14="http://schemas.microsoft.com/office/powerpoint/2010/main" val="2048143833"/>
              </p:ext>
            </p:extLst>
          </p:nvPr>
        </p:nvGraphicFramePr>
        <p:xfrm>
          <a:off x="6487411" y="3392733"/>
          <a:ext cx="968155" cy="1000760"/>
        </p:xfrm>
        <a:graphic>
          <a:graphicData uri="http://schemas.openxmlformats.org/drawingml/2006/table">
            <a:tbl>
              <a:tblPr>
                <a:tableStyleId>{5940675A-B579-460E-94D1-54222C63F5DA}</a:tableStyleId>
              </a:tblPr>
              <a:tblGrid>
                <a:gridCol w="334453">
                  <a:extLst>
                    <a:ext uri="{9D8B030D-6E8A-4147-A177-3AD203B41FA5}">
                      <a16:colId xmlns:a16="http://schemas.microsoft.com/office/drawing/2014/main" val="2162813953"/>
                    </a:ext>
                  </a:extLst>
                </a:gridCol>
                <a:gridCol w="299249">
                  <a:extLst>
                    <a:ext uri="{9D8B030D-6E8A-4147-A177-3AD203B41FA5}">
                      <a16:colId xmlns:a16="http://schemas.microsoft.com/office/drawing/2014/main" val="2963973702"/>
                    </a:ext>
                  </a:extLst>
                </a:gridCol>
                <a:gridCol w="334453">
                  <a:extLst>
                    <a:ext uri="{9D8B030D-6E8A-4147-A177-3AD203B41FA5}">
                      <a16:colId xmlns:a16="http://schemas.microsoft.com/office/drawing/2014/main" val="1318354106"/>
                    </a:ext>
                  </a:extLst>
                </a:gridCol>
              </a:tblGrid>
              <a:tr h="183818">
                <a:tc gridSpan="3">
                  <a:txBody>
                    <a:bodyPr/>
                    <a:lstStyle/>
                    <a:p>
                      <a:pPr algn="ctr" fontAlgn="b">
                        <a:buNone/>
                      </a:pPr>
                      <a:r>
                        <a:rPr lang="zh-CN" altLang="en-US" sz="1600" u="none" strike="noStrike">
                          <a:effectLst/>
                          <a:latin typeface="Noto Sans SC" panose="020B0200000000000000" pitchFamily="34" charset="-122"/>
                          <a:ea typeface="Noto Sans SC" panose="020B0200000000000000" pitchFamily="34" charset="-122"/>
                        </a:rPr>
                        <a:t>关系</a:t>
                      </a:r>
                      <a:r>
                        <a:rPr lang="en-US" sz="1600" u="none" strike="noStrike">
                          <a:effectLst/>
                          <a:latin typeface="Noto Sans SC" panose="020B0200000000000000" pitchFamily="34" charset="-122"/>
                          <a:ea typeface="Noto Sans SC" panose="020B0200000000000000" pitchFamily="34" charset="-122"/>
                        </a:rPr>
                        <a:t>r</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193043079"/>
                  </a:ext>
                </a:extLst>
              </a:tr>
              <a:tr h="183818">
                <a:tc>
                  <a:txBody>
                    <a:bodyPr/>
                    <a:lstStyle/>
                    <a:p>
                      <a:pPr algn="ctr" fontAlgn="ctr">
                        <a:buNone/>
                      </a:pPr>
                      <a:r>
                        <a:rPr lang="en-US" sz="1600" u="none" strike="noStrike">
                          <a:effectLst/>
                          <a:latin typeface="Noto Sans SC" panose="020B0200000000000000" pitchFamily="34" charset="-122"/>
                          <a:ea typeface="Noto Sans SC" panose="020B0200000000000000" pitchFamily="34" charset="-122"/>
                        </a:rPr>
                        <a:t>A</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600" u="none" strike="noStrike">
                          <a:effectLst/>
                          <a:latin typeface="Noto Sans SC" panose="020B0200000000000000" pitchFamily="34" charset="-122"/>
                          <a:ea typeface="Noto Sans SC" panose="020B0200000000000000" pitchFamily="34" charset="-122"/>
                        </a:rPr>
                        <a:t>B</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tc>
                  <a:txBody>
                    <a:bodyPr/>
                    <a:lstStyle/>
                    <a:p>
                      <a:pPr algn="ctr" fontAlgn="ctr">
                        <a:buNone/>
                      </a:pPr>
                      <a:r>
                        <a:rPr lang="en-US" sz="1600" u="none" strike="noStrike">
                          <a:effectLst/>
                          <a:latin typeface="Noto Sans SC" panose="020B0200000000000000" pitchFamily="34" charset="-122"/>
                          <a:ea typeface="Noto Sans SC" panose="020B0200000000000000" pitchFamily="34" charset="-122"/>
                        </a:rPr>
                        <a:t>C</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6">
                        <a:lumMod val="20000"/>
                        <a:lumOff val="80000"/>
                      </a:schemeClr>
                    </a:solidFill>
                  </a:tcPr>
                </a:tc>
                <a:extLst>
                  <a:ext uri="{0D108BD9-81ED-4DB2-BD59-A6C34878D82A}">
                    <a16:rowId xmlns:a16="http://schemas.microsoft.com/office/drawing/2014/main" val="776841069"/>
                  </a:ext>
                </a:extLst>
              </a:tr>
              <a:tr h="183818">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Noto Sans SC" panose="020B0200000000000000" pitchFamily="34" charset="-122"/>
                          <a:ea typeface="Noto Sans SC" panose="020B0200000000000000" pitchFamily="34" charset="-122"/>
                          <a:cs typeface="+mn-cs"/>
                          <a:sym typeface="Arial"/>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Noto Sans SC" panose="020B0200000000000000" pitchFamily="34" charset="-122"/>
                          <a:ea typeface="Noto Sans SC" panose="020B0200000000000000" pitchFamily="34" charset="-122"/>
                          <a:cs typeface="+mn-cs"/>
                          <a:sym typeface="Arial"/>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Noto Sans SC" panose="020B0200000000000000" pitchFamily="34" charset="-122"/>
                          <a:ea typeface="Noto Sans SC" panose="020B0200000000000000" pitchFamily="34" charset="-122"/>
                          <a:cs typeface="+mn-cs"/>
                          <a:sym typeface="Arial"/>
                        </a:rPr>
                        <a:t>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8090560"/>
                  </a:ext>
                </a:extLst>
              </a:tr>
              <a:tr h="183818">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Noto Sans SC" panose="020B0200000000000000" pitchFamily="34" charset="-122"/>
                          <a:ea typeface="Noto Sans SC" panose="020B0200000000000000" pitchFamily="34" charset="-122"/>
                          <a:cs typeface="+mn-cs"/>
                          <a:sym typeface="Arial"/>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Noto Sans SC" panose="020B0200000000000000" pitchFamily="34" charset="-122"/>
                          <a:ea typeface="Noto Sans SC" panose="020B0200000000000000" pitchFamily="34" charset="-122"/>
                          <a:cs typeface="+mn-cs"/>
                          <a:sym typeface="Arial"/>
                        </a:rPr>
                        <a:t>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Noto Sans SC" panose="020B0200000000000000" pitchFamily="34" charset="-122"/>
                          <a:ea typeface="Noto Sans SC" panose="020B0200000000000000" pitchFamily="34" charset="-122"/>
                          <a:cs typeface="+mn-cs"/>
                          <a:sym typeface="Arial"/>
                        </a:rPr>
                        <a:t>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1033416"/>
                  </a:ext>
                </a:extLst>
              </a:tr>
            </a:tbl>
          </a:graphicData>
        </a:graphic>
      </p:graphicFrame>
      <p:graphicFrame>
        <p:nvGraphicFramePr>
          <p:cNvPr id="28" name="表格 27">
            <a:extLst>
              <a:ext uri="{FF2B5EF4-FFF2-40B4-BE49-F238E27FC236}">
                <a16:creationId xmlns:a16="http://schemas.microsoft.com/office/drawing/2014/main" id="{673CF991-1C40-93E3-2EAD-BE034D865922}"/>
              </a:ext>
            </a:extLst>
          </p:cNvPr>
          <p:cNvGraphicFramePr>
            <a:graphicFrameLocks noGrp="1"/>
          </p:cNvGraphicFramePr>
          <p:nvPr>
            <p:extLst>
              <p:ext uri="{D42A27DB-BD31-4B8C-83A1-F6EECF244321}">
                <p14:modId xmlns:p14="http://schemas.microsoft.com/office/powerpoint/2010/main" val="1907105989"/>
              </p:ext>
            </p:extLst>
          </p:nvPr>
        </p:nvGraphicFramePr>
        <p:xfrm>
          <a:off x="8075575" y="2892353"/>
          <a:ext cx="851935" cy="1000760"/>
        </p:xfrm>
        <a:graphic>
          <a:graphicData uri="http://schemas.openxmlformats.org/drawingml/2006/table">
            <a:tbl>
              <a:tblPr>
                <a:tableStyleId>{5940675A-B579-460E-94D1-54222C63F5DA}</a:tableStyleId>
              </a:tblPr>
              <a:tblGrid>
                <a:gridCol w="449633">
                  <a:extLst>
                    <a:ext uri="{9D8B030D-6E8A-4147-A177-3AD203B41FA5}">
                      <a16:colId xmlns:a16="http://schemas.microsoft.com/office/drawing/2014/main" val="1400166068"/>
                    </a:ext>
                  </a:extLst>
                </a:gridCol>
                <a:gridCol w="402302">
                  <a:extLst>
                    <a:ext uri="{9D8B030D-6E8A-4147-A177-3AD203B41FA5}">
                      <a16:colId xmlns:a16="http://schemas.microsoft.com/office/drawing/2014/main" val="4236990079"/>
                    </a:ext>
                  </a:extLst>
                </a:gridCol>
              </a:tblGrid>
              <a:tr h="244405">
                <a:tc gridSpan="2">
                  <a:txBody>
                    <a:bodyPr/>
                    <a:lstStyle/>
                    <a:p>
                      <a:pPr algn="ctr" fontAlgn="b">
                        <a:buNone/>
                      </a:pPr>
                      <a:r>
                        <a:rPr lang="zh-CN" altLang="en-US" sz="1600" u="none" strike="noStrike">
                          <a:effectLst/>
                          <a:latin typeface="Noto Sans SC Medium" panose="020B0200000000000000" pitchFamily="34" charset="-122"/>
                          <a:ea typeface="Noto Sans SC Medium" panose="020B0200000000000000" pitchFamily="34" charset="-122"/>
                        </a:rPr>
                        <a:t>投影</a:t>
                      </a:r>
                      <a:r>
                        <a:rPr lang="en-US" sz="1600" u="none" strike="noStrike">
                          <a:effectLst/>
                          <a:latin typeface="Noto Sans SC Medium" panose="020B0200000000000000" pitchFamily="34" charset="-122"/>
                          <a:ea typeface="Noto Sans SC Medium" panose="020B0200000000000000" pitchFamily="34" charset="-122"/>
                        </a:rPr>
                        <a:t>r1</a:t>
                      </a:r>
                      <a:endParaRPr lang="en-US" sz="1600" b="0" i="0" u="none" strike="noStrike">
                        <a:solidFill>
                          <a:srgbClr val="000000"/>
                        </a:solidFill>
                        <a:effectLst/>
                        <a:latin typeface="Noto Sans SC Medium" panose="020B0200000000000000" pitchFamily="34" charset="-122"/>
                        <a:ea typeface="Noto Sans SC Medium" panose="020B0200000000000000" pitchFamily="34" charset="-122"/>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extLst>
                  <a:ext uri="{0D108BD9-81ED-4DB2-BD59-A6C34878D82A}">
                    <a16:rowId xmlns:a16="http://schemas.microsoft.com/office/drawing/2014/main" val="2419821789"/>
                  </a:ext>
                </a:extLst>
              </a:tr>
              <a:tr h="244405">
                <a:tc>
                  <a:txBody>
                    <a:bodyPr/>
                    <a:lstStyle/>
                    <a:p>
                      <a:pPr algn="ctr" fontAlgn="ctr">
                        <a:buNone/>
                      </a:pPr>
                      <a:r>
                        <a:rPr lang="en-US" sz="1600" u="none" strike="noStrike">
                          <a:effectLst/>
                        </a:rPr>
                        <a:t>A</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sz="1600" u="none" strike="noStrike">
                          <a:effectLst/>
                        </a:rPr>
                        <a:t>B</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6961030"/>
                  </a:ext>
                </a:extLst>
              </a:tr>
              <a:tr h="244405">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6200489"/>
                  </a:ext>
                </a:extLst>
              </a:tr>
              <a:tr h="244405">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ctr">
                        <a:buNone/>
                      </a:pPr>
                      <a:r>
                        <a:rPr lang="en-US" altLang="zh-CN" sz="1600" u="none" strike="noStrike">
                          <a:effectLst/>
                        </a:rPr>
                        <a:t>2</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15238924"/>
                  </a:ext>
                </a:extLst>
              </a:tr>
            </a:tbl>
          </a:graphicData>
        </a:graphic>
      </p:graphicFrame>
      <p:graphicFrame>
        <p:nvGraphicFramePr>
          <p:cNvPr id="29" name="表格 28">
            <a:extLst>
              <a:ext uri="{FF2B5EF4-FFF2-40B4-BE49-F238E27FC236}">
                <a16:creationId xmlns:a16="http://schemas.microsoft.com/office/drawing/2014/main" id="{006CBA02-86DC-B252-2F88-E2F842E60109}"/>
              </a:ext>
            </a:extLst>
          </p:cNvPr>
          <p:cNvGraphicFramePr>
            <a:graphicFrameLocks noGrp="1"/>
          </p:cNvGraphicFramePr>
          <p:nvPr>
            <p:extLst>
              <p:ext uri="{D42A27DB-BD31-4B8C-83A1-F6EECF244321}">
                <p14:modId xmlns:p14="http://schemas.microsoft.com/office/powerpoint/2010/main" val="3762209842"/>
              </p:ext>
            </p:extLst>
          </p:nvPr>
        </p:nvGraphicFramePr>
        <p:xfrm>
          <a:off x="8075575" y="4008258"/>
          <a:ext cx="851936" cy="1017403"/>
        </p:xfrm>
        <a:graphic>
          <a:graphicData uri="http://schemas.openxmlformats.org/drawingml/2006/table">
            <a:tbl>
              <a:tblPr>
                <a:tableStyleId>{5940675A-B579-460E-94D1-54222C63F5DA}</a:tableStyleId>
              </a:tblPr>
              <a:tblGrid>
                <a:gridCol w="425968">
                  <a:extLst>
                    <a:ext uri="{9D8B030D-6E8A-4147-A177-3AD203B41FA5}">
                      <a16:colId xmlns:a16="http://schemas.microsoft.com/office/drawing/2014/main" val="2105737429"/>
                    </a:ext>
                  </a:extLst>
                </a:gridCol>
                <a:gridCol w="425968">
                  <a:extLst>
                    <a:ext uri="{9D8B030D-6E8A-4147-A177-3AD203B41FA5}">
                      <a16:colId xmlns:a16="http://schemas.microsoft.com/office/drawing/2014/main" val="267852953"/>
                    </a:ext>
                  </a:extLst>
                </a:gridCol>
              </a:tblGrid>
              <a:tr h="266833">
                <a:tc gridSpan="2">
                  <a:txBody>
                    <a:bodyPr/>
                    <a:lstStyle/>
                    <a:p>
                      <a:pPr algn="ctr" fontAlgn="b">
                        <a:buNone/>
                      </a:pPr>
                      <a:r>
                        <a:rPr lang="zh-CN" altLang="en-US" sz="1600" u="none" strike="noStrike">
                          <a:effectLst/>
                          <a:latin typeface="Noto Sans SC Medium" panose="020B0200000000000000" pitchFamily="34" charset="-122"/>
                          <a:ea typeface="Noto Sans SC Medium" panose="020B0200000000000000" pitchFamily="34" charset="-122"/>
                        </a:rPr>
                        <a:t>投影</a:t>
                      </a:r>
                      <a:r>
                        <a:rPr lang="en-US" sz="1600" u="none" strike="noStrike">
                          <a:effectLst/>
                          <a:latin typeface="Noto Sans SC Medium" panose="020B0200000000000000" pitchFamily="34" charset="-122"/>
                          <a:ea typeface="Noto Sans SC Medium" panose="020B0200000000000000" pitchFamily="34" charset="-122"/>
                        </a:rPr>
                        <a:t>r2</a:t>
                      </a:r>
                      <a:endParaRPr lang="en-US" sz="1600" b="0" i="0" u="none" strike="noStrike">
                        <a:solidFill>
                          <a:srgbClr val="000000"/>
                        </a:solidFill>
                        <a:effectLst/>
                        <a:latin typeface="Noto Sans SC Medium" panose="020B0200000000000000" pitchFamily="34" charset="-122"/>
                        <a:ea typeface="Noto Sans SC Medium" panose="020B0200000000000000" pitchFamily="34" charset="-122"/>
                      </a:endParaRPr>
                    </a:p>
                  </a:txBody>
                  <a:tcPr marL="6350" marR="6350" marT="6350" marB="0" anchor="b">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extLst>
                  <a:ext uri="{0D108BD9-81ED-4DB2-BD59-A6C34878D82A}">
                    <a16:rowId xmlns:a16="http://schemas.microsoft.com/office/drawing/2014/main" val="3281457706"/>
                  </a:ext>
                </a:extLst>
              </a:tr>
              <a:tr h="43692">
                <a:tc>
                  <a:txBody>
                    <a:bodyPr/>
                    <a:lstStyle/>
                    <a:p>
                      <a:pPr algn="ctr" fontAlgn="ctr">
                        <a:buNone/>
                      </a:pPr>
                      <a:r>
                        <a:rPr lang="en-US" sz="1600" u="none" strike="noStrike">
                          <a:effectLst/>
                        </a:rPr>
                        <a:t>A</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600" u="none" strike="noStrike">
                          <a:effectLst/>
                        </a:rPr>
                        <a:t>C</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04540465"/>
                  </a:ext>
                </a:extLst>
              </a:tr>
              <a:tr h="43692">
                <a:tc>
                  <a:txBody>
                    <a:bodyPr/>
                    <a:lstStyle/>
                    <a:p>
                      <a:pPr algn="ctr" fontAlgn="ctr">
                        <a:buNone/>
                      </a:pPr>
                      <a:r>
                        <a:rPr lang="en-US" altLang="zh-CN" sz="1600" u="none" strike="noStrike">
                          <a:effectLst/>
                        </a:rPr>
                        <a:t>1</a:t>
                      </a:r>
                      <a:endParaRPr lang="en-US" altLang="zh-CN"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altLang="zh-CN" sz="1600" b="0" i="0" u="none" strike="noStrike">
                          <a:solidFill>
                            <a:srgbClr val="000000"/>
                          </a:solidFill>
                          <a:effectLst/>
                          <a:latin typeface="Noto Sans SC" panose="020B0200000000000000" pitchFamily="34" charset="-122"/>
                          <a:ea typeface="Noto Sans SC" panose="020B0200000000000000" pitchFamily="34" charset="-122"/>
                        </a:rPr>
                        <a:t>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228121152"/>
                  </a:ext>
                </a:extLst>
              </a:tr>
              <a:tr h="43692">
                <a:tc>
                  <a:txBody>
                    <a:bodyPr/>
                    <a:lstStyle/>
                    <a:p>
                      <a:pPr algn="ctr" fontAlgn="b">
                        <a:buNone/>
                      </a:pPr>
                      <a:r>
                        <a:rPr lang="en-US" altLang="zh-CN" sz="1600" b="0" i="0" u="none" strike="noStrike">
                          <a:solidFill>
                            <a:srgbClr val="000000"/>
                          </a:solidFill>
                          <a:effectLst/>
                          <a:latin typeface="Noto Sans SC" panose="020B0200000000000000" pitchFamily="34" charset="-122"/>
                          <a:ea typeface="Noto Sans SC" panose="020B0200000000000000" pitchFamily="34" charset="-122"/>
                        </a:rPr>
                        <a:t>1</a:t>
                      </a:r>
                      <a:endParaRPr lang="zh-CN" alt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b">
                        <a:buNone/>
                      </a:pPr>
                      <a:r>
                        <a:rPr lang="en-US" altLang="zh-CN" sz="1600" b="0" i="0" u="none" strike="noStrike">
                          <a:solidFill>
                            <a:srgbClr val="000000"/>
                          </a:solidFill>
                          <a:effectLst/>
                          <a:latin typeface="Noto Sans SC" panose="020B0200000000000000" pitchFamily="34" charset="-122"/>
                          <a:ea typeface="Noto Sans SC" panose="020B0200000000000000" pitchFamily="34" charset="-122"/>
                        </a:rPr>
                        <a:t>3</a:t>
                      </a:r>
                      <a:endParaRPr lang="zh-CN" alt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999875247"/>
                  </a:ext>
                </a:extLst>
              </a:tr>
            </a:tbl>
          </a:graphicData>
        </a:graphic>
      </p:graphicFrame>
      <p:graphicFrame>
        <p:nvGraphicFramePr>
          <p:cNvPr id="30" name="表格 29">
            <a:extLst>
              <a:ext uri="{FF2B5EF4-FFF2-40B4-BE49-F238E27FC236}">
                <a16:creationId xmlns:a16="http://schemas.microsoft.com/office/drawing/2014/main" id="{30B1AEA7-3629-4F79-284A-CDE54A7057DC}"/>
              </a:ext>
            </a:extLst>
          </p:cNvPr>
          <p:cNvGraphicFramePr>
            <a:graphicFrameLocks noGrp="1"/>
          </p:cNvGraphicFramePr>
          <p:nvPr>
            <p:extLst>
              <p:ext uri="{D42A27DB-BD31-4B8C-83A1-F6EECF244321}">
                <p14:modId xmlns:p14="http://schemas.microsoft.com/office/powerpoint/2010/main" val="2067376429"/>
              </p:ext>
            </p:extLst>
          </p:nvPr>
        </p:nvGraphicFramePr>
        <p:xfrm>
          <a:off x="9622318" y="3229299"/>
          <a:ext cx="1680682" cy="1501140"/>
        </p:xfrm>
        <a:graphic>
          <a:graphicData uri="http://schemas.openxmlformats.org/drawingml/2006/table">
            <a:tbl>
              <a:tblPr>
                <a:tableStyleId>{5940675A-B579-460E-94D1-54222C63F5DA}</a:tableStyleId>
              </a:tblPr>
              <a:tblGrid>
                <a:gridCol w="580599">
                  <a:extLst>
                    <a:ext uri="{9D8B030D-6E8A-4147-A177-3AD203B41FA5}">
                      <a16:colId xmlns:a16="http://schemas.microsoft.com/office/drawing/2014/main" val="1895928676"/>
                    </a:ext>
                  </a:extLst>
                </a:gridCol>
                <a:gridCol w="519484">
                  <a:extLst>
                    <a:ext uri="{9D8B030D-6E8A-4147-A177-3AD203B41FA5}">
                      <a16:colId xmlns:a16="http://schemas.microsoft.com/office/drawing/2014/main" val="1843492356"/>
                    </a:ext>
                  </a:extLst>
                </a:gridCol>
                <a:gridCol w="580599">
                  <a:extLst>
                    <a:ext uri="{9D8B030D-6E8A-4147-A177-3AD203B41FA5}">
                      <a16:colId xmlns:a16="http://schemas.microsoft.com/office/drawing/2014/main" val="3528052606"/>
                    </a:ext>
                  </a:extLst>
                </a:gridCol>
              </a:tblGrid>
              <a:tr h="44070">
                <a:tc gridSpan="3">
                  <a:txBody>
                    <a:bodyPr/>
                    <a:lstStyle/>
                    <a:p>
                      <a:pPr algn="ctr" fontAlgn="b">
                        <a:buNone/>
                      </a:pPr>
                      <a:r>
                        <a:rPr lang="zh-CN" altLang="en-US" sz="1600" u="none" strike="noStrike">
                          <a:effectLst/>
                          <a:latin typeface="Noto Sans SC Medium" panose="020B0200000000000000" pitchFamily="34" charset="-122"/>
                          <a:ea typeface="Noto Sans SC Medium" panose="020B0200000000000000" pitchFamily="34" charset="-122"/>
                        </a:rPr>
                        <a:t>自然连接 </a:t>
                      </a:r>
                      <a:r>
                        <a:rPr lang="en-US" sz="1600" u="none" strike="noStrike">
                          <a:effectLst/>
                          <a:latin typeface="Noto Sans SC Medium" panose="020B0200000000000000" pitchFamily="34" charset="-122"/>
                          <a:ea typeface="Noto Sans SC Medium" panose="020B0200000000000000" pitchFamily="34" charset="-122"/>
                        </a:rPr>
                        <a:t>r1 ⋈ r2</a:t>
                      </a:r>
                      <a:endParaRPr lang="en-US" sz="1600" b="0" i="0" u="none" strike="noStrike">
                        <a:solidFill>
                          <a:srgbClr val="000000"/>
                        </a:solidFill>
                        <a:effectLst/>
                        <a:latin typeface="Noto Sans SC Medium" panose="020B0200000000000000" pitchFamily="34" charset="-122"/>
                        <a:ea typeface="Noto Sans SC Medium" panose="020B0200000000000000" pitchFamily="34" charset="-122"/>
                      </a:endParaRPr>
                    </a:p>
                  </a:txBody>
                  <a:tcPr marL="6350" marR="6350" marT="6350" marB="0" anchor="b">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2393856705"/>
                  </a:ext>
                </a:extLst>
              </a:tr>
              <a:tr h="44070">
                <a:tc>
                  <a:txBody>
                    <a:bodyPr/>
                    <a:lstStyle/>
                    <a:p>
                      <a:pPr algn="ctr" fontAlgn="ctr">
                        <a:buNone/>
                      </a:pPr>
                      <a:r>
                        <a:rPr lang="en-US" sz="1600" u="none" strike="noStrike">
                          <a:effectLst/>
                        </a:rPr>
                        <a:t>A</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600" u="none" strike="noStrike">
                          <a:effectLst/>
                        </a:rPr>
                        <a:t>B</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fontAlgn="ctr">
                        <a:buNone/>
                      </a:pPr>
                      <a:r>
                        <a:rPr lang="en-US" sz="1600" u="none" strike="noStrike">
                          <a:effectLst/>
                        </a:rPr>
                        <a:t>C</a:t>
                      </a:r>
                      <a:endParaRPr lang="en-US" sz="1600" b="0" i="0" u="none" strike="noStrike">
                        <a:solidFill>
                          <a:srgbClr val="000000"/>
                        </a:solidFill>
                        <a:effectLst/>
                        <a:latin typeface="Noto Sans SC" panose="020B0200000000000000" pitchFamily="34" charset="-122"/>
                        <a:ea typeface="Noto Sans SC" panose="020B0200000000000000" pitchFamily="34" charset="-122"/>
                      </a:endParaRP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873636713"/>
                  </a:ext>
                </a:extLst>
              </a:tr>
              <a:tr h="44070">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mn-lt"/>
                          <a:ea typeface="+mn-ea"/>
                          <a:cs typeface="+mn-cs"/>
                          <a:sym typeface="Arial"/>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mn-lt"/>
                          <a:ea typeface="+mn-ea"/>
                          <a:cs typeface="+mn-cs"/>
                          <a:sym typeface="Arial"/>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mn-lt"/>
                          <a:ea typeface="+mn-ea"/>
                          <a:cs typeface="+mn-cs"/>
                          <a:sym typeface="Arial"/>
                        </a:rPr>
                        <a:t>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57575293"/>
                  </a:ext>
                </a:extLst>
              </a:tr>
              <a:tr h="44070">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rgbClr val="FF0000"/>
                          </a:solidFill>
                          <a:effectLst/>
                          <a:latin typeface="+mn-lt"/>
                          <a:ea typeface="+mn-ea"/>
                          <a:cs typeface="+mn-cs"/>
                          <a:sym typeface="Arial"/>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rgbClr val="FF0000"/>
                          </a:solidFill>
                          <a:effectLst/>
                          <a:latin typeface="+mn-lt"/>
                          <a:ea typeface="+mn-ea"/>
                          <a:cs typeface="+mn-cs"/>
                          <a:sym typeface="Arial"/>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rgbClr val="FF0000"/>
                          </a:solidFill>
                          <a:effectLst/>
                          <a:latin typeface="+mn-lt"/>
                          <a:ea typeface="+mn-ea"/>
                          <a:cs typeface="+mn-cs"/>
                          <a:sym typeface="Arial"/>
                        </a:rPr>
                        <a:t>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42063886"/>
                  </a:ext>
                </a:extLst>
              </a:tr>
              <a:tr h="44070">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rgbClr val="FF0000"/>
                          </a:solidFill>
                          <a:effectLst/>
                          <a:latin typeface="+mn-lt"/>
                          <a:ea typeface="+mn-ea"/>
                          <a:cs typeface="+mn-cs"/>
                          <a:sym typeface="Arial"/>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rgbClr val="FF0000"/>
                          </a:solidFill>
                          <a:effectLst/>
                          <a:latin typeface="+mn-lt"/>
                          <a:ea typeface="+mn-ea"/>
                          <a:cs typeface="+mn-cs"/>
                          <a:sym typeface="Arial"/>
                        </a:rPr>
                        <a:t>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rgbClr val="FF0000"/>
                          </a:solidFill>
                          <a:effectLst/>
                          <a:latin typeface="+mn-lt"/>
                          <a:ea typeface="+mn-ea"/>
                          <a:cs typeface="+mn-cs"/>
                          <a:sym typeface="Arial"/>
                        </a:rPr>
                        <a:t>4</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14149339"/>
                  </a:ext>
                </a:extLst>
              </a:tr>
              <a:tr h="44070">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mn-lt"/>
                          <a:ea typeface="+mn-ea"/>
                          <a:cs typeface="+mn-cs"/>
                          <a:sym typeface="Arial"/>
                        </a:rPr>
                        <a:t>1</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mn-lt"/>
                          <a:ea typeface="+mn-ea"/>
                          <a:cs typeface="+mn-cs"/>
                          <a:sym typeface="Arial"/>
                        </a:rPr>
                        <a:t>2</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R="0" algn="ctr" rtl="0" fontAlgn="ctr">
                        <a:lnSpc>
                          <a:spcPct val="100000"/>
                        </a:lnSpc>
                        <a:spcBef>
                          <a:spcPts val="0"/>
                        </a:spcBef>
                        <a:spcAft>
                          <a:spcPts val="0"/>
                        </a:spcAft>
                        <a:buClr>
                          <a:srgbClr val="000000"/>
                        </a:buClr>
                        <a:buFont typeface="Arial"/>
                        <a:buNone/>
                      </a:pPr>
                      <a:r>
                        <a:rPr lang="en-US" altLang="zh-CN" sz="1600" b="0" i="0" u="none" strike="noStrike" cap="none">
                          <a:solidFill>
                            <a:schemeClr val="tx1"/>
                          </a:solidFill>
                          <a:effectLst/>
                          <a:latin typeface="+mn-lt"/>
                          <a:ea typeface="+mn-ea"/>
                          <a:cs typeface="+mn-cs"/>
                          <a:sym typeface="Arial"/>
                        </a:rPr>
                        <a:t>3</a:t>
                      </a:r>
                    </a:p>
                  </a:txBody>
                  <a:tcPr marL="6350" marR="6350" marT="635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13683992"/>
                  </a:ext>
                </a:extLst>
              </a:tr>
            </a:tbl>
          </a:graphicData>
        </a:graphic>
      </p:graphicFrame>
      <p:sp>
        <p:nvSpPr>
          <p:cNvPr id="31" name="左大括号 30">
            <a:extLst>
              <a:ext uri="{FF2B5EF4-FFF2-40B4-BE49-F238E27FC236}">
                <a16:creationId xmlns:a16="http://schemas.microsoft.com/office/drawing/2014/main" id="{629CE948-4FD6-E0DB-318D-D59288DE5B51}"/>
              </a:ext>
            </a:extLst>
          </p:cNvPr>
          <p:cNvSpPr/>
          <p:nvPr/>
        </p:nvSpPr>
        <p:spPr>
          <a:xfrm>
            <a:off x="7522313" y="3521005"/>
            <a:ext cx="349323" cy="1093381"/>
          </a:xfrm>
          <a:prstGeom prst="leftBrace">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右大括号 31">
            <a:extLst>
              <a:ext uri="{FF2B5EF4-FFF2-40B4-BE49-F238E27FC236}">
                <a16:creationId xmlns:a16="http://schemas.microsoft.com/office/drawing/2014/main" id="{FABE7CFA-31E6-46D8-30FB-C9791FFCC07C}"/>
              </a:ext>
            </a:extLst>
          </p:cNvPr>
          <p:cNvSpPr/>
          <p:nvPr/>
        </p:nvSpPr>
        <p:spPr>
          <a:xfrm>
            <a:off x="9056432" y="3499292"/>
            <a:ext cx="460744" cy="1098187"/>
          </a:xfrm>
          <a:prstGeom prst="rightBrace">
            <a:avLst/>
          </a:prstGeom>
          <a:ln w="38100">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 name="AutoShape 4">
            <a:extLst>
              <a:ext uri="{FF2B5EF4-FFF2-40B4-BE49-F238E27FC236}">
                <a16:creationId xmlns:a16="http://schemas.microsoft.com/office/drawing/2014/main" id="{34C91D77-4733-0D16-2EC3-C2B4F57C17A0}"/>
              </a:ext>
            </a:extLst>
          </p:cNvPr>
          <p:cNvSpPr/>
          <p:nvPr/>
        </p:nvSpPr>
        <p:spPr>
          <a:xfrm>
            <a:off x="838200" y="1311761"/>
            <a:ext cx="4084084"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8</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：无损分解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vs </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损失分解</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7.3.3 模式分解的优缺点</a:t>
            </a:r>
            <a:endParaRPr lang="en-US" sz="2400" b="1">
              <a:solidFill>
                <a:srgbClr val="FFFFFF"/>
              </a:solidFill>
              <a:latin typeface="Noto Sans SC"/>
              <a:ea typeface="Noto Sans SC"/>
            </a:endParaRPr>
          </a:p>
        </p:txBody>
      </p:sp>
      <p:sp>
        <p:nvSpPr>
          <p:cNvPr id="3" name="AutoShape 3"/>
          <p:cNvSpPr/>
          <p:nvPr/>
        </p:nvSpPr>
        <p:spPr>
          <a:xfrm>
            <a:off x="838200" y="1524000"/>
            <a:ext cx="4485167" cy="4648200"/>
          </a:xfrm>
          <a:prstGeom prst="rect">
            <a:avLst/>
          </a:prstGeom>
          <a:noFill/>
          <a:ln w="12700" cap="flat" cmpd="sng">
            <a:noFill/>
            <a:prstDash val="solid"/>
            <a:round/>
          </a:ln>
        </p:spPr>
        <p:txBody>
          <a:bodyPr vert="horz" wrap="square" lIns="127000" tIns="127000" rIns="127000" bIns="127000" rtlCol="0" anchor="t" anchorCtr="0"/>
          <a:lstStyle/>
          <a:p>
            <a:pPr indent="0" algn="l">
              <a:lnSpc>
                <a:spcPct val="100000"/>
              </a:lnSpc>
              <a:defRPr/>
            </a:pPr>
            <a:r>
              <a:rPr lang="en-US" sz="2400" b="1" i="0" u="none" strike="noStrike">
                <a:solidFill>
                  <a:srgbClr val="7030A0"/>
                </a:solidFill>
                <a:latin typeface="Noto Sans SC"/>
                <a:ea typeface="Noto Sans SC"/>
                <a:cs typeface="Noto Sans SC"/>
                <a:sym typeface="Noto Sans SC"/>
              </a:rPr>
              <a:t>💡 模式分解的优点</a:t>
            </a:r>
            <a:endParaRPr lang="en-US" sz="1200"/>
          </a:p>
          <a:p>
            <a:pPr algn="l">
              <a:lnSpc>
                <a:spcPct val="116666"/>
              </a:lnSpc>
              <a:spcBef>
                <a:spcPts val="1500"/>
              </a:spcBef>
            </a:pPr>
            <a:r>
              <a:rPr lang="zh-CN" altLang="en-US" sz="1800" b="1" i="0" u="none" strike="noStrike">
                <a:solidFill>
                  <a:srgbClr val="1F2329"/>
                </a:solidFill>
                <a:latin typeface="Noto Sans SC"/>
                <a:ea typeface="Noto Sans SC"/>
                <a:cs typeface="Noto Sans SC"/>
                <a:sym typeface="Noto Sans SC"/>
              </a:rPr>
              <a:t>① </a:t>
            </a:r>
            <a:r>
              <a:rPr lang="en-US" sz="1800" b="1" i="0" u="none" strike="noStrike">
                <a:solidFill>
                  <a:srgbClr val="1F2329"/>
                </a:solidFill>
                <a:latin typeface="Noto Sans SC"/>
                <a:ea typeface="Noto Sans SC"/>
                <a:cs typeface="Noto Sans SC"/>
                <a:sym typeface="Noto Sans SC"/>
              </a:rPr>
              <a:t>消除数据冗余与操作异常</a:t>
            </a:r>
          </a:p>
          <a:p>
            <a:pPr algn="l">
              <a:lnSpc>
                <a:spcPct val="130000"/>
              </a:lnSpc>
            </a:pPr>
            <a:r>
              <a:rPr lang="en-US" sz="1600" b="0" i="0" u="none" strike="noStrike">
                <a:solidFill>
                  <a:srgbClr val="555555"/>
                </a:solidFill>
                <a:latin typeface="Noto Sans SC"/>
                <a:ea typeface="Noto Sans SC"/>
                <a:cs typeface="Noto Sans SC"/>
                <a:sym typeface="Noto Sans SC"/>
              </a:rPr>
              <a:t>这是模式分解的最主要目的。通过分解，可以有效避免数据在多个地方重复存储导致的不一致性，以及插入、删除、更新时可能产生的各类逻辑错误。</a:t>
            </a:r>
          </a:p>
          <a:p>
            <a:pPr algn="l">
              <a:lnSpc>
                <a:spcPct val="116666"/>
              </a:lnSpc>
              <a:spcBef>
                <a:spcPts val="2500"/>
              </a:spcBef>
            </a:pPr>
            <a:r>
              <a:rPr lang="zh-CN" altLang="en-US" sz="1800" b="1" i="0" u="none" strike="noStrike">
                <a:solidFill>
                  <a:srgbClr val="1F2329"/>
                </a:solidFill>
                <a:latin typeface="Noto Sans SC"/>
                <a:ea typeface="Noto Sans SC"/>
                <a:cs typeface="Noto Sans SC"/>
                <a:sym typeface="Noto Sans SC"/>
              </a:rPr>
              <a:t>② </a:t>
            </a:r>
            <a:r>
              <a:rPr lang="en-US" sz="1800" b="1" i="0" u="none" strike="noStrike">
                <a:solidFill>
                  <a:srgbClr val="1F2329"/>
                </a:solidFill>
                <a:latin typeface="Noto Sans SC"/>
                <a:ea typeface="Noto Sans SC"/>
                <a:cs typeface="Noto Sans SC"/>
                <a:sym typeface="Noto Sans SC"/>
              </a:rPr>
              <a:t>支持“悬挂元组”的存储</a:t>
            </a:r>
          </a:p>
          <a:p>
            <a:pPr algn="l">
              <a:lnSpc>
                <a:spcPct val="130000"/>
              </a:lnSpc>
            </a:pPr>
            <a:r>
              <a:rPr lang="en-US" sz="1600">
                <a:solidFill>
                  <a:srgbClr val="555555"/>
                </a:solidFill>
                <a:latin typeface="Noto Sans SC"/>
                <a:ea typeface="Noto Sans SC"/>
                <a:sym typeface="Noto Sans SC"/>
              </a:rPr>
              <a:t>能够合法存储那些在原未分解模式中因主键完整性约束而无法插入的独立信息</a:t>
            </a:r>
            <a:r>
              <a:rPr lang="en-US" sz="1800" b="0" i="0" u="none" strike="noStrike">
                <a:solidFill>
                  <a:srgbClr val="555555"/>
                </a:solidFill>
                <a:latin typeface="Noto Sans SC"/>
                <a:ea typeface="Noto Sans SC"/>
                <a:cs typeface="Noto Sans SC"/>
                <a:sym typeface="Noto Sans SC"/>
              </a:rPr>
              <a:t>。</a:t>
            </a:r>
            <a:r>
              <a:rPr lang="en-US" sz="1600">
                <a:solidFill>
                  <a:srgbClr val="555555"/>
                </a:solidFill>
                <a:latin typeface="Noto Sans SC"/>
                <a:ea typeface="Noto Sans SC"/>
                <a:sym typeface="Noto Sans SC"/>
              </a:rPr>
              <a:t>例如：一门刚开设的新课程，在还没有任何学生选修时，其课程基本信息仍能单独存入“课程表”中。</a:t>
            </a:r>
          </a:p>
        </p:txBody>
      </p:sp>
      <p:sp>
        <p:nvSpPr>
          <p:cNvPr id="4" name="AutoShape 4"/>
          <p:cNvSpPr/>
          <p:nvPr/>
        </p:nvSpPr>
        <p:spPr>
          <a:xfrm>
            <a:off x="6245446" y="1524000"/>
            <a:ext cx="616098" cy="45720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潜在</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挑战</a:t>
            </a:r>
            <a:endParaRPr lang="en-US" sz="1600" b="1">
              <a:solidFill>
                <a:srgbClr val="FFFFFF"/>
              </a:solidFill>
              <a:latin typeface="Noto Sans SC"/>
              <a:ea typeface="Noto Sans SC"/>
            </a:endParaRPr>
          </a:p>
        </p:txBody>
      </p:sp>
      <p:sp>
        <p:nvSpPr>
          <p:cNvPr id="5" name="AutoShape 5"/>
          <p:cNvSpPr/>
          <p:nvPr/>
        </p:nvSpPr>
        <p:spPr>
          <a:xfrm>
            <a:off x="6861544" y="1524000"/>
            <a:ext cx="4441456" cy="1397000"/>
          </a:xfrm>
          <a:prstGeom prst="roundRect">
            <a:avLst>
              <a:gd name="adj" fmla="val 0"/>
            </a:avLst>
          </a:prstGeom>
          <a:solidFill>
            <a:srgbClr val="2C3E50">
              <a:alpha val="100000"/>
            </a:srgbClr>
          </a:solidFill>
          <a:ln w="12700" cap="flat" cmpd="sng">
            <a:solidFill>
              <a:srgbClr val="ECF0F1">
                <a:alpha val="100000"/>
              </a:srgbClr>
            </a:solidFill>
            <a:prstDash val="solid"/>
            <a:round/>
          </a:ln>
        </p:spPr>
        <p:txBody>
          <a:bodyPr vert="horz" wrap="square" lIns="127000" tIns="127000" rIns="127000" bIns="127000" rtlCol="0" anchor="ctr" anchorCtr="0"/>
          <a:lstStyle/>
          <a:p>
            <a:pPr indent="0" algn="ctr">
              <a:lnSpc>
                <a:spcPct val="125000"/>
              </a:lnSpc>
              <a:defRPr/>
            </a:pPr>
            <a:r>
              <a:rPr lang="en-US" sz="1800" b="1" i="0" u="none" strike="noStrike">
                <a:solidFill>
                  <a:srgbClr val="F1C40F"/>
                </a:solidFill>
                <a:latin typeface="Noto Sans SC"/>
                <a:ea typeface="Noto Sans SC"/>
                <a:cs typeface="Noto Sans SC"/>
                <a:sym typeface="Noto Sans SC"/>
              </a:rPr>
              <a:t>⚠️ 增加查询开销</a:t>
            </a:r>
            <a:br>
              <a:rPr lang="en-US" sz="1800" b="0" i="0" u="none" strike="noStrike">
                <a:solidFill>
                  <a:srgbClr val="1F2329"/>
                </a:solidFill>
                <a:latin typeface="Noto Sans SC"/>
                <a:ea typeface="Noto Sans SC"/>
                <a:cs typeface="Noto Sans SC"/>
                <a:sym typeface="Noto Sans SC"/>
              </a:rPr>
            </a:br>
            <a:r>
              <a:rPr lang="en-US" b="0" i="0" u="none" strike="noStrike">
                <a:solidFill>
                  <a:srgbClr val="ECF0F1"/>
                </a:solidFill>
                <a:latin typeface="Noto Sans SC"/>
                <a:ea typeface="Noto Sans SC"/>
                <a:cs typeface="Noto Sans SC"/>
                <a:sym typeface="Noto Sans SC"/>
              </a:rPr>
              <a:t>分解后的表在进行复杂查询时，需要执行大量的连接（Join）操作，增加了数据库的I/O和计算时间成本。</a:t>
            </a:r>
            <a:endParaRPr lang="en-US" sz="1200"/>
          </a:p>
        </p:txBody>
      </p:sp>
      <p:sp>
        <p:nvSpPr>
          <p:cNvPr id="6" name="AutoShape 6"/>
          <p:cNvSpPr/>
          <p:nvPr/>
        </p:nvSpPr>
        <p:spPr>
          <a:xfrm>
            <a:off x="6861544" y="3111500"/>
            <a:ext cx="4441456" cy="1397000"/>
          </a:xfrm>
          <a:prstGeom prst="roundRect">
            <a:avLst>
              <a:gd name="adj" fmla="val 0"/>
            </a:avLst>
          </a:prstGeom>
          <a:solidFill>
            <a:srgbClr val="2C3E50">
              <a:alpha val="100000"/>
            </a:srgbClr>
          </a:solidFill>
          <a:ln w="12700" cap="flat" cmpd="sng">
            <a:solidFill>
              <a:srgbClr val="ECF0F1">
                <a:alpha val="100000"/>
              </a:srgbClr>
            </a:solidFill>
            <a:prstDash val="solid"/>
            <a:round/>
          </a:ln>
        </p:spPr>
        <p:txBody>
          <a:bodyPr vert="horz" wrap="square" lIns="127000" tIns="127000" rIns="127000" bIns="127000" rtlCol="0" anchor="ctr" anchorCtr="0"/>
          <a:lstStyle/>
          <a:p>
            <a:pPr indent="0" algn="ctr">
              <a:lnSpc>
                <a:spcPct val="125000"/>
              </a:lnSpc>
              <a:defRPr/>
            </a:pPr>
            <a:r>
              <a:rPr lang="en-US" sz="1800" b="1" i="0" u="none" strike="noStrike">
                <a:solidFill>
                  <a:srgbClr val="E74C3C"/>
                </a:solidFill>
                <a:latin typeface="Noto Sans SC"/>
                <a:ea typeface="Noto Sans SC"/>
                <a:cs typeface="Noto Sans SC"/>
                <a:sym typeface="Noto Sans SC"/>
              </a:rPr>
              <a:t>❌ 可能产生“寄生元组”</a:t>
            </a:r>
            <a:br>
              <a:rPr lang="en-US" sz="1800" b="0" i="0" u="none" strike="noStrike">
                <a:solidFill>
                  <a:srgbClr val="1F2329"/>
                </a:solidFill>
                <a:latin typeface="Noto Sans SC"/>
                <a:ea typeface="Noto Sans SC"/>
                <a:cs typeface="Noto Sans SC"/>
                <a:sym typeface="Noto Sans SC"/>
              </a:rPr>
            </a:br>
            <a:r>
              <a:rPr lang="en-US" b="0" i="0" u="none" strike="noStrike">
                <a:solidFill>
                  <a:srgbClr val="ECF0F1"/>
                </a:solidFill>
                <a:latin typeface="Noto Sans SC"/>
                <a:ea typeface="Noto Sans SC"/>
                <a:cs typeface="Noto Sans SC"/>
                <a:sym typeface="Noto Sans SC"/>
              </a:rPr>
              <a:t>如果进行了“有损分解”，在连接还原数据时，会产生原关系中不存在的、错误的虚假数据行。</a:t>
            </a:r>
            <a:endParaRPr lang="en-US" sz="1200"/>
          </a:p>
        </p:txBody>
      </p:sp>
      <p:sp>
        <p:nvSpPr>
          <p:cNvPr id="7" name="AutoShape 7"/>
          <p:cNvSpPr/>
          <p:nvPr/>
        </p:nvSpPr>
        <p:spPr>
          <a:xfrm>
            <a:off x="6861544" y="4699000"/>
            <a:ext cx="4441456" cy="1397000"/>
          </a:xfrm>
          <a:prstGeom prst="roundRect">
            <a:avLst>
              <a:gd name="adj" fmla="val 0"/>
            </a:avLst>
          </a:prstGeom>
          <a:solidFill>
            <a:srgbClr val="2C3E50">
              <a:alpha val="100000"/>
            </a:srgbClr>
          </a:solidFill>
          <a:ln w="12700" cap="flat" cmpd="sng">
            <a:solidFill>
              <a:srgbClr val="ECF0F1">
                <a:alpha val="100000"/>
              </a:srgbClr>
            </a:solidFill>
            <a:prstDash val="solid"/>
            <a:round/>
          </a:ln>
        </p:spPr>
        <p:txBody>
          <a:bodyPr vert="horz" wrap="square" lIns="127000" tIns="127000" rIns="127000" bIns="127000" rtlCol="0" anchor="ctr" anchorCtr="0"/>
          <a:lstStyle/>
          <a:p>
            <a:pPr indent="0" algn="ctr">
              <a:lnSpc>
                <a:spcPct val="125000"/>
              </a:lnSpc>
              <a:defRPr/>
            </a:pPr>
            <a:r>
              <a:rPr lang="en-US" sz="1800" b="1" i="0" u="none" strike="noStrike">
                <a:solidFill>
                  <a:srgbClr val="3498DB"/>
                </a:solidFill>
                <a:latin typeface="Noto Sans SC"/>
                <a:ea typeface="Noto Sans SC"/>
                <a:cs typeface="Noto Sans SC"/>
                <a:sym typeface="Noto Sans SC"/>
              </a:rPr>
              <a:t>🔍 数据完整性风险</a:t>
            </a:r>
            <a:br>
              <a:rPr lang="en-US" sz="1800" b="0" i="0" u="none" strike="noStrike">
                <a:solidFill>
                  <a:srgbClr val="1F2329"/>
                </a:solidFill>
                <a:latin typeface="Noto Sans SC"/>
                <a:ea typeface="Noto Sans SC"/>
                <a:cs typeface="Noto Sans SC"/>
                <a:sym typeface="Noto Sans SC"/>
              </a:rPr>
            </a:br>
            <a:r>
              <a:rPr lang="en-US" b="0" i="0" u="none" strike="noStrike">
                <a:solidFill>
                  <a:srgbClr val="ECF0F1"/>
                </a:solidFill>
                <a:latin typeface="Noto Sans SC"/>
                <a:ea typeface="Noto Sans SC"/>
                <a:cs typeface="Noto Sans SC"/>
                <a:sym typeface="Noto Sans SC"/>
              </a:rPr>
              <a:t>在无泛关系假设下，数据库中可能存在无法与其他表关联的孤立元组，导致信息缺失或查询结果不完整。</a:t>
            </a:r>
            <a:endParaRPr lang="en-US" sz="12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901700" y="1397000"/>
            <a:ext cx="5080000" cy="609600"/>
          </a:xfrm>
          <a:prstGeom prst="roundRect">
            <a:avLst>
              <a:gd name="adj" fmla="val 0"/>
            </a:avLst>
          </a:prstGeom>
          <a:solidFill>
            <a:srgbClr val="FFC000">
              <a:alpha val="100000"/>
            </a:srgbClr>
          </a:solidFill>
          <a:ln w="25400" cap="flat" cmpd="sng">
            <a:noFill/>
            <a:prstDash val="solid"/>
            <a:round/>
          </a:ln>
        </p:spPr>
        <p:txBody>
          <a:bodyPr vert="horz" wrap="square" lIns="0" tIns="0" rIns="0" bIns="0" rtlCol="0" anchor="ctr" anchorCtr="0"/>
          <a:lstStyle/>
          <a:p>
            <a:pPr algn="ctr">
              <a:lnSpc>
                <a:spcPct val="125000"/>
              </a:lnSpc>
              <a:defRPr/>
            </a:pPr>
            <a:r>
              <a:rPr lang="en-US" altLang="zh-CN" sz="2000" b="1">
                <a:solidFill>
                  <a:srgbClr val="333333"/>
                </a:solidFill>
                <a:latin typeface="Noto Sans SC"/>
                <a:ea typeface="Noto Sans SC"/>
                <a:sym typeface="Noto Sans SC"/>
              </a:rPr>
              <a:t>Chase </a:t>
            </a:r>
            <a:r>
              <a:rPr lang="zh-CN" altLang="en-US" sz="2000" b="1">
                <a:solidFill>
                  <a:srgbClr val="333333"/>
                </a:solidFill>
                <a:latin typeface="Noto Sans SC"/>
                <a:ea typeface="Noto Sans SC"/>
                <a:sym typeface="Noto Sans SC"/>
              </a:rPr>
              <a:t>过程</a:t>
            </a:r>
            <a:r>
              <a:rPr lang="en-US" sz="2000" b="1">
                <a:solidFill>
                  <a:srgbClr val="333333"/>
                </a:solidFill>
                <a:latin typeface="Noto Sans SC"/>
                <a:ea typeface="Noto Sans SC"/>
                <a:sym typeface="Noto Sans SC"/>
              </a:rPr>
              <a:t>算法定义：输入与输出</a:t>
            </a:r>
            <a:endParaRPr lang="en-US" sz="2000" b="1">
              <a:solidFill>
                <a:srgbClr val="333333"/>
              </a:solidFill>
              <a:latin typeface="Noto Sans SC"/>
              <a:ea typeface="Noto Sans SC"/>
            </a:endParaRPr>
          </a:p>
        </p:txBody>
      </p:sp>
      <p:sp>
        <p:nvSpPr>
          <p:cNvPr id="4" name="AutoShape 4"/>
          <p:cNvSpPr/>
          <p:nvPr/>
        </p:nvSpPr>
        <p:spPr>
          <a:xfrm>
            <a:off x="901700" y="2158999"/>
            <a:ext cx="5080000" cy="4216991"/>
          </a:xfrm>
          <a:prstGeom prst="roundRect">
            <a:avLst>
              <a:gd name="adj" fmla="val 0"/>
            </a:avLst>
          </a:prstGeom>
          <a:solidFill>
            <a:srgbClr val="F8F9FA">
              <a:alpha val="100000"/>
            </a:srgbClr>
          </a:solidFill>
          <a:ln w="12700" cap="flat" cmpd="sng">
            <a:solidFill>
              <a:srgbClr val="DEE0E3">
                <a:alpha val="100000"/>
              </a:srgbClr>
            </a:solidFill>
            <a:prstDash val="solid"/>
            <a:round/>
          </a:ln>
        </p:spPr>
        <p:txBody>
          <a:bodyPr vert="horz" wrap="square" lIns="190500" tIns="190500" rIns="190500" bIns="0" rtlCol="0" anchor="t" anchorCtr="0"/>
          <a:lstStyle/>
          <a:p>
            <a:pPr indent="0" algn="just">
              <a:lnSpc>
                <a:spcPct val="108333"/>
              </a:lnSpc>
              <a:spcBef>
                <a:spcPct val="0"/>
              </a:spcBef>
              <a:defRPr/>
            </a:pPr>
            <a:r>
              <a:rPr lang="en-US" sz="1800" b="1" i="0" u="none" strike="noStrike">
                <a:solidFill>
                  <a:srgbClr val="DC2626"/>
                </a:solidFill>
                <a:latin typeface="Noto Sans SC"/>
                <a:ea typeface="Noto Sans SC"/>
                <a:cs typeface="Noto Sans SC"/>
                <a:sym typeface="Noto Sans SC"/>
              </a:rPr>
              <a:t>📌 输入 (Input)：</a:t>
            </a:r>
            <a:endParaRPr lang="en-US"/>
          </a:p>
          <a:p>
            <a:pPr indent="0" algn="just">
              <a:lnSpc>
                <a:spcPct val="108333"/>
              </a:lnSpc>
            </a:pPr>
            <a:r>
              <a:rPr lang="en-US" sz="1600" b="0" i="0" u="none" strike="noStrike">
                <a:solidFill>
                  <a:srgbClr val="434343"/>
                </a:solidFill>
                <a:latin typeface="Noto Sans SC"/>
                <a:ea typeface="Noto Sans SC"/>
                <a:cs typeface="Noto Sans SC"/>
                <a:sym typeface="Noto Sans SC"/>
              </a:rPr>
              <a:t>关系模式 R(U,F)</a:t>
            </a:r>
            <a:r>
              <a:rPr lang="zh-CN" altLang="en-US" sz="1600" b="0" i="0" u="none" strike="noStrike">
                <a:solidFill>
                  <a:srgbClr val="434343"/>
                </a:solidFill>
                <a:latin typeface="Noto Sans SC"/>
                <a:ea typeface="Noto Sans SC"/>
                <a:cs typeface="Noto Sans SC"/>
                <a:sym typeface="Noto Sans SC"/>
              </a:rPr>
              <a:t>，模式</a:t>
            </a:r>
            <a:r>
              <a:rPr lang="en-US" sz="1600" b="0" i="0" u="none" strike="noStrike">
                <a:solidFill>
                  <a:srgbClr val="434343"/>
                </a:solidFill>
                <a:latin typeface="Noto Sans SC"/>
                <a:ea typeface="Noto Sans SC"/>
                <a:cs typeface="Noto Sans SC"/>
                <a:sym typeface="Noto Sans SC"/>
              </a:rPr>
              <a:t>分解 ρ = {R₁, ..., Rₖ} 。</a:t>
            </a:r>
          </a:p>
          <a:p>
            <a:pPr indent="0" algn="just">
              <a:lnSpc>
                <a:spcPct val="108333"/>
              </a:lnSpc>
              <a:spcBef>
                <a:spcPts val="1500"/>
              </a:spcBef>
            </a:pPr>
            <a:r>
              <a:rPr lang="en-US" sz="1800" b="1" i="0" u="none" strike="noStrike">
                <a:solidFill>
                  <a:srgbClr val="2563EB"/>
                </a:solidFill>
                <a:latin typeface="Noto Sans SC"/>
                <a:ea typeface="Noto Sans SC"/>
                <a:cs typeface="Noto Sans SC"/>
                <a:sym typeface="Noto Sans SC"/>
              </a:rPr>
              <a:t>🎯 输出 (Output)：</a:t>
            </a:r>
          </a:p>
          <a:p>
            <a:pPr indent="0" algn="just">
              <a:lnSpc>
                <a:spcPct val="108333"/>
              </a:lnSpc>
            </a:pPr>
            <a:r>
              <a:rPr lang="en-US" sz="1600" b="0" i="0" u="none" strike="noStrike">
                <a:solidFill>
                  <a:srgbClr val="434343"/>
                </a:solidFill>
                <a:latin typeface="Noto Sans SC"/>
                <a:ea typeface="Noto Sans SC"/>
                <a:cs typeface="Noto Sans SC"/>
                <a:sym typeface="Noto Sans SC"/>
              </a:rPr>
              <a:t>判断分解 ρ 是否为无损分解 。</a:t>
            </a:r>
          </a:p>
          <a:p>
            <a:pPr indent="0" algn="just">
              <a:lnSpc>
                <a:spcPct val="108333"/>
              </a:lnSpc>
            </a:pPr>
            <a:endParaRPr lang="en-US" sz="1600" b="0" i="0" u="none" strike="noStrike">
              <a:solidFill>
                <a:srgbClr val="434343"/>
              </a:solidFill>
              <a:latin typeface="Noto Sans SC"/>
              <a:ea typeface="Noto Sans SC"/>
              <a:cs typeface="Noto Sans SC"/>
              <a:sym typeface="Noto Sans SC"/>
            </a:endParaRPr>
          </a:p>
          <a:p>
            <a:pPr indent="0" algn="just">
              <a:lnSpc>
                <a:spcPct val="108333"/>
              </a:lnSpc>
              <a:spcBef>
                <a:spcPts val="1500"/>
              </a:spcBef>
            </a:pPr>
            <a:r>
              <a:rPr lang="en-US" sz="1800" b="1" i="0" u="none" strike="noStrike">
                <a:solidFill>
                  <a:srgbClr val="D97706"/>
                </a:solidFill>
                <a:latin typeface="Noto Sans SC"/>
                <a:ea typeface="Noto Sans SC"/>
                <a:cs typeface="Noto Sans SC"/>
                <a:sym typeface="Noto Sans SC"/>
              </a:rPr>
              <a:t>🔧 步骤 1：构造初始表格</a:t>
            </a:r>
          </a:p>
          <a:p>
            <a:pPr marL="342900" indent="-342900" algn="just">
              <a:lnSpc>
                <a:spcPct val="125000"/>
              </a:lnSpc>
              <a:spcAft>
                <a:spcPts val="600"/>
              </a:spcAft>
              <a:buFont typeface="+mj-lt"/>
              <a:buAutoNum type="arabicPeriod"/>
            </a:pPr>
            <a:r>
              <a:rPr lang="en-US" sz="1600" b="0" i="0" u="none" strike="noStrike">
                <a:solidFill>
                  <a:srgbClr val="434343"/>
                </a:solidFill>
                <a:latin typeface="Noto Sans SC"/>
                <a:ea typeface="Noto Sans SC"/>
                <a:cs typeface="Noto Sans SC"/>
                <a:sym typeface="Noto Sans SC"/>
              </a:rPr>
              <a:t>建</a:t>
            </a:r>
            <a:r>
              <a:rPr lang="zh-CN" altLang="en-US" sz="1600" b="0" i="0" u="none" strike="noStrike">
                <a:solidFill>
                  <a:srgbClr val="434343"/>
                </a:solidFill>
                <a:latin typeface="Noto Sans SC"/>
                <a:ea typeface="Noto Sans SC"/>
                <a:cs typeface="Noto Sans SC"/>
                <a:sym typeface="Noto Sans SC"/>
              </a:rPr>
              <a:t>表格：</a:t>
            </a:r>
            <a:r>
              <a:rPr lang="en-US" sz="1600" b="0" i="0" u="none" strike="noStrike">
                <a:solidFill>
                  <a:srgbClr val="434343"/>
                </a:solidFill>
                <a:latin typeface="Noto Sans SC"/>
                <a:ea typeface="Noto Sans SC"/>
                <a:cs typeface="Noto Sans SC"/>
                <a:sym typeface="Noto Sans SC"/>
              </a:rPr>
              <a:t>k 行 (对应分解的</a:t>
            </a:r>
            <a:r>
              <a:rPr lang="zh-CN" altLang="en-US" sz="1600" b="0" i="0" u="none" strike="noStrike">
                <a:solidFill>
                  <a:srgbClr val="434343"/>
                </a:solidFill>
                <a:latin typeface="Noto Sans SC"/>
                <a:ea typeface="Noto Sans SC"/>
                <a:cs typeface="Noto Sans SC"/>
                <a:sym typeface="Noto Sans SC"/>
              </a:rPr>
              <a:t>关系</a:t>
            </a:r>
            <a:r>
              <a:rPr lang="en-US" sz="1600" b="0" i="0" u="none" strike="noStrike">
                <a:solidFill>
                  <a:srgbClr val="434343"/>
                </a:solidFill>
                <a:latin typeface="Noto Sans SC"/>
                <a:ea typeface="Noto Sans SC"/>
                <a:cs typeface="Noto Sans SC"/>
                <a:sym typeface="Noto Sans SC"/>
              </a:rPr>
              <a:t>模式) </a:t>
            </a:r>
            <a:r>
              <a:rPr lang="zh-CN" altLang="en-US" sz="1600" b="0" i="0" u="none" strike="noStrike">
                <a:solidFill>
                  <a:srgbClr val="434343"/>
                </a:solidFill>
                <a:latin typeface="Noto Sans SC"/>
                <a:ea typeface="Noto Sans SC"/>
                <a:cs typeface="Noto Sans SC"/>
                <a:sym typeface="Noto Sans SC"/>
              </a:rPr>
              <a:t>，</a:t>
            </a:r>
            <a:r>
              <a:rPr lang="en-US" sz="1600" b="0" i="0" u="none" strike="noStrike">
                <a:solidFill>
                  <a:srgbClr val="434343"/>
                </a:solidFill>
                <a:latin typeface="Noto Sans SC"/>
                <a:ea typeface="Noto Sans SC"/>
                <a:cs typeface="Noto Sans SC"/>
                <a:sym typeface="Noto Sans SC"/>
              </a:rPr>
              <a:t>n 列 (对应</a:t>
            </a:r>
            <a:r>
              <a:rPr lang="zh-CN" altLang="en-US" sz="1600">
                <a:solidFill>
                  <a:srgbClr val="434343"/>
                </a:solidFill>
                <a:latin typeface="Noto Sans SC"/>
                <a:ea typeface="Noto Sans SC"/>
                <a:cs typeface="Noto Sans SC"/>
                <a:sym typeface="Noto Sans SC"/>
              </a:rPr>
              <a:t>关系模式</a:t>
            </a:r>
            <a:r>
              <a:rPr lang="zh-CN" altLang="en-US" sz="1600" b="0" i="0" u="none" strike="noStrike">
                <a:solidFill>
                  <a:srgbClr val="434343"/>
                </a:solidFill>
                <a:latin typeface="Noto Sans SC"/>
                <a:ea typeface="Noto Sans SC"/>
                <a:cs typeface="Noto Sans SC"/>
                <a:sym typeface="Noto Sans SC"/>
              </a:rPr>
              <a:t>的</a:t>
            </a:r>
            <a:r>
              <a:rPr lang="en-US" sz="1600" b="0" i="0" u="none" strike="noStrike">
                <a:solidFill>
                  <a:srgbClr val="434343"/>
                </a:solidFill>
                <a:latin typeface="Noto Sans SC"/>
                <a:ea typeface="Noto Sans SC"/>
                <a:cs typeface="Noto Sans SC"/>
                <a:sym typeface="Noto Sans SC"/>
              </a:rPr>
              <a:t>属性) 。</a:t>
            </a:r>
          </a:p>
          <a:p>
            <a:pPr marL="342900" indent="-342900" algn="just">
              <a:lnSpc>
                <a:spcPct val="125000"/>
              </a:lnSpc>
              <a:buFont typeface="+mj-lt"/>
              <a:buAutoNum type="arabicPeriod"/>
            </a:pPr>
            <a:r>
              <a:rPr lang="zh-CN" altLang="en-US" sz="1600" b="0" i="0" u="none" strike="noStrike">
                <a:solidFill>
                  <a:srgbClr val="434343"/>
                </a:solidFill>
                <a:latin typeface="Noto Sans SC"/>
                <a:ea typeface="Noto Sans SC"/>
                <a:cs typeface="Noto Sans SC"/>
                <a:sym typeface="Noto Sans SC"/>
              </a:rPr>
              <a:t>填属性值：</a:t>
            </a:r>
            <a:r>
              <a:rPr lang="en-US" sz="1600" b="0" i="0" u="none" strike="noStrike">
                <a:solidFill>
                  <a:srgbClr val="434343"/>
                </a:solidFill>
                <a:latin typeface="Noto Sans SC"/>
                <a:ea typeface="Noto Sans SC"/>
                <a:cs typeface="Noto Sans SC"/>
                <a:sym typeface="Noto Sans SC"/>
              </a:rPr>
              <a:t>若属性 Aⱼ 属于模式 Rᵢ，则表格位置 (i,j) 填 aⱼ，否则填 bᵢⱼ。</a:t>
            </a:r>
          </a:p>
        </p:txBody>
      </p:sp>
      <p:sp>
        <p:nvSpPr>
          <p:cNvPr id="5" name="AutoShape 5"/>
          <p:cNvSpPr/>
          <p:nvPr/>
        </p:nvSpPr>
        <p:spPr>
          <a:xfrm>
            <a:off x="6223000" y="1397000"/>
            <a:ext cx="5080000" cy="609600"/>
          </a:xfrm>
          <a:prstGeom prst="roundRect">
            <a:avLst>
              <a:gd name="adj" fmla="val 0"/>
            </a:avLst>
          </a:prstGeom>
          <a:solidFill>
            <a:srgbClr val="FFC00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a:ea typeface="Noto Sans SC"/>
                <a:cs typeface="Noto Sans SC"/>
                <a:sym typeface="Noto Sans SC"/>
              </a:rPr>
              <a:t>算法执行：修改与判断</a:t>
            </a:r>
            <a:endParaRPr lang="en-US" sz="1200"/>
          </a:p>
        </p:txBody>
      </p:sp>
      <p:sp>
        <p:nvSpPr>
          <p:cNvPr id="6" name="AutoShape 6"/>
          <p:cNvSpPr/>
          <p:nvPr/>
        </p:nvSpPr>
        <p:spPr>
          <a:xfrm>
            <a:off x="6223000" y="2159000"/>
            <a:ext cx="5080000" cy="2923363"/>
          </a:xfrm>
          <a:prstGeom prst="roundRect">
            <a:avLst>
              <a:gd name="adj" fmla="val 0"/>
            </a:avLst>
          </a:prstGeom>
          <a:solidFill>
            <a:srgbClr val="F8F9FA">
              <a:alpha val="100000"/>
            </a:srgbClr>
          </a:solidFill>
          <a:ln w="12700" cap="flat" cmpd="sng">
            <a:solidFill>
              <a:srgbClr val="DEE0E3">
                <a:alpha val="100000"/>
              </a:srgbClr>
            </a:solidFill>
            <a:prstDash val="solid"/>
            <a:round/>
          </a:ln>
        </p:spPr>
        <p:txBody>
          <a:bodyPr vert="horz" wrap="square" lIns="190500" tIns="190500" rIns="190500" bIns="0" rtlCol="0" anchor="t" anchorCtr="0"/>
          <a:lstStyle/>
          <a:p>
            <a:pPr indent="0" algn="just">
              <a:lnSpc>
                <a:spcPct val="108333"/>
              </a:lnSpc>
              <a:spcBef>
                <a:spcPct val="0"/>
              </a:spcBef>
              <a:defRPr/>
            </a:pPr>
            <a:r>
              <a:rPr lang="en-US" sz="1800" b="1" i="0" u="none" strike="noStrike">
                <a:solidFill>
                  <a:srgbClr val="10B981"/>
                </a:solidFill>
                <a:latin typeface="Noto Sans SC"/>
                <a:ea typeface="Noto Sans SC"/>
                <a:cs typeface="Noto Sans SC"/>
                <a:sym typeface="Noto Sans SC"/>
              </a:rPr>
              <a:t>🔄 步骤 2：利用 FD 反复修改表格</a:t>
            </a:r>
            <a:endParaRPr lang="en-US"/>
          </a:p>
          <a:p>
            <a:pPr indent="0" algn="just">
              <a:lnSpc>
                <a:spcPct val="125000"/>
              </a:lnSpc>
            </a:pPr>
            <a:r>
              <a:rPr lang="en-US" sz="1600" b="0" i="0" u="none" strike="noStrike">
                <a:solidFill>
                  <a:srgbClr val="434343"/>
                </a:solidFill>
                <a:latin typeface="Noto Sans SC"/>
                <a:ea typeface="Noto Sans SC"/>
                <a:cs typeface="Noto Sans SC"/>
                <a:sym typeface="Noto Sans SC"/>
              </a:rPr>
              <a:t>检查 F 中的每个 X→Y。若两行在 X 属性列取值完全相同，则修改它们在 Y 属性列的值为一致（优先保留 a 类符号，否则取下标较小的 b 类符号）。重复此过程直到表格不再变化。</a:t>
            </a:r>
          </a:p>
          <a:p>
            <a:pPr indent="0" algn="just">
              <a:lnSpc>
                <a:spcPct val="108333"/>
              </a:lnSpc>
              <a:spcBef>
                <a:spcPts val="1500"/>
              </a:spcBef>
            </a:pPr>
            <a:r>
              <a:rPr lang="en-US" sz="1800" b="1" i="0" u="none" strike="noStrike">
                <a:solidFill>
                  <a:srgbClr val="7C3AED"/>
                </a:solidFill>
                <a:latin typeface="Noto Sans SC"/>
                <a:ea typeface="Noto Sans SC"/>
                <a:cs typeface="Noto Sans SC"/>
                <a:sym typeface="Noto Sans SC"/>
              </a:rPr>
              <a:t>✅ 步骤 3：最终判定</a:t>
            </a:r>
          </a:p>
          <a:p>
            <a:pPr indent="0" algn="just">
              <a:lnSpc>
                <a:spcPct val="125000"/>
              </a:lnSpc>
            </a:pPr>
            <a:r>
              <a:rPr lang="en-US" sz="1600" b="0" i="0" u="none" strike="noStrike">
                <a:solidFill>
                  <a:srgbClr val="434343"/>
                </a:solidFill>
                <a:latin typeface="Noto Sans SC"/>
                <a:ea typeface="Noto Sans SC"/>
                <a:cs typeface="Noto Sans SC"/>
                <a:sym typeface="Noto Sans SC"/>
              </a:rPr>
              <a:t>若修改后的表格中存在</a:t>
            </a:r>
            <a:r>
              <a:rPr lang="en-US" sz="1600" b="1" i="0" u="none" strike="noStrike">
                <a:solidFill>
                  <a:srgbClr val="434343"/>
                </a:solidFill>
                <a:latin typeface="Noto Sans SC"/>
                <a:ea typeface="Noto Sans SC"/>
                <a:cs typeface="Noto Sans SC"/>
                <a:sym typeface="Noto Sans SC"/>
              </a:rPr>
              <a:t>全 a 行 (a₁,a₂,...,aₙ)</a:t>
            </a:r>
            <a:r>
              <a:rPr lang="en-US" sz="1600" b="0" i="0" u="none" strike="noStrike">
                <a:solidFill>
                  <a:srgbClr val="434343"/>
                </a:solidFill>
                <a:latin typeface="Noto Sans SC"/>
                <a:ea typeface="Noto Sans SC"/>
                <a:cs typeface="Noto Sans SC"/>
                <a:sym typeface="Noto Sans SC"/>
              </a:rPr>
              <a:t>，说明分解是无损的；若不存在，则为有损分解。</a:t>
            </a:r>
          </a:p>
        </p:txBody>
      </p:sp>
      <p:sp>
        <p:nvSpPr>
          <p:cNvPr id="7" name="AutoShape 7"/>
          <p:cNvSpPr/>
          <p:nvPr/>
        </p:nvSpPr>
        <p:spPr>
          <a:xfrm>
            <a:off x="6210299" y="5234763"/>
            <a:ext cx="5080001" cy="1141228"/>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1E40AF"/>
                </a:solidFill>
                <a:latin typeface="Noto Sans SC"/>
                <a:ea typeface="Noto Sans SC"/>
                <a:cs typeface="Noto Sans SC"/>
                <a:sym typeface="Noto Sans SC"/>
              </a:rPr>
              <a:t>💡 核心逻辑总结</a:t>
            </a:r>
          </a:p>
          <a:p>
            <a:pPr indent="0" algn="ctr">
              <a:lnSpc>
                <a:spcPct val="125000"/>
              </a:lnSpc>
              <a:defRPr/>
            </a:pPr>
            <a:r>
              <a:rPr lang="en-US" sz="1500" b="0" i="0" u="none" strike="noStrike">
                <a:solidFill>
                  <a:srgbClr val="374151"/>
                </a:solidFill>
                <a:latin typeface="Noto Sans SC"/>
                <a:ea typeface="Noto Sans SC"/>
                <a:cs typeface="Noto Sans SC"/>
                <a:sym typeface="Noto Sans SC"/>
              </a:rPr>
              <a:t>通过构造表格模拟分解后的属性分布，利用函数依赖关系进行“追踪合并”，最终验证是否能恢复出原始关系的完整行。</a:t>
            </a:r>
            <a:endParaRPr lang="en-US" sz="1100"/>
          </a:p>
        </p:txBody>
      </p:sp>
      <p:sp>
        <p:nvSpPr>
          <p:cNvPr id="8" name="AutoShape 2">
            <a:extLst>
              <a:ext uri="{FF2B5EF4-FFF2-40B4-BE49-F238E27FC236}">
                <a16:creationId xmlns:a16="http://schemas.microsoft.com/office/drawing/2014/main" id="{E8E81524-3E3C-4D82-E042-B0D13D2C46CB}"/>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altLang="zh-CN" sz="2400" b="1">
                <a:solidFill>
                  <a:srgbClr val="FFFFFF"/>
                </a:solidFill>
                <a:latin typeface="Noto Sans SC"/>
                <a:ea typeface="Noto Sans SC"/>
                <a:sym typeface="Noto Sans SC"/>
              </a:rPr>
              <a:t>7.3.4 </a:t>
            </a:r>
            <a:r>
              <a:rPr lang="zh-CN" altLang="en-US" sz="2400" b="1">
                <a:solidFill>
                  <a:srgbClr val="FFFFFF"/>
                </a:solidFill>
                <a:latin typeface="Noto Sans SC"/>
                <a:ea typeface="Noto Sans SC"/>
                <a:sym typeface="Noto Sans SC"/>
              </a:rPr>
              <a:t>无损分解的测试方法 </a:t>
            </a:r>
            <a:r>
              <a:rPr lang="en-US" altLang="zh-CN" sz="2400" b="1">
                <a:solidFill>
                  <a:srgbClr val="FFFFFF"/>
                </a:solidFill>
                <a:latin typeface="Noto Sans SC"/>
                <a:ea typeface="Noto Sans SC"/>
                <a:sym typeface="Noto Sans SC"/>
              </a:rPr>
              <a:t>(1) —— Chase </a:t>
            </a:r>
            <a:r>
              <a:rPr lang="zh-CN" altLang="en-US" sz="2400" b="1">
                <a:solidFill>
                  <a:srgbClr val="FFFFFF"/>
                </a:solidFill>
                <a:latin typeface="Noto Sans SC"/>
                <a:ea typeface="Noto Sans SC"/>
                <a:sym typeface="Noto Sans SC"/>
              </a:rPr>
              <a:t>过程算法</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838200" y="2099225"/>
            <a:ext cx="4953000" cy="457200"/>
          </a:xfrm>
          <a:prstGeom prst="rect">
            <a:avLst/>
          </a:prstGeom>
          <a:solidFill>
            <a:srgbClr val="FFC000">
              <a:alpha val="100000"/>
            </a:srgbClr>
          </a:solid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a:ea typeface="Noto Sans SC"/>
                <a:cs typeface="Noto Sans SC"/>
                <a:sym typeface="Noto Sans SC"/>
              </a:rPr>
              <a:t>设定与初始表格构建</a:t>
            </a:r>
            <a:endParaRPr lang="en-US" sz="1200"/>
          </a:p>
        </p:txBody>
      </p:sp>
      <p:sp>
        <p:nvSpPr>
          <p:cNvPr id="4" name="AutoShape 4"/>
          <p:cNvSpPr/>
          <p:nvPr/>
        </p:nvSpPr>
        <p:spPr>
          <a:xfrm>
            <a:off x="838200" y="2734224"/>
            <a:ext cx="4953000" cy="2401755"/>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2000" b="1" i="0" u="none" strike="noStrike">
                <a:solidFill>
                  <a:srgbClr val="333333"/>
                </a:solidFill>
                <a:latin typeface="Noto Sans SC"/>
                <a:ea typeface="Noto Sans SC"/>
                <a:cs typeface="Noto Sans SC"/>
                <a:sym typeface="Noto Sans SC"/>
              </a:rPr>
              <a:t>分解场景：</a:t>
            </a:r>
          </a:p>
          <a:p>
            <a:pPr>
              <a:lnSpc>
                <a:spcPct val="125000"/>
              </a:lnSpc>
              <a:defRPr/>
            </a:pPr>
            <a:r>
              <a:rPr lang="en-US" sz="1600" b="0" i="0" u="none" strike="noStrike">
                <a:solidFill>
                  <a:srgbClr val="333333"/>
                </a:solidFill>
                <a:latin typeface="Noto Sans SC"/>
                <a:ea typeface="Noto Sans SC"/>
                <a:cs typeface="Noto Sans SC"/>
                <a:sym typeface="Noto Sans SC"/>
              </a:rPr>
              <a:t>关系模式 R(ABCD)</a:t>
            </a:r>
            <a:r>
              <a:rPr lang="zh-CN" altLang="en-US" sz="1600">
                <a:solidFill>
                  <a:srgbClr val="333333"/>
                </a:solidFill>
                <a:latin typeface="Noto Sans SC"/>
                <a:ea typeface="Noto Sans SC"/>
                <a:cs typeface="Noto Sans SC"/>
                <a:sym typeface="Noto Sans SC"/>
              </a:rPr>
              <a:t>，模式</a:t>
            </a:r>
            <a:r>
              <a:rPr lang="en-US" sz="1600" b="0" i="0" u="none" strike="noStrike">
                <a:solidFill>
                  <a:srgbClr val="333333"/>
                </a:solidFill>
                <a:latin typeface="Noto Sans SC"/>
                <a:ea typeface="Noto Sans SC"/>
                <a:cs typeface="Noto Sans SC"/>
                <a:sym typeface="Noto Sans SC"/>
              </a:rPr>
              <a:t>分解 ρ={AB, BC, CD}，</a:t>
            </a:r>
            <a:r>
              <a:rPr lang="zh-CN" altLang="en-US" sz="1600" b="0" i="0" u="none" strike="noStrike">
                <a:solidFill>
                  <a:srgbClr val="333333"/>
                </a:solidFill>
                <a:latin typeface="Noto Sans SC"/>
                <a:ea typeface="Noto Sans SC"/>
                <a:cs typeface="Noto Sans SC"/>
                <a:sym typeface="Noto Sans SC"/>
              </a:rPr>
              <a:t>函数</a:t>
            </a:r>
            <a:r>
              <a:rPr lang="en-US" sz="1600" b="0" i="0" u="none" strike="noStrike">
                <a:solidFill>
                  <a:srgbClr val="333333"/>
                </a:solidFill>
                <a:latin typeface="Noto Sans SC"/>
                <a:ea typeface="Noto Sans SC"/>
                <a:cs typeface="Noto Sans SC"/>
                <a:sym typeface="Noto Sans SC"/>
              </a:rPr>
              <a:t>依赖集 F1={B→A, C→D}。</a:t>
            </a:r>
            <a:r>
              <a:rPr lang="zh-CN" altLang="en-US" sz="1600" b="0" i="0" u="none" strike="noStrike">
                <a:solidFill>
                  <a:srgbClr val="FF0000"/>
                </a:solidFill>
                <a:latin typeface="Noto Sans SC"/>
                <a:ea typeface="Noto Sans SC"/>
                <a:cs typeface="Noto Sans SC"/>
                <a:sym typeface="Noto Sans SC"/>
              </a:rPr>
              <a:t>分解</a:t>
            </a:r>
            <a:r>
              <a:rPr lang="en-US" altLang="zh-CN" sz="1600">
                <a:solidFill>
                  <a:srgbClr val="FF0000"/>
                </a:solidFill>
                <a:latin typeface="Noto Sans SC"/>
                <a:ea typeface="Noto Sans SC"/>
                <a:cs typeface="Noto Sans SC"/>
                <a:sym typeface="Noto Sans SC"/>
              </a:rPr>
              <a:t>ρ</a:t>
            </a:r>
            <a:r>
              <a:rPr lang="zh-CN" altLang="en-US" sz="1600">
                <a:solidFill>
                  <a:srgbClr val="FF0000"/>
                </a:solidFill>
                <a:latin typeface="Noto Sans SC"/>
                <a:ea typeface="Noto Sans SC"/>
                <a:cs typeface="Noto Sans SC"/>
                <a:sym typeface="Noto Sans SC"/>
              </a:rPr>
              <a:t>相对于</a:t>
            </a:r>
            <a:r>
              <a:rPr lang="en-US" altLang="zh-CN" sz="1600">
                <a:solidFill>
                  <a:srgbClr val="FF0000"/>
                </a:solidFill>
                <a:latin typeface="Noto Sans SC"/>
                <a:ea typeface="Noto Sans SC"/>
                <a:cs typeface="Noto Sans SC"/>
                <a:sym typeface="Noto Sans SC"/>
              </a:rPr>
              <a:t>F1</a:t>
            </a:r>
            <a:r>
              <a:rPr lang="zh-CN" altLang="en-US" sz="1600" b="0" i="0" u="none" strike="noStrike">
                <a:solidFill>
                  <a:srgbClr val="FF0000"/>
                </a:solidFill>
                <a:latin typeface="Noto Sans SC"/>
                <a:ea typeface="Noto Sans SC"/>
                <a:cs typeface="Noto Sans SC"/>
                <a:sym typeface="Noto Sans SC"/>
              </a:rPr>
              <a:t>是无损分解？</a:t>
            </a:r>
            <a:endParaRPr lang="en-US" altLang="zh-CN" sz="1600" b="0" i="0" u="none" strike="noStrike">
              <a:solidFill>
                <a:srgbClr val="FF0000"/>
              </a:solidFill>
              <a:latin typeface="Noto Sans SC"/>
              <a:ea typeface="Noto Sans SC"/>
              <a:cs typeface="Noto Sans SC"/>
              <a:sym typeface="Noto Sans SC"/>
            </a:endParaRPr>
          </a:p>
          <a:p>
            <a:pPr>
              <a:lnSpc>
                <a:spcPct val="125000"/>
              </a:lnSpc>
              <a:defRPr/>
            </a:pPr>
            <a:endParaRPr lang="en-US"/>
          </a:p>
          <a:p>
            <a:pPr>
              <a:lnSpc>
                <a:spcPct val="125000"/>
              </a:lnSpc>
              <a:defRPr/>
            </a:pPr>
            <a:r>
              <a:rPr lang="zh-CN" altLang="en-US" sz="2000" b="1">
                <a:solidFill>
                  <a:srgbClr val="333333"/>
                </a:solidFill>
                <a:latin typeface="Noto Sans SC"/>
                <a:ea typeface="Noto Sans SC"/>
              </a:rPr>
              <a:t>判定过程：</a:t>
            </a:r>
            <a:r>
              <a:rPr lang="en-US" altLang="zh-CN" sz="2000" b="1">
                <a:solidFill>
                  <a:srgbClr val="333333"/>
                </a:solidFill>
                <a:latin typeface="Noto Sans SC"/>
                <a:ea typeface="Noto Sans SC"/>
                <a:sym typeface="Noto Sans SC"/>
              </a:rPr>
              <a:t> Chase </a:t>
            </a:r>
            <a:r>
              <a:rPr lang="zh-CN" altLang="en-US" sz="2000" b="1">
                <a:solidFill>
                  <a:srgbClr val="333333"/>
                </a:solidFill>
                <a:latin typeface="Noto Sans SC"/>
                <a:ea typeface="Noto Sans SC"/>
                <a:sym typeface="Noto Sans SC"/>
              </a:rPr>
              <a:t>过程</a:t>
            </a:r>
            <a:endParaRPr lang="en-US" sz="2000" b="1">
              <a:solidFill>
                <a:srgbClr val="333333"/>
              </a:solidFill>
              <a:latin typeface="Noto Sans SC"/>
              <a:ea typeface="Noto Sans SC"/>
            </a:endParaRPr>
          </a:p>
          <a:p>
            <a:pPr marL="342900" indent="-342900" algn="l">
              <a:lnSpc>
                <a:spcPct val="125000"/>
              </a:lnSpc>
              <a:spcBef>
                <a:spcPts val="1000"/>
              </a:spcBef>
              <a:buFont typeface="+mj-lt"/>
              <a:buAutoNum type="arabicPeriod"/>
            </a:pPr>
            <a:r>
              <a:rPr lang="zh-CN" altLang="en-US" sz="1800" b="1" i="0" u="none" strike="noStrike">
                <a:solidFill>
                  <a:schemeClr val="accent2"/>
                </a:solidFill>
                <a:latin typeface="Noto Sans SC"/>
                <a:ea typeface="Noto Sans SC"/>
                <a:cs typeface="Noto Sans SC"/>
                <a:sym typeface="Noto Sans SC"/>
              </a:rPr>
              <a:t>构造</a:t>
            </a:r>
            <a:r>
              <a:rPr lang="en-US" sz="1800" b="1" i="0" u="none" strike="noStrike">
                <a:solidFill>
                  <a:schemeClr val="accent2"/>
                </a:solidFill>
                <a:latin typeface="Noto Sans SC"/>
                <a:ea typeface="Noto Sans SC"/>
                <a:cs typeface="Noto Sans SC"/>
                <a:sym typeface="Noto Sans SC"/>
              </a:rPr>
              <a:t>初始表格</a:t>
            </a:r>
            <a:r>
              <a:rPr lang="en-US" sz="1800" i="0" u="none" strike="noStrike">
                <a:solidFill>
                  <a:schemeClr val="accent2"/>
                </a:solidFill>
                <a:latin typeface="Noto Sans SC"/>
                <a:ea typeface="Noto Sans SC"/>
                <a:cs typeface="Noto Sans SC"/>
                <a:sym typeface="Noto Sans SC"/>
              </a:rPr>
              <a:t>：</a:t>
            </a:r>
            <a:r>
              <a:rPr lang="zh-CN" altLang="en-US" sz="1600" i="0" u="none" strike="noStrike">
                <a:solidFill>
                  <a:srgbClr val="333333"/>
                </a:solidFill>
                <a:latin typeface="Noto Sans SC"/>
                <a:ea typeface="Noto Sans SC"/>
                <a:cs typeface="Noto Sans SC"/>
                <a:sym typeface="Noto Sans SC"/>
              </a:rPr>
              <a:t>构造表格，</a:t>
            </a:r>
            <a:r>
              <a:rPr lang="en-US" sz="1600" b="0" i="0" u="none" strike="noStrike">
                <a:solidFill>
                  <a:srgbClr val="333333"/>
                </a:solidFill>
                <a:latin typeface="Noto Sans SC"/>
                <a:ea typeface="Noto Sans SC"/>
                <a:cs typeface="Noto Sans SC"/>
                <a:sym typeface="Noto Sans SC"/>
              </a:rPr>
              <a:t>按分解后的属性组填入 a (代表确定值)，其余填入 b (代表不确定值)。</a:t>
            </a:r>
            <a:endParaRPr lang="en-US" sz="1200" b="0" i="0" u="none" strike="noStrike">
              <a:solidFill>
                <a:srgbClr val="333333"/>
              </a:solidFill>
              <a:latin typeface="Noto Sans SC"/>
              <a:ea typeface="Noto Sans SC"/>
              <a:cs typeface="Noto Sans SC"/>
              <a:sym typeface="Noto Sans SC"/>
            </a:endParaRPr>
          </a:p>
        </p:txBody>
      </p:sp>
      <p:sp>
        <p:nvSpPr>
          <p:cNvPr id="5" name="AutoShape 5"/>
          <p:cNvSpPr/>
          <p:nvPr/>
        </p:nvSpPr>
        <p:spPr>
          <a:xfrm>
            <a:off x="6223000" y="1270000"/>
            <a:ext cx="4953000" cy="457200"/>
          </a:xfrm>
          <a:prstGeom prst="rect">
            <a:avLst/>
          </a:prstGeom>
          <a:solidFill>
            <a:srgbClr val="2563EB">
              <a:alpha val="100000"/>
            </a:srgbClr>
          </a:solid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a:ea typeface="Noto Sans SC"/>
                <a:cs typeface="Noto Sans SC"/>
                <a:sym typeface="Noto Sans SC"/>
              </a:rPr>
              <a:t>Chase 过程推演与判定</a:t>
            </a:r>
            <a:endParaRPr lang="en-US" sz="1200"/>
          </a:p>
        </p:txBody>
      </p:sp>
      <p:sp>
        <p:nvSpPr>
          <p:cNvPr id="6" name="AutoShape 6"/>
          <p:cNvSpPr/>
          <p:nvPr/>
        </p:nvSpPr>
        <p:spPr>
          <a:xfrm>
            <a:off x="6223000" y="1904999"/>
            <a:ext cx="4953000" cy="4467447"/>
          </a:xfrm>
          <a:prstGeom prst="rect">
            <a:avLst/>
          </a:prstGeom>
          <a:noFill/>
          <a:ln w="12700" cap="flat" cmpd="sng">
            <a:noFill/>
            <a:prstDash val="solid"/>
            <a:round/>
          </a:ln>
        </p:spPr>
        <p:txBody>
          <a:bodyPr vert="horz" wrap="square" lIns="0" tIns="0" rIns="0" bIns="0" rtlCol="0" anchor="t" anchorCtr="0"/>
          <a:lstStyle/>
          <a:p>
            <a:pPr marL="342900" lvl="3" indent="-342900">
              <a:lnSpc>
                <a:spcPct val="116666"/>
              </a:lnSpc>
              <a:spcAft>
                <a:spcPts val="600"/>
              </a:spcAft>
              <a:buFont typeface="+mj-lt"/>
              <a:buAutoNum type="arabicPeriod" startAt="2"/>
              <a:defRPr/>
            </a:pPr>
            <a:r>
              <a:rPr lang="zh-CN" altLang="en-US" sz="1800" b="1">
                <a:solidFill>
                  <a:schemeClr val="accent2"/>
                </a:solidFill>
                <a:latin typeface="Noto Sans SC"/>
                <a:ea typeface="Noto Sans SC"/>
                <a:sym typeface="Noto Sans SC"/>
              </a:rPr>
              <a:t>应用函数依赖的语义</a:t>
            </a:r>
            <a:endParaRPr lang="en-US" altLang="zh-CN" sz="1800" b="1">
              <a:solidFill>
                <a:schemeClr val="accent2"/>
              </a:solidFill>
              <a:latin typeface="Noto Sans SC"/>
              <a:ea typeface="Noto Sans SC"/>
              <a:sym typeface="Noto Sans SC"/>
            </a:endParaRPr>
          </a:p>
          <a:p>
            <a:pPr marL="342900" lvl="4" indent="-342900">
              <a:lnSpc>
                <a:spcPct val="116666"/>
              </a:lnSpc>
              <a:buFont typeface="+mj-ea"/>
              <a:buAutoNum type="circleNumDbPlain"/>
              <a:defRPr/>
            </a:pPr>
            <a:r>
              <a:rPr lang="en-US" sz="1600" b="1" i="0" u="none" strike="noStrike">
                <a:solidFill>
                  <a:srgbClr val="333333"/>
                </a:solidFill>
                <a:latin typeface="Noto Sans SC"/>
                <a:ea typeface="Noto Sans SC"/>
                <a:cs typeface="Noto Sans SC"/>
                <a:sym typeface="Noto Sans SC"/>
              </a:rPr>
              <a:t>应用 B → A</a:t>
            </a:r>
            <a:r>
              <a:rPr lang="zh-CN" altLang="en-US" sz="1600" b="1">
                <a:solidFill>
                  <a:srgbClr val="333333"/>
                </a:solidFill>
                <a:latin typeface="Noto Sans SC"/>
                <a:ea typeface="Noto Sans SC"/>
                <a:cs typeface="Noto Sans SC"/>
                <a:sym typeface="Noto Sans SC"/>
              </a:rPr>
              <a:t>：</a:t>
            </a:r>
            <a:r>
              <a:rPr lang="en-US" altLang="zh-CN" sz="1600" b="0" i="0" u="none" strike="noStrike">
                <a:solidFill>
                  <a:srgbClr val="333333"/>
                </a:solidFill>
                <a:latin typeface="Noto Sans SC"/>
                <a:ea typeface="Noto Sans SC"/>
                <a:cs typeface="Noto Sans SC"/>
                <a:sym typeface="Noto Sans SC"/>
              </a:rPr>
              <a:t>AB</a:t>
            </a:r>
            <a:r>
              <a:rPr lang="en-US" sz="1600" b="0" i="0" u="none" strike="noStrike">
                <a:solidFill>
                  <a:srgbClr val="333333"/>
                </a:solidFill>
                <a:latin typeface="Noto Sans SC"/>
                <a:ea typeface="Noto Sans SC"/>
                <a:cs typeface="Noto Sans SC"/>
                <a:sym typeface="Noto Sans SC"/>
              </a:rPr>
              <a:t>、</a:t>
            </a:r>
            <a:r>
              <a:rPr lang="en-US" altLang="zh-CN" sz="1600" b="0" i="0" u="none" strike="noStrike">
                <a:solidFill>
                  <a:srgbClr val="333333"/>
                </a:solidFill>
                <a:latin typeface="Noto Sans SC"/>
                <a:ea typeface="Noto Sans SC"/>
                <a:cs typeface="Noto Sans SC"/>
                <a:sym typeface="Noto Sans SC"/>
              </a:rPr>
              <a:t>BC</a:t>
            </a:r>
            <a:r>
              <a:rPr lang="en-US" sz="1600" b="0" i="0" u="none" strike="noStrike">
                <a:solidFill>
                  <a:srgbClr val="333333"/>
                </a:solidFill>
                <a:latin typeface="Noto Sans SC"/>
                <a:ea typeface="Noto Sans SC"/>
                <a:cs typeface="Noto Sans SC"/>
                <a:sym typeface="Noto Sans SC"/>
              </a:rPr>
              <a:t>行 </a:t>
            </a:r>
            <a:r>
              <a:rPr lang="zh-CN" altLang="en-US" sz="1600" b="0" i="0" u="none" strike="noStrike">
                <a:solidFill>
                  <a:srgbClr val="333333"/>
                </a:solidFill>
                <a:latin typeface="Noto Sans SC"/>
                <a:ea typeface="Noto Sans SC"/>
                <a:cs typeface="Noto Sans SC"/>
                <a:sym typeface="Noto Sans SC"/>
              </a:rPr>
              <a:t>的</a:t>
            </a:r>
            <a:r>
              <a:rPr lang="en-US" sz="1600" b="0" i="0" u="none" strike="noStrike">
                <a:solidFill>
                  <a:srgbClr val="333333"/>
                </a:solidFill>
                <a:latin typeface="Noto Sans SC"/>
                <a:ea typeface="Noto Sans SC"/>
                <a:cs typeface="Noto Sans SC"/>
                <a:sym typeface="Noto Sans SC"/>
              </a:rPr>
              <a:t>B列</a:t>
            </a:r>
            <a:r>
              <a:rPr lang="zh-CN" altLang="en-US" sz="1600" b="0" i="0" u="none" strike="noStrike">
                <a:solidFill>
                  <a:srgbClr val="333333"/>
                </a:solidFill>
                <a:latin typeface="Noto Sans SC"/>
                <a:ea typeface="Noto Sans SC"/>
                <a:cs typeface="Noto Sans SC"/>
                <a:sym typeface="Noto Sans SC"/>
              </a:rPr>
              <a:t>值</a:t>
            </a:r>
            <a:r>
              <a:rPr lang="en-US" sz="1600" b="0" i="0" u="none" strike="noStrike">
                <a:solidFill>
                  <a:srgbClr val="333333"/>
                </a:solidFill>
                <a:latin typeface="Noto Sans SC"/>
                <a:ea typeface="Noto Sans SC"/>
                <a:cs typeface="Noto Sans SC"/>
                <a:sym typeface="Noto Sans SC"/>
              </a:rPr>
              <a:t>均为 a2，将两行A列</a:t>
            </a:r>
            <a:r>
              <a:rPr lang="zh-CN" altLang="en-US" sz="1600" b="0" i="0" u="none" strike="noStrike">
                <a:solidFill>
                  <a:srgbClr val="333333"/>
                </a:solidFill>
                <a:latin typeface="Noto Sans SC"/>
                <a:ea typeface="Noto Sans SC"/>
                <a:cs typeface="Noto Sans SC"/>
                <a:sym typeface="Noto Sans SC"/>
              </a:rPr>
              <a:t>的值</a:t>
            </a:r>
            <a:r>
              <a:rPr lang="en-US" sz="1600" b="0" i="0" u="none" strike="noStrike">
                <a:solidFill>
                  <a:srgbClr val="333333"/>
                </a:solidFill>
                <a:latin typeface="Noto Sans SC"/>
                <a:ea typeface="Noto Sans SC"/>
                <a:cs typeface="Noto Sans SC"/>
                <a:sym typeface="Noto Sans SC"/>
              </a:rPr>
              <a:t>统一</a:t>
            </a:r>
            <a:r>
              <a:rPr lang="zh-CN" altLang="en-US" sz="1600" b="0" i="0" u="none" strike="noStrike">
                <a:solidFill>
                  <a:srgbClr val="333333"/>
                </a:solidFill>
                <a:latin typeface="Noto Sans SC"/>
                <a:ea typeface="Noto Sans SC"/>
                <a:cs typeface="Noto Sans SC"/>
                <a:sym typeface="Noto Sans SC"/>
              </a:rPr>
              <a:t>修改</a:t>
            </a:r>
            <a:r>
              <a:rPr lang="en-US" sz="1600" b="0" i="0" u="none" strike="noStrike">
                <a:solidFill>
                  <a:srgbClr val="333333"/>
                </a:solidFill>
                <a:latin typeface="Noto Sans SC"/>
                <a:ea typeface="Noto Sans SC"/>
                <a:cs typeface="Noto Sans SC"/>
                <a:sym typeface="Noto Sans SC"/>
              </a:rPr>
              <a:t>为 a1</a:t>
            </a:r>
            <a:r>
              <a:rPr lang="zh-CN" altLang="en-US" sz="1600" b="0" i="0" u="none" strike="noStrike">
                <a:solidFill>
                  <a:srgbClr val="333333"/>
                </a:solidFill>
                <a:latin typeface="Noto Sans SC"/>
                <a:ea typeface="Noto Sans SC"/>
                <a:cs typeface="Noto Sans SC"/>
                <a:sym typeface="Noto Sans SC"/>
              </a:rPr>
              <a:t>（</a:t>
            </a:r>
            <a:r>
              <a:rPr lang="en-US" sz="1600" b="0" i="0" u="none" strike="noStrike">
                <a:solidFill>
                  <a:srgbClr val="333333"/>
                </a:solidFill>
                <a:latin typeface="Noto Sans SC"/>
                <a:ea typeface="Noto Sans SC"/>
                <a:cs typeface="Noto Sans SC"/>
                <a:sym typeface="Noto Sans SC"/>
              </a:rPr>
              <a:t>用确定值覆盖不确定值</a:t>
            </a:r>
            <a:r>
              <a:rPr lang="zh-CN" altLang="en-US" sz="1600" b="0" i="0" u="none" strike="noStrike">
                <a:solidFill>
                  <a:srgbClr val="333333"/>
                </a:solidFill>
                <a:latin typeface="Noto Sans SC"/>
                <a:ea typeface="Noto Sans SC"/>
                <a:cs typeface="Noto Sans SC"/>
                <a:sym typeface="Noto Sans SC"/>
              </a:rPr>
              <a:t>）</a:t>
            </a:r>
            <a:r>
              <a:rPr lang="en-US" sz="1600" b="0" i="0" u="none" strike="noStrike">
                <a:solidFill>
                  <a:srgbClr val="333333"/>
                </a:solidFill>
                <a:latin typeface="Noto Sans SC"/>
                <a:ea typeface="Noto Sans SC"/>
                <a:cs typeface="Noto Sans SC"/>
                <a:sym typeface="Noto Sans SC"/>
              </a:rPr>
              <a:t>。</a:t>
            </a:r>
          </a:p>
          <a:p>
            <a:pPr marL="342900" lvl="4" indent="-342900">
              <a:lnSpc>
                <a:spcPct val="116666"/>
              </a:lnSpc>
              <a:buFont typeface="+mj-ea"/>
              <a:buAutoNum type="circleNumDbPlain"/>
              <a:defRPr/>
            </a:pPr>
            <a:endParaRPr lang="en-US" sz="1600">
              <a:solidFill>
                <a:srgbClr val="333333"/>
              </a:solidFill>
              <a:latin typeface="Noto Sans SC"/>
              <a:ea typeface="Noto Sans SC"/>
              <a:cs typeface="Noto Sans SC"/>
              <a:sym typeface="Noto Sans SC"/>
            </a:endParaRPr>
          </a:p>
          <a:p>
            <a:pPr marL="342900" lvl="4" indent="-342900">
              <a:lnSpc>
                <a:spcPct val="116666"/>
              </a:lnSpc>
              <a:buFont typeface="+mj-ea"/>
              <a:buAutoNum type="circleNumDbPlain"/>
              <a:defRPr/>
            </a:pPr>
            <a:endParaRPr lang="en-US" sz="1600" b="1" i="0" u="none" strike="noStrike">
              <a:solidFill>
                <a:srgbClr val="333333"/>
              </a:solidFill>
              <a:latin typeface="Noto Sans SC"/>
              <a:ea typeface="Noto Sans SC"/>
              <a:cs typeface="Noto Sans SC"/>
              <a:sym typeface="Noto Sans SC"/>
            </a:endParaRPr>
          </a:p>
          <a:p>
            <a:pPr marL="342900" lvl="4" indent="-342900">
              <a:lnSpc>
                <a:spcPct val="116666"/>
              </a:lnSpc>
              <a:buFont typeface="+mj-ea"/>
              <a:buAutoNum type="circleNumDbPlain"/>
              <a:defRPr/>
            </a:pPr>
            <a:endParaRPr lang="en-US" sz="1600" b="1">
              <a:solidFill>
                <a:srgbClr val="333333"/>
              </a:solidFill>
              <a:latin typeface="Noto Sans SC"/>
              <a:ea typeface="Noto Sans SC"/>
              <a:cs typeface="Noto Sans SC"/>
              <a:sym typeface="Noto Sans SC"/>
            </a:endParaRPr>
          </a:p>
          <a:p>
            <a:pPr marL="342900" lvl="4" indent="-342900">
              <a:lnSpc>
                <a:spcPct val="116666"/>
              </a:lnSpc>
              <a:buFont typeface="+mj-ea"/>
              <a:buAutoNum type="circleNumDbPlain"/>
              <a:defRPr/>
            </a:pPr>
            <a:endParaRPr lang="en-US" sz="1600" b="1" i="0" u="none" strike="noStrike">
              <a:solidFill>
                <a:srgbClr val="333333"/>
              </a:solidFill>
              <a:latin typeface="Noto Sans SC"/>
              <a:ea typeface="Noto Sans SC"/>
              <a:cs typeface="Noto Sans SC"/>
              <a:sym typeface="Noto Sans SC"/>
            </a:endParaRPr>
          </a:p>
          <a:p>
            <a:pPr marL="342900" lvl="4" indent="-342900">
              <a:lnSpc>
                <a:spcPct val="116666"/>
              </a:lnSpc>
              <a:buFont typeface="+mj-ea"/>
              <a:buAutoNum type="circleNumDbPlain"/>
              <a:defRPr/>
            </a:pPr>
            <a:endParaRPr lang="en-US" sz="900" b="1" i="0" u="none" strike="noStrike">
              <a:solidFill>
                <a:srgbClr val="333333"/>
              </a:solidFill>
              <a:latin typeface="Noto Sans SC"/>
              <a:ea typeface="Noto Sans SC"/>
              <a:cs typeface="Noto Sans SC"/>
              <a:sym typeface="Noto Sans SC"/>
            </a:endParaRPr>
          </a:p>
          <a:p>
            <a:pPr marL="342900" lvl="4" indent="-342900">
              <a:lnSpc>
                <a:spcPct val="116666"/>
              </a:lnSpc>
              <a:buFont typeface="+mj-ea"/>
              <a:buAutoNum type="circleNumDbPlain"/>
              <a:defRPr/>
            </a:pPr>
            <a:r>
              <a:rPr lang="en-US" sz="1600" b="1" i="0" u="none" strike="noStrike">
                <a:solidFill>
                  <a:srgbClr val="333333"/>
                </a:solidFill>
                <a:latin typeface="Noto Sans SC"/>
                <a:ea typeface="Noto Sans SC"/>
                <a:cs typeface="Noto Sans SC"/>
                <a:sym typeface="Noto Sans SC"/>
              </a:rPr>
              <a:t>应用 C → D</a:t>
            </a:r>
            <a:r>
              <a:rPr lang="zh-CN" altLang="en-US" sz="1600" b="1" i="0" u="none" strike="noStrike">
                <a:solidFill>
                  <a:srgbClr val="333333"/>
                </a:solidFill>
                <a:latin typeface="Noto Sans SC"/>
                <a:ea typeface="Noto Sans SC"/>
                <a:cs typeface="Noto Sans SC"/>
                <a:sym typeface="Noto Sans SC"/>
              </a:rPr>
              <a:t>：</a:t>
            </a:r>
            <a:r>
              <a:rPr lang="en-US" sz="1600" b="0" i="0" u="none" strike="noStrike">
                <a:solidFill>
                  <a:srgbClr val="333333"/>
                </a:solidFill>
                <a:latin typeface="Noto Sans SC"/>
                <a:ea typeface="Noto Sans SC"/>
                <a:cs typeface="Noto Sans SC"/>
                <a:sym typeface="Noto Sans SC"/>
              </a:rPr>
              <a:t>BC、</a:t>
            </a:r>
            <a:r>
              <a:rPr lang="en-US" sz="1600">
                <a:solidFill>
                  <a:srgbClr val="333333"/>
                </a:solidFill>
                <a:latin typeface="Noto Sans SC"/>
                <a:ea typeface="Noto Sans SC"/>
                <a:sym typeface="Noto Sans SC"/>
              </a:rPr>
              <a:t>CD</a:t>
            </a:r>
            <a:r>
              <a:rPr lang="zh-CN" altLang="en-US" sz="1600" b="0" i="0" u="none" strike="noStrike">
                <a:solidFill>
                  <a:srgbClr val="333333"/>
                </a:solidFill>
                <a:latin typeface="Noto Sans SC"/>
                <a:ea typeface="Noto Sans SC"/>
                <a:cs typeface="Noto Sans SC"/>
                <a:sym typeface="Noto Sans SC"/>
              </a:rPr>
              <a:t>行的</a:t>
            </a:r>
            <a:r>
              <a:rPr lang="en-US" sz="1600" b="0" i="0" u="none" strike="noStrike">
                <a:solidFill>
                  <a:srgbClr val="333333"/>
                </a:solidFill>
                <a:latin typeface="Noto Sans SC"/>
                <a:ea typeface="Noto Sans SC"/>
                <a:cs typeface="Noto Sans SC"/>
                <a:sym typeface="Noto Sans SC"/>
              </a:rPr>
              <a:t>C列</a:t>
            </a:r>
            <a:r>
              <a:rPr lang="zh-CN" altLang="en-US" sz="1600">
                <a:solidFill>
                  <a:srgbClr val="333333"/>
                </a:solidFill>
                <a:latin typeface="Noto Sans SC"/>
                <a:ea typeface="Noto Sans SC"/>
                <a:cs typeface="Noto Sans SC"/>
                <a:sym typeface="Noto Sans SC"/>
              </a:rPr>
              <a:t>值</a:t>
            </a:r>
            <a:r>
              <a:rPr lang="en-US" sz="1600" b="0" i="0" u="none" strike="noStrike">
                <a:solidFill>
                  <a:srgbClr val="333333"/>
                </a:solidFill>
                <a:latin typeface="Noto Sans SC"/>
                <a:ea typeface="Noto Sans SC"/>
                <a:cs typeface="Noto Sans SC"/>
                <a:sym typeface="Noto Sans SC"/>
              </a:rPr>
              <a:t>均为 a3，将两行D列</a:t>
            </a:r>
            <a:r>
              <a:rPr lang="zh-CN" altLang="en-US" sz="1600" b="0" i="0" u="none" strike="noStrike">
                <a:solidFill>
                  <a:srgbClr val="333333"/>
                </a:solidFill>
                <a:latin typeface="Noto Sans SC"/>
                <a:ea typeface="Noto Sans SC"/>
                <a:cs typeface="Noto Sans SC"/>
                <a:sym typeface="Noto Sans SC"/>
              </a:rPr>
              <a:t>的值</a:t>
            </a:r>
            <a:r>
              <a:rPr lang="en-US" sz="1600" b="0" i="0" u="none" strike="noStrike">
                <a:solidFill>
                  <a:srgbClr val="333333"/>
                </a:solidFill>
                <a:latin typeface="Noto Sans SC"/>
                <a:ea typeface="Noto Sans SC"/>
                <a:cs typeface="Noto Sans SC"/>
                <a:sym typeface="Noto Sans SC"/>
              </a:rPr>
              <a:t>统一</a:t>
            </a:r>
            <a:r>
              <a:rPr lang="zh-CN" altLang="en-US" sz="1600" b="0" i="0" u="none" strike="noStrike">
                <a:solidFill>
                  <a:srgbClr val="333333"/>
                </a:solidFill>
                <a:latin typeface="Noto Sans SC"/>
                <a:ea typeface="Noto Sans SC"/>
                <a:cs typeface="Noto Sans SC"/>
                <a:sym typeface="Noto Sans SC"/>
              </a:rPr>
              <a:t>修改</a:t>
            </a:r>
            <a:r>
              <a:rPr lang="en-US" sz="1600" b="0" i="0" u="none" strike="noStrike">
                <a:solidFill>
                  <a:srgbClr val="333333"/>
                </a:solidFill>
                <a:latin typeface="Noto Sans SC"/>
                <a:ea typeface="Noto Sans SC"/>
                <a:cs typeface="Noto Sans SC"/>
                <a:sym typeface="Noto Sans SC"/>
              </a:rPr>
              <a:t>为 a4。</a:t>
            </a:r>
          </a:p>
          <a:p>
            <a:pPr marL="342900" lvl="4" indent="-342900">
              <a:lnSpc>
                <a:spcPct val="116666"/>
              </a:lnSpc>
              <a:buFont typeface="+mj-ea"/>
              <a:buAutoNum type="circleNumDbPlain"/>
              <a:defRPr/>
            </a:pPr>
            <a:endParaRPr lang="en-US" sz="1600">
              <a:solidFill>
                <a:srgbClr val="333333"/>
              </a:solidFill>
              <a:latin typeface="Noto Sans SC"/>
              <a:ea typeface="Noto Sans SC"/>
              <a:cs typeface="Noto Sans SC"/>
              <a:sym typeface="Noto Sans SC"/>
            </a:endParaRPr>
          </a:p>
          <a:p>
            <a:pPr marL="342900" lvl="4" indent="-342900">
              <a:lnSpc>
                <a:spcPct val="116666"/>
              </a:lnSpc>
              <a:buFont typeface="+mj-ea"/>
              <a:buAutoNum type="circleNumDbPlain"/>
              <a:defRPr/>
            </a:pPr>
            <a:endParaRPr lang="en-US" sz="1600" b="1" i="0" u="none" strike="noStrike">
              <a:solidFill>
                <a:srgbClr val="333333"/>
              </a:solidFill>
              <a:latin typeface="Noto Sans SC"/>
              <a:ea typeface="Noto Sans SC"/>
              <a:cs typeface="Noto Sans SC"/>
              <a:sym typeface="Noto Sans SC"/>
            </a:endParaRPr>
          </a:p>
          <a:p>
            <a:pPr marL="342900" lvl="4" indent="-342900">
              <a:lnSpc>
                <a:spcPct val="116666"/>
              </a:lnSpc>
              <a:buFont typeface="+mj-ea"/>
              <a:buAutoNum type="circleNumDbPlain"/>
              <a:defRPr/>
            </a:pPr>
            <a:endParaRPr lang="en-US" sz="1600" b="1">
              <a:solidFill>
                <a:srgbClr val="333333"/>
              </a:solidFill>
              <a:latin typeface="Noto Sans SC"/>
              <a:ea typeface="Noto Sans SC"/>
              <a:cs typeface="Noto Sans SC"/>
              <a:sym typeface="Noto Sans SC"/>
            </a:endParaRPr>
          </a:p>
          <a:p>
            <a:pPr marL="342900" lvl="4" indent="-342900">
              <a:lnSpc>
                <a:spcPct val="116666"/>
              </a:lnSpc>
              <a:buFont typeface="+mj-ea"/>
              <a:buAutoNum type="circleNumDbPlain"/>
              <a:defRPr/>
            </a:pPr>
            <a:endParaRPr lang="en-US" sz="1600" b="1" i="0" u="none" strike="noStrike">
              <a:solidFill>
                <a:srgbClr val="333333"/>
              </a:solidFill>
              <a:latin typeface="Noto Sans SC"/>
              <a:ea typeface="Noto Sans SC"/>
              <a:cs typeface="Noto Sans SC"/>
              <a:sym typeface="Noto Sans SC"/>
            </a:endParaRPr>
          </a:p>
          <a:p>
            <a:pPr marL="342900" lvl="3" indent="-342900">
              <a:lnSpc>
                <a:spcPct val="116666"/>
              </a:lnSpc>
              <a:buFont typeface="+mj-ea"/>
              <a:buAutoNum type="arabicPeriod" startAt="2"/>
              <a:defRPr/>
            </a:pPr>
            <a:endParaRPr lang="en-US" sz="1100" b="1" i="0" u="none" strike="noStrike">
              <a:solidFill>
                <a:srgbClr val="333333"/>
              </a:solidFill>
              <a:latin typeface="Noto Sans SC"/>
              <a:ea typeface="Noto Sans SC"/>
              <a:cs typeface="Noto Sans SC"/>
              <a:sym typeface="Noto Sans SC"/>
            </a:endParaRPr>
          </a:p>
          <a:p>
            <a:pPr marL="342900" lvl="3" indent="-342900">
              <a:lnSpc>
                <a:spcPct val="116666"/>
              </a:lnSpc>
              <a:buFont typeface="+mj-ea"/>
              <a:buAutoNum type="arabicPeriod" startAt="2"/>
              <a:defRPr/>
            </a:pPr>
            <a:r>
              <a:rPr lang="en-US" sz="1800" b="1" i="0" u="none" strike="noStrike">
                <a:solidFill>
                  <a:schemeClr val="accent2"/>
                </a:solidFill>
                <a:latin typeface="Noto Sans SC"/>
                <a:ea typeface="Noto Sans SC"/>
                <a:cs typeface="Noto Sans SC"/>
                <a:sym typeface="Noto Sans SC"/>
              </a:rPr>
              <a:t>最终表格状态：</a:t>
            </a:r>
            <a:r>
              <a:rPr lang="en-US" altLang="zh-CN" sz="1800" b="1" i="0" u="none" strike="noStrike">
                <a:solidFill>
                  <a:srgbClr val="FF0000"/>
                </a:solidFill>
                <a:latin typeface="Noto Sans SC"/>
                <a:ea typeface="Noto Sans SC"/>
                <a:cs typeface="Noto Sans SC"/>
                <a:sym typeface="Noto Sans SC"/>
              </a:rPr>
              <a:t>BC</a:t>
            </a:r>
            <a:r>
              <a:rPr lang="zh-CN" altLang="en-US" sz="1800" b="1">
                <a:solidFill>
                  <a:srgbClr val="FF0000"/>
                </a:solidFill>
                <a:latin typeface="Noto Sans SC"/>
                <a:ea typeface="Noto Sans SC"/>
                <a:cs typeface="Noto Sans SC"/>
                <a:sym typeface="Noto Sans SC"/>
              </a:rPr>
              <a:t>行全</a:t>
            </a:r>
            <a:r>
              <a:rPr lang="en-US" altLang="zh-CN" sz="1800" b="1">
                <a:solidFill>
                  <a:srgbClr val="FF0000"/>
                </a:solidFill>
                <a:latin typeface="Noto Sans SC"/>
                <a:ea typeface="Noto Sans SC"/>
                <a:cs typeface="Noto Sans SC"/>
                <a:sym typeface="Noto Sans SC"/>
              </a:rPr>
              <a:t>a</a:t>
            </a:r>
            <a:r>
              <a:rPr lang="zh-CN" altLang="en-US" sz="1800" b="1">
                <a:solidFill>
                  <a:srgbClr val="FF0000"/>
                </a:solidFill>
                <a:latin typeface="Noto Sans SC"/>
                <a:ea typeface="Noto Sans SC"/>
                <a:cs typeface="Noto Sans SC"/>
                <a:sym typeface="Noto Sans SC"/>
              </a:rPr>
              <a:t>，</a:t>
            </a:r>
            <a:r>
              <a:rPr lang="en-US" altLang="zh-CN" sz="1800">
                <a:solidFill>
                  <a:srgbClr val="FF0000"/>
                </a:solidFill>
                <a:latin typeface="Noto Sans SC"/>
                <a:ea typeface="Noto Sans SC"/>
                <a:cs typeface="Noto Sans SC"/>
                <a:sym typeface="Noto Sans SC"/>
              </a:rPr>
              <a:t> ρ</a:t>
            </a:r>
            <a:r>
              <a:rPr lang="zh-CN" altLang="en-US" sz="1800">
                <a:solidFill>
                  <a:srgbClr val="FF0000"/>
                </a:solidFill>
                <a:latin typeface="Noto Sans SC"/>
                <a:ea typeface="Noto Sans SC"/>
                <a:cs typeface="Noto Sans SC"/>
                <a:sym typeface="Noto Sans SC"/>
              </a:rPr>
              <a:t>是</a:t>
            </a:r>
            <a:r>
              <a:rPr lang="zh-CN" altLang="en-US" sz="1800" b="1">
                <a:solidFill>
                  <a:srgbClr val="FF0000"/>
                </a:solidFill>
                <a:latin typeface="Noto Sans SC"/>
                <a:ea typeface="Noto Sans SC"/>
                <a:cs typeface="Noto Sans SC"/>
                <a:sym typeface="Noto Sans SC"/>
              </a:rPr>
              <a:t>无损分解。</a:t>
            </a:r>
            <a:endParaRPr lang="en-US" sz="1800" b="0" i="0" u="none" strike="noStrike">
              <a:solidFill>
                <a:srgbClr val="FF0000"/>
              </a:solidFill>
              <a:latin typeface="Consolas"/>
              <a:ea typeface="Consolas"/>
              <a:cs typeface="Consolas"/>
              <a:sym typeface="Consolas"/>
            </a:endParaRPr>
          </a:p>
        </p:txBody>
      </p:sp>
      <p:sp>
        <p:nvSpPr>
          <p:cNvPr id="8" name="AutoShape 2">
            <a:extLst>
              <a:ext uri="{FF2B5EF4-FFF2-40B4-BE49-F238E27FC236}">
                <a16:creationId xmlns:a16="http://schemas.microsoft.com/office/drawing/2014/main" id="{B843AF7B-6BB1-0223-F6C6-7BC205CC061C}"/>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altLang="zh-CN" sz="2400" b="1">
                <a:solidFill>
                  <a:srgbClr val="FFFFFF"/>
                </a:solidFill>
                <a:latin typeface="Noto Sans SC"/>
                <a:ea typeface="Noto Sans SC"/>
                <a:sym typeface="Noto Sans SC"/>
              </a:rPr>
              <a:t>7.3.4 </a:t>
            </a:r>
            <a:r>
              <a:rPr lang="zh-CN" altLang="en-US" sz="2400" b="1">
                <a:solidFill>
                  <a:srgbClr val="FFFFFF"/>
                </a:solidFill>
                <a:latin typeface="Noto Sans SC"/>
                <a:ea typeface="Noto Sans SC"/>
                <a:sym typeface="Noto Sans SC"/>
              </a:rPr>
              <a:t>无损分解的测试方法 </a:t>
            </a:r>
            <a:r>
              <a:rPr lang="en-US" altLang="zh-CN" sz="2400" b="1">
                <a:solidFill>
                  <a:srgbClr val="FFFFFF"/>
                </a:solidFill>
                <a:latin typeface="Noto Sans SC"/>
                <a:ea typeface="Noto Sans SC"/>
                <a:sym typeface="Noto Sans SC"/>
              </a:rPr>
              <a:t>(2)</a:t>
            </a:r>
            <a:endParaRPr lang="zh-CN" altLang="en-US" sz="2400" b="1">
              <a:solidFill>
                <a:srgbClr val="FFFFFF"/>
              </a:solidFill>
              <a:latin typeface="Noto Sans SC"/>
              <a:ea typeface="Noto Sans SC"/>
              <a:sym typeface="Noto Sans SC"/>
            </a:endParaRPr>
          </a:p>
        </p:txBody>
      </p:sp>
      <p:graphicFrame>
        <p:nvGraphicFramePr>
          <p:cNvPr id="9" name="表格 8">
            <a:extLst>
              <a:ext uri="{FF2B5EF4-FFF2-40B4-BE49-F238E27FC236}">
                <a16:creationId xmlns:a16="http://schemas.microsoft.com/office/drawing/2014/main" id="{9C93EC69-A8DA-CDA1-D8C8-0154F96970CA}"/>
              </a:ext>
            </a:extLst>
          </p:cNvPr>
          <p:cNvGraphicFramePr>
            <a:graphicFrameLocks noGrp="1"/>
          </p:cNvGraphicFramePr>
          <p:nvPr>
            <p:extLst>
              <p:ext uri="{D42A27DB-BD31-4B8C-83A1-F6EECF244321}">
                <p14:modId xmlns:p14="http://schemas.microsoft.com/office/powerpoint/2010/main" val="785540095"/>
              </p:ext>
            </p:extLst>
          </p:nvPr>
        </p:nvGraphicFramePr>
        <p:xfrm>
          <a:off x="1214182" y="5226721"/>
          <a:ext cx="4326677" cy="1096476"/>
        </p:xfrm>
        <a:graphic>
          <a:graphicData uri="http://schemas.openxmlformats.org/drawingml/2006/table">
            <a:tbl>
              <a:tblPr firstRow="1" firstCol="1" bandRow="1">
                <a:tableStyleId>{073A0DAA-6AF3-43AB-8588-CEC1D06C72B9}</a:tableStyleId>
              </a:tblPr>
              <a:tblGrid>
                <a:gridCol w="503437">
                  <a:extLst>
                    <a:ext uri="{9D8B030D-6E8A-4147-A177-3AD203B41FA5}">
                      <a16:colId xmlns:a16="http://schemas.microsoft.com/office/drawing/2014/main" val="1580418673"/>
                    </a:ext>
                  </a:extLst>
                </a:gridCol>
                <a:gridCol w="955810">
                  <a:extLst>
                    <a:ext uri="{9D8B030D-6E8A-4147-A177-3AD203B41FA5}">
                      <a16:colId xmlns:a16="http://schemas.microsoft.com/office/drawing/2014/main" val="573305048"/>
                    </a:ext>
                  </a:extLst>
                </a:gridCol>
                <a:gridCol w="955810">
                  <a:extLst>
                    <a:ext uri="{9D8B030D-6E8A-4147-A177-3AD203B41FA5}">
                      <a16:colId xmlns:a16="http://schemas.microsoft.com/office/drawing/2014/main" val="1839550843"/>
                    </a:ext>
                  </a:extLst>
                </a:gridCol>
                <a:gridCol w="955810">
                  <a:extLst>
                    <a:ext uri="{9D8B030D-6E8A-4147-A177-3AD203B41FA5}">
                      <a16:colId xmlns:a16="http://schemas.microsoft.com/office/drawing/2014/main" val="1241938547"/>
                    </a:ext>
                  </a:extLst>
                </a:gridCol>
                <a:gridCol w="955810">
                  <a:extLst>
                    <a:ext uri="{9D8B030D-6E8A-4147-A177-3AD203B41FA5}">
                      <a16:colId xmlns:a16="http://schemas.microsoft.com/office/drawing/2014/main" val="3595999817"/>
                    </a:ext>
                  </a:extLst>
                </a:gridCol>
              </a:tblGrid>
              <a:tr h="274119">
                <a:tc>
                  <a:txBody>
                    <a:bodyPr/>
                    <a:lstStyle/>
                    <a:p>
                      <a:pPr algn="ctr">
                        <a:buNone/>
                      </a:pPr>
                      <a:r>
                        <a:rPr lang="en-US" sz="1400" kern="100">
                          <a:effectLst/>
                          <a:latin typeface="Noto Sans SC" panose="020B0200000000000000" pitchFamily="34" charset="-122"/>
                          <a:ea typeface="Noto Sans SC" panose="020B0200000000000000" pitchFamily="34" charset="-122"/>
                        </a:rPr>
                        <a:t> </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A</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B</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C</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D</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3992952"/>
                  </a:ext>
                </a:extLst>
              </a:tr>
              <a:tr h="274119">
                <a:tc>
                  <a:txBody>
                    <a:bodyPr/>
                    <a:lstStyle/>
                    <a:p>
                      <a:pPr algn="ctr">
                        <a:buNone/>
                      </a:pPr>
                      <a:r>
                        <a:rPr lang="en-US" sz="1400" kern="100">
                          <a:effectLst/>
                          <a:latin typeface="Noto Sans SC" panose="020B0200000000000000" pitchFamily="34" charset="-122"/>
                          <a:ea typeface="Noto Sans SC" panose="020B0200000000000000" pitchFamily="34" charset="-122"/>
                        </a:rPr>
                        <a:t>AB</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a1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a2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b13</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b14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7326350"/>
                  </a:ext>
                </a:extLst>
              </a:tr>
              <a:tr h="274119">
                <a:tc>
                  <a:txBody>
                    <a:bodyPr/>
                    <a:lstStyle/>
                    <a:p>
                      <a:pPr algn="ctr">
                        <a:buNone/>
                      </a:pPr>
                      <a:r>
                        <a:rPr lang="en-US" sz="1400" kern="100">
                          <a:effectLst/>
                          <a:latin typeface="Noto Sans SC" panose="020B0200000000000000" pitchFamily="34" charset="-122"/>
                          <a:ea typeface="Noto Sans SC" panose="020B0200000000000000" pitchFamily="34" charset="-122"/>
                        </a:rPr>
                        <a:t>BC</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b21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a2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a3</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b24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5712891"/>
                  </a:ext>
                </a:extLst>
              </a:tr>
              <a:tr h="274119">
                <a:tc>
                  <a:txBody>
                    <a:bodyPr/>
                    <a:lstStyle/>
                    <a:p>
                      <a:pPr algn="ctr">
                        <a:buNone/>
                      </a:pPr>
                      <a:r>
                        <a:rPr lang="en-US" sz="1400" kern="100">
                          <a:effectLst/>
                          <a:latin typeface="Noto Sans SC" panose="020B0200000000000000" pitchFamily="34" charset="-122"/>
                          <a:ea typeface="Noto Sans SC" panose="020B0200000000000000" pitchFamily="34" charset="-122"/>
                        </a:rPr>
                        <a:t>CD</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b31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b32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a3</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a4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3645640"/>
                  </a:ext>
                </a:extLst>
              </a:tr>
            </a:tbl>
          </a:graphicData>
        </a:graphic>
      </p:graphicFrame>
      <p:graphicFrame>
        <p:nvGraphicFramePr>
          <p:cNvPr id="10" name="表格 9">
            <a:extLst>
              <a:ext uri="{FF2B5EF4-FFF2-40B4-BE49-F238E27FC236}">
                <a16:creationId xmlns:a16="http://schemas.microsoft.com/office/drawing/2014/main" id="{53E6380A-BACC-9321-7244-D366C132EB9C}"/>
              </a:ext>
            </a:extLst>
          </p:cNvPr>
          <p:cNvGraphicFramePr>
            <a:graphicFrameLocks noGrp="1"/>
          </p:cNvGraphicFramePr>
          <p:nvPr>
            <p:extLst>
              <p:ext uri="{D42A27DB-BD31-4B8C-83A1-F6EECF244321}">
                <p14:modId xmlns:p14="http://schemas.microsoft.com/office/powerpoint/2010/main" val="4196852168"/>
              </p:ext>
            </p:extLst>
          </p:nvPr>
        </p:nvGraphicFramePr>
        <p:xfrm>
          <a:off x="6650462" y="2961902"/>
          <a:ext cx="4326677" cy="1067688"/>
        </p:xfrm>
        <a:graphic>
          <a:graphicData uri="http://schemas.openxmlformats.org/drawingml/2006/table">
            <a:tbl>
              <a:tblPr firstRow="1" firstCol="1" bandRow="1">
                <a:tableStyleId>{073A0DAA-6AF3-43AB-8588-CEC1D06C72B9}</a:tableStyleId>
              </a:tblPr>
              <a:tblGrid>
                <a:gridCol w="503437">
                  <a:extLst>
                    <a:ext uri="{9D8B030D-6E8A-4147-A177-3AD203B41FA5}">
                      <a16:colId xmlns:a16="http://schemas.microsoft.com/office/drawing/2014/main" val="1580418673"/>
                    </a:ext>
                  </a:extLst>
                </a:gridCol>
                <a:gridCol w="955810">
                  <a:extLst>
                    <a:ext uri="{9D8B030D-6E8A-4147-A177-3AD203B41FA5}">
                      <a16:colId xmlns:a16="http://schemas.microsoft.com/office/drawing/2014/main" val="573305048"/>
                    </a:ext>
                  </a:extLst>
                </a:gridCol>
                <a:gridCol w="955810">
                  <a:extLst>
                    <a:ext uri="{9D8B030D-6E8A-4147-A177-3AD203B41FA5}">
                      <a16:colId xmlns:a16="http://schemas.microsoft.com/office/drawing/2014/main" val="1839550843"/>
                    </a:ext>
                  </a:extLst>
                </a:gridCol>
                <a:gridCol w="955810">
                  <a:extLst>
                    <a:ext uri="{9D8B030D-6E8A-4147-A177-3AD203B41FA5}">
                      <a16:colId xmlns:a16="http://schemas.microsoft.com/office/drawing/2014/main" val="1241938547"/>
                    </a:ext>
                  </a:extLst>
                </a:gridCol>
                <a:gridCol w="955810">
                  <a:extLst>
                    <a:ext uri="{9D8B030D-6E8A-4147-A177-3AD203B41FA5}">
                      <a16:colId xmlns:a16="http://schemas.microsoft.com/office/drawing/2014/main" val="3595999817"/>
                    </a:ext>
                  </a:extLst>
                </a:gridCol>
              </a:tblGrid>
              <a:tr h="266922">
                <a:tc>
                  <a:txBody>
                    <a:bodyPr/>
                    <a:lstStyle/>
                    <a:p>
                      <a:pPr algn="ctr">
                        <a:buNone/>
                      </a:pPr>
                      <a:r>
                        <a:rPr lang="en-US" sz="1400" kern="100">
                          <a:effectLst/>
                          <a:latin typeface="Noto Sans SC" panose="020B0200000000000000" pitchFamily="34" charset="-122"/>
                          <a:ea typeface="Noto Sans SC" panose="020B0200000000000000" pitchFamily="34" charset="-122"/>
                        </a:rPr>
                        <a:t> </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A</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B</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C</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D</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33992952"/>
                  </a:ext>
                </a:extLst>
              </a:tr>
              <a:tr h="266922">
                <a:tc>
                  <a:txBody>
                    <a:bodyPr/>
                    <a:lstStyle/>
                    <a:p>
                      <a:pPr algn="ctr">
                        <a:buNone/>
                      </a:pPr>
                      <a:r>
                        <a:rPr lang="en-US" sz="1400" kern="100">
                          <a:effectLst/>
                          <a:latin typeface="Noto Sans SC" panose="020B0200000000000000" pitchFamily="34" charset="-122"/>
                          <a:ea typeface="Noto Sans SC" panose="020B0200000000000000" pitchFamily="34" charset="-122"/>
                        </a:rPr>
                        <a:t>AB</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a1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1" kern="100">
                          <a:solidFill>
                            <a:srgbClr val="7030A0"/>
                          </a:solidFill>
                          <a:effectLst/>
                          <a:latin typeface="Noto Sans SC" panose="020B0200000000000000" pitchFamily="34" charset="-122"/>
                          <a:ea typeface="Noto Sans SC" panose="020B0200000000000000" pitchFamily="34" charset="-122"/>
                        </a:rPr>
                        <a:t>a2</a:t>
                      </a:r>
                      <a:endParaRPr lang="zh-CN" sz="1400" b="1" kern="100">
                        <a:solidFill>
                          <a:srgbClr val="7030A0"/>
                        </a:solidFill>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b13</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b14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27326350"/>
                  </a:ext>
                </a:extLst>
              </a:tr>
              <a:tr h="266922">
                <a:tc>
                  <a:txBody>
                    <a:bodyPr/>
                    <a:lstStyle/>
                    <a:p>
                      <a:pPr algn="ctr">
                        <a:buNone/>
                      </a:pPr>
                      <a:r>
                        <a:rPr lang="en-US" sz="1400" kern="100">
                          <a:effectLst/>
                          <a:latin typeface="Noto Sans SC" panose="020B0200000000000000" pitchFamily="34" charset="-122"/>
                          <a:ea typeface="Noto Sans SC" panose="020B0200000000000000" pitchFamily="34" charset="-122"/>
                        </a:rPr>
                        <a:t>BC</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strike="dblStrike" kern="100" baseline="0">
                          <a:effectLst/>
                          <a:latin typeface="Noto Sans SC" panose="020B0200000000000000" pitchFamily="34" charset="-122"/>
                          <a:ea typeface="Noto Sans SC" panose="020B0200000000000000" pitchFamily="34" charset="-122"/>
                        </a:rPr>
                        <a:t>b21</a:t>
                      </a:r>
                      <a:r>
                        <a:rPr lang="en-US" sz="1400" b="0" i="0" u="none" strike="noStrike" kern="100" cap="none">
                          <a:solidFill>
                            <a:srgbClr val="FF0000"/>
                          </a:solidFill>
                          <a:effectLst/>
                          <a:latin typeface="Noto Sans SC" panose="020B0200000000000000" pitchFamily="34" charset="-122"/>
                          <a:ea typeface="Noto Sans SC" panose="020B0200000000000000" pitchFamily="34" charset="-122"/>
                          <a:cs typeface="+mn-cs"/>
                          <a:sym typeface="Arial"/>
                        </a:rPr>
                        <a:t>   </a:t>
                      </a:r>
                      <a:r>
                        <a:rPr lang="en-US" sz="1400" kern="100">
                          <a:solidFill>
                            <a:srgbClr val="FF0000"/>
                          </a:solidFill>
                          <a:effectLst/>
                          <a:latin typeface="Noto Sans SC" panose="020B0200000000000000" pitchFamily="34" charset="-122"/>
                          <a:ea typeface="Noto Sans SC" panose="020B0200000000000000" pitchFamily="34" charset="-122"/>
                        </a:rPr>
                        <a:t>a1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b="1" kern="100">
                          <a:solidFill>
                            <a:srgbClr val="7030A0"/>
                          </a:solidFill>
                          <a:effectLst/>
                          <a:latin typeface="Noto Sans SC" panose="020B0200000000000000" pitchFamily="34" charset="-122"/>
                          <a:ea typeface="Noto Sans SC" panose="020B0200000000000000" pitchFamily="34" charset="-122"/>
                        </a:rPr>
                        <a:t>a2</a:t>
                      </a:r>
                      <a:endParaRPr lang="zh-CN" sz="1400" b="1" kern="100">
                        <a:solidFill>
                          <a:srgbClr val="7030A0"/>
                        </a:solidFill>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a3</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b24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65712891"/>
                  </a:ext>
                </a:extLst>
              </a:tr>
              <a:tr h="266922">
                <a:tc>
                  <a:txBody>
                    <a:bodyPr/>
                    <a:lstStyle/>
                    <a:p>
                      <a:pPr algn="ctr">
                        <a:buNone/>
                      </a:pPr>
                      <a:r>
                        <a:rPr lang="en-US" sz="1400" kern="100">
                          <a:effectLst/>
                          <a:latin typeface="Noto Sans SC" panose="020B0200000000000000" pitchFamily="34" charset="-122"/>
                          <a:ea typeface="Noto Sans SC" panose="020B0200000000000000" pitchFamily="34" charset="-122"/>
                        </a:rPr>
                        <a:t>CD</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buNone/>
                      </a:pPr>
                      <a:r>
                        <a:rPr lang="en-US" sz="1400" kern="100">
                          <a:effectLst/>
                          <a:latin typeface="Noto Sans SC" panose="020B0200000000000000" pitchFamily="34" charset="-122"/>
                          <a:ea typeface="Noto Sans SC" panose="020B0200000000000000" pitchFamily="34" charset="-122"/>
                        </a:rPr>
                        <a:t>b31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b32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a3</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sz="1400" kern="100">
                          <a:effectLst/>
                          <a:latin typeface="Noto Sans SC" panose="020B0200000000000000" pitchFamily="34" charset="-122"/>
                          <a:ea typeface="Noto Sans SC" panose="020B0200000000000000" pitchFamily="34" charset="-122"/>
                        </a:rPr>
                        <a:t>a4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83645640"/>
                  </a:ext>
                </a:extLst>
              </a:tr>
            </a:tbl>
          </a:graphicData>
        </a:graphic>
      </p:graphicFrame>
      <p:graphicFrame>
        <p:nvGraphicFramePr>
          <p:cNvPr id="11" name="表格 10">
            <a:extLst>
              <a:ext uri="{FF2B5EF4-FFF2-40B4-BE49-F238E27FC236}">
                <a16:creationId xmlns:a16="http://schemas.microsoft.com/office/drawing/2014/main" id="{A6436F19-ECA5-9AE6-99BD-DE29AAA24DFC}"/>
              </a:ext>
            </a:extLst>
          </p:cNvPr>
          <p:cNvGraphicFramePr>
            <a:graphicFrameLocks noGrp="1"/>
          </p:cNvGraphicFramePr>
          <p:nvPr>
            <p:extLst>
              <p:ext uri="{D42A27DB-BD31-4B8C-83A1-F6EECF244321}">
                <p14:modId xmlns:p14="http://schemas.microsoft.com/office/powerpoint/2010/main" val="4039639914"/>
              </p:ext>
            </p:extLst>
          </p:nvPr>
        </p:nvGraphicFramePr>
        <p:xfrm>
          <a:off x="6650461" y="4830940"/>
          <a:ext cx="4326677" cy="1067688"/>
        </p:xfrm>
        <a:graphic>
          <a:graphicData uri="http://schemas.openxmlformats.org/drawingml/2006/table">
            <a:tbl>
              <a:tblPr firstRow="1" firstCol="1" bandRow="1">
                <a:tableStyleId>{073A0DAA-6AF3-43AB-8588-CEC1D06C72B9}</a:tableStyleId>
              </a:tblPr>
              <a:tblGrid>
                <a:gridCol w="503437">
                  <a:extLst>
                    <a:ext uri="{9D8B030D-6E8A-4147-A177-3AD203B41FA5}">
                      <a16:colId xmlns:a16="http://schemas.microsoft.com/office/drawing/2014/main" val="1580418673"/>
                    </a:ext>
                  </a:extLst>
                </a:gridCol>
                <a:gridCol w="955810">
                  <a:extLst>
                    <a:ext uri="{9D8B030D-6E8A-4147-A177-3AD203B41FA5}">
                      <a16:colId xmlns:a16="http://schemas.microsoft.com/office/drawing/2014/main" val="573305048"/>
                    </a:ext>
                  </a:extLst>
                </a:gridCol>
                <a:gridCol w="955810">
                  <a:extLst>
                    <a:ext uri="{9D8B030D-6E8A-4147-A177-3AD203B41FA5}">
                      <a16:colId xmlns:a16="http://schemas.microsoft.com/office/drawing/2014/main" val="1839550843"/>
                    </a:ext>
                  </a:extLst>
                </a:gridCol>
                <a:gridCol w="955810">
                  <a:extLst>
                    <a:ext uri="{9D8B030D-6E8A-4147-A177-3AD203B41FA5}">
                      <a16:colId xmlns:a16="http://schemas.microsoft.com/office/drawing/2014/main" val="1241938547"/>
                    </a:ext>
                  </a:extLst>
                </a:gridCol>
                <a:gridCol w="955810">
                  <a:extLst>
                    <a:ext uri="{9D8B030D-6E8A-4147-A177-3AD203B41FA5}">
                      <a16:colId xmlns:a16="http://schemas.microsoft.com/office/drawing/2014/main" val="3595999817"/>
                    </a:ext>
                  </a:extLst>
                </a:gridCol>
              </a:tblGrid>
              <a:tr h="266922">
                <a:tc>
                  <a:txBody>
                    <a:bodyPr/>
                    <a:lstStyle/>
                    <a:p>
                      <a:pPr algn="ctr">
                        <a:buNone/>
                      </a:pPr>
                      <a:r>
                        <a:rPr lang="en-US" sz="1400" kern="100">
                          <a:effectLst/>
                          <a:latin typeface="Noto Sans SC" panose="020B0200000000000000" pitchFamily="34" charset="-122"/>
                          <a:ea typeface="Noto Sans SC" panose="020B0200000000000000" pitchFamily="34" charset="-122"/>
                        </a:rPr>
                        <a:t> </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A</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marL="342900" indent="-342900" algn="ctr">
                        <a:buFont typeface="+mj-ea"/>
                        <a:buAutoNum type="circleNumDbPlain"/>
                      </a:pPr>
                      <a:r>
                        <a:rPr lang="en-US" sz="1400" kern="100">
                          <a:effectLst/>
                          <a:latin typeface="Noto Sans SC" panose="020B0200000000000000" pitchFamily="34" charset="-122"/>
                          <a:ea typeface="Noto Sans SC" panose="020B0200000000000000" pitchFamily="34" charset="-122"/>
                        </a:rPr>
                        <a:t>B</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C</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D</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33992952"/>
                  </a:ext>
                </a:extLst>
              </a:tr>
              <a:tr h="266922">
                <a:tc>
                  <a:txBody>
                    <a:bodyPr/>
                    <a:lstStyle/>
                    <a:p>
                      <a:pPr algn="ctr">
                        <a:buNone/>
                      </a:pPr>
                      <a:r>
                        <a:rPr lang="en-US" sz="1400" kern="100">
                          <a:effectLst/>
                          <a:latin typeface="Noto Sans SC" panose="020B0200000000000000" pitchFamily="34" charset="-122"/>
                          <a:ea typeface="Noto Sans SC" panose="020B0200000000000000" pitchFamily="34" charset="-122"/>
                        </a:rPr>
                        <a:t>AB</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a1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marL="0" indent="0" algn="ctr">
                        <a:buFont typeface="+mj-ea"/>
                        <a:buNone/>
                      </a:pPr>
                      <a:r>
                        <a:rPr lang="en-US" sz="1400" kern="100">
                          <a:effectLst/>
                          <a:latin typeface="Noto Sans SC" panose="020B0200000000000000" pitchFamily="34" charset="-122"/>
                          <a:ea typeface="Noto Sans SC" panose="020B0200000000000000" pitchFamily="34" charset="-122"/>
                        </a:rPr>
                        <a:t>a2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b13</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b14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227326350"/>
                  </a:ext>
                </a:extLst>
              </a:tr>
              <a:tr h="266922">
                <a:tc>
                  <a:txBody>
                    <a:bodyPr/>
                    <a:lstStyle/>
                    <a:p>
                      <a:pPr algn="ctr">
                        <a:buNone/>
                      </a:pPr>
                      <a:r>
                        <a:rPr lang="en-US" sz="1400" kern="100">
                          <a:effectLst/>
                          <a:latin typeface="Noto Sans SC" panose="020B0200000000000000" pitchFamily="34" charset="-122"/>
                          <a:ea typeface="Noto Sans SC" panose="020B0200000000000000" pitchFamily="34" charset="-122"/>
                        </a:rPr>
                        <a:t>BC</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strike="dblStrike" kern="100" baseline="0">
                          <a:effectLst/>
                          <a:latin typeface="Noto Sans SC" panose="020B0200000000000000" pitchFamily="34" charset="-122"/>
                          <a:ea typeface="Noto Sans SC" panose="020B0200000000000000" pitchFamily="34" charset="-122"/>
                        </a:rPr>
                        <a:t>b21</a:t>
                      </a:r>
                      <a:r>
                        <a:rPr lang="en-US" sz="1400" b="0" i="0" u="none" strike="noStrike" kern="100" cap="none">
                          <a:solidFill>
                            <a:srgbClr val="FF0000"/>
                          </a:solidFill>
                          <a:effectLst/>
                          <a:latin typeface="Noto Sans SC" panose="020B0200000000000000" pitchFamily="34" charset="-122"/>
                          <a:ea typeface="Noto Sans SC" panose="020B0200000000000000" pitchFamily="34" charset="-122"/>
                          <a:cs typeface="+mn-cs"/>
                          <a:sym typeface="Arial"/>
                        </a:rPr>
                        <a:t>   </a:t>
                      </a:r>
                      <a:r>
                        <a:rPr lang="en-US" sz="1400" kern="100">
                          <a:solidFill>
                            <a:srgbClr val="FF0000"/>
                          </a:solidFill>
                          <a:effectLst/>
                          <a:latin typeface="Noto Sans SC" panose="020B0200000000000000" pitchFamily="34" charset="-122"/>
                          <a:ea typeface="Noto Sans SC" panose="020B0200000000000000" pitchFamily="34" charset="-122"/>
                        </a:rPr>
                        <a:t>a1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marL="0" indent="0" algn="ctr">
                        <a:buFont typeface="+mj-ea"/>
                        <a:buNone/>
                      </a:pPr>
                      <a:r>
                        <a:rPr lang="en-US" sz="1400" kern="100">
                          <a:effectLst/>
                          <a:latin typeface="Noto Sans SC" panose="020B0200000000000000" pitchFamily="34" charset="-122"/>
                          <a:ea typeface="Noto Sans SC" panose="020B0200000000000000" pitchFamily="34" charset="-122"/>
                        </a:rPr>
                        <a:t>a2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solidFill>
                            <a:srgbClr val="7030A0"/>
                          </a:solidFill>
                          <a:effectLst/>
                          <a:latin typeface="Noto Sans SC" panose="020B0200000000000000" pitchFamily="34" charset="-122"/>
                          <a:ea typeface="Noto Sans SC" panose="020B0200000000000000" pitchFamily="34" charset="-122"/>
                        </a:rPr>
                        <a:t>a3</a:t>
                      </a:r>
                      <a:endParaRPr lang="zh-CN" sz="1400" kern="100">
                        <a:solidFill>
                          <a:srgbClr val="7030A0"/>
                        </a:solidFill>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400" strike="dblStrike" kern="100" baseline="0">
                          <a:effectLst/>
                          <a:latin typeface="Noto Sans SC" panose="020B0200000000000000" pitchFamily="34" charset="-122"/>
                          <a:ea typeface="Noto Sans SC" panose="020B0200000000000000" pitchFamily="34" charset="-122"/>
                        </a:rPr>
                        <a:t>b24  </a:t>
                      </a:r>
                      <a:r>
                        <a:rPr lang="en-US" sz="1400" kern="100">
                          <a:effectLst/>
                          <a:latin typeface="Noto Sans SC" panose="020B0200000000000000" pitchFamily="34" charset="-122"/>
                          <a:ea typeface="Noto Sans SC" panose="020B0200000000000000" pitchFamily="34" charset="-122"/>
                        </a:rPr>
                        <a:t>  </a:t>
                      </a:r>
                      <a:r>
                        <a:rPr lang="en-US" altLang="zh-CN" sz="1400" kern="100">
                          <a:solidFill>
                            <a:srgbClr val="CF0000"/>
                          </a:solidFill>
                          <a:effectLst/>
                          <a:latin typeface="Noto Sans SC" panose="020B0200000000000000" pitchFamily="34" charset="-122"/>
                          <a:ea typeface="Noto Sans SC" panose="020B0200000000000000" pitchFamily="34" charset="-122"/>
                        </a:rPr>
                        <a:t>a4</a:t>
                      </a:r>
                      <a:endParaRPr lang="zh-CN" sz="1400" kern="100">
                        <a:solidFill>
                          <a:srgbClr val="CF0000"/>
                        </a:solidFill>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65712891"/>
                  </a:ext>
                </a:extLst>
              </a:tr>
              <a:tr h="266922">
                <a:tc>
                  <a:txBody>
                    <a:bodyPr/>
                    <a:lstStyle/>
                    <a:p>
                      <a:pPr algn="ctr">
                        <a:buNone/>
                      </a:pPr>
                      <a:r>
                        <a:rPr lang="en-US" sz="1400" kern="100">
                          <a:effectLst/>
                          <a:latin typeface="Noto Sans SC" panose="020B0200000000000000" pitchFamily="34" charset="-122"/>
                          <a:ea typeface="Noto Sans SC" panose="020B0200000000000000" pitchFamily="34" charset="-122"/>
                        </a:rPr>
                        <a:t>CD</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b31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marL="0" indent="0" algn="ctr">
                        <a:buFont typeface="+mj-ea"/>
                        <a:buNone/>
                      </a:pPr>
                      <a:r>
                        <a:rPr lang="en-US" sz="1400" kern="100">
                          <a:effectLst/>
                          <a:latin typeface="Noto Sans SC" panose="020B0200000000000000" pitchFamily="34" charset="-122"/>
                          <a:ea typeface="Noto Sans SC" panose="020B0200000000000000" pitchFamily="34" charset="-122"/>
                        </a:rPr>
                        <a:t>b32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solidFill>
                            <a:srgbClr val="7030A0"/>
                          </a:solidFill>
                          <a:effectLst/>
                          <a:latin typeface="Noto Sans SC" panose="020B0200000000000000" pitchFamily="34" charset="-122"/>
                          <a:ea typeface="Noto Sans SC" panose="020B0200000000000000" pitchFamily="34" charset="-122"/>
                        </a:rPr>
                        <a:t>a3</a:t>
                      </a:r>
                      <a:endParaRPr lang="zh-CN" sz="1400" kern="100">
                        <a:solidFill>
                          <a:srgbClr val="7030A0"/>
                        </a:solidFill>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a4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683645640"/>
                  </a:ext>
                </a:extLst>
              </a:tr>
            </a:tbl>
          </a:graphicData>
        </a:graphic>
      </p:graphicFrame>
      <p:sp>
        <p:nvSpPr>
          <p:cNvPr id="7" name="AutoShape 4">
            <a:extLst>
              <a:ext uri="{FF2B5EF4-FFF2-40B4-BE49-F238E27FC236}">
                <a16:creationId xmlns:a16="http://schemas.microsoft.com/office/drawing/2014/main" id="{9D22E6F0-2ACB-5063-4069-E80F1564846C}"/>
              </a:ext>
            </a:extLst>
          </p:cNvPr>
          <p:cNvSpPr/>
          <p:nvPr/>
        </p:nvSpPr>
        <p:spPr>
          <a:xfrm>
            <a:off x="838200" y="1311761"/>
            <a:ext cx="4084084"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9</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：无损分解的判定</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altLang="zh-CN" sz="2400" b="1">
                <a:solidFill>
                  <a:srgbClr val="FFFFFF"/>
                </a:solidFill>
                <a:latin typeface="Noto Sans SC"/>
                <a:ea typeface="Noto Sans SC"/>
                <a:sym typeface="Noto Sans SC"/>
              </a:rPr>
              <a:t>7.3.5 保持函数依赖的分解 (1)</a:t>
            </a:r>
            <a:endParaRPr lang="en-US" sz="2400" b="1">
              <a:solidFill>
                <a:srgbClr val="FFFFFF"/>
              </a:solidFill>
              <a:latin typeface="Noto Sans SC"/>
              <a:ea typeface="Noto Sans SC"/>
            </a:endParaRPr>
          </a:p>
        </p:txBody>
      </p:sp>
      <p:sp>
        <p:nvSpPr>
          <p:cNvPr id="3" name="AutoShape 3"/>
          <p:cNvSpPr/>
          <p:nvPr/>
        </p:nvSpPr>
        <p:spPr>
          <a:xfrm>
            <a:off x="838200" y="1193800"/>
            <a:ext cx="4330700" cy="4978400"/>
          </a:xfrm>
          <a:prstGeom prst="rect">
            <a:avLst/>
          </a:prstGeom>
          <a:solidFill>
            <a:srgbClr val="F9FAFB">
              <a:alpha val="100000"/>
            </a:srgbClr>
          </a:solidFill>
          <a:ln w="12700" cap="flat" cmpd="sng">
            <a:noFill/>
            <a:prstDash val="solid"/>
            <a:round/>
          </a:ln>
        </p:spPr>
        <p:txBody>
          <a:bodyPr vert="horz" wrap="square" lIns="190500" tIns="254000" rIns="190500" bIns="0" rtlCol="0" anchor="t" anchorCtr="0"/>
          <a:lstStyle/>
          <a:p>
            <a:pPr indent="0" algn="l">
              <a:lnSpc>
                <a:spcPct val="125000"/>
              </a:lnSpc>
              <a:spcAft>
                <a:spcPts val="1500"/>
              </a:spcAft>
              <a:defRPr/>
            </a:pPr>
            <a:r>
              <a:rPr lang="en-US" sz="2000" b="1" i="0" u="none" strike="noStrike">
                <a:solidFill>
                  <a:srgbClr val="D93025"/>
                </a:solidFill>
                <a:latin typeface="Noto Sans SC"/>
                <a:ea typeface="Noto Sans SC"/>
                <a:cs typeface="Noto Sans SC"/>
                <a:sym typeface="Noto Sans SC"/>
              </a:rPr>
              <a:t>定义 7.15：保持函数依赖</a:t>
            </a:r>
            <a:endParaRPr lang="en-US"/>
          </a:p>
          <a:p>
            <a:pPr>
              <a:lnSpc>
                <a:spcPct val="125000"/>
              </a:lnSpc>
              <a:spcAft>
                <a:spcPts val="1500"/>
              </a:spcAft>
            </a:pPr>
            <a:r>
              <a:rPr lang="en-US" sz="1600" b="0" i="0" u="none" strike="noStrike">
                <a:solidFill>
                  <a:srgbClr val="1F2937"/>
                </a:solidFill>
                <a:latin typeface="Noto Sans SC"/>
                <a:ea typeface="Noto Sans SC"/>
                <a:cs typeface="Noto Sans SC"/>
                <a:sym typeface="Noto Sans SC"/>
              </a:rPr>
              <a:t>设 ρ = {R₁, …, Rₖ} 是关系模式 R 的一个分解，F 是 R 上的函数依赖集 (FD集)。如果 F 被分解后各个模式上的投影依赖集的并集所逻辑蕴涵，</a:t>
            </a:r>
            <a:r>
              <a:rPr lang="en-US" altLang="zh-CN" sz="1600">
                <a:solidFill>
                  <a:srgbClr val="1F2937"/>
                </a:solidFill>
                <a:latin typeface="Noto Sans SC"/>
                <a:ea typeface="Noto Sans SC"/>
                <a:sym typeface="Noto Sans SC"/>
              </a:rPr>
              <a:t>则称</a:t>
            </a:r>
            <a:r>
              <a:rPr lang="en-US" altLang="zh-CN" sz="1600">
                <a:solidFill>
                  <a:srgbClr val="FF0000"/>
                </a:solidFill>
                <a:latin typeface="Noto Sans SC"/>
                <a:ea typeface="Noto Sans SC"/>
                <a:sym typeface="Noto Sans SC"/>
              </a:rPr>
              <a:t>分解 ρ保持函数依赖集 F</a:t>
            </a:r>
            <a:r>
              <a:rPr lang="zh-CN" altLang="en-US" sz="1600">
                <a:solidFill>
                  <a:srgbClr val="1F2937"/>
                </a:solidFill>
                <a:latin typeface="Noto Sans SC"/>
                <a:ea typeface="Noto Sans SC"/>
                <a:sym typeface="Noto Sans SC"/>
              </a:rPr>
              <a:t>，</a:t>
            </a:r>
            <a:r>
              <a:rPr lang="en-US" sz="1600" b="0" i="0" u="none" strike="noStrike">
                <a:solidFill>
                  <a:srgbClr val="1F2937"/>
                </a:solidFill>
                <a:latin typeface="Noto Sans SC"/>
                <a:ea typeface="Noto Sans SC"/>
                <a:cs typeface="Noto Sans SC"/>
                <a:sym typeface="Noto Sans SC"/>
              </a:rPr>
              <a:t>即满足如下条件：</a:t>
            </a:r>
          </a:p>
          <a:p>
            <a:pPr indent="0" algn="ctr">
              <a:lnSpc>
                <a:spcPct val="125000"/>
              </a:lnSpc>
              <a:spcAft>
                <a:spcPts val="2000"/>
              </a:spcAft>
            </a:pPr>
            <a:r>
              <a:rPr lang="en-US" sz="2400" b="1" i="0" u="none" strike="noStrike">
                <a:solidFill>
                  <a:srgbClr val="7030A0"/>
                </a:solidFill>
                <a:latin typeface="Noto Sans SC"/>
                <a:ea typeface="Noto Sans SC"/>
                <a:cs typeface="Noto Sans SC"/>
                <a:sym typeface="Noto Sans SC"/>
              </a:rPr>
              <a:t>∪ πᵣᵢ (F)  ⊨  F</a:t>
            </a:r>
          </a:p>
          <a:p>
            <a:pPr>
              <a:lnSpc>
                <a:spcPct val="125000"/>
              </a:lnSpc>
            </a:pPr>
            <a:r>
              <a:rPr lang="en-US" altLang="zh-CN" sz="1600">
                <a:solidFill>
                  <a:srgbClr val="1F2937"/>
                </a:solidFill>
                <a:latin typeface="Noto Sans SC"/>
                <a:ea typeface="Noto Sans SC"/>
                <a:sym typeface="Noto Sans SC"/>
              </a:rPr>
              <a:t>其中</a:t>
            </a:r>
            <a:r>
              <a:rPr lang="zh-CN" altLang="en-US" sz="1600">
                <a:solidFill>
                  <a:srgbClr val="1F2937"/>
                </a:solidFill>
                <a:latin typeface="Noto Sans SC"/>
                <a:ea typeface="Noto Sans SC"/>
                <a:sym typeface="Noto Sans SC"/>
              </a:rPr>
              <a:t>，</a:t>
            </a:r>
            <a:r>
              <a:rPr lang="en-US" altLang="zh-CN" sz="1600">
                <a:solidFill>
                  <a:srgbClr val="1F2937"/>
                </a:solidFill>
                <a:latin typeface="Noto Sans SC"/>
                <a:ea typeface="Noto Sans SC"/>
                <a:sym typeface="Noto Sans SC"/>
              </a:rPr>
              <a:t>πᵣᵢ(F) 表示函数依赖集 F 在关系模式 Rᵢ 属性上的投影。</a:t>
            </a:r>
            <a:endParaRPr lang="en-US" sz="1600">
              <a:solidFill>
                <a:srgbClr val="1F2937"/>
              </a:solidFill>
              <a:latin typeface="Noto Sans SC"/>
              <a:ea typeface="Noto Sans SC"/>
              <a:sym typeface="Noto Sans SC"/>
            </a:endParaRPr>
          </a:p>
        </p:txBody>
      </p:sp>
      <p:sp>
        <p:nvSpPr>
          <p:cNvPr id="4" name="AutoShape 4"/>
          <p:cNvSpPr/>
          <p:nvPr/>
        </p:nvSpPr>
        <p:spPr>
          <a:xfrm>
            <a:off x="6642100" y="1206500"/>
            <a:ext cx="4711700" cy="4978400"/>
          </a:xfrm>
          <a:prstGeom prst="rect">
            <a:avLst/>
          </a:prstGeom>
          <a:solidFill>
            <a:srgbClr val="F9FAFB">
              <a:alpha val="100000"/>
            </a:srgbClr>
          </a:solidFill>
          <a:ln w="12700" cap="flat" cmpd="sng">
            <a:noFill/>
            <a:prstDash val="solid"/>
            <a:round/>
          </a:ln>
        </p:spPr>
        <p:txBody>
          <a:bodyPr vert="horz" wrap="square" lIns="190500" tIns="254000" rIns="190500" bIns="0" rtlCol="0" anchor="t" anchorCtr="0"/>
          <a:lstStyle/>
          <a:p>
            <a:pPr indent="0" algn="l">
              <a:lnSpc>
                <a:spcPct val="125000"/>
              </a:lnSpc>
              <a:spcAft>
                <a:spcPts val="1200"/>
              </a:spcAft>
              <a:defRPr/>
            </a:pPr>
            <a:r>
              <a:rPr lang="en-US" sz="2000" b="1" i="0" u="none" strike="noStrike">
                <a:solidFill>
                  <a:srgbClr val="7030A0"/>
                </a:solidFill>
                <a:latin typeface="Noto Sans SC"/>
                <a:ea typeface="Noto Sans SC"/>
                <a:cs typeface="Noto Sans SC"/>
                <a:sym typeface="Noto Sans SC"/>
              </a:rPr>
              <a:t>💡 直观理解</a:t>
            </a:r>
            <a:endParaRPr lang="en-US"/>
          </a:p>
          <a:p>
            <a:pPr indent="0" algn="l">
              <a:lnSpc>
                <a:spcPct val="125000"/>
              </a:lnSpc>
              <a:spcAft>
                <a:spcPts val="3000"/>
              </a:spcAft>
            </a:pPr>
            <a:r>
              <a:rPr lang="en-US" sz="1600" b="0" i="0" u="none" strike="noStrike">
                <a:solidFill>
                  <a:srgbClr val="374151"/>
                </a:solidFill>
                <a:latin typeface="Noto Sans SC"/>
                <a:ea typeface="Noto Sans SC"/>
                <a:cs typeface="Noto Sans SC"/>
                <a:sym typeface="Noto Sans SC"/>
              </a:rPr>
              <a:t>分解后，原关系模式中的数据依赖关系并没有丢失或破坏。所有原始的约束都可以在分解后的一个或多个小关系模式上找到对应的体现。</a:t>
            </a:r>
          </a:p>
          <a:p>
            <a:pPr indent="0" algn="l">
              <a:lnSpc>
                <a:spcPct val="125000"/>
              </a:lnSpc>
              <a:spcAft>
                <a:spcPts val="1200"/>
              </a:spcAft>
            </a:pPr>
            <a:r>
              <a:rPr lang="en-US" sz="2000" b="1" i="0" u="none" strike="noStrike">
                <a:solidFill>
                  <a:srgbClr val="D93025"/>
                </a:solidFill>
                <a:latin typeface="Noto Sans SC"/>
                <a:ea typeface="Noto Sans SC"/>
                <a:cs typeface="Noto Sans SC"/>
                <a:sym typeface="Noto Sans SC"/>
              </a:rPr>
              <a:t>🌟 为什么重要？</a:t>
            </a:r>
          </a:p>
          <a:p>
            <a:pPr marL="342900" indent="-342900" algn="l">
              <a:lnSpc>
                <a:spcPct val="125000"/>
              </a:lnSpc>
              <a:spcAft>
                <a:spcPts val="600"/>
              </a:spcAft>
              <a:buFont typeface="+mj-lt"/>
              <a:buAutoNum type="arabicPeriod"/>
            </a:pPr>
            <a:r>
              <a:rPr lang="en-US" sz="1600" b="1" i="0" u="none" strike="noStrike">
                <a:solidFill>
                  <a:srgbClr val="374151"/>
                </a:solidFill>
                <a:latin typeface="Noto Sans SC"/>
                <a:ea typeface="Noto Sans SC"/>
                <a:cs typeface="Noto Sans SC"/>
                <a:sym typeface="Noto Sans SC"/>
              </a:rPr>
              <a:t>保证完整性：</a:t>
            </a:r>
            <a:r>
              <a:rPr lang="en-US" sz="1600" b="0" i="0" u="none" strike="noStrike">
                <a:solidFill>
                  <a:srgbClr val="374151"/>
                </a:solidFill>
                <a:latin typeface="Noto Sans SC"/>
                <a:ea typeface="Noto Sans SC"/>
                <a:cs typeface="Noto Sans SC"/>
                <a:sym typeface="Noto Sans SC"/>
              </a:rPr>
              <a:t>确保数据更新操作时，分解后的数据库依然能高效验证并满足所有的完整性约束。</a:t>
            </a:r>
          </a:p>
          <a:p>
            <a:pPr marL="342900" indent="-342900" algn="l">
              <a:lnSpc>
                <a:spcPct val="125000"/>
              </a:lnSpc>
              <a:buFont typeface="+mj-lt"/>
              <a:buAutoNum type="arabicPeriod"/>
            </a:pPr>
            <a:r>
              <a:rPr lang="en-US" sz="1600" b="1" i="0" u="none" strike="noStrike">
                <a:solidFill>
                  <a:srgbClr val="374151"/>
                </a:solidFill>
                <a:latin typeface="Noto Sans SC"/>
                <a:ea typeface="Noto Sans SC"/>
                <a:cs typeface="Noto Sans SC"/>
                <a:sym typeface="Noto Sans SC"/>
              </a:rPr>
              <a:t>简化维护：</a:t>
            </a:r>
            <a:r>
              <a:rPr lang="en-US" sz="1600" b="0" i="0" u="none" strike="noStrike">
                <a:solidFill>
                  <a:srgbClr val="374151"/>
                </a:solidFill>
                <a:latin typeface="Noto Sans SC"/>
                <a:ea typeface="Noto Sans SC"/>
                <a:cs typeface="Noto Sans SC"/>
                <a:sym typeface="Noto Sans SC"/>
              </a:rPr>
              <a:t>避免为了验证一个依赖关系，而不得不跨越多张表进行昂贵的连接查询，从而降低数据库维护和管理的复杂度。</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838200" y="1884254"/>
            <a:ext cx="4711700" cy="457200"/>
          </a:xfrm>
          <a:prstGeom prst="rect">
            <a:avLst/>
          </a:prstGeom>
          <a:solidFill>
            <a:srgbClr val="FFC000">
              <a:alpha val="100000"/>
            </a:srgbClr>
          </a:solidFill>
          <a:ln w="12700" cap="flat" cmpd="sng">
            <a:solidFill>
              <a:srgbClr val="FFFFFF">
                <a:alpha val="100000"/>
              </a:srgbClr>
            </a:solidFill>
            <a:prstDash val="solid"/>
            <a:miter lim="10000000"/>
          </a:ln>
        </p:spPr>
        <p:txBody>
          <a:bodyPr vert="horz" wrap="square" lIns="88900" tIns="50800" rIns="88900" bIns="50800" rtlCol="0" anchor="ctr" anchorCtr="0"/>
          <a:lstStyle/>
          <a:p>
            <a:pPr indent="0" algn="ctr">
              <a:lnSpc>
                <a:spcPct val="100000"/>
              </a:lnSpc>
              <a:defRPr/>
            </a:pPr>
            <a:r>
              <a:rPr lang="en-US" sz="2000" b="1" i="0" u="none" strike="noStrike">
                <a:solidFill>
                  <a:srgbClr val="333333"/>
                </a:solidFill>
                <a:latin typeface="Noto Sans SC"/>
                <a:ea typeface="Noto Sans SC"/>
                <a:cs typeface="Noto Sans SC"/>
                <a:sym typeface="Noto Sans SC"/>
              </a:rPr>
              <a:t>不保持依赖的分解</a:t>
            </a:r>
            <a:endParaRPr lang="en-US" sz="1200"/>
          </a:p>
        </p:txBody>
      </p:sp>
      <p:sp>
        <p:nvSpPr>
          <p:cNvPr id="4" name="AutoShape 4"/>
          <p:cNvSpPr/>
          <p:nvPr/>
        </p:nvSpPr>
        <p:spPr>
          <a:xfrm>
            <a:off x="838200" y="2433747"/>
            <a:ext cx="4711700" cy="3365015"/>
          </a:xfrm>
          <a:prstGeom prst="rect">
            <a:avLst/>
          </a:prstGeom>
          <a:noFill/>
          <a:ln w="12700" cap="flat" cmpd="sng">
            <a:noFill/>
            <a:prstDash val="solid"/>
            <a:round/>
          </a:ln>
        </p:spPr>
        <p:txBody>
          <a:bodyPr vert="horz" wrap="square" lIns="88900" tIns="101600" rIns="88900" bIns="101600" rtlCol="0" anchor="t" anchorCtr="0"/>
          <a:lstStyle/>
          <a:p>
            <a:pPr indent="0" algn="l">
              <a:lnSpc>
                <a:spcPct val="108333"/>
              </a:lnSpc>
              <a:spcBef>
                <a:spcPts val="500"/>
              </a:spcBef>
              <a:defRPr/>
            </a:pP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设关系模式</a:t>
            </a:r>
            <a:r>
              <a:rPr lang="en-US" sz="1600" b="1" i="0" u="none" strike="noStrike">
                <a:solidFill>
                  <a:srgbClr val="005580"/>
                </a:solidFill>
                <a:latin typeface="Noto Sans SC" panose="020B0200000000000000" pitchFamily="34" charset="-122"/>
                <a:ea typeface="Noto Sans SC" panose="020B0200000000000000" pitchFamily="34" charset="-122"/>
                <a:cs typeface="Consolas"/>
                <a:sym typeface="Consolas"/>
              </a:rPr>
              <a:t>R(T#, Title, Salary)</a:t>
            </a: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，其函数依赖集为：F = { </a:t>
            </a:r>
            <a:r>
              <a:rPr lang="en-US" sz="1600" b="0" i="0" u="none" strike="noStrike">
                <a:solidFill>
                  <a:srgbClr val="B91C1C"/>
                </a:solidFill>
                <a:latin typeface="Noto Sans SC" panose="020B0200000000000000" pitchFamily="34" charset="-122"/>
                <a:ea typeface="Noto Sans SC" panose="020B0200000000000000" pitchFamily="34" charset="-122"/>
                <a:cs typeface="Consolas"/>
                <a:sym typeface="Consolas"/>
              </a:rPr>
              <a:t>T#→Title</a:t>
            </a: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 </a:t>
            </a:r>
            <a:r>
              <a:rPr lang="en-US" sz="1600" b="0" i="0" u="none" strike="noStrike">
                <a:solidFill>
                  <a:srgbClr val="B91C1C"/>
                </a:solidFill>
                <a:latin typeface="Noto Sans SC" panose="020B0200000000000000" pitchFamily="34" charset="-122"/>
                <a:ea typeface="Noto Sans SC" panose="020B0200000000000000" pitchFamily="34" charset="-122"/>
                <a:cs typeface="Consolas"/>
                <a:sym typeface="Consolas"/>
              </a:rPr>
              <a:t>Title→Salary</a:t>
            </a: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a:t>
            </a:r>
          </a:p>
          <a:p>
            <a:pPr indent="0" algn="l">
              <a:lnSpc>
                <a:spcPct val="108333"/>
              </a:lnSpc>
              <a:spcBef>
                <a:spcPts val="1000"/>
              </a:spcBef>
            </a:pP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将 R 分解为两个子模式：</a:t>
            </a:r>
          </a:p>
          <a:p>
            <a:pPr indent="0" algn="l">
              <a:lnSpc>
                <a:spcPct val="108333"/>
              </a:lnSpc>
              <a:spcAft>
                <a:spcPts val="1200"/>
              </a:spcAft>
            </a:pP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ρ = { R₁(T#, Title), R₂(T#, Salary) }</a:t>
            </a:r>
          </a:p>
          <a:p>
            <a:pPr marL="285750" indent="-285750" algn="l">
              <a:lnSpc>
                <a:spcPct val="116666"/>
              </a:lnSpc>
              <a:buFont typeface="Arial" panose="020B0604020202020204" pitchFamily="34" charset="0"/>
              <a:buChar char="•"/>
            </a:pPr>
            <a:r>
              <a:rPr lang="en-US" sz="1600" b="0" i="0" u="none" strike="noStrike">
                <a:solidFill>
                  <a:srgbClr val="505050"/>
                </a:solidFill>
                <a:latin typeface="Noto Sans SC" panose="020B0200000000000000" pitchFamily="34" charset="-122"/>
                <a:ea typeface="Noto Sans SC" panose="020B0200000000000000" pitchFamily="34" charset="-122"/>
                <a:cs typeface="Noto Sans SC"/>
                <a:sym typeface="Noto Sans SC"/>
              </a:rPr>
              <a:t>投影到 R₁ 上的依赖：π(R₁) = { T# → Title }</a:t>
            </a:r>
          </a:p>
          <a:p>
            <a:pPr marL="285750" indent="-285750" algn="l">
              <a:lnSpc>
                <a:spcPct val="116666"/>
              </a:lnSpc>
              <a:buFont typeface="Arial" panose="020B0604020202020204" pitchFamily="34" charset="0"/>
              <a:buChar char="•"/>
            </a:pPr>
            <a:r>
              <a:rPr lang="en-US" sz="1600" b="0" i="0" u="none" strike="noStrike">
                <a:solidFill>
                  <a:srgbClr val="505050"/>
                </a:solidFill>
                <a:latin typeface="Noto Sans SC" panose="020B0200000000000000" pitchFamily="34" charset="-122"/>
                <a:ea typeface="Noto Sans SC" panose="020B0200000000000000" pitchFamily="34" charset="-122"/>
                <a:cs typeface="Noto Sans SC"/>
                <a:sym typeface="Noto Sans SC"/>
              </a:rPr>
              <a:t>投影到 R₂ 上的依赖：π(R₂) = { } (无有效非平凡依赖)</a:t>
            </a:r>
          </a:p>
          <a:p>
            <a:pPr marL="285750" indent="-285750" algn="l">
              <a:lnSpc>
                <a:spcPct val="116666"/>
              </a:lnSpc>
              <a:buFont typeface="Arial" panose="020B0604020202020204" pitchFamily="34" charset="0"/>
              <a:buChar char="•"/>
            </a:pPr>
            <a:r>
              <a:rPr lang="en-US" sz="1600" b="0" i="0" u="none" strike="noStrike">
                <a:solidFill>
                  <a:srgbClr val="505050"/>
                </a:solidFill>
                <a:latin typeface="Noto Sans SC" panose="020B0200000000000000" pitchFamily="34" charset="-122"/>
                <a:ea typeface="Noto Sans SC" panose="020B0200000000000000" pitchFamily="34" charset="-122"/>
                <a:cs typeface="Noto Sans SC"/>
                <a:sym typeface="Noto Sans SC"/>
              </a:rPr>
              <a:t>合并依赖集：∪π(Ri) = { T# → TTitle }</a:t>
            </a:r>
          </a:p>
          <a:p>
            <a:pPr>
              <a:lnSpc>
                <a:spcPct val="108333"/>
              </a:lnSpc>
              <a:spcBef>
                <a:spcPts val="1000"/>
              </a:spcBef>
            </a:pPr>
            <a:r>
              <a:rPr lang="en-US" sz="1600" b="1" i="0" u="none" strike="noStrike">
                <a:solidFill>
                  <a:srgbClr val="D97706"/>
                </a:solidFill>
                <a:latin typeface="Noto Sans SC" panose="020B0200000000000000" pitchFamily="34" charset="-122"/>
                <a:ea typeface="Noto Sans SC" panose="020B0200000000000000" pitchFamily="34" charset="-122"/>
                <a:cs typeface="Noto Sans SC"/>
                <a:sym typeface="Noto Sans SC"/>
              </a:rPr>
              <a:t>问题：</a:t>
            </a:r>
            <a:r>
              <a:rPr lang="zh-CN" altLang="en-US" sz="1600" b="1">
                <a:solidFill>
                  <a:srgbClr val="D97706"/>
                </a:solidFill>
                <a:latin typeface="Noto Sans SC" panose="020B0200000000000000" pitchFamily="34" charset="-122"/>
                <a:ea typeface="Noto Sans SC" panose="020B0200000000000000" pitchFamily="34" charset="-122"/>
                <a:cs typeface="Noto Sans SC"/>
                <a:sym typeface="Noto Sans SC"/>
              </a:rPr>
              <a:t>投影后的各</a:t>
            </a:r>
            <a:r>
              <a:rPr lang="en-US" altLang="zh-CN" sz="1600" b="1">
                <a:solidFill>
                  <a:srgbClr val="D97706"/>
                </a:solidFill>
                <a:latin typeface="Noto Sans SC" panose="020B0200000000000000" pitchFamily="34" charset="-122"/>
                <a:ea typeface="Noto Sans SC" panose="020B0200000000000000" pitchFamily="34" charset="-122"/>
                <a:cs typeface="Noto Sans SC"/>
                <a:sym typeface="Noto Sans SC"/>
              </a:rPr>
              <a:t>FD</a:t>
            </a:r>
            <a:r>
              <a:rPr lang="en-US" sz="1600" b="1" i="0" u="none" strike="noStrike">
                <a:solidFill>
                  <a:srgbClr val="D97706"/>
                </a:solidFill>
                <a:latin typeface="Noto Sans SC" panose="020B0200000000000000" pitchFamily="34" charset="-122"/>
                <a:ea typeface="Noto Sans SC" panose="020B0200000000000000" pitchFamily="34" charset="-122"/>
                <a:cs typeface="Noto Sans SC"/>
                <a:sym typeface="Noto Sans SC"/>
              </a:rPr>
              <a:t>合并</a:t>
            </a:r>
            <a:r>
              <a:rPr lang="zh-CN" altLang="en-US" sz="1600" b="1" i="0" u="none" strike="noStrike">
                <a:solidFill>
                  <a:srgbClr val="D97706"/>
                </a:solidFill>
                <a:latin typeface="Noto Sans SC" panose="020B0200000000000000" pitchFamily="34" charset="-122"/>
                <a:ea typeface="Noto Sans SC" panose="020B0200000000000000" pitchFamily="34" charset="-122"/>
                <a:cs typeface="Noto Sans SC"/>
                <a:sym typeface="Noto Sans SC"/>
              </a:rPr>
              <a:t>得到 </a:t>
            </a:r>
            <a:r>
              <a:rPr lang="en-US" altLang="zh-CN" sz="1600">
                <a:solidFill>
                  <a:srgbClr val="505050"/>
                </a:solidFill>
                <a:latin typeface="Noto Sans SC" panose="020B0200000000000000" pitchFamily="34" charset="-122"/>
                <a:ea typeface="Noto Sans SC" panose="020B0200000000000000" pitchFamily="34" charset="-122"/>
                <a:cs typeface="Noto Sans SC"/>
                <a:sym typeface="Noto Sans SC"/>
              </a:rPr>
              <a:t>{ T# → TTitle }</a:t>
            </a:r>
            <a:r>
              <a:rPr lang="zh-CN" altLang="en-US" sz="1600" b="1" i="0" u="none" strike="noStrike">
                <a:solidFill>
                  <a:srgbClr val="D97706"/>
                </a:solidFill>
                <a:latin typeface="Noto Sans SC" panose="020B0200000000000000" pitchFamily="34" charset="-122"/>
                <a:ea typeface="Noto Sans SC" panose="020B0200000000000000" pitchFamily="34" charset="-122"/>
                <a:cs typeface="Noto Sans SC"/>
                <a:sym typeface="Noto Sans SC"/>
              </a:rPr>
              <a:t> ，</a:t>
            </a:r>
            <a:r>
              <a:rPr lang="en-US" sz="1600" b="1" i="0" u="none" strike="noStrike">
                <a:solidFill>
                  <a:srgbClr val="D97706"/>
                </a:solidFill>
                <a:latin typeface="Noto Sans SC" panose="020B0200000000000000" pitchFamily="34" charset="-122"/>
                <a:ea typeface="Noto Sans SC" panose="020B0200000000000000" pitchFamily="34" charset="-122"/>
                <a:cs typeface="Noto Sans SC"/>
                <a:sym typeface="Noto Sans SC"/>
              </a:rPr>
              <a:t>无法逻辑蕴含 Title→Salary。</a:t>
            </a:r>
          </a:p>
        </p:txBody>
      </p:sp>
      <p:sp>
        <p:nvSpPr>
          <p:cNvPr id="5" name="AutoShape 5"/>
          <p:cNvSpPr/>
          <p:nvPr/>
        </p:nvSpPr>
        <p:spPr>
          <a:xfrm>
            <a:off x="6451600" y="1884254"/>
            <a:ext cx="4711700" cy="457200"/>
          </a:xfrm>
          <a:prstGeom prst="rect">
            <a:avLst/>
          </a:prstGeom>
          <a:solidFill>
            <a:srgbClr val="FFC000">
              <a:alpha val="100000"/>
            </a:srgbClr>
          </a:solidFill>
          <a:ln w="12700" cap="flat" cmpd="sng">
            <a:solidFill>
              <a:srgbClr val="FFFFFF">
                <a:alpha val="100000"/>
              </a:srgbClr>
            </a:solidFill>
            <a:prstDash val="solid"/>
            <a:miter lim="10000000"/>
          </a:ln>
        </p:spPr>
        <p:txBody>
          <a:bodyPr vert="horz" wrap="square" lIns="88900" tIns="50800" rIns="88900" bIns="50800" rtlCol="0" anchor="ctr" anchorCtr="0"/>
          <a:lstStyle/>
          <a:p>
            <a:pPr indent="0" algn="ctr">
              <a:lnSpc>
                <a:spcPct val="100000"/>
              </a:lnSpc>
              <a:defRPr/>
            </a:pPr>
            <a:r>
              <a:rPr lang="en-US" sz="2000" b="1" i="0" u="none" strike="noStrike">
                <a:solidFill>
                  <a:srgbClr val="333333"/>
                </a:solidFill>
                <a:latin typeface="Noto Sans SC"/>
                <a:ea typeface="Noto Sans SC"/>
                <a:cs typeface="Noto Sans SC"/>
                <a:sym typeface="Noto Sans SC"/>
              </a:rPr>
              <a:t>数据异常后果演示</a:t>
            </a:r>
            <a:endParaRPr lang="en-US" sz="1200"/>
          </a:p>
        </p:txBody>
      </p:sp>
      <p:sp>
        <p:nvSpPr>
          <p:cNvPr id="6" name="AutoShape 6"/>
          <p:cNvSpPr/>
          <p:nvPr/>
        </p:nvSpPr>
        <p:spPr>
          <a:xfrm>
            <a:off x="6451600" y="2396336"/>
            <a:ext cx="4711700" cy="1229088"/>
          </a:xfrm>
          <a:prstGeom prst="rect">
            <a:avLst/>
          </a:prstGeom>
          <a:noFill/>
          <a:ln w="12700" cap="flat" cmpd="sng">
            <a:noFill/>
            <a:prstDash val="solid"/>
            <a:round/>
          </a:ln>
        </p:spPr>
        <p:txBody>
          <a:bodyPr vert="horz" wrap="square" lIns="88900" tIns="101600" rIns="88900" bIns="101600" rtlCol="0" anchor="t" anchorCtr="0"/>
          <a:lstStyle/>
          <a:p>
            <a:pPr indent="0" algn="l">
              <a:lnSpc>
                <a:spcPct val="108333"/>
              </a:lnSpc>
              <a:defRPr/>
            </a:pP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由于依赖</a:t>
            </a:r>
            <a:r>
              <a:rPr lang="en-US" sz="1600" b="0" i="0" u="none" strike="noStrike">
                <a:solidFill>
                  <a:srgbClr val="B91C1C"/>
                </a:solidFill>
                <a:latin typeface="Noto Sans SC" panose="020B0200000000000000" pitchFamily="34" charset="-122"/>
                <a:ea typeface="Noto Sans SC" panose="020B0200000000000000" pitchFamily="34" charset="-122"/>
                <a:cs typeface="Consolas"/>
                <a:sym typeface="Consolas"/>
              </a:rPr>
              <a:t>Ttile→Salary</a:t>
            </a: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丢失，数据库无法维护“相同职称必须对应相同工资”的语义约束。这将导致</a:t>
            </a:r>
            <a:r>
              <a:rPr lang="en-US" sz="1600" b="0" i="0" u="none" strike="noStrike">
                <a:solidFill>
                  <a:srgbClr val="505050"/>
                </a:solidFill>
                <a:latin typeface="Noto Sans SC" panose="020B0200000000000000" pitchFamily="34" charset="-122"/>
                <a:ea typeface="Noto Sans SC" panose="020B0200000000000000" pitchFamily="34" charset="-122"/>
                <a:cs typeface="Noto Sans SC"/>
                <a:sym typeface="Noto Sans SC"/>
              </a:rPr>
              <a:t>在分解后的表中插入如下数据，数据库系统无法检测错误：</a:t>
            </a:r>
          </a:p>
        </p:txBody>
      </p:sp>
      <p:sp>
        <p:nvSpPr>
          <p:cNvPr id="7" name="AutoShape 7"/>
          <p:cNvSpPr/>
          <p:nvPr/>
        </p:nvSpPr>
        <p:spPr>
          <a:xfrm>
            <a:off x="838201" y="5924444"/>
            <a:ext cx="10325099" cy="635000"/>
          </a:xfrm>
          <a:prstGeom prst="roundRect">
            <a:avLst>
              <a:gd name="adj" fmla="val 16000"/>
            </a:avLst>
          </a:prstGeom>
          <a:solidFill>
            <a:srgbClr val="F0F9FF">
              <a:alpha val="100000"/>
            </a:srgbClr>
          </a:solidFill>
          <a:ln w="12700" cap="flat" cmpd="sng">
            <a:solidFill>
              <a:srgbClr val="BAE6FD">
                <a:alpha val="100000"/>
              </a:srgbClr>
            </a:solidFill>
            <a:prstDash val="solid"/>
            <a:round/>
          </a:ln>
        </p:spPr>
        <p:txBody>
          <a:bodyPr vert="horz" wrap="square" lIns="127000" tIns="50800" rIns="127000" bIns="50800" rtlCol="0" anchor="ctr" anchorCtr="0"/>
          <a:lstStyle/>
          <a:p>
            <a:pPr indent="0" algn="ctr">
              <a:lnSpc>
                <a:spcPct val="100000"/>
              </a:lnSpc>
              <a:defRPr/>
            </a:pPr>
            <a:r>
              <a:rPr lang="en-US" sz="2000" b="1" i="0" u="none" strike="noStrike">
                <a:solidFill>
                  <a:srgbClr val="1E3A8A"/>
                </a:solidFill>
                <a:latin typeface="Noto Sans SC"/>
                <a:ea typeface="Noto Sans SC"/>
                <a:cs typeface="Noto Sans SC"/>
                <a:sym typeface="Noto Sans SC"/>
              </a:rPr>
              <a:t>💡 结论：保持函数依赖是模式分解的重要准则之一，以确保数据的语义完整性不丢失。</a:t>
            </a:r>
            <a:endParaRPr lang="en-US" sz="1600"/>
          </a:p>
        </p:txBody>
      </p:sp>
      <p:sp>
        <p:nvSpPr>
          <p:cNvPr id="10" name="AutoShape 2">
            <a:extLst>
              <a:ext uri="{FF2B5EF4-FFF2-40B4-BE49-F238E27FC236}">
                <a16:creationId xmlns:a16="http://schemas.microsoft.com/office/drawing/2014/main" id="{0DAD2C1C-0AE9-A947-377D-594F7CFFDF31}"/>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altLang="zh-CN" sz="2400" b="1">
                <a:solidFill>
                  <a:srgbClr val="FFFFFF"/>
                </a:solidFill>
                <a:latin typeface="Noto Sans SC"/>
                <a:ea typeface="Noto Sans SC"/>
                <a:sym typeface="Noto Sans SC"/>
              </a:rPr>
              <a:t>7.3.5 保持函数依赖的分解 (2)</a:t>
            </a:r>
            <a:endParaRPr lang="en-US" sz="2400" b="1">
              <a:solidFill>
                <a:srgbClr val="FFFFFF"/>
              </a:solidFill>
              <a:latin typeface="Noto Sans SC"/>
              <a:ea typeface="Noto Sans SC"/>
            </a:endParaRPr>
          </a:p>
        </p:txBody>
      </p:sp>
      <p:graphicFrame>
        <p:nvGraphicFramePr>
          <p:cNvPr id="12" name="表格 11">
            <a:extLst>
              <a:ext uri="{FF2B5EF4-FFF2-40B4-BE49-F238E27FC236}">
                <a16:creationId xmlns:a16="http://schemas.microsoft.com/office/drawing/2014/main" id="{DFE525ED-525C-B5E1-0AEB-2EF2CC4A700B}"/>
              </a:ext>
            </a:extLst>
          </p:cNvPr>
          <p:cNvGraphicFramePr>
            <a:graphicFrameLocks noGrp="1"/>
          </p:cNvGraphicFramePr>
          <p:nvPr>
            <p:extLst>
              <p:ext uri="{D42A27DB-BD31-4B8C-83A1-F6EECF244321}">
                <p14:modId xmlns:p14="http://schemas.microsoft.com/office/powerpoint/2010/main" val="2208336584"/>
              </p:ext>
            </p:extLst>
          </p:nvPr>
        </p:nvGraphicFramePr>
        <p:xfrm>
          <a:off x="7197231" y="3788243"/>
          <a:ext cx="1351404" cy="908409"/>
        </p:xfrm>
        <a:graphic>
          <a:graphicData uri="http://schemas.openxmlformats.org/drawingml/2006/table">
            <a:tbl>
              <a:tblPr firstRow="1" firstCol="1" bandRow="1">
                <a:tableStyleId>{5940675A-B579-460E-94D1-54222C63F5DA}</a:tableStyleId>
              </a:tblPr>
              <a:tblGrid>
                <a:gridCol w="552245">
                  <a:extLst>
                    <a:ext uri="{9D8B030D-6E8A-4147-A177-3AD203B41FA5}">
                      <a16:colId xmlns:a16="http://schemas.microsoft.com/office/drawing/2014/main" val="2219349010"/>
                    </a:ext>
                  </a:extLst>
                </a:gridCol>
                <a:gridCol w="799159">
                  <a:extLst>
                    <a:ext uri="{9D8B030D-6E8A-4147-A177-3AD203B41FA5}">
                      <a16:colId xmlns:a16="http://schemas.microsoft.com/office/drawing/2014/main" val="621321886"/>
                    </a:ext>
                  </a:extLst>
                </a:gridCol>
              </a:tblGrid>
              <a:tr h="302803">
                <a:tc>
                  <a:txBody>
                    <a:bodyPr/>
                    <a:lstStyle/>
                    <a:p>
                      <a:pPr algn="ctr">
                        <a:buNone/>
                      </a:pPr>
                      <a:r>
                        <a:rPr lang="en-US" sz="1600" kern="100">
                          <a:effectLst/>
                          <a:latin typeface="Noto Sans SC" panose="020B0200000000000000" pitchFamily="34" charset="-122"/>
                          <a:ea typeface="Noto Sans SC" panose="020B0200000000000000" pitchFamily="34" charset="-122"/>
                        </a:rPr>
                        <a:t>T#</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solidFill>
                      <a:srgbClr val="A3DBFF"/>
                    </a:solidFill>
                  </a:tcPr>
                </a:tc>
                <a:tc>
                  <a:txBody>
                    <a:bodyPr/>
                    <a:lstStyle/>
                    <a:p>
                      <a:pPr algn="ctr">
                        <a:buNone/>
                      </a:pPr>
                      <a:r>
                        <a:rPr lang="en-US" sz="1600" kern="100">
                          <a:effectLst/>
                          <a:latin typeface="Noto Sans SC" panose="020B0200000000000000" pitchFamily="34" charset="-122"/>
                          <a:ea typeface="Noto Sans SC" panose="020B0200000000000000" pitchFamily="34" charset="-122"/>
                        </a:rPr>
                        <a:t>Ttile</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solidFill>
                      <a:srgbClr val="A3DBFF"/>
                    </a:solidFill>
                  </a:tcPr>
                </a:tc>
                <a:extLst>
                  <a:ext uri="{0D108BD9-81ED-4DB2-BD59-A6C34878D82A}">
                    <a16:rowId xmlns:a16="http://schemas.microsoft.com/office/drawing/2014/main" val="424534035"/>
                  </a:ext>
                </a:extLst>
              </a:tr>
              <a:tr h="302803">
                <a:tc>
                  <a:txBody>
                    <a:bodyPr/>
                    <a:lstStyle/>
                    <a:p>
                      <a:pPr algn="ctr">
                        <a:buNone/>
                      </a:pPr>
                      <a:r>
                        <a:rPr lang="en-US" sz="1600" kern="100">
                          <a:effectLst/>
                          <a:latin typeface="Noto Sans SC" panose="020B0200000000000000" pitchFamily="34" charset="-122"/>
                          <a:ea typeface="Noto Sans SC" panose="020B0200000000000000" pitchFamily="34" charset="-122"/>
                        </a:rPr>
                        <a:t>T1</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zh-CN" sz="1600" kern="100">
                          <a:effectLst/>
                          <a:latin typeface="Noto Sans SC" panose="020B0200000000000000" pitchFamily="34" charset="-122"/>
                          <a:ea typeface="Noto Sans SC" panose="020B0200000000000000" pitchFamily="34" charset="-122"/>
                        </a:rPr>
                        <a:t>教授</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66539084"/>
                  </a:ext>
                </a:extLst>
              </a:tr>
              <a:tr h="302803">
                <a:tc>
                  <a:txBody>
                    <a:bodyPr/>
                    <a:lstStyle/>
                    <a:p>
                      <a:pPr algn="ctr">
                        <a:buNone/>
                      </a:pPr>
                      <a:r>
                        <a:rPr lang="en-US" sz="1600" kern="100">
                          <a:effectLst/>
                          <a:latin typeface="Noto Sans SC" panose="020B0200000000000000" pitchFamily="34" charset="-122"/>
                          <a:ea typeface="Noto Sans SC" panose="020B0200000000000000" pitchFamily="34" charset="-122"/>
                        </a:rPr>
                        <a:t>T2</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zh-CN" sz="1600" kern="100">
                          <a:effectLst/>
                          <a:latin typeface="Noto Sans SC" panose="020B0200000000000000" pitchFamily="34" charset="-122"/>
                          <a:ea typeface="Noto Sans SC" panose="020B0200000000000000" pitchFamily="34" charset="-122"/>
                        </a:rPr>
                        <a:t>教授</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93480200"/>
                  </a:ext>
                </a:extLst>
              </a:tr>
            </a:tbl>
          </a:graphicData>
        </a:graphic>
      </p:graphicFrame>
      <p:graphicFrame>
        <p:nvGraphicFramePr>
          <p:cNvPr id="13" name="表格 12">
            <a:extLst>
              <a:ext uri="{FF2B5EF4-FFF2-40B4-BE49-F238E27FC236}">
                <a16:creationId xmlns:a16="http://schemas.microsoft.com/office/drawing/2014/main" id="{05D1756E-3B67-7C35-B6D3-4CD962665298}"/>
              </a:ext>
            </a:extLst>
          </p:cNvPr>
          <p:cNvGraphicFramePr>
            <a:graphicFrameLocks noGrp="1"/>
          </p:cNvGraphicFramePr>
          <p:nvPr>
            <p:extLst>
              <p:ext uri="{D42A27DB-BD31-4B8C-83A1-F6EECF244321}">
                <p14:modId xmlns:p14="http://schemas.microsoft.com/office/powerpoint/2010/main" val="483269634"/>
              </p:ext>
            </p:extLst>
          </p:nvPr>
        </p:nvGraphicFramePr>
        <p:xfrm>
          <a:off x="9016854" y="3788243"/>
          <a:ext cx="1590200" cy="908409"/>
        </p:xfrm>
        <a:graphic>
          <a:graphicData uri="http://schemas.openxmlformats.org/drawingml/2006/table">
            <a:tbl>
              <a:tblPr firstRow="1" firstCol="1" bandRow="1">
                <a:tableStyleId>{5940675A-B579-460E-94D1-54222C63F5DA}</a:tableStyleId>
              </a:tblPr>
              <a:tblGrid>
                <a:gridCol w="595276">
                  <a:extLst>
                    <a:ext uri="{9D8B030D-6E8A-4147-A177-3AD203B41FA5}">
                      <a16:colId xmlns:a16="http://schemas.microsoft.com/office/drawing/2014/main" val="3788043636"/>
                    </a:ext>
                  </a:extLst>
                </a:gridCol>
                <a:gridCol w="994924">
                  <a:extLst>
                    <a:ext uri="{9D8B030D-6E8A-4147-A177-3AD203B41FA5}">
                      <a16:colId xmlns:a16="http://schemas.microsoft.com/office/drawing/2014/main" val="120720977"/>
                    </a:ext>
                  </a:extLst>
                </a:gridCol>
              </a:tblGrid>
              <a:tr h="302803">
                <a:tc>
                  <a:txBody>
                    <a:bodyPr/>
                    <a:lstStyle/>
                    <a:p>
                      <a:pPr algn="ctr">
                        <a:buNone/>
                      </a:pPr>
                      <a:r>
                        <a:rPr lang="en-US" sz="1600" kern="100">
                          <a:effectLst/>
                          <a:latin typeface="Noto Sans SC" panose="020B0200000000000000" pitchFamily="34" charset="-122"/>
                          <a:ea typeface="Noto Sans SC" panose="020B0200000000000000" pitchFamily="34" charset="-122"/>
                        </a:rPr>
                        <a:t>T#</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solidFill>
                      <a:srgbClr val="A3DBFF"/>
                    </a:solidFill>
                  </a:tcPr>
                </a:tc>
                <a:tc>
                  <a:txBody>
                    <a:bodyPr/>
                    <a:lstStyle/>
                    <a:p>
                      <a:pPr algn="ctr">
                        <a:buNone/>
                      </a:pPr>
                      <a:r>
                        <a:rPr lang="en-US" sz="1600" kern="100">
                          <a:effectLst/>
                          <a:latin typeface="Noto Sans SC" panose="020B0200000000000000" pitchFamily="34" charset="-122"/>
                          <a:ea typeface="Noto Sans SC" panose="020B0200000000000000" pitchFamily="34" charset="-122"/>
                        </a:rPr>
                        <a:t>Salary</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solidFill>
                      <a:srgbClr val="A3DBFF"/>
                    </a:solidFill>
                  </a:tcPr>
                </a:tc>
                <a:extLst>
                  <a:ext uri="{0D108BD9-81ED-4DB2-BD59-A6C34878D82A}">
                    <a16:rowId xmlns:a16="http://schemas.microsoft.com/office/drawing/2014/main" val="841027374"/>
                  </a:ext>
                </a:extLst>
              </a:tr>
              <a:tr h="302803">
                <a:tc>
                  <a:txBody>
                    <a:bodyPr/>
                    <a:lstStyle/>
                    <a:p>
                      <a:pPr algn="ctr">
                        <a:buNone/>
                      </a:pPr>
                      <a:r>
                        <a:rPr lang="en-US" sz="1600" kern="100">
                          <a:effectLst/>
                          <a:latin typeface="Noto Sans SC" panose="020B0200000000000000" pitchFamily="34" charset="-122"/>
                          <a:ea typeface="Noto Sans SC" panose="020B0200000000000000" pitchFamily="34" charset="-122"/>
                        </a:rPr>
                        <a:t>T1</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600" kern="100">
                          <a:effectLst/>
                          <a:latin typeface="Noto Sans SC" panose="020B0200000000000000" pitchFamily="34" charset="-122"/>
                          <a:ea typeface="Noto Sans SC" panose="020B0200000000000000" pitchFamily="34" charset="-122"/>
                        </a:rPr>
                        <a:t>3000</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10212770"/>
                  </a:ext>
                </a:extLst>
              </a:tr>
              <a:tr h="302803">
                <a:tc>
                  <a:txBody>
                    <a:bodyPr/>
                    <a:lstStyle/>
                    <a:p>
                      <a:pPr algn="ctr">
                        <a:buNone/>
                      </a:pPr>
                      <a:r>
                        <a:rPr lang="en-US" sz="1600" kern="100">
                          <a:effectLst/>
                          <a:latin typeface="Noto Sans SC" panose="020B0200000000000000" pitchFamily="34" charset="-122"/>
                          <a:ea typeface="Noto Sans SC" panose="020B0200000000000000" pitchFamily="34" charset="-122"/>
                        </a:rPr>
                        <a:t>T2</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600" kern="100">
                          <a:effectLst/>
                          <a:latin typeface="Noto Sans SC" panose="020B0200000000000000" pitchFamily="34" charset="-122"/>
                          <a:ea typeface="Noto Sans SC" panose="020B0200000000000000" pitchFamily="34" charset="-122"/>
                        </a:rPr>
                        <a:t>4000</a:t>
                      </a:r>
                      <a:endParaRPr lang="zh-CN" sz="16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363439509"/>
                  </a:ext>
                </a:extLst>
              </a:tr>
            </a:tbl>
          </a:graphicData>
        </a:graphic>
      </p:graphicFrame>
      <p:sp>
        <p:nvSpPr>
          <p:cNvPr id="15" name="文本框 14">
            <a:extLst>
              <a:ext uri="{FF2B5EF4-FFF2-40B4-BE49-F238E27FC236}">
                <a16:creationId xmlns:a16="http://schemas.microsoft.com/office/drawing/2014/main" id="{FD09625E-6A46-A721-1DBE-64C4BCD97854}"/>
              </a:ext>
            </a:extLst>
          </p:cNvPr>
          <p:cNvSpPr txBox="1"/>
          <p:nvPr/>
        </p:nvSpPr>
        <p:spPr>
          <a:xfrm>
            <a:off x="6707926" y="4990841"/>
            <a:ext cx="4306755" cy="671018"/>
          </a:xfrm>
          <a:prstGeom prst="rect">
            <a:avLst/>
          </a:prstGeom>
          <a:noFill/>
        </p:spPr>
        <p:txBody>
          <a:bodyPr wrap="square">
            <a:spAutoFit/>
          </a:bodyPr>
          <a:lstStyle/>
          <a:p>
            <a:pPr indent="0" algn="l">
              <a:lnSpc>
                <a:spcPct val="108333"/>
              </a:lnSpc>
              <a:defRPr/>
            </a:pPr>
            <a:r>
              <a:rPr lang="zh-CN" altLang="en-US" sz="1800" b="0" i="0" u="none" strike="noStrike">
                <a:solidFill>
                  <a:srgbClr val="FF0000"/>
                </a:solidFill>
                <a:latin typeface="Noto Sans SC" panose="020B0200000000000000" pitchFamily="34" charset="-122"/>
                <a:ea typeface="Noto Sans SC" panose="020B0200000000000000" pitchFamily="34" charset="-122"/>
                <a:cs typeface="Noto Sans SC"/>
                <a:sym typeface="Noto Sans SC"/>
              </a:rPr>
              <a:t>★</a:t>
            </a:r>
            <a:r>
              <a:rPr lang="en-US" altLang="zh-CN" sz="1800" b="0" i="0" u="none" strike="noStrike">
                <a:solidFill>
                  <a:srgbClr val="FF0000"/>
                </a:solidFill>
                <a:latin typeface="Noto Sans SC" panose="020B0200000000000000" pitchFamily="34" charset="-122"/>
                <a:ea typeface="Noto Sans SC" panose="020B0200000000000000" pitchFamily="34" charset="-122"/>
                <a:cs typeface="Noto Sans SC"/>
                <a:sym typeface="Noto Sans SC"/>
              </a:rPr>
              <a:t>问题：同一“教授”职称出现了两种不同的工资标准，破坏了数据一致性</a:t>
            </a:r>
            <a:r>
              <a:rPr lang="zh-CN" altLang="en-US" sz="1800" b="0" i="0" u="none" strike="noStrike">
                <a:solidFill>
                  <a:srgbClr val="FF0000"/>
                </a:solidFill>
                <a:latin typeface="Noto Sans SC" panose="020B0200000000000000" pitchFamily="34" charset="-122"/>
                <a:ea typeface="Noto Sans SC" panose="020B0200000000000000" pitchFamily="34" charset="-122"/>
                <a:cs typeface="Noto Sans SC"/>
                <a:sym typeface="Noto Sans SC"/>
              </a:rPr>
              <a:t>！</a:t>
            </a:r>
            <a:endParaRPr lang="en-US" altLang="zh-CN" sz="1800" b="0" i="0" u="none" strike="noStrike">
              <a:solidFill>
                <a:srgbClr val="FF0000"/>
              </a:solidFill>
              <a:latin typeface="Noto Sans SC" panose="020B0200000000000000" pitchFamily="34" charset="-122"/>
              <a:ea typeface="Noto Sans SC" panose="020B0200000000000000" pitchFamily="34" charset="-122"/>
              <a:cs typeface="Noto Sans SC"/>
              <a:sym typeface="Noto Sans SC"/>
            </a:endParaRPr>
          </a:p>
        </p:txBody>
      </p:sp>
      <p:sp>
        <p:nvSpPr>
          <p:cNvPr id="2" name="AutoShape 4">
            <a:extLst>
              <a:ext uri="{FF2B5EF4-FFF2-40B4-BE49-F238E27FC236}">
                <a16:creationId xmlns:a16="http://schemas.microsoft.com/office/drawing/2014/main" id="{B98F58D4-6681-D5B1-0642-3C1B905DD730}"/>
              </a:ext>
            </a:extLst>
          </p:cNvPr>
          <p:cNvSpPr/>
          <p:nvPr/>
        </p:nvSpPr>
        <p:spPr>
          <a:xfrm>
            <a:off x="838199" y="1311761"/>
            <a:ext cx="5385391"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10</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：不保持函数依赖的分解带来的问题</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7.3.6 模式分解与模式等价问题</a:t>
            </a:r>
            <a:endParaRPr lang="en-US" sz="2400" b="1">
              <a:solidFill>
                <a:srgbClr val="FFFFFF"/>
              </a:solidFill>
              <a:latin typeface="Noto Sans SC"/>
              <a:ea typeface="Noto Sans SC"/>
            </a:endParaRPr>
          </a:p>
        </p:txBody>
      </p:sp>
      <p:sp>
        <p:nvSpPr>
          <p:cNvPr id="3" name="AutoShape 3"/>
          <p:cNvSpPr/>
          <p:nvPr/>
        </p:nvSpPr>
        <p:spPr>
          <a:xfrm>
            <a:off x="838200" y="1397000"/>
            <a:ext cx="5178692" cy="4953000"/>
          </a:xfrm>
          <a:prstGeom prst="rect">
            <a:avLst/>
          </a:prstGeom>
          <a:noFill/>
          <a:ln w="12700" cap="flat" cmpd="sng">
            <a:noFill/>
            <a:prstDash val="solid"/>
            <a:round/>
          </a:ln>
        </p:spPr>
        <p:txBody>
          <a:bodyPr vert="horz" wrap="square" lIns="127000" tIns="127000" rIns="127000" bIns="0" rtlCol="0" anchor="t" anchorCtr="0"/>
          <a:lstStyle/>
          <a:p>
            <a:pPr indent="0" algn="l">
              <a:lnSpc>
                <a:spcPct val="116666"/>
              </a:lnSpc>
              <a:defRPr/>
            </a:pPr>
            <a:r>
              <a:rPr lang="en-US" sz="1800" b="0" i="0" u="none" strike="noStrike">
                <a:solidFill>
                  <a:srgbClr val="1F2937"/>
                </a:solidFill>
                <a:latin typeface="Noto Sans SC"/>
                <a:ea typeface="Noto Sans SC"/>
                <a:cs typeface="Noto Sans SC"/>
                <a:sym typeface="Noto Sans SC"/>
              </a:rPr>
              <a:t>一个好的模式分解应当在逻辑上保证分解前后的关系模式是“等价”的，这种等价性主要体现在两个核心维度：</a:t>
            </a:r>
            <a:endParaRPr lang="en-US" sz="1800"/>
          </a:p>
          <a:p>
            <a:pPr marL="342900" indent="-342900" algn="l">
              <a:lnSpc>
                <a:spcPct val="108333"/>
              </a:lnSpc>
              <a:spcBef>
                <a:spcPts val="1500"/>
              </a:spcBef>
              <a:buAutoNum type="arabicPeriod"/>
            </a:pPr>
            <a:r>
              <a:rPr lang="en-US" sz="1800" b="1" i="0" u="none" strike="noStrike">
                <a:solidFill>
                  <a:srgbClr val="7030A0"/>
                </a:solidFill>
                <a:latin typeface="Noto Sans SC"/>
                <a:ea typeface="Noto Sans SC"/>
                <a:cs typeface="Noto Sans SC"/>
                <a:sym typeface="Noto Sans SC"/>
              </a:rPr>
              <a:t>数据等价 (Data Equivalence)</a:t>
            </a:r>
          </a:p>
          <a:p>
            <a:pPr indent="0" algn="l">
              <a:lnSpc>
                <a:spcPct val="125000"/>
              </a:lnSpc>
            </a:pPr>
            <a:r>
              <a:rPr lang="en-US" sz="1800" b="0" i="0" u="none" strike="noStrike">
                <a:solidFill>
                  <a:srgbClr val="4B5563"/>
                </a:solidFill>
                <a:latin typeface="Noto Sans SC"/>
                <a:ea typeface="Noto Sans SC"/>
                <a:cs typeface="Noto Sans SC"/>
                <a:sym typeface="Noto Sans SC"/>
              </a:rPr>
              <a:t>要求：通过</a:t>
            </a:r>
            <a:r>
              <a:rPr lang="en-US" sz="1800" b="1" i="0" u="none" strike="noStrike">
                <a:solidFill>
                  <a:srgbClr val="4B5563"/>
                </a:solidFill>
                <a:latin typeface="Noto Sans SC"/>
                <a:ea typeface="Noto Sans SC"/>
                <a:cs typeface="Noto Sans SC"/>
                <a:sym typeface="Noto Sans SC"/>
              </a:rPr>
              <a:t>无损分解</a:t>
            </a:r>
            <a:r>
              <a:rPr lang="en-US" sz="1800" b="0" i="0" u="none" strike="noStrike">
                <a:solidFill>
                  <a:srgbClr val="4B5563"/>
                </a:solidFill>
                <a:latin typeface="Noto Sans SC"/>
                <a:ea typeface="Noto Sans SC"/>
                <a:cs typeface="Noto Sans SC"/>
                <a:sym typeface="Noto Sans SC"/>
              </a:rPr>
              <a:t>保证。</a:t>
            </a:r>
            <a:br>
              <a:rPr lang="en-US" sz="1800" b="0" i="0" u="none" strike="noStrike">
                <a:solidFill>
                  <a:srgbClr val="1F2329"/>
                </a:solidFill>
                <a:latin typeface="Noto Sans SC"/>
                <a:ea typeface="Noto Sans SC"/>
                <a:cs typeface="Noto Sans SC"/>
                <a:sym typeface="Noto Sans SC"/>
              </a:rPr>
            </a:br>
            <a:r>
              <a:rPr lang="en-US" sz="1800" b="0" i="0" u="none" strike="noStrike">
                <a:solidFill>
                  <a:srgbClr val="4B5563"/>
                </a:solidFill>
                <a:latin typeface="Noto Sans SC"/>
                <a:ea typeface="Noto Sans SC"/>
                <a:cs typeface="Noto Sans SC"/>
                <a:sym typeface="Noto Sans SC"/>
              </a:rPr>
              <a:t>目标：确保分解后的数据通过自然连接能够完全恢复到原始状态，即不丢失信息、也不产生错误的冗余信息。</a:t>
            </a:r>
          </a:p>
          <a:p>
            <a:pPr indent="0" algn="l">
              <a:lnSpc>
                <a:spcPct val="108333"/>
              </a:lnSpc>
              <a:spcBef>
                <a:spcPts val="2000"/>
              </a:spcBef>
            </a:pPr>
            <a:r>
              <a:rPr lang="en-US" sz="1800" b="1" i="0" u="none" strike="noStrike">
                <a:solidFill>
                  <a:srgbClr val="7030A0"/>
                </a:solidFill>
                <a:latin typeface="Noto Sans SC"/>
                <a:ea typeface="Noto Sans SC"/>
                <a:cs typeface="Noto Sans SC"/>
                <a:sym typeface="Noto Sans SC"/>
              </a:rPr>
              <a:t>2. 依赖等价 (Dependency Equivalence)</a:t>
            </a:r>
          </a:p>
          <a:p>
            <a:pPr indent="0" algn="l">
              <a:lnSpc>
                <a:spcPct val="125000"/>
              </a:lnSpc>
            </a:pPr>
            <a:r>
              <a:rPr lang="en-US" sz="1800" b="0" i="0" u="none" strike="noStrike">
                <a:solidFill>
                  <a:srgbClr val="4B5563"/>
                </a:solidFill>
                <a:latin typeface="Noto Sans SC"/>
                <a:ea typeface="Noto Sans SC"/>
                <a:cs typeface="Noto Sans SC"/>
                <a:sym typeface="Noto Sans SC"/>
              </a:rPr>
              <a:t>要求：通过</a:t>
            </a:r>
            <a:r>
              <a:rPr lang="en-US" sz="1800" b="1" i="0" u="none" strike="noStrike">
                <a:solidFill>
                  <a:srgbClr val="4B5563"/>
                </a:solidFill>
                <a:latin typeface="Noto Sans SC"/>
                <a:ea typeface="Noto Sans SC"/>
                <a:cs typeface="Noto Sans SC"/>
                <a:sym typeface="Noto Sans SC"/>
              </a:rPr>
              <a:t>保持依赖的分解</a:t>
            </a:r>
            <a:r>
              <a:rPr lang="en-US" sz="1800" b="0" i="0" u="none" strike="noStrike">
                <a:solidFill>
                  <a:srgbClr val="4B5563"/>
                </a:solidFill>
                <a:latin typeface="Noto Sans SC"/>
                <a:ea typeface="Noto Sans SC"/>
                <a:cs typeface="Noto Sans SC"/>
                <a:sym typeface="Noto Sans SC"/>
              </a:rPr>
              <a:t>保证。</a:t>
            </a:r>
            <a:br>
              <a:rPr lang="en-US" sz="1800" b="0" i="0" u="none" strike="noStrike">
                <a:solidFill>
                  <a:srgbClr val="1F2329"/>
                </a:solidFill>
                <a:latin typeface="Noto Sans SC"/>
                <a:ea typeface="Noto Sans SC"/>
                <a:cs typeface="Noto Sans SC"/>
                <a:sym typeface="Noto Sans SC"/>
              </a:rPr>
            </a:br>
            <a:r>
              <a:rPr lang="en-US" sz="1800" b="0" i="0" u="none" strike="noStrike">
                <a:solidFill>
                  <a:srgbClr val="4B5563"/>
                </a:solidFill>
                <a:latin typeface="Noto Sans SC"/>
                <a:ea typeface="Noto Sans SC"/>
                <a:cs typeface="Noto Sans SC"/>
                <a:sym typeface="Noto Sans SC"/>
              </a:rPr>
              <a:t>目标：确保分解后的各个关系模式中，依然保留并维持了原关系模式中的所有函数依赖（即</a:t>
            </a:r>
            <a:r>
              <a:rPr lang="en-US" sz="1800" b="1" i="0" u="none" strike="noStrike">
                <a:solidFill>
                  <a:srgbClr val="4B5563"/>
                </a:solidFill>
                <a:latin typeface="Noto Sans SC"/>
                <a:ea typeface="Noto Sans SC"/>
                <a:cs typeface="Noto Sans SC"/>
                <a:sym typeface="Noto Sans SC"/>
              </a:rPr>
              <a:t>语义约束</a:t>
            </a:r>
            <a:r>
              <a:rPr lang="en-US" sz="1800" b="0" i="0" u="none" strike="noStrike">
                <a:solidFill>
                  <a:srgbClr val="4B5563"/>
                </a:solidFill>
                <a:latin typeface="Noto Sans SC"/>
                <a:ea typeface="Noto Sans SC"/>
                <a:cs typeface="Noto Sans SC"/>
                <a:sym typeface="Noto Sans SC"/>
              </a:rPr>
              <a:t>），以维护数据的一致性。</a:t>
            </a:r>
          </a:p>
        </p:txBody>
      </p:sp>
      <p:sp>
        <p:nvSpPr>
          <p:cNvPr id="4" name="AutoShape 4"/>
          <p:cNvSpPr/>
          <p:nvPr/>
        </p:nvSpPr>
        <p:spPr>
          <a:xfrm>
            <a:off x="6841307" y="1524000"/>
            <a:ext cx="627456" cy="48260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四种</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组合</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情况</a:t>
            </a:r>
            <a:endParaRPr lang="en-US" sz="1600" b="1">
              <a:solidFill>
                <a:srgbClr val="FFFFFF"/>
              </a:solidFill>
              <a:latin typeface="Noto Sans SC"/>
              <a:ea typeface="Noto Sans SC"/>
            </a:endParaRPr>
          </a:p>
        </p:txBody>
      </p:sp>
      <p:sp>
        <p:nvSpPr>
          <p:cNvPr id="5" name="AutoShape 5"/>
          <p:cNvSpPr/>
          <p:nvPr/>
        </p:nvSpPr>
        <p:spPr>
          <a:xfrm>
            <a:off x="7468763" y="1524000"/>
            <a:ext cx="3961237" cy="1079500"/>
          </a:xfrm>
          <a:prstGeom prst="roundRect">
            <a:avLst>
              <a:gd name="adj" fmla="val 0"/>
            </a:avLst>
          </a:prstGeom>
          <a:solidFill>
            <a:srgbClr val="1E3A8A">
              <a:alpha val="100000"/>
            </a:srgbClr>
          </a:solidFill>
          <a:ln w="12700" cap="flat" cmpd="sng">
            <a:solidFill>
              <a:srgbClr val="FFFFFF">
                <a:alpha val="100000"/>
              </a:srgbClr>
            </a:solidFill>
            <a:prstDash val="solid"/>
            <a:round/>
          </a:ln>
        </p:spPr>
        <p:txBody>
          <a:bodyPr vert="horz" wrap="square" lIns="101600" tIns="0" rIns="101600" bIns="0" rtlCol="0" anchor="ctr" anchorCtr="0"/>
          <a:lstStyle/>
          <a:p>
            <a:pPr indent="0" algn="ctr">
              <a:lnSpc>
                <a:spcPct val="125000"/>
              </a:lnSpc>
              <a:defRPr/>
            </a:pPr>
            <a:r>
              <a:rPr lang="en-US" sz="1700" b="1" i="0" u="none" strike="noStrike">
                <a:solidFill>
                  <a:srgbClr val="A7F3D0"/>
                </a:solidFill>
                <a:latin typeface="Noto Sans SC"/>
                <a:ea typeface="Noto Sans SC"/>
                <a:cs typeface="Noto Sans SC"/>
                <a:sym typeface="Noto Sans SC"/>
              </a:rPr>
              <a:t>无损分解 + 保持依赖</a:t>
            </a:r>
            <a:endParaRPr lang="en-US" sz="1100"/>
          </a:p>
          <a:p>
            <a:pPr indent="0" algn="ctr">
              <a:lnSpc>
                <a:spcPct val="125000"/>
              </a:lnSpc>
            </a:pPr>
            <a:r>
              <a:rPr lang="en-US" sz="1400" b="0" i="0" u="none" strike="noStrike">
                <a:solidFill>
                  <a:srgbClr val="FFFFFF"/>
                </a:solidFill>
                <a:latin typeface="Noto Sans SC"/>
                <a:ea typeface="Noto Sans SC"/>
                <a:cs typeface="Noto Sans SC"/>
                <a:sym typeface="Noto Sans SC"/>
              </a:rPr>
              <a:t>✅ 理想的分解方案，兼顾数据准确性与完整性</a:t>
            </a:r>
          </a:p>
        </p:txBody>
      </p:sp>
      <p:sp>
        <p:nvSpPr>
          <p:cNvPr id="6" name="AutoShape 6"/>
          <p:cNvSpPr/>
          <p:nvPr/>
        </p:nvSpPr>
        <p:spPr>
          <a:xfrm>
            <a:off x="7468763" y="2794000"/>
            <a:ext cx="3961237" cy="1079500"/>
          </a:xfrm>
          <a:prstGeom prst="roundRect">
            <a:avLst>
              <a:gd name="adj" fmla="val 0"/>
            </a:avLst>
          </a:prstGeom>
          <a:solidFill>
            <a:srgbClr val="EA580C">
              <a:alpha val="100000"/>
            </a:srgbClr>
          </a:solidFill>
          <a:ln w="12700" cap="flat" cmpd="sng">
            <a:solidFill>
              <a:srgbClr val="FFFFFF">
                <a:alpha val="100000"/>
              </a:srgbClr>
            </a:solidFill>
            <a:prstDash val="solid"/>
            <a:round/>
          </a:ln>
        </p:spPr>
        <p:txBody>
          <a:bodyPr vert="horz" wrap="square" lIns="101600" tIns="0" rIns="101600" bIns="0" rtlCol="0" anchor="ctr" anchorCtr="0"/>
          <a:lstStyle/>
          <a:p>
            <a:pPr indent="0" algn="ctr">
              <a:lnSpc>
                <a:spcPct val="125000"/>
              </a:lnSpc>
              <a:defRPr/>
            </a:pPr>
            <a:r>
              <a:rPr lang="en-US" sz="1700" b="1" i="0" u="none" strike="noStrike">
                <a:solidFill>
                  <a:srgbClr val="FFEDD5"/>
                </a:solidFill>
                <a:latin typeface="Noto Sans SC"/>
                <a:ea typeface="Noto Sans SC"/>
                <a:cs typeface="Noto Sans SC"/>
                <a:sym typeface="Noto Sans SC"/>
              </a:rPr>
              <a:t>无损分解 + 不保持依赖</a:t>
            </a:r>
            <a:endParaRPr lang="en-US" sz="1100"/>
          </a:p>
          <a:p>
            <a:pPr indent="0" algn="ctr">
              <a:lnSpc>
                <a:spcPct val="125000"/>
              </a:lnSpc>
            </a:pPr>
            <a:r>
              <a:rPr lang="en-US" sz="1400" b="0" i="0" u="none" strike="noStrike">
                <a:solidFill>
                  <a:srgbClr val="FFFFFF"/>
                </a:solidFill>
                <a:latin typeface="Noto Sans SC"/>
                <a:ea typeface="Noto Sans SC"/>
                <a:cs typeface="Noto Sans SC"/>
                <a:sym typeface="Noto Sans SC"/>
              </a:rPr>
              <a:t>⚠️ 可以接受，但维护数据一致性逻辑复杂</a:t>
            </a:r>
          </a:p>
        </p:txBody>
      </p:sp>
      <p:sp>
        <p:nvSpPr>
          <p:cNvPr id="7" name="AutoShape 7"/>
          <p:cNvSpPr/>
          <p:nvPr/>
        </p:nvSpPr>
        <p:spPr>
          <a:xfrm>
            <a:off x="7468763" y="4064000"/>
            <a:ext cx="3961237" cy="1079500"/>
          </a:xfrm>
          <a:prstGeom prst="roundRect">
            <a:avLst>
              <a:gd name="adj" fmla="val 0"/>
            </a:avLst>
          </a:prstGeom>
          <a:solidFill>
            <a:srgbClr val="DC2626">
              <a:alpha val="100000"/>
            </a:srgbClr>
          </a:solidFill>
          <a:ln w="12700" cap="flat" cmpd="sng">
            <a:solidFill>
              <a:srgbClr val="FFFFFF">
                <a:alpha val="100000"/>
              </a:srgbClr>
            </a:solidFill>
            <a:prstDash val="solid"/>
            <a:round/>
          </a:ln>
        </p:spPr>
        <p:txBody>
          <a:bodyPr vert="horz" wrap="square" lIns="101600" tIns="0" rIns="101600" bIns="0" rtlCol="0" anchor="ctr" anchorCtr="0"/>
          <a:lstStyle/>
          <a:p>
            <a:pPr indent="0" algn="ctr">
              <a:lnSpc>
                <a:spcPct val="125000"/>
              </a:lnSpc>
              <a:defRPr/>
            </a:pPr>
            <a:r>
              <a:rPr lang="en-US" sz="1700" b="1" i="0" u="none" strike="noStrike">
                <a:solidFill>
                  <a:srgbClr val="FECACA"/>
                </a:solidFill>
                <a:latin typeface="Noto Sans SC"/>
                <a:ea typeface="Noto Sans SC"/>
                <a:cs typeface="Noto Sans SC"/>
                <a:sym typeface="Noto Sans SC"/>
              </a:rPr>
              <a:t>有损分解 + 保持依赖</a:t>
            </a:r>
            <a:endParaRPr lang="en-US" sz="1100"/>
          </a:p>
          <a:p>
            <a:pPr indent="0" algn="ctr">
              <a:lnSpc>
                <a:spcPct val="125000"/>
              </a:lnSpc>
            </a:pPr>
            <a:r>
              <a:rPr lang="en-US" sz="1400" b="0" i="0" u="none" strike="noStrike">
                <a:solidFill>
                  <a:srgbClr val="FFFFFF"/>
                </a:solidFill>
                <a:latin typeface="Noto Sans SC"/>
                <a:ea typeface="Noto Sans SC"/>
                <a:cs typeface="Noto Sans SC"/>
                <a:sym typeface="Noto Sans SC"/>
              </a:rPr>
              <a:t>❌ 不可接受，会导致信息丢失和错误数据</a:t>
            </a:r>
          </a:p>
        </p:txBody>
      </p:sp>
      <p:sp>
        <p:nvSpPr>
          <p:cNvPr id="8" name="AutoShape 8"/>
          <p:cNvSpPr/>
          <p:nvPr/>
        </p:nvSpPr>
        <p:spPr>
          <a:xfrm>
            <a:off x="7468763" y="5270500"/>
            <a:ext cx="3961237" cy="1079500"/>
          </a:xfrm>
          <a:prstGeom prst="roundRect">
            <a:avLst>
              <a:gd name="adj" fmla="val 0"/>
            </a:avLst>
          </a:prstGeom>
          <a:solidFill>
            <a:srgbClr val="450A0A">
              <a:alpha val="100000"/>
            </a:srgbClr>
          </a:solidFill>
          <a:ln w="12700" cap="flat" cmpd="sng">
            <a:solidFill>
              <a:srgbClr val="FFFFFF">
                <a:alpha val="100000"/>
              </a:srgbClr>
            </a:solidFill>
            <a:prstDash val="solid"/>
            <a:round/>
          </a:ln>
        </p:spPr>
        <p:txBody>
          <a:bodyPr vert="horz" wrap="square" lIns="101600" tIns="0" rIns="101600" bIns="0" rtlCol="0" anchor="ctr" anchorCtr="0"/>
          <a:lstStyle/>
          <a:p>
            <a:pPr indent="0" algn="ctr">
              <a:lnSpc>
                <a:spcPct val="125000"/>
              </a:lnSpc>
              <a:defRPr/>
            </a:pPr>
            <a:r>
              <a:rPr lang="en-US" sz="1700" b="1" i="0" u="none" strike="noStrike">
                <a:solidFill>
                  <a:srgbClr val="EF4444"/>
                </a:solidFill>
                <a:latin typeface="Noto Sans SC"/>
                <a:ea typeface="Noto Sans SC"/>
                <a:cs typeface="Noto Sans SC"/>
                <a:sym typeface="Noto Sans SC"/>
              </a:rPr>
              <a:t>有损分解 + 不保持依赖</a:t>
            </a:r>
            <a:endParaRPr lang="en-US" sz="1100"/>
          </a:p>
          <a:p>
            <a:pPr indent="0" algn="ctr">
              <a:lnSpc>
                <a:spcPct val="125000"/>
              </a:lnSpc>
            </a:pPr>
            <a:r>
              <a:rPr lang="en-US" sz="1400" b="0" i="0" u="none" strike="noStrike">
                <a:solidFill>
                  <a:srgbClr val="FFFFFF"/>
                </a:solidFill>
                <a:latin typeface="Noto Sans SC"/>
                <a:ea typeface="Noto Sans SC"/>
                <a:cs typeface="Noto Sans SC"/>
                <a:sym typeface="Noto Sans SC"/>
              </a:rPr>
              <a:t>💀 最差方案，完全破坏了关系模式的价值</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762000"/>
          </a:xfrm>
          <a:prstGeom prst="roundRect">
            <a:avLst>
              <a:gd name="adj" fmla="val 0"/>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en-US" sz="2800">
                <a:solidFill>
                  <a:srgbClr val="FFFFFF"/>
                </a:solidFill>
                <a:latin typeface="Noto Sans SC Black" panose="020B0200000000000000" pitchFamily="34" charset="-122"/>
                <a:ea typeface="Noto Sans SC Black" panose="020B0200000000000000" pitchFamily="34" charset="-122"/>
                <a:sym typeface="Noto Sans SC"/>
              </a:rPr>
              <a:t>7.4 关系模式的范式</a:t>
            </a:r>
            <a:endParaRPr lang="en-US" sz="2800">
              <a:solidFill>
                <a:srgbClr val="FFFFFF"/>
              </a:solidFill>
              <a:latin typeface="Noto Sans SC Black" panose="020B0200000000000000" pitchFamily="34" charset="-122"/>
              <a:ea typeface="Noto Sans SC Black" panose="020B0200000000000000" pitchFamily="34" charset="-122"/>
            </a:endParaRPr>
          </a:p>
        </p:txBody>
      </p:sp>
      <p:sp>
        <p:nvSpPr>
          <p:cNvPr id="3" name="AutoShape 3"/>
          <p:cNvSpPr/>
          <p:nvPr/>
        </p:nvSpPr>
        <p:spPr>
          <a:xfrm>
            <a:off x="838200" y="1524000"/>
            <a:ext cx="4990227" cy="4826000"/>
          </a:xfrm>
          <a:prstGeom prst="roundRect">
            <a:avLst>
              <a:gd name="adj" fmla="val 0"/>
            </a:avLst>
          </a:prstGeom>
          <a:solidFill>
            <a:srgbClr val="F8F9FA">
              <a:alpha val="100000"/>
            </a:srgbClr>
          </a:solidFill>
          <a:ln w="12700" cap="flat" cmpd="sng">
            <a:solidFill>
              <a:srgbClr val="DEE0E3">
                <a:alpha val="10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92199" y="1778000"/>
            <a:ext cx="4498903" cy="4318000"/>
          </a:xfrm>
          <a:prstGeom prst="rect">
            <a:avLst/>
          </a:prstGeom>
          <a:noFill/>
          <a:ln w="12700" cap="flat" cmpd="sng">
            <a:noFill/>
            <a:prstDash val="solid"/>
            <a:round/>
          </a:ln>
        </p:spPr>
        <p:txBody>
          <a:bodyPr vert="horz" wrap="square" lIns="0" tIns="0" rIns="0" bIns="0" rtlCol="0" anchor="t" anchorCtr="0"/>
          <a:lstStyle/>
          <a:p>
            <a:pPr indent="0">
              <a:lnSpc>
                <a:spcPct val="133333"/>
              </a:lnSpc>
              <a:spcAft>
                <a:spcPts val="1500"/>
              </a:spcAft>
              <a:defRPr/>
            </a:pPr>
            <a:r>
              <a:rPr lang="en-US" sz="2400" b="1" i="0" u="none" strike="noStrike">
                <a:solidFill>
                  <a:srgbClr val="D9480F"/>
                </a:solidFill>
                <a:latin typeface="Noto Sans SC"/>
                <a:ea typeface="Noto Sans SC"/>
                <a:cs typeface="Noto Sans SC"/>
                <a:sym typeface="Noto Sans SC"/>
              </a:rPr>
              <a:t> 基础范式定义</a:t>
            </a:r>
            <a:endParaRPr lang="en-US" sz="1200"/>
          </a:p>
          <a:p>
            <a:pPr>
              <a:lnSpc>
                <a:spcPct val="116666"/>
              </a:lnSpc>
              <a:spcAft>
                <a:spcPts val="800"/>
              </a:spcAft>
            </a:pPr>
            <a:r>
              <a:rPr lang="en-US" sz="1800" b="1" i="0" u="none" strike="noStrike">
                <a:solidFill>
                  <a:srgbClr val="1F2329"/>
                </a:solidFill>
                <a:latin typeface="Noto Sans SC"/>
                <a:ea typeface="Noto Sans SC"/>
                <a:cs typeface="Noto Sans SC"/>
                <a:sym typeface="Noto Sans SC"/>
              </a:rPr>
              <a:t>第一范式 (1NF)：</a:t>
            </a:r>
            <a:r>
              <a:rPr lang="en-US" sz="1600" b="0" i="0" u="none" strike="noStrike">
                <a:solidFill>
                  <a:srgbClr val="555555"/>
                </a:solidFill>
                <a:latin typeface="Noto Sans SC"/>
                <a:ea typeface="Noto Sans SC"/>
                <a:cs typeface="Noto Sans SC"/>
                <a:sym typeface="Noto Sans SC"/>
              </a:rPr>
              <a:t>关系中的每个属性</a:t>
            </a:r>
            <a:r>
              <a:rPr lang="zh-CN" altLang="en-US" sz="1600" b="0" i="0" u="none" strike="noStrike">
                <a:solidFill>
                  <a:srgbClr val="555555"/>
                </a:solidFill>
                <a:latin typeface="Noto Sans SC"/>
                <a:ea typeface="Noto Sans SC"/>
                <a:cs typeface="Noto Sans SC"/>
                <a:sym typeface="Noto Sans SC"/>
              </a:rPr>
              <a:t>的值</a:t>
            </a:r>
            <a:r>
              <a:rPr lang="en-US" sz="1600" b="0" i="0" u="none" strike="noStrike">
                <a:solidFill>
                  <a:srgbClr val="555555"/>
                </a:solidFill>
                <a:latin typeface="Noto Sans SC"/>
                <a:ea typeface="Noto Sans SC"/>
                <a:cs typeface="Noto Sans SC"/>
                <a:sym typeface="Noto Sans SC"/>
              </a:rPr>
              <a:t>必须是原子</a:t>
            </a:r>
            <a:r>
              <a:rPr lang="zh-CN" altLang="en-US" sz="1600" b="0" i="0" u="none" strike="noStrike">
                <a:solidFill>
                  <a:srgbClr val="555555"/>
                </a:solidFill>
                <a:latin typeface="Noto Sans SC"/>
                <a:ea typeface="Noto Sans SC"/>
                <a:cs typeface="Noto Sans SC"/>
                <a:sym typeface="Noto Sans SC"/>
              </a:rPr>
              <a:t>的</a:t>
            </a:r>
            <a:r>
              <a:rPr lang="en-US" sz="1600" b="0" i="0" u="none" strike="noStrike">
                <a:solidFill>
                  <a:srgbClr val="555555"/>
                </a:solidFill>
                <a:latin typeface="Noto Sans SC"/>
                <a:ea typeface="Noto Sans SC"/>
                <a:cs typeface="Noto Sans SC"/>
                <a:sym typeface="Noto Sans SC"/>
              </a:rPr>
              <a:t>，不可再分。是关系模式的最基本要求。</a:t>
            </a:r>
          </a:p>
          <a:p>
            <a:pPr>
              <a:lnSpc>
                <a:spcPct val="116666"/>
              </a:lnSpc>
              <a:spcAft>
                <a:spcPts val="800"/>
              </a:spcAft>
            </a:pPr>
            <a:r>
              <a:rPr lang="en-US" sz="1800" b="1" i="0" u="none" strike="noStrike">
                <a:solidFill>
                  <a:srgbClr val="1F2329"/>
                </a:solidFill>
                <a:latin typeface="Noto Sans SC"/>
                <a:ea typeface="Noto Sans SC"/>
                <a:cs typeface="Noto Sans SC"/>
                <a:sym typeface="Noto Sans SC"/>
              </a:rPr>
              <a:t>第二范式 (2NF)：</a:t>
            </a:r>
            <a:r>
              <a:rPr lang="en-US" sz="1600" b="0" i="0" u="none" strike="noStrike">
                <a:solidFill>
                  <a:srgbClr val="555555"/>
                </a:solidFill>
                <a:latin typeface="Noto Sans SC"/>
                <a:ea typeface="Noto Sans SC"/>
                <a:cs typeface="Noto Sans SC"/>
                <a:sym typeface="Noto Sans SC"/>
              </a:rPr>
              <a:t>在1NF基础上，消除了非主属性对主键的部分函数依赖。</a:t>
            </a:r>
          </a:p>
          <a:p>
            <a:pPr>
              <a:lnSpc>
                <a:spcPct val="116666"/>
              </a:lnSpc>
              <a:spcAft>
                <a:spcPts val="800"/>
              </a:spcAft>
            </a:pPr>
            <a:r>
              <a:rPr lang="en-US" sz="1800" b="1" i="0" u="none" strike="noStrike">
                <a:solidFill>
                  <a:srgbClr val="1F2329"/>
                </a:solidFill>
                <a:latin typeface="Noto Sans SC"/>
                <a:ea typeface="Noto Sans SC"/>
                <a:cs typeface="Noto Sans SC"/>
                <a:sym typeface="Noto Sans SC"/>
              </a:rPr>
              <a:t>第三范式 (3NF)：</a:t>
            </a:r>
            <a:r>
              <a:rPr lang="en-US" sz="1600" b="0" i="0" u="none" strike="noStrike">
                <a:solidFill>
                  <a:srgbClr val="555555"/>
                </a:solidFill>
                <a:latin typeface="Noto Sans SC"/>
                <a:ea typeface="Noto Sans SC"/>
                <a:cs typeface="Noto Sans SC"/>
                <a:sym typeface="Noto Sans SC"/>
              </a:rPr>
              <a:t>在2NF基础上，消除了非主属性对主键的传递函数依赖，显著降低数据冗余。</a:t>
            </a:r>
          </a:p>
          <a:p>
            <a:pPr>
              <a:lnSpc>
                <a:spcPct val="116666"/>
              </a:lnSpc>
            </a:pPr>
            <a:r>
              <a:rPr lang="en-US" sz="1800" b="1" i="0" u="none" strike="noStrike">
                <a:solidFill>
                  <a:srgbClr val="1F2329"/>
                </a:solidFill>
                <a:latin typeface="Noto Sans SC"/>
                <a:ea typeface="Noto Sans SC"/>
                <a:cs typeface="Noto Sans SC"/>
                <a:sym typeface="Noto Sans SC"/>
              </a:rPr>
              <a:t>BCNF (巴斯-科德范式)：</a:t>
            </a:r>
            <a:r>
              <a:rPr lang="en-US" sz="1600" b="0" i="0" u="none" strike="noStrike">
                <a:solidFill>
                  <a:srgbClr val="555555"/>
                </a:solidFill>
                <a:latin typeface="Noto Sans SC"/>
                <a:ea typeface="Noto Sans SC"/>
                <a:cs typeface="Noto Sans SC"/>
                <a:sym typeface="Noto Sans SC"/>
              </a:rPr>
              <a:t>比3NF更严格，消除了主属性对候选键的部分和传递函数依赖，是3NF的改进形式。</a:t>
            </a:r>
          </a:p>
        </p:txBody>
      </p:sp>
      <p:sp>
        <p:nvSpPr>
          <p:cNvPr id="5" name="AutoShape 5"/>
          <p:cNvSpPr/>
          <p:nvPr/>
        </p:nvSpPr>
        <p:spPr>
          <a:xfrm>
            <a:off x="6589264" y="1524000"/>
            <a:ext cx="4764536" cy="4826000"/>
          </a:xfrm>
          <a:prstGeom prst="roundRect">
            <a:avLst>
              <a:gd name="adj" fmla="val 0"/>
            </a:avLst>
          </a:prstGeom>
          <a:solidFill>
            <a:srgbClr val="F0F5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994112" y="1778000"/>
            <a:ext cx="4181887" cy="4318000"/>
          </a:xfrm>
          <a:prstGeom prst="rect">
            <a:avLst/>
          </a:prstGeom>
          <a:noFill/>
          <a:ln w="12700" cap="flat" cmpd="sng">
            <a:noFill/>
            <a:prstDash val="solid"/>
            <a:round/>
          </a:ln>
        </p:spPr>
        <p:txBody>
          <a:bodyPr vert="horz" wrap="square" lIns="0" tIns="0" rIns="0" bIns="0" rtlCol="0" anchor="t" anchorCtr="0"/>
          <a:lstStyle/>
          <a:p>
            <a:pPr indent="0" algn="l">
              <a:lnSpc>
                <a:spcPct val="133333"/>
              </a:lnSpc>
              <a:spcAft>
                <a:spcPts val="1500"/>
              </a:spcAft>
              <a:defRPr/>
            </a:pPr>
            <a:r>
              <a:rPr lang="en-US" sz="2400" b="1" i="0" u="none" strike="noStrike">
                <a:solidFill>
                  <a:srgbClr val="2563EB"/>
                </a:solidFill>
                <a:latin typeface="Noto Sans SC"/>
                <a:ea typeface="Noto Sans SC"/>
                <a:cs typeface="Noto Sans SC"/>
                <a:sym typeface="Noto Sans SC"/>
              </a:rPr>
              <a:t>算法与设计原则</a:t>
            </a:r>
            <a:endParaRPr lang="en-US" sz="1200"/>
          </a:p>
          <a:p>
            <a:pPr indent="0" algn="l">
              <a:lnSpc>
                <a:spcPct val="116666"/>
              </a:lnSpc>
              <a:spcAft>
                <a:spcPts val="600"/>
              </a:spcAft>
            </a:pPr>
            <a:r>
              <a:rPr lang="en-US" sz="1800" b="1" i="0" u="none" strike="noStrike">
                <a:solidFill>
                  <a:srgbClr val="1F2329"/>
                </a:solidFill>
                <a:latin typeface="Noto Sans SC"/>
                <a:ea typeface="Noto Sans SC"/>
                <a:cs typeface="Noto Sans SC"/>
                <a:sym typeface="Noto Sans SC"/>
              </a:rPr>
              <a:t>分解算法：</a:t>
            </a:r>
          </a:p>
          <a:p>
            <a:pPr indent="0" algn="l">
              <a:lnSpc>
                <a:spcPct val="125000"/>
              </a:lnSpc>
              <a:spcAft>
                <a:spcPts val="1200"/>
              </a:spcAft>
            </a:pPr>
            <a:r>
              <a:rPr lang="en-US" sz="1600" b="0" i="0" u="none" strike="noStrike">
                <a:solidFill>
                  <a:srgbClr val="555555"/>
                </a:solidFill>
                <a:latin typeface="Noto Sans SC"/>
                <a:ea typeface="Noto Sans SC"/>
                <a:cs typeface="Noto Sans SC"/>
                <a:sym typeface="Noto Sans SC"/>
              </a:rPr>
              <a:t>掌握将低范式模式无损分解为</a:t>
            </a:r>
            <a:r>
              <a:rPr lang="en-US" sz="1600" b="1" i="0" u="none" strike="noStrike">
                <a:solidFill>
                  <a:srgbClr val="D9480F"/>
                </a:solidFill>
                <a:latin typeface="Noto Sans SC"/>
                <a:ea typeface="Noto Sans SC"/>
                <a:cs typeface="Noto Sans SC"/>
                <a:sym typeface="Noto Sans SC"/>
              </a:rPr>
              <a:t>BCNF模式集</a:t>
            </a:r>
            <a:r>
              <a:rPr lang="en-US" sz="1600" b="0" i="0" u="none" strike="noStrike">
                <a:solidFill>
                  <a:srgbClr val="555555"/>
                </a:solidFill>
                <a:latin typeface="Noto Sans SC"/>
                <a:ea typeface="Noto Sans SC"/>
                <a:cs typeface="Noto Sans SC"/>
                <a:sym typeface="Noto Sans SC"/>
              </a:rPr>
              <a:t>和</a:t>
            </a:r>
            <a:r>
              <a:rPr lang="en-US" sz="1600" b="1" i="0" u="none" strike="noStrike">
                <a:solidFill>
                  <a:srgbClr val="2563EB"/>
                </a:solidFill>
                <a:latin typeface="Noto Sans SC"/>
                <a:ea typeface="Noto Sans SC"/>
                <a:cs typeface="Noto Sans SC"/>
                <a:sym typeface="Noto Sans SC"/>
              </a:rPr>
              <a:t>3NF模式集</a:t>
            </a:r>
            <a:r>
              <a:rPr lang="en-US" sz="1600" b="0" i="0" u="none" strike="noStrike">
                <a:solidFill>
                  <a:srgbClr val="555555"/>
                </a:solidFill>
                <a:latin typeface="Noto Sans SC"/>
                <a:ea typeface="Noto Sans SC"/>
                <a:cs typeface="Noto Sans SC"/>
                <a:sym typeface="Noto Sans SC"/>
              </a:rPr>
              <a:t>的标准算法，保证分解后的关系既满足范式要求，又不丢失原有的数据信息。</a:t>
            </a:r>
          </a:p>
          <a:p>
            <a:pPr indent="0" algn="l">
              <a:lnSpc>
                <a:spcPct val="125000"/>
              </a:lnSpc>
              <a:spcAft>
                <a:spcPts val="600"/>
              </a:spcAft>
            </a:pPr>
            <a:r>
              <a:rPr lang="en-US" sz="1800" b="1" i="0" u="none" strike="noStrike">
                <a:solidFill>
                  <a:srgbClr val="1F2329"/>
                </a:solidFill>
                <a:latin typeface="Noto Sans SC"/>
                <a:ea typeface="Noto Sans SC"/>
                <a:cs typeface="Noto Sans SC"/>
                <a:sym typeface="Noto Sans SC"/>
              </a:rPr>
              <a:t>模式设计方法的原则：</a:t>
            </a:r>
          </a:p>
          <a:p>
            <a:pPr indent="0" algn="l">
              <a:lnSpc>
                <a:spcPct val="125000"/>
              </a:lnSpc>
              <a:spcAft>
                <a:spcPts val="1200"/>
              </a:spcAft>
            </a:pPr>
            <a:r>
              <a:rPr lang="en-US" sz="1600" b="0" i="0" u="none" strike="noStrike">
                <a:solidFill>
                  <a:srgbClr val="555555"/>
                </a:solidFill>
                <a:latin typeface="Noto Sans SC"/>
                <a:ea typeface="Noto Sans SC"/>
                <a:cs typeface="Noto Sans SC"/>
                <a:sym typeface="Noto Sans SC"/>
              </a:rPr>
              <a:t>综合权衡“无损连接性”与“函数依赖保持性”，平衡数据冗余度与查询效率，构建结构合理、性能优越的关系数据库模式。</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7.4.1 第一范式 (1NF)</a:t>
            </a:r>
            <a:endParaRPr lang="en-US" sz="2400" b="1">
              <a:solidFill>
                <a:srgbClr val="FFFFFF"/>
              </a:solidFill>
              <a:latin typeface="Noto Sans SC"/>
              <a:ea typeface="Noto Sans SC"/>
            </a:endParaRPr>
          </a:p>
        </p:txBody>
      </p:sp>
      <p:sp>
        <p:nvSpPr>
          <p:cNvPr id="3" name="AutoShape 3"/>
          <p:cNvSpPr/>
          <p:nvPr/>
        </p:nvSpPr>
        <p:spPr>
          <a:xfrm>
            <a:off x="838200" y="1612414"/>
            <a:ext cx="4330700" cy="4559785"/>
          </a:xfrm>
          <a:prstGeom prst="rect">
            <a:avLst/>
          </a:prstGeom>
          <a:solidFill>
            <a:srgbClr val="F9FAFB">
              <a:alpha val="100000"/>
            </a:srgbClr>
          </a:solidFill>
          <a:ln w="12700" cap="flat" cmpd="sng">
            <a:noFill/>
            <a:prstDash val="solid"/>
            <a:round/>
          </a:ln>
        </p:spPr>
        <p:txBody>
          <a:bodyPr vert="horz" wrap="square" lIns="190500" tIns="190500" rIns="190500" bIns="0" rtlCol="0" anchor="t" anchorCtr="0"/>
          <a:lstStyle/>
          <a:p>
            <a:pPr indent="0" algn="l">
              <a:lnSpc>
                <a:spcPct val="125000"/>
              </a:lnSpc>
              <a:spcAft>
                <a:spcPts val="1500"/>
              </a:spcAft>
              <a:defRPr/>
            </a:pPr>
            <a:r>
              <a:rPr lang="en-US" sz="2000" b="1" i="0" u="none" strike="noStrike">
                <a:solidFill>
                  <a:srgbClr val="7030A0"/>
                </a:solidFill>
                <a:latin typeface="Noto Sans SC"/>
                <a:ea typeface="Noto Sans SC"/>
                <a:cs typeface="Noto Sans SC"/>
                <a:sym typeface="Noto Sans SC"/>
              </a:rPr>
              <a:t>📖 定义 7.16</a:t>
            </a:r>
            <a:endParaRPr lang="en-US" sz="1100"/>
          </a:p>
          <a:p>
            <a:pPr indent="0" algn="l">
              <a:lnSpc>
                <a:spcPct val="108333"/>
              </a:lnSpc>
              <a:spcAft>
                <a:spcPts val="2000"/>
              </a:spcAft>
            </a:pPr>
            <a:r>
              <a:rPr lang="en-US" sz="1600" b="0" i="0" u="none" strike="noStrike">
                <a:solidFill>
                  <a:srgbClr val="374151"/>
                </a:solidFill>
                <a:latin typeface="Noto Sans SC"/>
                <a:ea typeface="Noto Sans SC"/>
                <a:cs typeface="Noto Sans SC"/>
                <a:sym typeface="Noto Sans SC"/>
              </a:rPr>
              <a:t>如果关系模式 R 的每个关系 r 的属性值都是</a:t>
            </a:r>
            <a:r>
              <a:rPr lang="en-US" sz="1600" b="1" i="0" u="none" strike="noStrike">
                <a:solidFill>
                  <a:srgbClr val="DC2626"/>
                </a:solidFill>
                <a:latin typeface="Noto Sans SC"/>
                <a:ea typeface="Noto Sans SC"/>
                <a:cs typeface="Noto Sans SC"/>
                <a:sym typeface="Noto Sans SC"/>
              </a:rPr>
              <a:t>不可分的原子值</a:t>
            </a:r>
            <a:r>
              <a:rPr lang="en-US" sz="1600" b="0" i="0" u="none" strike="noStrike">
                <a:solidFill>
                  <a:srgbClr val="374151"/>
                </a:solidFill>
                <a:latin typeface="Noto Sans SC"/>
                <a:ea typeface="Noto Sans SC"/>
                <a:cs typeface="Noto Sans SC"/>
                <a:sym typeface="Noto Sans SC"/>
              </a:rPr>
              <a:t>，那么称 R 是</a:t>
            </a:r>
            <a:r>
              <a:rPr lang="en-US" sz="1600" b="1" i="0" u="none" strike="noStrike">
                <a:solidFill>
                  <a:srgbClr val="DC2626"/>
                </a:solidFill>
                <a:latin typeface="Noto Sans SC"/>
                <a:ea typeface="Noto Sans SC"/>
                <a:cs typeface="Noto Sans SC"/>
                <a:sym typeface="Noto Sans SC"/>
              </a:rPr>
              <a:t>第一范式 (1NF)</a:t>
            </a:r>
            <a:r>
              <a:rPr lang="en-US" sz="1600" b="0" i="0" u="none" strike="noStrike">
                <a:solidFill>
                  <a:srgbClr val="374151"/>
                </a:solidFill>
                <a:latin typeface="Noto Sans SC"/>
                <a:ea typeface="Noto Sans SC"/>
                <a:cs typeface="Noto Sans SC"/>
                <a:sym typeface="Noto Sans SC"/>
              </a:rPr>
              <a:t>的模式。</a:t>
            </a:r>
          </a:p>
          <a:p>
            <a:pPr indent="0" algn="l"/>
            <a:endParaRPr lang="en-US" b="0" i="0" u="none" strike="noStrike">
              <a:solidFill>
                <a:srgbClr val="374151"/>
              </a:solidFill>
              <a:latin typeface="Noto Sans SC"/>
              <a:ea typeface="Noto Sans SC"/>
              <a:cs typeface="Noto Sans SC"/>
              <a:sym typeface="Noto Sans SC"/>
            </a:endParaRPr>
          </a:p>
          <a:p>
            <a:pPr indent="0" algn="l">
              <a:lnSpc>
                <a:spcPct val="125000"/>
              </a:lnSpc>
              <a:spcAft>
                <a:spcPts val="1500"/>
              </a:spcAft>
            </a:pPr>
            <a:r>
              <a:rPr lang="en-US" sz="2000" b="1" i="0" u="none" strike="noStrike">
                <a:solidFill>
                  <a:srgbClr val="7030A0"/>
                </a:solidFill>
                <a:latin typeface="Noto Sans SC"/>
                <a:ea typeface="Noto Sans SC"/>
                <a:cs typeface="Noto Sans SC"/>
                <a:sym typeface="Noto Sans SC"/>
              </a:rPr>
              <a:t>💡 通俗理解</a:t>
            </a:r>
          </a:p>
          <a:p>
            <a:pPr indent="0" algn="l">
              <a:lnSpc>
                <a:spcPct val="116666"/>
              </a:lnSpc>
            </a:pPr>
            <a:r>
              <a:rPr lang="en-US" sz="1600" b="0" i="0" u="none" strike="noStrike">
                <a:solidFill>
                  <a:srgbClr val="374151"/>
                </a:solidFill>
                <a:latin typeface="Noto Sans SC"/>
                <a:ea typeface="Noto Sans SC"/>
                <a:cs typeface="Noto Sans SC"/>
                <a:sym typeface="Noto Sans SC"/>
              </a:rPr>
              <a:t>这是关系数据库设计的“原子性”要求：</a:t>
            </a:r>
          </a:p>
          <a:p>
            <a:pPr indent="0" algn="l">
              <a:lnSpc>
                <a:spcPct val="116666"/>
              </a:lnSpc>
            </a:pPr>
            <a:r>
              <a:rPr lang="en-US" sz="1600" b="0" i="0" u="none" strike="noStrike">
                <a:solidFill>
                  <a:srgbClr val="374151"/>
                </a:solidFill>
                <a:latin typeface="Noto Sans SC"/>
                <a:ea typeface="Noto Sans SC"/>
                <a:cs typeface="Noto Sans SC"/>
                <a:sym typeface="Noto Sans SC"/>
              </a:rPr>
              <a:t>表中的每一个单元格只能包含</a:t>
            </a:r>
            <a:r>
              <a:rPr lang="en-US" sz="1600" b="1" i="0" u="none" strike="noStrike">
                <a:solidFill>
                  <a:srgbClr val="DC2626"/>
                </a:solidFill>
                <a:latin typeface="Noto Sans SC"/>
                <a:ea typeface="Noto Sans SC"/>
                <a:cs typeface="Noto Sans SC"/>
                <a:sym typeface="Noto Sans SC"/>
              </a:rPr>
              <a:t>单一值</a:t>
            </a:r>
            <a:r>
              <a:rPr lang="en-US" sz="1600" b="0" i="0" u="none" strike="noStrike">
                <a:solidFill>
                  <a:srgbClr val="374151"/>
                </a:solidFill>
                <a:latin typeface="Noto Sans SC"/>
                <a:ea typeface="Noto Sans SC"/>
                <a:cs typeface="Noto Sans SC"/>
                <a:sym typeface="Noto Sans SC"/>
              </a:rPr>
              <a:t>，严禁在单元格中存储集合、列表、嵌套结构或用逗号分隔的多个数据。</a:t>
            </a:r>
          </a:p>
        </p:txBody>
      </p:sp>
      <p:sp>
        <p:nvSpPr>
          <p:cNvPr id="4" name="AutoShape 4"/>
          <p:cNvSpPr/>
          <p:nvPr/>
        </p:nvSpPr>
        <p:spPr>
          <a:xfrm>
            <a:off x="6642100" y="1612414"/>
            <a:ext cx="4711700" cy="4572486"/>
          </a:xfrm>
          <a:prstGeom prst="rect">
            <a:avLst/>
          </a:prstGeom>
          <a:solidFill>
            <a:srgbClr val="F9FAFB">
              <a:alpha val="100000"/>
            </a:srgbClr>
          </a:solidFill>
          <a:ln w="12700" cap="flat" cmpd="sng">
            <a:noFill/>
            <a:prstDash val="solid"/>
            <a:round/>
          </a:ln>
        </p:spPr>
        <p:txBody>
          <a:bodyPr vert="horz" wrap="square" lIns="190500" tIns="190500" rIns="190500" bIns="0" rtlCol="0" anchor="t" anchorCtr="0"/>
          <a:lstStyle/>
          <a:p>
            <a:pPr indent="0" algn="l">
              <a:lnSpc>
                <a:spcPct val="125000"/>
              </a:lnSpc>
              <a:spcAft>
                <a:spcPts val="1200"/>
              </a:spcAft>
              <a:defRPr/>
            </a:pPr>
            <a:r>
              <a:rPr lang="en-US" sz="2000" b="1" i="0" u="none" strike="noStrike">
                <a:solidFill>
                  <a:srgbClr val="2563EB"/>
                </a:solidFill>
                <a:latin typeface="Noto Sans SC"/>
                <a:ea typeface="Noto Sans SC"/>
                <a:cs typeface="Noto Sans SC"/>
                <a:sym typeface="Noto Sans SC"/>
              </a:rPr>
              <a:t>📝 经典示例对比</a:t>
            </a:r>
            <a:endParaRPr lang="en-US" sz="1100"/>
          </a:p>
          <a:p>
            <a:pPr indent="0" algn="l">
              <a:lnSpc>
                <a:spcPct val="100000"/>
              </a:lnSpc>
              <a:spcAft>
                <a:spcPts val="800"/>
              </a:spcAft>
            </a:pPr>
            <a:r>
              <a:rPr lang="en-US" sz="1600" b="1" i="0" u="none" strike="noStrike">
                <a:solidFill>
                  <a:srgbClr val="4B5563"/>
                </a:solidFill>
                <a:latin typeface="Noto Sans SC"/>
                <a:ea typeface="Noto Sans SC"/>
                <a:cs typeface="Noto Sans SC"/>
                <a:sym typeface="Noto Sans SC"/>
              </a:rPr>
              <a:t>❌ 非规范化设计：</a:t>
            </a:r>
            <a:r>
              <a:rPr lang="en-US" sz="1600" b="0" i="0" u="none" strike="noStrike">
                <a:solidFill>
                  <a:srgbClr val="6B7280"/>
                </a:solidFill>
                <a:latin typeface="Noto Sans SC"/>
                <a:ea typeface="Noto Sans SC"/>
                <a:cs typeface="Noto Sans SC"/>
                <a:sym typeface="Noto Sans SC"/>
              </a:rPr>
              <a:t>同一单元格存储多个电话：PHONE = "12345, 67890"</a:t>
            </a:r>
          </a:p>
          <a:p>
            <a:pPr indent="0" algn="l">
              <a:lnSpc>
                <a:spcPct val="100000"/>
              </a:lnSpc>
              <a:spcAft>
                <a:spcPts val="1500"/>
              </a:spcAft>
            </a:pPr>
            <a:r>
              <a:rPr lang="en-US" sz="1600" b="1" i="0" u="none" strike="noStrike">
                <a:solidFill>
                  <a:srgbClr val="16A34A"/>
                </a:solidFill>
                <a:latin typeface="Noto Sans SC"/>
                <a:ea typeface="Noto Sans SC"/>
                <a:cs typeface="Noto Sans SC"/>
                <a:sym typeface="Noto Sans SC"/>
              </a:rPr>
              <a:t>✅ 符合 1NF 设计：</a:t>
            </a:r>
            <a:r>
              <a:rPr lang="en-US" sz="1600" b="0" i="0" u="none" strike="noStrike">
                <a:solidFill>
                  <a:srgbClr val="374151"/>
                </a:solidFill>
                <a:latin typeface="Noto Sans SC"/>
                <a:ea typeface="Noto Sans SC"/>
                <a:cs typeface="Noto Sans SC"/>
                <a:sym typeface="Noto Sans SC"/>
              </a:rPr>
              <a:t>每个电话号码独立</a:t>
            </a:r>
            <a:r>
              <a:rPr lang="zh-CN" altLang="en-US" sz="1600" b="0" i="0" u="none" strike="noStrike">
                <a:solidFill>
                  <a:srgbClr val="374151"/>
                </a:solidFill>
                <a:latin typeface="Noto Sans SC"/>
                <a:ea typeface="Noto Sans SC"/>
                <a:cs typeface="Noto Sans SC"/>
                <a:sym typeface="Noto Sans SC"/>
              </a:rPr>
              <a:t>一行（</a:t>
            </a:r>
            <a:r>
              <a:rPr lang="en-US" sz="1600" b="0" i="0" u="none" strike="noStrike">
                <a:solidFill>
                  <a:srgbClr val="374151"/>
                </a:solidFill>
                <a:latin typeface="Noto Sans SC"/>
                <a:ea typeface="Noto Sans SC"/>
                <a:cs typeface="Noto Sans SC"/>
                <a:sym typeface="Noto Sans SC"/>
              </a:rPr>
              <a:t>元组</a:t>
            </a:r>
            <a:r>
              <a:rPr lang="zh-CN" altLang="en-US" sz="1600" b="0" i="0" u="none" strike="noStrike">
                <a:solidFill>
                  <a:srgbClr val="374151"/>
                </a:solidFill>
                <a:latin typeface="Noto Sans SC"/>
                <a:ea typeface="Noto Sans SC"/>
                <a:cs typeface="Noto Sans SC"/>
                <a:sym typeface="Noto Sans SC"/>
              </a:rPr>
              <a:t>）</a:t>
            </a:r>
            <a:r>
              <a:rPr lang="en-US" sz="1600" b="0" i="0" u="none" strike="noStrike">
                <a:solidFill>
                  <a:srgbClr val="374151"/>
                </a:solidFill>
                <a:latin typeface="Noto Sans SC"/>
                <a:ea typeface="Noto Sans SC"/>
                <a:cs typeface="Noto Sans SC"/>
                <a:sym typeface="Noto Sans SC"/>
              </a:rPr>
              <a:t>，确保“一人一号一行”。</a:t>
            </a:r>
          </a:p>
          <a:p>
            <a:pPr indent="0" algn="l">
              <a:lnSpc>
                <a:spcPct val="100000"/>
              </a:lnSpc>
            </a:pPr>
            <a:endParaRPr lang="en-US" sz="1600" b="0" i="0" u="none" strike="noStrike">
              <a:solidFill>
                <a:srgbClr val="374151"/>
              </a:solidFill>
              <a:latin typeface="Noto Sans SC"/>
              <a:ea typeface="Noto Sans SC"/>
              <a:cs typeface="Noto Sans SC"/>
              <a:sym typeface="Noto Sans SC"/>
            </a:endParaRPr>
          </a:p>
          <a:p>
            <a:pPr indent="0" algn="l">
              <a:lnSpc>
                <a:spcPct val="125000"/>
              </a:lnSpc>
              <a:spcAft>
                <a:spcPts val="1500"/>
              </a:spcAft>
            </a:pPr>
            <a:r>
              <a:rPr lang="en-US" sz="2000" b="1" i="0" u="none" strike="noStrike">
                <a:solidFill>
                  <a:srgbClr val="2563EB"/>
                </a:solidFill>
                <a:latin typeface="Noto Sans SC"/>
                <a:ea typeface="Noto Sans SC"/>
                <a:cs typeface="Noto Sans SC"/>
                <a:sym typeface="Noto Sans SC"/>
              </a:rPr>
              <a:t>🏆 核心地位</a:t>
            </a:r>
          </a:p>
          <a:p>
            <a:pPr indent="0" algn="l">
              <a:lnSpc>
                <a:spcPct val="116666"/>
              </a:lnSpc>
            </a:pPr>
            <a:r>
              <a:rPr lang="en-US" sz="1600" b="0" i="0" u="none" strike="noStrike">
                <a:solidFill>
                  <a:srgbClr val="374151"/>
                </a:solidFill>
                <a:latin typeface="Noto Sans SC"/>
                <a:ea typeface="Noto Sans SC"/>
                <a:cs typeface="Noto Sans SC"/>
                <a:sym typeface="Noto Sans SC"/>
              </a:rPr>
              <a:t>1NF 是关系数据库的</a:t>
            </a:r>
            <a:r>
              <a:rPr lang="en-US" sz="1600" b="1" i="0" u="none" strike="noStrike">
                <a:solidFill>
                  <a:srgbClr val="D97706"/>
                </a:solidFill>
                <a:latin typeface="Noto Sans SC"/>
                <a:ea typeface="Noto Sans SC"/>
                <a:cs typeface="Noto Sans SC"/>
                <a:sym typeface="Noto Sans SC"/>
              </a:rPr>
              <a:t>入门级门槛与基石</a:t>
            </a:r>
            <a:r>
              <a:rPr lang="en-US" sz="1600" b="0" i="0" u="none" strike="noStrike">
                <a:solidFill>
                  <a:srgbClr val="374151"/>
                </a:solidFill>
                <a:latin typeface="Noto Sans SC"/>
                <a:ea typeface="Noto Sans SC"/>
                <a:cs typeface="Noto Sans SC"/>
                <a:sym typeface="Noto Sans SC"/>
              </a:rPr>
              <a:t>。如果一个数据表连第一范式都无法满足，它就不能被称为“关系型”数据表，更无法进一步满足 2NF、3NF 等更高阶范式的要求。</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7.4.2 第二范式 (2NF)</a:t>
            </a:r>
            <a:r>
              <a:rPr lang="zh-CN" altLang="en-US" sz="2400" b="1">
                <a:solidFill>
                  <a:srgbClr val="FFFFFF"/>
                </a:solidFill>
                <a:latin typeface="Noto Sans SC"/>
                <a:ea typeface="Noto Sans SC"/>
                <a:sym typeface="Noto Sans SC"/>
              </a:rPr>
              <a:t>（</a:t>
            </a:r>
            <a:r>
              <a:rPr lang="en-US" altLang="zh-CN" sz="2400" b="1">
                <a:solidFill>
                  <a:srgbClr val="FFFFFF"/>
                </a:solidFill>
                <a:latin typeface="Noto Sans SC"/>
                <a:ea typeface="Noto Sans SC"/>
                <a:sym typeface="Noto Sans SC"/>
              </a:rPr>
              <a:t>1</a:t>
            </a:r>
            <a:r>
              <a:rPr lang="zh-CN" altLang="en-US" sz="2400" b="1">
                <a:solidFill>
                  <a:srgbClr val="FFFFFF"/>
                </a:solidFill>
                <a:latin typeface="Noto Sans SC"/>
                <a:ea typeface="Noto Sans SC"/>
                <a:sym typeface="Noto Sans SC"/>
              </a:rPr>
              <a:t>）</a:t>
            </a:r>
            <a:endParaRPr lang="en-US" sz="2400" b="1">
              <a:solidFill>
                <a:srgbClr val="FFFFFF"/>
              </a:solidFill>
              <a:latin typeface="Noto Sans SC"/>
              <a:ea typeface="Noto Sans SC"/>
            </a:endParaRPr>
          </a:p>
        </p:txBody>
      </p:sp>
      <p:sp>
        <p:nvSpPr>
          <p:cNvPr id="3" name="AutoShape 3"/>
          <p:cNvSpPr/>
          <p:nvPr/>
        </p:nvSpPr>
        <p:spPr>
          <a:xfrm>
            <a:off x="816533" y="1435100"/>
            <a:ext cx="4878545" cy="4637633"/>
          </a:xfrm>
          <a:prstGeom prst="rect">
            <a:avLst/>
          </a:prstGeom>
          <a:noFill/>
          <a:ln w="12700" cap="flat" cmpd="sng">
            <a:noFill/>
            <a:prstDash val="solid"/>
            <a:round/>
          </a:ln>
        </p:spPr>
        <p:txBody>
          <a:bodyPr vert="horz" wrap="square" lIns="88900" tIns="0" rIns="88900" bIns="0" rtlCol="0" anchor="t" anchorCtr="0"/>
          <a:lstStyle/>
          <a:p>
            <a:pPr indent="0" algn="l">
              <a:lnSpc>
                <a:spcPct val="100000"/>
              </a:lnSpc>
              <a:spcBef>
                <a:spcPts val="500"/>
              </a:spcBef>
              <a:defRPr/>
            </a:pPr>
            <a:r>
              <a:rPr lang="en-US" sz="2000" b="1" i="0" u="none" strike="noStrike">
                <a:solidFill>
                  <a:srgbClr val="7030A0"/>
                </a:solidFill>
                <a:latin typeface="Noto Sans SC"/>
                <a:ea typeface="Noto Sans SC"/>
                <a:cs typeface="Noto Sans SC"/>
                <a:sym typeface="Noto Sans SC"/>
              </a:rPr>
              <a:t>▍前置概念</a:t>
            </a:r>
            <a:endParaRPr lang="en-US" sz="1200"/>
          </a:p>
          <a:p>
            <a:pPr algn="l">
              <a:lnSpc>
                <a:spcPct val="125000"/>
              </a:lnSpc>
              <a:spcBef>
                <a:spcPts val="800"/>
              </a:spcBef>
            </a:pPr>
            <a:r>
              <a:rPr lang="en-US" sz="1600" b="1" i="0" u="none" strike="noStrike">
                <a:solidFill>
                  <a:srgbClr val="333333"/>
                </a:solidFill>
                <a:latin typeface="Noto Sans SC"/>
                <a:ea typeface="Noto Sans SC"/>
                <a:cs typeface="Noto Sans SC"/>
                <a:sym typeface="Noto Sans SC"/>
              </a:rPr>
              <a:t>完全依赖：</a:t>
            </a:r>
            <a:r>
              <a:rPr lang="en-US" sz="1600" b="0" i="0" u="none" strike="noStrike">
                <a:solidFill>
                  <a:srgbClr val="555555"/>
                </a:solidFill>
                <a:latin typeface="Noto Sans SC"/>
                <a:ea typeface="Noto Sans SC"/>
                <a:cs typeface="Noto Sans SC"/>
                <a:sym typeface="Noto Sans SC"/>
              </a:rPr>
              <a:t>若X→A，且不存在X的真子</a:t>
            </a:r>
            <a:br>
              <a:rPr lang="en-US" sz="1600" b="0" i="0" u="none" strike="noStrike">
                <a:solidFill>
                  <a:srgbClr val="555555"/>
                </a:solidFill>
                <a:latin typeface="Noto Sans SC"/>
                <a:ea typeface="Noto Sans SC"/>
                <a:cs typeface="Noto Sans SC"/>
                <a:sym typeface="Noto Sans SC"/>
              </a:rPr>
            </a:br>
            <a:r>
              <a:rPr lang="en-US" sz="1600" b="0" i="0" u="none" strike="noStrike">
                <a:solidFill>
                  <a:srgbClr val="555555"/>
                </a:solidFill>
                <a:latin typeface="Noto Sans SC"/>
                <a:ea typeface="Noto Sans SC"/>
                <a:cs typeface="Noto Sans SC"/>
                <a:sym typeface="Noto Sans SC"/>
              </a:rPr>
              <a:t>集X'使X'→A，则A完全函数依赖于X。</a:t>
            </a:r>
          </a:p>
          <a:p>
            <a:pPr algn="l">
              <a:lnSpc>
                <a:spcPct val="125000"/>
              </a:lnSpc>
              <a:spcBef>
                <a:spcPts val="600"/>
              </a:spcBef>
            </a:pPr>
            <a:r>
              <a:rPr lang="en-US" sz="1600" b="1" i="0" u="none" strike="noStrike">
                <a:solidFill>
                  <a:srgbClr val="333333"/>
                </a:solidFill>
                <a:latin typeface="Noto Sans SC"/>
                <a:ea typeface="Noto Sans SC"/>
                <a:cs typeface="Noto Sans SC"/>
                <a:sym typeface="Noto Sans SC"/>
              </a:rPr>
              <a:t>局部/</a:t>
            </a:r>
            <a:r>
              <a:rPr lang="zh-CN" altLang="en-US" sz="1600" b="1" i="0" u="none" strike="noStrike">
                <a:solidFill>
                  <a:srgbClr val="333333"/>
                </a:solidFill>
                <a:latin typeface="Noto Sans SC"/>
                <a:ea typeface="Noto Sans SC"/>
                <a:cs typeface="Noto Sans SC"/>
                <a:sym typeface="Noto Sans SC"/>
              </a:rPr>
              <a:t>部分</a:t>
            </a:r>
            <a:r>
              <a:rPr lang="en-US" sz="1600" b="1" i="0" u="none" strike="noStrike">
                <a:solidFill>
                  <a:srgbClr val="333333"/>
                </a:solidFill>
                <a:latin typeface="Noto Sans SC"/>
                <a:ea typeface="Noto Sans SC"/>
                <a:cs typeface="Noto Sans SC"/>
                <a:sym typeface="Noto Sans SC"/>
              </a:rPr>
              <a:t>依赖：</a:t>
            </a:r>
            <a:r>
              <a:rPr lang="en-US" sz="1600" b="0" i="0" u="none" strike="noStrike">
                <a:solidFill>
                  <a:srgbClr val="555555"/>
                </a:solidFill>
                <a:latin typeface="Noto Sans SC"/>
                <a:ea typeface="Noto Sans SC"/>
                <a:cs typeface="Noto Sans SC"/>
                <a:sym typeface="Noto Sans SC"/>
              </a:rPr>
              <a:t>若X→A，存在X的真子</a:t>
            </a:r>
            <a:br>
              <a:rPr lang="en-US" sz="1600" b="0" i="0" u="none" strike="noStrike">
                <a:solidFill>
                  <a:srgbClr val="555555"/>
                </a:solidFill>
                <a:latin typeface="Noto Sans SC"/>
                <a:ea typeface="Noto Sans SC"/>
                <a:cs typeface="Noto Sans SC"/>
                <a:sym typeface="Noto Sans SC"/>
              </a:rPr>
            </a:br>
            <a:r>
              <a:rPr lang="en-US" sz="1600" b="0" i="0" u="none" strike="noStrike">
                <a:solidFill>
                  <a:srgbClr val="555555"/>
                </a:solidFill>
                <a:latin typeface="Noto Sans SC"/>
                <a:ea typeface="Noto Sans SC"/>
                <a:cs typeface="Noto Sans SC"/>
                <a:sym typeface="Noto Sans SC"/>
              </a:rPr>
              <a:t>集X'使X'→A，则A局部函数依赖于X。</a:t>
            </a:r>
          </a:p>
          <a:p>
            <a:pPr algn="l">
              <a:lnSpc>
                <a:spcPct val="125000"/>
              </a:lnSpc>
              <a:spcBef>
                <a:spcPts val="600"/>
              </a:spcBef>
            </a:pPr>
            <a:r>
              <a:rPr lang="en-US" sz="1600" b="1" i="0" u="none" strike="noStrike">
                <a:solidFill>
                  <a:srgbClr val="333333"/>
                </a:solidFill>
                <a:latin typeface="Noto Sans SC"/>
                <a:ea typeface="Noto Sans SC"/>
                <a:cs typeface="Noto Sans SC"/>
                <a:sym typeface="Noto Sans SC"/>
              </a:rPr>
              <a:t>主</a:t>
            </a:r>
            <a:r>
              <a:rPr lang="zh-CN" altLang="en-US" sz="1600" b="1" i="0" u="none" strike="noStrike">
                <a:solidFill>
                  <a:srgbClr val="333333"/>
                </a:solidFill>
                <a:latin typeface="Noto Sans SC"/>
                <a:ea typeface="Noto Sans SC"/>
                <a:cs typeface="Noto Sans SC"/>
                <a:sym typeface="Noto Sans SC"/>
              </a:rPr>
              <a:t>属性 </a:t>
            </a:r>
            <a:r>
              <a:rPr lang="en-US" sz="1600" b="1" i="0" u="none" strike="noStrike">
                <a:solidFill>
                  <a:srgbClr val="333333"/>
                </a:solidFill>
                <a:latin typeface="Noto Sans SC"/>
                <a:ea typeface="Noto Sans SC"/>
                <a:cs typeface="Noto Sans SC"/>
                <a:sym typeface="Noto Sans SC"/>
              </a:rPr>
              <a:t>/ 非主属性：</a:t>
            </a:r>
            <a:r>
              <a:rPr lang="en-US" sz="1600" b="0" i="0" u="none" strike="noStrike">
                <a:solidFill>
                  <a:srgbClr val="555555"/>
                </a:solidFill>
                <a:latin typeface="Noto Sans SC"/>
                <a:ea typeface="Noto Sans SC"/>
                <a:cs typeface="Noto Sans SC"/>
                <a:sym typeface="Noto Sans SC"/>
              </a:rPr>
              <a:t>包含在任何候选键</a:t>
            </a:r>
            <a:br>
              <a:rPr lang="en-US" sz="1600" b="0" i="0" u="none" strike="noStrike">
                <a:solidFill>
                  <a:srgbClr val="555555"/>
                </a:solidFill>
                <a:latin typeface="Noto Sans SC"/>
                <a:ea typeface="Noto Sans SC"/>
                <a:cs typeface="Noto Sans SC"/>
                <a:sym typeface="Noto Sans SC"/>
              </a:rPr>
            </a:br>
            <a:r>
              <a:rPr lang="en-US" sz="1600" b="0" i="0" u="none" strike="noStrike">
                <a:solidFill>
                  <a:srgbClr val="555555"/>
                </a:solidFill>
                <a:latin typeface="Noto Sans SC"/>
                <a:ea typeface="Noto Sans SC"/>
                <a:cs typeface="Noto Sans SC"/>
                <a:sym typeface="Noto Sans SC"/>
              </a:rPr>
              <a:t>中的属性是主属性，否则为非主属性。</a:t>
            </a:r>
          </a:p>
          <a:p>
            <a:pPr indent="0" algn="l">
              <a:lnSpc>
                <a:spcPct val="100000"/>
              </a:lnSpc>
              <a:spcBef>
                <a:spcPts val="1800"/>
              </a:spcBef>
            </a:pPr>
            <a:r>
              <a:rPr lang="en-US" sz="2000" b="1" i="0" u="none" strike="noStrike">
                <a:solidFill>
                  <a:srgbClr val="7030A0"/>
                </a:solidFill>
                <a:latin typeface="Noto Sans SC"/>
                <a:ea typeface="Noto Sans SC"/>
                <a:cs typeface="Noto Sans SC"/>
                <a:sym typeface="Noto Sans SC"/>
              </a:rPr>
              <a:t>▍定义 7.19 (2NF)</a:t>
            </a:r>
          </a:p>
          <a:p>
            <a:pPr indent="0" algn="l">
              <a:lnSpc>
                <a:spcPct val="116666"/>
              </a:lnSpc>
              <a:spcBef>
                <a:spcPts val="800"/>
              </a:spcBef>
            </a:pPr>
            <a:r>
              <a:rPr lang="en-US" sz="1600" b="0" i="0" u="none" strike="noStrike">
                <a:solidFill>
                  <a:srgbClr val="333333"/>
                </a:solidFill>
                <a:latin typeface="Noto Sans SC"/>
                <a:ea typeface="Noto Sans SC"/>
                <a:cs typeface="Noto Sans SC"/>
                <a:sym typeface="Noto Sans SC"/>
              </a:rPr>
              <a:t>若关系模式 R 满足</a:t>
            </a:r>
            <a:r>
              <a:rPr lang="en-US" sz="1600" b="1" i="0" u="none" strike="noStrike">
                <a:solidFill>
                  <a:srgbClr val="D93025"/>
                </a:solidFill>
                <a:latin typeface="Noto Sans SC"/>
                <a:ea typeface="Noto Sans SC"/>
                <a:cs typeface="Noto Sans SC"/>
                <a:sym typeface="Noto Sans SC"/>
              </a:rPr>
              <a:t>1NF</a:t>
            </a:r>
            <a:r>
              <a:rPr lang="en-US" sz="1600" b="0" i="0" u="none" strike="noStrike">
                <a:solidFill>
                  <a:srgbClr val="333333"/>
                </a:solidFill>
                <a:latin typeface="Noto Sans SC"/>
                <a:ea typeface="Noto Sans SC"/>
                <a:cs typeface="Noto Sans SC"/>
                <a:sym typeface="Noto Sans SC"/>
              </a:rPr>
              <a:t>，且</a:t>
            </a:r>
            <a:r>
              <a:rPr lang="en-US" sz="1600" b="1" i="0" u="none" strike="noStrike">
                <a:solidFill>
                  <a:srgbClr val="C2410C"/>
                </a:solidFill>
                <a:latin typeface="Noto Sans SC"/>
                <a:ea typeface="Noto Sans SC"/>
                <a:cs typeface="Noto Sans SC"/>
                <a:sym typeface="Noto Sans SC"/>
              </a:rPr>
              <a:t>每个非主属性都完全函数依赖于R的候选键</a:t>
            </a:r>
            <a:r>
              <a:rPr lang="en-US" sz="1600" b="0" i="0" u="none" strike="noStrike">
                <a:solidFill>
                  <a:srgbClr val="333333"/>
                </a:solidFill>
                <a:latin typeface="Noto Sans SC"/>
                <a:ea typeface="Noto Sans SC"/>
                <a:cs typeface="Noto Sans SC"/>
                <a:sym typeface="Noto Sans SC"/>
              </a:rPr>
              <a:t>，则称R为第二范式的模式。</a:t>
            </a:r>
          </a:p>
          <a:p>
            <a:pPr indent="0" algn="l">
              <a:lnSpc>
                <a:spcPct val="100000"/>
              </a:lnSpc>
              <a:spcBef>
                <a:spcPts val="1800"/>
              </a:spcBef>
            </a:pPr>
            <a:r>
              <a:rPr lang="en-US" sz="2000" b="1" i="0" u="none" strike="noStrike">
                <a:solidFill>
                  <a:srgbClr val="7030A0"/>
                </a:solidFill>
                <a:latin typeface="Noto Sans SC"/>
                <a:ea typeface="Noto Sans SC"/>
                <a:cs typeface="Noto Sans SC"/>
                <a:sym typeface="Noto Sans SC"/>
              </a:rPr>
              <a:t>▍</a:t>
            </a:r>
            <a:r>
              <a:rPr lang="zh-CN" altLang="en-US" sz="2000" b="1" i="0" u="none" strike="noStrike">
                <a:solidFill>
                  <a:srgbClr val="7030A0"/>
                </a:solidFill>
                <a:latin typeface="Noto Sans SC"/>
                <a:ea typeface="Noto Sans SC"/>
                <a:cs typeface="Noto Sans SC"/>
                <a:sym typeface="Noto Sans SC"/>
              </a:rPr>
              <a:t>核心</a:t>
            </a:r>
            <a:r>
              <a:rPr lang="en-US" sz="2000" b="1" i="0" u="none" strike="noStrike">
                <a:solidFill>
                  <a:srgbClr val="7030A0"/>
                </a:solidFill>
                <a:latin typeface="Noto Sans SC"/>
                <a:ea typeface="Noto Sans SC"/>
                <a:cs typeface="Noto Sans SC"/>
                <a:sym typeface="Noto Sans SC"/>
              </a:rPr>
              <a:t>目标</a:t>
            </a:r>
          </a:p>
          <a:p>
            <a:pPr indent="0" algn="l">
              <a:lnSpc>
                <a:spcPct val="116666"/>
              </a:lnSpc>
              <a:spcBef>
                <a:spcPts val="800"/>
              </a:spcBef>
            </a:pPr>
            <a:r>
              <a:rPr lang="en-US" sz="1600" b="1" i="0" u="none" strike="noStrike">
                <a:solidFill>
                  <a:srgbClr val="1F2329"/>
                </a:solidFill>
                <a:latin typeface="Noto Sans SC"/>
                <a:ea typeface="Noto Sans SC"/>
                <a:cs typeface="Noto Sans SC"/>
                <a:sym typeface="Noto Sans SC"/>
              </a:rPr>
              <a:t>消除非主属性对候选键的“局部函数依赖”。</a:t>
            </a:r>
          </a:p>
        </p:txBody>
      </p:sp>
      <p:sp>
        <p:nvSpPr>
          <p:cNvPr id="4" name="AutoShape 4"/>
          <p:cNvSpPr/>
          <p:nvPr/>
        </p:nvSpPr>
        <p:spPr>
          <a:xfrm>
            <a:off x="7982266" y="1435100"/>
            <a:ext cx="607236" cy="43434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关键</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概念</a:t>
            </a:r>
            <a:endParaRPr lang="en-US" sz="1600" b="1">
              <a:solidFill>
                <a:srgbClr val="FFFFFF"/>
              </a:solidFill>
              <a:latin typeface="Noto Sans SC"/>
              <a:ea typeface="Noto Sans SC"/>
            </a:endParaRPr>
          </a:p>
        </p:txBody>
      </p:sp>
      <p:sp>
        <p:nvSpPr>
          <p:cNvPr id="5" name="AutoShape 5"/>
          <p:cNvSpPr/>
          <p:nvPr/>
        </p:nvSpPr>
        <p:spPr>
          <a:xfrm>
            <a:off x="8589502" y="1435100"/>
            <a:ext cx="2764297" cy="647700"/>
          </a:xfrm>
          <a:prstGeom prst="roundRect">
            <a:avLst>
              <a:gd name="adj" fmla="val 0"/>
            </a:avLst>
          </a:prstGeom>
          <a:solidFill>
            <a:srgbClr val="1E293B">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 完全函数依赖</a:t>
            </a:r>
            <a:endParaRPr lang="en-US" sz="1600"/>
          </a:p>
        </p:txBody>
      </p:sp>
      <p:sp>
        <p:nvSpPr>
          <p:cNvPr id="6" name="AutoShape 6"/>
          <p:cNvSpPr/>
          <p:nvPr/>
        </p:nvSpPr>
        <p:spPr>
          <a:xfrm>
            <a:off x="8589502" y="2362200"/>
            <a:ext cx="2764297" cy="647700"/>
          </a:xfrm>
          <a:prstGeom prst="roundRect">
            <a:avLst>
              <a:gd name="adj" fmla="val 0"/>
            </a:avLst>
          </a:prstGeom>
          <a:solidFill>
            <a:srgbClr val="1E293B">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 局部函数依赖</a:t>
            </a:r>
            <a:endParaRPr lang="en-US" sz="1600"/>
          </a:p>
        </p:txBody>
      </p:sp>
      <p:sp>
        <p:nvSpPr>
          <p:cNvPr id="7" name="AutoShape 7"/>
          <p:cNvSpPr/>
          <p:nvPr/>
        </p:nvSpPr>
        <p:spPr>
          <a:xfrm>
            <a:off x="8589502" y="3302000"/>
            <a:ext cx="2764297" cy="647700"/>
          </a:xfrm>
          <a:prstGeom prst="roundRect">
            <a:avLst>
              <a:gd name="adj" fmla="val 0"/>
            </a:avLst>
          </a:prstGeom>
          <a:solidFill>
            <a:srgbClr val="1E293B">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 主属性 (Key Attribute)</a:t>
            </a:r>
            <a:endParaRPr lang="en-US" sz="1600"/>
          </a:p>
        </p:txBody>
      </p:sp>
      <p:sp>
        <p:nvSpPr>
          <p:cNvPr id="8" name="AutoShape 8"/>
          <p:cNvSpPr/>
          <p:nvPr/>
        </p:nvSpPr>
        <p:spPr>
          <a:xfrm>
            <a:off x="8589502" y="4241800"/>
            <a:ext cx="2764297" cy="647700"/>
          </a:xfrm>
          <a:prstGeom prst="roundRect">
            <a:avLst>
              <a:gd name="adj" fmla="val 0"/>
            </a:avLst>
          </a:prstGeom>
          <a:solidFill>
            <a:srgbClr val="1E293B">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 非主属性 (Non-key)</a:t>
            </a:r>
            <a:endParaRPr lang="en-US" sz="1600"/>
          </a:p>
        </p:txBody>
      </p:sp>
      <p:sp>
        <p:nvSpPr>
          <p:cNvPr id="9" name="AutoShape 9"/>
          <p:cNvSpPr/>
          <p:nvPr/>
        </p:nvSpPr>
        <p:spPr>
          <a:xfrm>
            <a:off x="8589502" y="5130800"/>
            <a:ext cx="2764297" cy="647700"/>
          </a:xfrm>
          <a:prstGeom prst="roundRect">
            <a:avLst>
              <a:gd name="adj" fmla="val 0"/>
            </a:avLst>
          </a:prstGeom>
          <a:solidFill>
            <a:srgbClr val="D93025">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 消除非主属性的局部依赖</a:t>
            </a:r>
            <a:endParaRPr lang="en-US" sz="1600"/>
          </a:p>
        </p:txBody>
      </p:sp>
      <p:pic>
        <p:nvPicPr>
          <p:cNvPr id="16" name="图片 15">
            <a:extLst>
              <a:ext uri="{FF2B5EF4-FFF2-40B4-BE49-F238E27FC236}">
                <a16:creationId xmlns:a16="http://schemas.microsoft.com/office/drawing/2014/main" id="{21A30F47-CD2A-7F4B-0350-ED9C97CC640C}"/>
              </a:ext>
            </a:extLst>
          </p:cNvPr>
          <p:cNvPicPr>
            <a:picLocks noChangeAspect="1"/>
          </p:cNvPicPr>
          <p:nvPr/>
        </p:nvPicPr>
        <p:blipFill>
          <a:blip r:embed="rId3"/>
          <a:stretch>
            <a:fillRect/>
          </a:stretch>
        </p:blipFill>
        <p:spPr>
          <a:xfrm>
            <a:off x="4952550" y="2082800"/>
            <a:ext cx="2051059" cy="1324257"/>
          </a:xfrm>
          <a:prstGeom prst="rect">
            <a:avLst/>
          </a:prstGeom>
        </p:spPr>
      </p:pic>
      <p:pic>
        <p:nvPicPr>
          <p:cNvPr id="18" name="图片 17">
            <a:extLst>
              <a:ext uri="{FF2B5EF4-FFF2-40B4-BE49-F238E27FC236}">
                <a16:creationId xmlns:a16="http://schemas.microsoft.com/office/drawing/2014/main" id="{082F0DCB-C4E2-F5EC-D860-D7781E8ABC70}"/>
              </a:ext>
            </a:extLst>
          </p:cNvPr>
          <p:cNvPicPr>
            <a:picLocks noChangeAspect="1"/>
          </p:cNvPicPr>
          <p:nvPr/>
        </p:nvPicPr>
        <p:blipFill>
          <a:blip r:embed="rId4"/>
          <a:stretch>
            <a:fillRect/>
          </a:stretch>
        </p:blipFill>
        <p:spPr>
          <a:xfrm>
            <a:off x="5132739" y="4801159"/>
            <a:ext cx="1926522" cy="1243482"/>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3" name="AutoShape 3"/>
          <p:cNvSpPr/>
          <p:nvPr/>
        </p:nvSpPr>
        <p:spPr>
          <a:xfrm>
            <a:off x="838199" y="1893457"/>
            <a:ext cx="4557459" cy="386956"/>
          </a:xfrm>
          <a:prstGeom prst="rect">
            <a:avLst/>
          </a:prstGeom>
          <a:solidFill>
            <a:srgbClr val="FFC000">
              <a:alpha val="100000"/>
            </a:srgbClr>
          </a:solidFill>
          <a:ln w="12700" cap="flat" cmpd="sng">
            <a:noFill/>
            <a:prstDash val="solid"/>
            <a:round/>
          </a:ln>
        </p:spPr>
        <p:txBody>
          <a:bodyPr vert="horz" wrap="square" lIns="0" tIns="36000" rIns="0" bIns="36000" rtlCol="0" anchor="ctr" anchorCtr="0">
            <a:spAutoFit/>
          </a:bodyPr>
          <a:lstStyle/>
          <a:p>
            <a:pPr indent="0" algn="ctr">
              <a:lnSpc>
                <a:spcPct val="125000"/>
              </a:lnSpc>
              <a:defRPr/>
            </a:pPr>
            <a:r>
              <a:rPr lang="en-US" sz="1800" b="1" i="0" u="none" strike="noStrike">
                <a:solidFill>
                  <a:srgbClr val="333333"/>
                </a:solidFill>
                <a:latin typeface="Noto Sans SC"/>
                <a:ea typeface="Noto Sans SC"/>
                <a:cs typeface="Noto Sans SC"/>
                <a:sym typeface="Noto Sans SC"/>
              </a:rPr>
              <a:t>违反2NF的关系模式</a:t>
            </a:r>
            <a:endParaRPr lang="en-US" sz="1100"/>
          </a:p>
        </p:txBody>
      </p:sp>
      <p:sp>
        <p:nvSpPr>
          <p:cNvPr id="4" name="AutoShape 4"/>
          <p:cNvSpPr/>
          <p:nvPr/>
        </p:nvSpPr>
        <p:spPr>
          <a:xfrm>
            <a:off x="838199" y="2465932"/>
            <a:ext cx="4557459" cy="1215717"/>
          </a:xfrm>
          <a:prstGeom prst="rect">
            <a:avLst/>
          </a:prstGeom>
          <a:noFill/>
          <a:ln w="12700" cap="flat" cmpd="sng">
            <a:noFill/>
            <a:prstDash val="solid"/>
            <a:round/>
          </a:ln>
        </p:spPr>
        <p:txBody>
          <a:bodyPr vert="horz" wrap="square" lIns="0" tIns="0" rIns="0" bIns="0" rtlCol="0" anchor="t" anchorCtr="0">
            <a:spAutoFit/>
          </a:bodyPr>
          <a:lstStyle/>
          <a:p>
            <a:pPr indent="0" algn="l">
              <a:spcAft>
                <a:spcPts val="600"/>
              </a:spcAft>
              <a:defRPr/>
            </a:pPr>
            <a:r>
              <a:rPr lang="en-US" sz="1600" b="1" i="0" u="none" strike="noStrike">
                <a:solidFill>
                  <a:srgbClr val="000000"/>
                </a:solidFill>
                <a:latin typeface="Noto Sans SC"/>
                <a:ea typeface="Noto Sans SC"/>
                <a:cs typeface="Noto Sans SC"/>
                <a:sym typeface="Noto Sans SC"/>
              </a:rPr>
              <a:t>关系模式：</a:t>
            </a:r>
            <a:r>
              <a:rPr lang="en-US" sz="1600" b="0" i="0" u="none" strike="noStrike">
                <a:solidFill>
                  <a:srgbClr val="000000"/>
                </a:solidFill>
                <a:latin typeface="Noto Sans SC"/>
                <a:ea typeface="Noto Sans SC"/>
                <a:cs typeface="Noto Sans SC"/>
                <a:sym typeface="Noto Sans SC"/>
              </a:rPr>
              <a:t>R(S#, C#, Score, T#, Title)</a:t>
            </a:r>
            <a:endParaRPr lang="en-US" sz="1600"/>
          </a:p>
          <a:p>
            <a:pPr indent="0" algn="l">
              <a:spcAft>
                <a:spcPts val="600"/>
              </a:spcAft>
            </a:pPr>
            <a:r>
              <a:rPr lang="en-US" sz="1600" b="1" i="0" u="none" strike="noStrike">
                <a:solidFill>
                  <a:srgbClr val="000000"/>
                </a:solidFill>
                <a:latin typeface="Noto Sans SC"/>
                <a:ea typeface="Noto Sans SC"/>
                <a:cs typeface="Noto Sans SC"/>
                <a:sym typeface="Noto Sans SC"/>
              </a:rPr>
              <a:t>候选键</a:t>
            </a:r>
            <a:r>
              <a:rPr lang="zh-CN" altLang="en-US" sz="1600" b="1" i="0" u="none" strike="noStrike">
                <a:solidFill>
                  <a:srgbClr val="000000"/>
                </a:solidFill>
                <a:latin typeface="Noto Sans SC"/>
                <a:ea typeface="Noto Sans SC"/>
                <a:cs typeface="Noto Sans SC"/>
                <a:sym typeface="Noto Sans SC"/>
              </a:rPr>
              <a:t>（</a:t>
            </a:r>
            <a:r>
              <a:rPr lang="en-US" altLang="zh-CN" sz="1600" b="1" i="0" u="none" strike="noStrike">
                <a:solidFill>
                  <a:srgbClr val="000000"/>
                </a:solidFill>
                <a:latin typeface="Noto Sans SC"/>
                <a:ea typeface="Noto Sans SC"/>
                <a:cs typeface="Noto Sans SC"/>
                <a:sym typeface="Noto Sans SC"/>
              </a:rPr>
              <a:t>CK</a:t>
            </a:r>
            <a:r>
              <a:rPr lang="zh-CN" altLang="en-US" sz="1600" b="1" i="0" u="none" strike="noStrike">
                <a:solidFill>
                  <a:srgbClr val="000000"/>
                </a:solidFill>
                <a:latin typeface="Noto Sans SC"/>
                <a:ea typeface="Noto Sans SC"/>
                <a:cs typeface="Noto Sans SC"/>
                <a:sym typeface="Noto Sans SC"/>
              </a:rPr>
              <a:t>）</a:t>
            </a:r>
            <a:r>
              <a:rPr lang="en-US" sz="1600" b="1" i="0" u="none" strike="noStrike">
                <a:solidFill>
                  <a:srgbClr val="000000"/>
                </a:solidFill>
                <a:latin typeface="Noto Sans SC"/>
                <a:ea typeface="Noto Sans SC"/>
                <a:cs typeface="Noto Sans SC"/>
                <a:sym typeface="Noto Sans SC"/>
              </a:rPr>
              <a:t>：</a:t>
            </a:r>
            <a:r>
              <a:rPr lang="en-US" sz="1600" b="1" i="0" u="none" strike="noStrike">
                <a:solidFill>
                  <a:srgbClr val="C00000"/>
                </a:solidFill>
                <a:latin typeface="Noto Sans SC"/>
                <a:ea typeface="Noto Sans SC"/>
                <a:cs typeface="Noto Sans SC"/>
                <a:sym typeface="Noto Sans SC"/>
              </a:rPr>
              <a:t>(S#, C#)	</a:t>
            </a:r>
          </a:p>
          <a:p>
            <a:pPr indent="0" algn="l">
              <a:spcAft>
                <a:spcPts val="600"/>
              </a:spcAft>
            </a:pPr>
            <a:r>
              <a:rPr lang="zh-CN" altLang="en-US" sz="1600" b="1" i="0" u="none" strike="noStrike">
                <a:solidFill>
                  <a:schemeClr val="tx1"/>
                </a:solidFill>
                <a:latin typeface="Noto Sans SC"/>
                <a:ea typeface="Noto Sans SC"/>
                <a:cs typeface="Noto Sans SC"/>
                <a:sym typeface="Noto Sans SC"/>
              </a:rPr>
              <a:t>主属性：</a:t>
            </a:r>
            <a:r>
              <a:rPr lang="en-US" altLang="zh-CN" sz="1600">
                <a:solidFill>
                  <a:schemeClr val="tx1"/>
                </a:solidFill>
                <a:latin typeface="Noto Sans SC"/>
                <a:ea typeface="Noto Sans SC"/>
                <a:cs typeface="Noto Sans SC"/>
                <a:sym typeface="Noto Sans SC"/>
              </a:rPr>
              <a:t>S#, C#	</a:t>
            </a:r>
            <a:r>
              <a:rPr lang="zh-CN" altLang="en-US" sz="1600" b="1" i="0" u="none" strike="noStrike">
                <a:solidFill>
                  <a:schemeClr val="tx1"/>
                </a:solidFill>
                <a:latin typeface="Noto Sans SC"/>
                <a:ea typeface="Noto Sans SC"/>
                <a:cs typeface="Noto Sans SC"/>
                <a:sym typeface="Noto Sans SC"/>
              </a:rPr>
              <a:t>非主属性：</a:t>
            </a:r>
            <a:r>
              <a:rPr lang="en-US" altLang="zh-CN" sz="1600" b="1">
                <a:latin typeface="Noto Sans SC"/>
                <a:ea typeface="Noto Sans SC"/>
                <a:cs typeface="Noto Sans SC"/>
                <a:sym typeface="Noto Sans SC"/>
              </a:rPr>
              <a:t> </a:t>
            </a:r>
            <a:r>
              <a:rPr lang="en-US" altLang="zh-CN" sz="1600">
                <a:latin typeface="Noto Sans SC"/>
                <a:ea typeface="Noto Sans SC"/>
                <a:cs typeface="Noto Sans SC"/>
                <a:sym typeface="Noto Sans SC"/>
              </a:rPr>
              <a:t>Score, T#, Title</a:t>
            </a:r>
            <a:endParaRPr lang="en-US" sz="1600" i="0" u="none" strike="noStrike">
              <a:solidFill>
                <a:schemeClr val="tx1"/>
              </a:solidFill>
              <a:latin typeface="Noto Sans SC"/>
              <a:ea typeface="Noto Sans SC"/>
              <a:cs typeface="Noto Sans SC"/>
              <a:sym typeface="Noto Sans SC"/>
            </a:endParaRPr>
          </a:p>
          <a:p>
            <a:pPr>
              <a:spcAft>
                <a:spcPts val="600"/>
              </a:spcAft>
            </a:pPr>
            <a:r>
              <a:rPr lang="en-US" sz="1600" b="1" i="0" u="none" strike="noStrike">
                <a:solidFill>
                  <a:srgbClr val="000000"/>
                </a:solidFill>
                <a:latin typeface="Noto Sans SC"/>
                <a:ea typeface="Noto Sans SC"/>
                <a:cs typeface="Noto Sans SC"/>
                <a:sym typeface="Noto Sans SC"/>
              </a:rPr>
              <a:t>函数依赖</a:t>
            </a:r>
            <a:r>
              <a:rPr lang="zh-CN" altLang="en-US" sz="1600" b="1" i="0" u="none" strike="noStrike">
                <a:solidFill>
                  <a:srgbClr val="000000"/>
                </a:solidFill>
                <a:latin typeface="Noto Sans SC"/>
                <a:ea typeface="Noto Sans SC"/>
                <a:cs typeface="Noto Sans SC"/>
                <a:sym typeface="Noto Sans SC"/>
              </a:rPr>
              <a:t>：</a:t>
            </a:r>
            <a:endParaRPr lang="en-US" sz="1600" b="0" i="0" u="none" strike="noStrike">
              <a:solidFill>
                <a:srgbClr val="000000"/>
              </a:solidFill>
              <a:latin typeface="Noto Sans SC"/>
              <a:ea typeface="Noto Sans SC"/>
              <a:cs typeface="Noto Sans SC"/>
              <a:sym typeface="Noto Sans SC"/>
            </a:endParaRPr>
          </a:p>
        </p:txBody>
      </p:sp>
      <p:sp>
        <p:nvSpPr>
          <p:cNvPr id="5" name="AutoShape 5"/>
          <p:cNvSpPr/>
          <p:nvPr/>
        </p:nvSpPr>
        <p:spPr>
          <a:xfrm>
            <a:off x="5975011" y="1223851"/>
            <a:ext cx="1326012" cy="1079967"/>
          </a:xfrm>
          <a:prstGeom prst="rect">
            <a:avLst/>
          </a:prstGeom>
          <a:solidFill>
            <a:srgbClr val="FFC000">
              <a:alpha val="100000"/>
            </a:srgbClr>
          </a:solidFill>
          <a:ln w="12700" cap="flat" cmpd="sng">
            <a:noFill/>
            <a:prstDash val="solid"/>
            <a:round/>
          </a:ln>
        </p:spPr>
        <p:txBody>
          <a:bodyPr vert="horz" wrap="square" lIns="0" tIns="36000" rIns="0" bIns="36000" rtlCol="0" anchor="ctr" anchorCtr="0">
            <a:spAutoFit/>
          </a:bodyPr>
          <a:lstStyle/>
          <a:p>
            <a:pPr algn="ctr">
              <a:lnSpc>
                <a:spcPct val="125000"/>
              </a:lnSpc>
            </a:pPr>
            <a:r>
              <a:rPr lang="en-US" sz="1800" b="1">
                <a:solidFill>
                  <a:srgbClr val="333333"/>
                </a:solidFill>
                <a:latin typeface="Noto Sans SC"/>
                <a:ea typeface="Noto Sans SC"/>
                <a:sym typeface="Noto Sans SC"/>
              </a:rPr>
              <a:t>分解</a:t>
            </a:r>
            <a:r>
              <a:rPr lang="zh-CN" altLang="en-US" sz="1800" b="1">
                <a:solidFill>
                  <a:srgbClr val="333333"/>
                </a:solidFill>
                <a:latin typeface="Noto Sans SC"/>
                <a:ea typeface="Noto Sans SC"/>
                <a:sym typeface="Noto Sans SC"/>
              </a:rPr>
              <a:t>为</a:t>
            </a:r>
            <a:r>
              <a:rPr lang="en-US" sz="1800" b="1">
                <a:solidFill>
                  <a:srgbClr val="333333"/>
                </a:solidFill>
                <a:latin typeface="Noto Sans SC"/>
                <a:ea typeface="Noto Sans SC"/>
                <a:sym typeface="Noto Sans SC"/>
              </a:rPr>
              <a:t>满足 2NF</a:t>
            </a:r>
            <a:r>
              <a:rPr lang="zh-CN" altLang="en-US" sz="1800" b="1">
                <a:solidFill>
                  <a:srgbClr val="333333"/>
                </a:solidFill>
                <a:latin typeface="Noto Sans SC"/>
                <a:ea typeface="Noto Sans SC"/>
                <a:sym typeface="Noto Sans SC"/>
              </a:rPr>
              <a:t>的多个关系模式</a:t>
            </a:r>
            <a:endParaRPr lang="en-US" sz="1800" b="1">
              <a:solidFill>
                <a:srgbClr val="333333"/>
              </a:solidFill>
              <a:latin typeface="Noto Sans SC"/>
              <a:ea typeface="Noto Sans SC"/>
            </a:endParaRPr>
          </a:p>
        </p:txBody>
      </p:sp>
      <p:sp>
        <p:nvSpPr>
          <p:cNvPr id="6" name="AutoShape 6"/>
          <p:cNvSpPr/>
          <p:nvPr/>
        </p:nvSpPr>
        <p:spPr>
          <a:xfrm>
            <a:off x="9234742" y="3736140"/>
            <a:ext cx="2119058" cy="1587807"/>
          </a:xfrm>
          <a:prstGeom prst="rect">
            <a:avLst/>
          </a:prstGeom>
          <a:noFill/>
          <a:ln w="12700" cap="flat" cmpd="sng">
            <a:noFill/>
            <a:prstDash val="solid"/>
            <a:round/>
          </a:ln>
        </p:spPr>
        <p:txBody>
          <a:bodyPr vert="horz" wrap="square" lIns="0" tIns="0" rIns="0" bIns="0" rtlCol="0" anchor="t" anchorCtr="0">
            <a:spAutoFit/>
          </a:bodyPr>
          <a:lstStyle/>
          <a:p>
            <a:pPr>
              <a:lnSpc>
                <a:spcPct val="125000"/>
              </a:lnSpc>
              <a:defRPr/>
            </a:pPr>
            <a:r>
              <a:rPr lang="en-US" altLang="zh-CN" sz="1600" b="1">
                <a:latin typeface="Noto Sans SC"/>
                <a:ea typeface="Noto Sans SC"/>
                <a:cs typeface="Noto Sans SC"/>
                <a:sym typeface="Noto Sans SC"/>
              </a:rPr>
              <a:t>课程与教师信息表R2</a:t>
            </a:r>
            <a:r>
              <a:rPr lang="zh-CN" altLang="en-US" sz="1600">
                <a:solidFill>
                  <a:srgbClr val="1E50A0"/>
                </a:solidFill>
                <a:latin typeface="Noto Sans SC"/>
                <a:ea typeface="Noto Sans SC"/>
                <a:sym typeface="Noto Sans SC"/>
              </a:rPr>
              <a:t>：</a:t>
            </a:r>
            <a:br>
              <a:rPr lang="en-US" altLang="zh-CN" sz="1600">
                <a:solidFill>
                  <a:srgbClr val="1E50A0"/>
                </a:solidFill>
                <a:latin typeface="Noto Sans SC"/>
                <a:ea typeface="Noto Sans SC"/>
                <a:sym typeface="Noto Sans SC"/>
              </a:rPr>
            </a:br>
            <a:r>
              <a:rPr lang="en-US" altLang="zh-CN" sz="1600">
                <a:solidFill>
                  <a:srgbClr val="1E50A0"/>
                </a:solidFill>
                <a:latin typeface="Noto Sans SC"/>
                <a:ea typeface="Noto Sans SC"/>
                <a:sym typeface="Noto Sans SC"/>
              </a:rPr>
              <a:t>  CK=(C#)=PK</a:t>
            </a:r>
          </a:p>
          <a:p>
            <a:pPr>
              <a:lnSpc>
                <a:spcPct val="125000"/>
              </a:lnSpc>
              <a:spcBef>
                <a:spcPts val="600"/>
              </a:spcBef>
              <a:defRPr/>
            </a:pPr>
            <a:r>
              <a:rPr lang="en-US" altLang="zh-CN" sz="1600" b="1">
                <a:latin typeface="Noto Sans SC"/>
                <a:ea typeface="Noto Sans SC"/>
                <a:cs typeface="Noto Sans SC"/>
                <a:sym typeface="Noto Sans SC"/>
              </a:rPr>
              <a:t>学生选课</a:t>
            </a:r>
            <a:r>
              <a:rPr lang="zh-CN" altLang="en-US" sz="1600" b="1">
                <a:latin typeface="Noto Sans SC"/>
                <a:ea typeface="Noto Sans SC"/>
                <a:cs typeface="Noto Sans SC"/>
                <a:sym typeface="Noto Sans SC"/>
              </a:rPr>
              <a:t>及</a:t>
            </a:r>
            <a:r>
              <a:rPr lang="en-US" altLang="zh-CN" sz="1600" b="1">
                <a:latin typeface="Noto Sans SC"/>
                <a:ea typeface="Noto Sans SC"/>
                <a:cs typeface="Noto Sans SC"/>
                <a:sym typeface="Noto Sans SC"/>
              </a:rPr>
              <a:t>成绩表R1</a:t>
            </a:r>
            <a:r>
              <a:rPr lang="zh-CN" altLang="en-US" sz="1600">
                <a:solidFill>
                  <a:srgbClr val="1E50A0"/>
                </a:solidFill>
                <a:latin typeface="Noto Sans SC"/>
                <a:ea typeface="Noto Sans SC"/>
                <a:sym typeface="Noto Sans SC"/>
              </a:rPr>
              <a:t>：</a:t>
            </a:r>
            <a:br>
              <a:rPr lang="en-US" altLang="zh-CN" sz="1600">
                <a:solidFill>
                  <a:srgbClr val="1E50A0"/>
                </a:solidFill>
                <a:latin typeface="Noto Sans SC"/>
                <a:ea typeface="Noto Sans SC"/>
                <a:sym typeface="Noto Sans SC"/>
              </a:rPr>
            </a:br>
            <a:r>
              <a:rPr lang="en-US" altLang="zh-CN" sz="1600">
                <a:solidFill>
                  <a:srgbClr val="1E50A0"/>
                </a:solidFill>
                <a:latin typeface="Noto Sans SC"/>
                <a:ea typeface="Noto Sans SC"/>
                <a:sym typeface="Noto Sans SC"/>
              </a:rPr>
              <a:t>  CK=(S#, C#)=PK</a:t>
            </a:r>
          </a:p>
          <a:p>
            <a:pPr>
              <a:lnSpc>
                <a:spcPct val="125000"/>
              </a:lnSpc>
              <a:defRPr/>
            </a:pPr>
            <a:r>
              <a:rPr lang="en-US" altLang="zh-CN" sz="1600">
                <a:solidFill>
                  <a:srgbClr val="1E50A0"/>
                </a:solidFill>
                <a:latin typeface="Noto Sans SC"/>
                <a:ea typeface="Noto Sans SC"/>
                <a:sym typeface="Noto Sans SC"/>
              </a:rPr>
              <a:t>  FK=C#</a:t>
            </a:r>
            <a:r>
              <a:rPr lang="zh-CN" altLang="en-US" sz="1600">
                <a:solidFill>
                  <a:srgbClr val="1E50A0"/>
                </a:solidFill>
                <a:latin typeface="Noto Sans SC"/>
                <a:ea typeface="Noto Sans SC"/>
                <a:sym typeface="Noto Sans SC"/>
              </a:rPr>
              <a:t>）引用</a:t>
            </a:r>
            <a:r>
              <a:rPr lang="en-US" altLang="zh-CN" sz="1600">
                <a:solidFill>
                  <a:srgbClr val="1E50A0"/>
                </a:solidFill>
                <a:latin typeface="Noto Sans SC"/>
                <a:ea typeface="Noto Sans SC"/>
                <a:sym typeface="Noto Sans SC"/>
              </a:rPr>
              <a:t>R2.PK</a:t>
            </a:r>
          </a:p>
        </p:txBody>
      </p:sp>
      <p:sp>
        <p:nvSpPr>
          <p:cNvPr id="7" name="AutoShape 7"/>
          <p:cNvSpPr/>
          <p:nvPr/>
        </p:nvSpPr>
        <p:spPr>
          <a:xfrm>
            <a:off x="5975010" y="5800002"/>
            <a:ext cx="5378790" cy="732555"/>
          </a:xfrm>
          <a:prstGeom prst="rect">
            <a:avLst/>
          </a:prstGeom>
          <a:solidFill>
            <a:srgbClr val="F0F9EB">
              <a:alpha val="100000"/>
            </a:srgbClr>
          </a:solidFill>
          <a:ln w="12700" cap="flat" cmpd="sng">
            <a:noFill/>
            <a:prstDash val="solid"/>
            <a:round/>
          </a:ln>
        </p:spPr>
        <p:txBody>
          <a:bodyPr vert="horz" wrap="square" lIns="108000" tIns="72000" rIns="108000" bIns="72000" rtlCol="0" anchor="ctr" anchorCtr="0">
            <a:spAutoFit/>
          </a:bodyPr>
          <a:lstStyle/>
          <a:p>
            <a:pPr indent="0" algn="ctr">
              <a:lnSpc>
                <a:spcPct val="125000"/>
              </a:lnSpc>
              <a:defRPr/>
            </a:pPr>
            <a:r>
              <a:rPr lang="en-US" sz="1600" b="1" i="0" u="none" strike="noStrike">
                <a:solidFill>
                  <a:srgbClr val="15803D"/>
                </a:solidFill>
                <a:latin typeface="Noto Sans SC"/>
                <a:ea typeface="Noto Sans SC"/>
                <a:cs typeface="Noto Sans SC"/>
                <a:sym typeface="Noto Sans SC"/>
              </a:rPr>
              <a:t>✅ 新</a:t>
            </a:r>
            <a:r>
              <a:rPr lang="zh-CN" altLang="en-US" sz="1600" b="1" i="0" u="none" strike="noStrike">
                <a:solidFill>
                  <a:srgbClr val="15803D"/>
                </a:solidFill>
                <a:latin typeface="Noto Sans SC"/>
                <a:ea typeface="Noto Sans SC"/>
                <a:cs typeface="Noto Sans SC"/>
                <a:sym typeface="Noto Sans SC"/>
              </a:rPr>
              <a:t>的表</a:t>
            </a:r>
            <a:r>
              <a:rPr lang="en-US" altLang="zh-CN" sz="1600" b="1" i="0" u="none" strike="noStrike">
                <a:solidFill>
                  <a:srgbClr val="15803D"/>
                </a:solidFill>
                <a:latin typeface="Noto Sans SC"/>
                <a:ea typeface="Noto Sans SC"/>
                <a:cs typeface="Noto Sans SC"/>
                <a:sym typeface="Noto Sans SC"/>
              </a:rPr>
              <a:t>R1</a:t>
            </a:r>
            <a:r>
              <a:rPr lang="zh-CN" altLang="en-US" sz="1600" b="1" i="0" u="none" strike="noStrike">
                <a:solidFill>
                  <a:srgbClr val="15803D"/>
                </a:solidFill>
                <a:latin typeface="Noto Sans SC"/>
                <a:ea typeface="Noto Sans SC"/>
                <a:cs typeface="Noto Sans SC"/>
                <a:sym typeface="Noto Sans SC"/>
              </a:rPr>
              <a:t>、</a:t>
            </a:r>
            <a:r>
              <a:rPr lang="en-US" altLang="zh-CN" sz="1600" b="1" i="0" u="none" strike="noStrike">
                <a:solidFill>
                  <a:srgbClr val="15803D"/>
                </a:solidFill>
                <a:latin typeface="Noto Sans SC"/>
                <a:ea typeface="Noto Sans SC"/>
                <a:cs typeface="Noto Sans SC"/>
                <a:sym typeface="Noto Sans SC"/>
              </a:rPr>
              <a:t>R2</a:t>
            </a:r>
            <a:r>
              <a:rPr lang="en-US" sz="1600" b="1" i="0" u="none" strike="noStrike">
                <a:solidFill>
                  <a:srgbClr val="15803D"/>
                </a:solidFill>
                <a:latin typeface="Noto Sans SC"/>
                <a:ea typeface="Noto Sans SC"/>
                <a:cs typeface="Noto Sans SC"/>
                <a:sym typeface="Noto Sans SC"/>
              </a:rPr>
              <a:t>均消除了局部依赖，满足2NF。</a:t>
            </a:r>
          </a:p>
          <a:p>
            <a:pPr indent="0" algn="ctr">
              <a:lnSpc>
                <a:spcPct val="125000"/>
              </a:lnSpc>
              <a:defRPr/>
            </a:pPr>
            <a:r>
              <a:rPr lang="zh-CN" altLang="en-US" sz="1600" b="1" i="0" u="none" strike="noStrike">
                <a:solidFill>
                  <a:srgbClr val="15803D"/>
                </a:solidFill>
                <a:latin typeface="Noto Sans SC"/>
                <a:ea typeface="Noto Sans SC"/>
                <a:cs typeface="Noto Sans SC"/>
                <a:sym typeface="Noto Sans SC"/>
              </a:rPr>
              <a:t>分解是</a:t>
            </a:r>
            <a:r>
              <a:rPr lang="zh-CN" altLang="en-US" sz="1600" b="1">
                <a:solidFill>
                  <a:srgbClr val="15803D"/>
                </a:solidFill>
                <a:latin typeface="Noto Sans SC"/>
                <a:ea typeface="Noto Sans SC"/>
                <a:cs typeface="Noto Sans SC"/>
                <a:sym typeface="Noto Sans SC"/>
              </a:rPr>
              <a:t>无损、</a:t>
            </a:r>
            <a:r>
              <a:rPr lang="en-US" altLang="zh-CN" sz="1600" b="1" i="0" u="none" strike="noStrike">
                <a:solidFill>
                  <a:srgbClr val="15803D"/>
                </a:solidFill>
                <a:latin typeface="Noto Sans SC"/>
                <a:ea typeface="Noto Sans SC"/>
                <a:cs typeface="Noto Sans SC"/>
                <a:sym typeface="Noto Sans SC"/>
              </a:rPr>
              <a:t> </a:t>
            </a:r>
            <a:r>
              <a:rPr lang="zh-CN" altLang="en-US" sz="1600" b="1" i="0" u="none" strike="noStrike">
                <a:solidFill>
                  <a:srgbClr val="15803D"/>
                </a:solidFill>
                <a:latin typeface="Noto Sans SC"/>
                <a:ea typeface="Noto Sans SC"/>
                <a:cs typeface="Noto Sans SC"/>
                <a:sym typeface="Noto Sans SC"/>
              </a:rPr>
              <a:t>保持依赖的。</a:t>
            </a:r>
            <a:endParaRPr lang="en-US" sz="1200"/>
          </a:p>
        </p:txBody>
      </p:sp>
      <p:sp>
        <p:nvSpPr>
          <p:cNvPr id="8" name="AutoShape 2">
            <a:extLst>
              <a:ext uri="{FF2B5EF4-FFF2-40B4-BE49-F238E27FC236}">
                <a16:creationId xmlns:a16="http://schemas.microsoft.com/office/drawing/2014/main" id="{2A0BD010-5119-F90B-E1EE-524CB9B6F8DA}"/>
              </a:ext>
            </a:extLst>
          </p:cNvPr>
          <p:cNvSpPr/>
          <p:nvPr/>
        </p:nvSpPr>
        <p:spPr>
          <a:xfrm>
            <a:off x="838200" y="330539"/>
            <a:ext cx="10515600" cy="634323"/>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7.4.2 第二范式 (2NF)</a:t>
            </a:r>
            <a:r>
              <a:rPr lang="zh-CN" altLang="en-US" sz="2400" b="1">
                <a:solidFill>
                  <a:srgbClr val="FFFFFF"/>
                </a:solidFill>
                <a:latin typeface="Noto Sans SC"/>
                <a:ea typeface="Noto Sans SC"/>
                <a:sym typeface="Noto Sans SC"/>
              </a:rPr>
              <a:t>（</a:t>
            </a:r>
            <a:r>
              <a:rPr lang="en-US" altLang="zh-CN" sz="2400" b="1">
                <a:solidFill>
                  <a:srgbClr val="FFFFFF"/>
                </a:solidFill>
                <a:latin typeface="Noto Sans SC"/>
                <a:ea typeface="Noto Sans SC"/>
                <a:sym typeface="Noto Sans SC"/>
              </a:rPr>
              <a:t>2</a:t>
            </a:r>
            <a:r>
              <a:rPr lang="zh-CN" altLang="en-US" sz="2400" b="1">
                <a:solidFill>
                  <a:srgbClr val="FFFFFF"/>
                </a:solidFill>
                <a:latin typeface="Noto Sans SC"/>
                <a:ea typeface="Noto Sans SC"/>
                <a:sym typeface="Noto Sans SC"/>
              </a:rPr>
              <a:t>）</a:t>
            </a:r>
            <a:endParaRPr lang="en-US" sz="2400" b="1">
              <a:solidFill>
                <a:srgbClr val="FFFFFF"/>
              </a:solidFill>
              <a:latin typeface="Noto Sans SC"/>
              <a:ea typeface="Noto Sans SC"/>
            </a:endParaRPr>
          </a:p>
        </p:txBody>
      </p:sp>
      <p:pic>
        <p:nvPicPr>
          <p:cNvPr id="15" name="图片 14">
            <a:extLst>
              <a:ext uri="{FF2B5EF4-FFF2-40B4-BE49-F238E27FC236}">
                <a16:creationId xmlns:a16="http://schemas.microsoft.com/office/drawing/2014/main" id="{55A1730C-7576-9E82-8016-9AF010E860D1}"/>
              </a:ext>
            </a:extLst>
          </p:cNvPr>
          <p:cNvPicPr>
            <a:picLocks noChangeAspect="1"/>
          </p:cNvPicPr>
          <p:nvPr/>
        </p:nvPicPr>
        <p:blipFill>
          <a:blip r:embed="rId3"/>
          <a:srcRect l="9088"/>
          <a:stretch>
            <a:fillRect/>
          </a:stretch>
        </p:blipFill>
        <p:spPr>
          <a:xfrm>
            <a:off x="1084520" y="3799935"/>
            <a:ext cx="3882149" cy="1927827"/>
          </a:xfrm>
          <a:prstGeom prst="rect">
            <a:avLst/>
          </a:prstGeom>
        </p:spPr>
      </p:pic>
      <p:pic>
        <p:nvPicPr>
          <p:cNvPr id="10" name="图片 9">
            <a:extLst>
              <a:ext uri="{FF2B5EF4-FFF2-40B4-BE49-F238E27FC236}">
                <a16:creationId xmlns:a16="http://schemas.microsoft.com/office/drawing/2014/main" id="{C49AF8B0-8A5C-D823-189B-3C33514B98D1}"/>
              </a:ext>
            </a:extLst>
          </p:cNvPr>
          <p:cNvPicPr>
            <a:picLocks noChangeAspect="1"/>
          </p:cNvPicPr>
          <p:nvPr/>
        </p:nvPicPr>
        <p:blipFill>
          <a:blip r:embed="rId4"/>
          <a:stretch>
            <a:fillRect/>
          </a:stretch>
        </p:blipFill>
        <p:spPr>
          <a:xfrm>
            <a:off x="7483860" y="1223851"/>
            <a:ext cx="3869940" cy="2036234"/>
          </a:xfrm>
          <a:prstGeom prst="rect">
            <a:avLst/>
          </a:prstGeom>
        </p:spPr>
      </p:pic>
      <p:pic>
        <p:nvPicPr>
          <p:cNvPr id="19" name="图片 18">
            <a:extLst>
              <a:ext uri="{FF2B5EF4-FFF2-40B4-BE49-F238E27FC236}">
                <a16:creationId xmlns:a16="http://schemas.microsoft.com/office/drawing/2014/main" id="{90F7AC2C-C75F-8EAB-CEFF-EDD5A6DA1F9F}"/>
              </a:ext>
            </a:extLst>
          </p:cNvPr>
          <p:cNvPicPr>
            <a:picLocks noChangeAspect="1"/>
          </p:cNvPicPr>
          <p:nvPr/>
        </p:nvPicPr>
        <p:blipFill>
          <a:blip r:embed="rId5"/>
          <a:stretch>
            <a:fillRect/>
          </a:stretch>
        </p:blipFill>
        <p:spPr>
          <a:xfrm>
            <a:off x="5975010" y="3007359"/>
            <a:ext cx="3003314" cy="2485503"/>
          </a:xfrm>
          <a:prstGeom prst="rect">
            <a:avLst/>
          </a:prstGeom>
        </p:spPr>
      </p:pic>
      <p:sp>
        <p:nvSpPr>
          <p:cNvPr id="11" name="AutoShape 4">
            <a:extLst>
              <a:ext uri="{FF2B5EF4-FFF2-40B4-BE49-F238E27FC236}">
                <a16:creationId xmlns:a16="http://schemas.microsoft.com/office/drawing/2014/main" id="{43CE4C9D-C216-578F-14D6-AA5DD358FCFF}"/>
              </a:ext>
            </a:extLst>
          </p:cNvPr>
          <p:cNvSpPr/>
          <p:nvPr/>
        </p:nvSpPr>
        <p:spPr>
          <a:xfrm>
            <a:off x="838199" y="5958074"/>
            <a:ext cx="4557459" cy="569387"/>
          </a:xfrm>
          <a:prstGeom prst="rect">
            <a:avLst/>
          </a:prstGeom>
          <a:noFill/>
          <a:ln w="12700" cap="flat" cmpd="sng">
            <a:noFill/>
            <a:prstDash val="solid"/>
            <a:round/>
          </a:ln>
        </p:spPr>
        <p:txBody>
          <a:bodyPr vert="horz" wrap="square" lIns="0" tIns="0" rIns="0" bIns="0" rtlCol="0" anchor="t" anchorCtr="0">
            <a:spAutoFit/>
          </a:bodyPr>
          <a:lstStyle/>
          <a:p>
            <a:pPr indent="0" algn="l">
              <a:spcBef>
                <a:spcPts val="600"/>
              </a:spcBef>
            </a:pPr>
            <a:r>
              <a:rPr lang="zh-CN" altLang="en-US" sz="1600" b="1" i="0" u="none" strike="noStrike">
                <a:solidFill>
                  <a:srgbClr val="C81E1E"/>
                </a:solidFill>
                <a:latin typeface="Noto Sans SC"/>
                <a:ea typeface="Noto Sans SC"/>
                <a:cs typeface="Noto Sans SC"/>
                <a:sym typeface="Noto Sans SC"/>
              </a:rPr>
              <a:t>∵ </a:t>
            </a:r>
            <a:r>
              <a:rPr lang="en-US" sz="1600" b="0" i="0" u="none" strike="noStrike">
                <a:solidFill>
                  <a:srgbClr val="000000"/>
                </a:solidFill>
                <a:latin typeface="Noto Sans SC"/>
                <a:ea typeface="Noto Sans SC"/>
                <a:cs typeface="Noto Sans SC"/>
                <a:sym typeface="Noto Sans SC"/>
              </a:rPr>
              <a:t>非主属性 T#、Title 局部依赖于</a:t>
            </a:r>
            <a:r>
              <a:rPr lang="en-US" altLang="zh-CN" sz="1600" b="0" i="0" u="none" strike="noStrike">
                <a:solidFill>
                  <a:srgbClr val="000000"/>
                </a:solidFill>
                <a:latin typeface="Noto Sans SC"/>
                <a:ea typeface="Noto Sans SC"/>
                <a:cs typeface="Noto Sans SC"/>
                <a:sym typeface="Noto Sans SC"/>
              </a:rPr>
              <a:t>CK</a:t>
            </a:r>
            <a:r>
              <a:rPr lang="zh-CN" altLang="en-US" sz="1600" b="0" i="0" u="none" strike="noStrike">
                <a:solidFill>
                  <a:srgbClr val="000000"/>
                </a:solidFill>
                <a:latin typeface="Noto Sans SC"/>
                <a:ea typeface="Noto Sans SC"/>
                <a:cs typeface="Noto Sans SC"/>
                <a:sym typeface="Noto Sans SC"/>
              </a:rPr>
              <a:t>。</a:t>
            </a:r>
            <a:endParaRPr lang="en-US" altLang="zh-CN" sz="1600" b="0" i="0" u="none" strike="noStrike">
              <a:solidFill>
                <a:srgbClr val="000000"/>
              </a:solidFill>
              <a:latin typeface="Noto Sans SC"/>
              <a:ea typeface="Noto Sans SC"/>
              <a:cs typeface="Noto Sans SC"/>
              <a:sym typeface="Noto Sans SC"/>
            </a:endParaRPr>
          </a:p>
          <a:p>
            <a:pPr indent="0" algn="l">
              <a:spcBef>
                <a:spcPts val="600"/>
              </a:spcBef>
            </a:pPr>
            <a:r>
              <a:rPr lang="zh-CN" altLang="en-US" sz="1600" b="1">
                <a:solidFill>
                  <a:srgbClr val="C81E1E"/>
                </a:solidFill>
                <a:latin typeface="Noto Sans SC"/>
                <a:ea typeface="Noto Sans SC"/>
                <a:sym typeface="Noto Sans SC"/>
              </a:rPr>
              <a:t>∴</a:t>
            </a:r>
            <a:r>
              <a:rPr lang="en-US" altLang="zh-CN" sz="1600" b="1">
                <a:solidFill>
                  <a:srgbClr val="C81E1E"/>
                </a:solidFill>
                <a:latin typeface="Noto Sans SC"/>
                <a:ea typeface="Noto Sans SC"/>
                <a:sym typeface="Noto Sans SC"/>
              </a:rPr>
              <a:t> </a:t>
            </a:r>
            <a:r>
              <a:rPr lang="en-US" sz="1600" b="0" i="0" u="none" strike="noStrike">
                <a:solidFill>
                  <a:srgbClr val="000000"/>
                </a:solidFill>
                <a:latin typeface="Noto Sans SC"/>
                <a:ea typeface="Noto Sans SC"/>
                <a:cs typeface="Noto Sans SC"/>
                <a:sym typeface="Noto Sans SC"/>
              </a:rPr>
              <a:t>R 不满足 2NF。</a:t>
            </a:r>
          </a:p>
        </p:txBody>
      </p:sp>
      <p:sp>
        <p:nvSpPr>
          <p:cNvPr id="12" name="箭头: 下 11">
            <a:extLst>
              <a:ext uri="{FF2B5EF4-FFF2-40B4-BE49-F238E27FC236}">
                <a16:creationId xmlns:a16="http://schemas.microsoft.com/office/drawing/2014/main" id="{51639434-C290-8E75-94E1-85AE3EF81E70}"/>
              </a:ext>
            </a:extLst>
          </p:cNvPr>
          <p:cNvSpPr/>
          <p:nvPr/>
        </p:nvSpPr>
        <p:spPr>
          <a:xfrm rot="2795265">
            <a:off x="7963279" y="2702022"/>
            <a:ext cx="340781" cy="4885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AutoShape 4">
            <a:extLst>
              <a:ext uri="{FF2B5EF4-FFF2-40B4-BE49-F238E27FC236}">
                <a16:creationId xmlns:a16="http://schemas.microsoft.com/office/drawing/2014/main" id="{1B7C4594-6CFB-19D4-81B8-3B38C1AB18BA}"/>
              </a:ext>
            </a:extLst>
          </p:cNvPr>
          <p:cNvSpPr/>
          <p:nvPr/>
        </p:nvSpPr>
        <p:spPr>
          <a:xfrm>
            <a:off x="838199" y="1311761"/>
            <a:ext cx="4557459"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11</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：违反</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2NF</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的关系模式</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7.4.3 第三范式 (3NF)</a:t>
            </a:r>
            <a:r>
              <a:rPr lang="zh-CN" altLang="en-US" sz="2400" b="1">
                <a:solidFill>
                  <a:srgbClr val="FFFFFF"/>
                </a:solidFill>
                <a:latin typeface="Noto Sans SC"/>
                <a:ea typeface="Noto Sans SC"/>
                <a:sym typeface="Noto Sans SC"/>
              </a:rPr>
              <a:t>（</a:t>
            </a:r>
            <a:r>
              <a:rPr lang="en-US" altLang="zh-CN" sz="2400" b="1">
                <a:solidFill>
                  <a:srgbClr val="FFFFFF"/>
                </a:solidFill>
                <a:latin typeface="Noto Sans SC"/>
                <a:ea typeface="Noto Sans SC"/>
                <a:sym typeface="Noto Sans SC"/>
              </a:rPr>
              <a:t>1</a:t>
            </a:r>
            <a:r>
              <a:rPr lang="zh-CN" altLang="en-US" sz="2400" b="1">
                <a:solidFill>
                  <a:srgbClr val="FFFFFF"/>
                </a:solidFill>
                <a:latin typeface="Noto Sans SC"/>
                <a:ea typeface="Noto Sans SC"/>
                <a:sym typeface="Noto Sans SC"/>
              </a:rPr>
              <a:t>）</a:t>
            </a:r>
            <a:endParaRPr lang="en-US" sz="2400" b="1">
              <a:solidFill>
                <a:srgbClr val="FFFFFF"/>
              </a:solidFill>
              <a:latin typeface="Noto Sans SC"/>
              <a:ea typeface="Noto Sans SC"/>
            </a:endParaRPr>
          </a:p>
        </p:txBody>
      </p:sp>
      <p:sp>
        <p:nvSpPr>
          <p:cNvPr id="3" name="AutoShape 3"/>
          <p:cNvSpPr/>
          <p:nvPr/>
        </p:nvSpPr>
        <p:spPr>
          <a:xfrm>
            <a:off x="838200" y="1331561"/>
            <a:ext cx="5667302" cy="5158139"/>
          </a:xfrm>
          <a:prstGeom prst="rect">
            <a:avLst/>
          </a:prstGeom>
          <a:noFill/>
          <a:ln w="12700" cap="flat" cmpd="sng">
            <a:noFill/>
            <a:prstDash val="solid"/>
            <a:round/>
          </a:ln>
        </p:spPr>
        <p:txBody>
          <a:bodyPr vert="horz" wrap="square" lIns="0" tIns="0" rIns="0" bIns="0" rtlCol="0" anchor="t" anchorCtr="0"/>
          <a:lstStyle/>
          <a:p>
            <a:pPr indent="0" algn="l">
              <a:lnSpc>
                <a:spcPct val="125000"/>
              </a:lnSpc>
              <a:spcBef>
                <a:spcPts val="1000"/>
              </a:spcBef>
              <a:defRPr/>
            </a:pPr>
            <a:r>
              <a:rPr lang="en-US" sz="2000" b="1" i="0" u="none" strike="noStrike">
                <a:solidFill>
                  <a:srgbClr val="7030A0"/>
                </a:solidFill>
                <a:latin typeface="Noto Sans SC"/>
                <a:ea typeface="Noto Sans SC"/>
                <a:cs typeface="Noto Sans SC"/>
                <a:sym typeface="Noto Sans SC"/>
              </a:rPr>
              <a:t>▍前置概念：传递依赖</a:t>
            </a:r>
            <a:endParaRPr lang="en-US" sz="1200"/>
          </a:p>
          <a:p>
            <a:pPr indent="0" algn="l">
              <a:lnSpc>
                <a:spcPct val="125000"/>
              </a:lnSpc>
            </a:pPr>
            <a:r>
              <a:rPr lang="en-US" sz="1600" b="0" i="0" u="none" strike="noStrike">
                <a:solidFill>
                  <a:srgbClr val="1F2329"/>
                </a:solidFill>
                <a:latin typeface="Noto Sans SC"/>
                <a:ea typeface="Noto Sans SC"/>
                <a:cs typeface="Noto Sans SC"/>
                <a:sym typeface="Noto Sans SC"/>
              </a:rPr>
              <a:t>如果关系模式中存在函数依赖 X→Y，Y→A，且</a:t>
            </a:r>
            <a:r>
              <a:rPr lang="en-US" sz="1600" b="1" i="0" u="none" strike="noStrike">
                <a:solidFill>
                  <a:srgbClr val="DC2626"/>
                </a:solidFill>
                <a:latin typeface="Noto Sans SC"/>
                <a:ea typeface="Noto Sans SC"/>
                <a:cs typeface="Noto Sans SC"/>
                <a:sym typeface="Noto Sans SC"/>
              </a:rPr>
              <a:t>Y↛X</a:t>
            </a:r>
            <a:r>
              <a:rPr lang="en-US" sz="1600" b="0" i="0" u="none" strike="noStrike">
                <a:solidFill>
                  <a:srgbClr val="1F2329"/>
                </a:solidFill>
                <a:latin typeface="Noto Sans SC"/>
                <a:ea typeface="Noto Sans SC"/>
                <a:cs typeface="Noto Sans SC"/>
                <a:sym typeface="Noto Sans SC"/>
              </a:rPr>
              <a:t>（Y不能决定X）且</a:t>
            </a:r>
            <a:r>
              <a:rPr lang="en-US" sz="1600" b="1" i="0" u="none" strike="noStrike">
                <a:solidFill>
                  <a:srgbClr val="DC2626"/>
                </a:solidFill>
                <a:latin typeface="Noto Sans SC"/>
                <a:ea typeface="Noto Sans SC"/>
                <a:cs typeface="Noto Sans SC"/>
                <a:sym typeface="Noto Sans SC"/>
              </a:rPr>
              <a:t>A ∉ Y</a:t>
            </a:r>
            <a:r>
              <a:rPr lang="en-US" sz="1600" b="0" i="0" u="none" strike="noStrike">
                <a:solidFill>
                  <a:srgbClr val="1F2329"/>
                </a:solidFill>
                <a:latin typeface="Noto Sans SC"/>
                <a:ea typeface="Noto Sans SC"/>
                <a:cs typeface="Noto Sans SC"/>
                <a:sym typeface="Noto Sans SC"/>
              </a:rPr>
              <a:t>，则称属性A</a:t>
            </a:r>
            <a:r>
              <a:rPr lang="en-US" sz="1600" b="1" i="0" u="none" strike="noStrike">
                <a:solidFill>
                  <a:srgbClr val="1F2329"/>
                </a:solidFill>
                <a:latin typeface="Noto Sans SC"/>
                <a:ea typeface="Noto Sans SC"/>
                <a:cs typeface="Noto Sans SC"/>
                <a:sym typeface="Noto Sans SC"/>
              </a:rPr>
              <a:t>传递依赖</a:t>
            </a:r>
            <a:r>
              <a:rPr lang="en-US" sz="1600" b="0" i="0" u="none" strike="noStrike">
                <a:solidFill>
                  <a:srgbClr val="1F2329"/>
                </a:solidFill>
                <a:latin typeface="Noto Sans SC"/>
                <a:ea typeface="Noto Sans SC"/>
                <a:cs typeface="Noto Sans SC"/>
                <a:sym typeface="Noto Sans SC"/>
              </a:rPr>
              <a:t>于X。这是产生数据冗余的重要原因之一。</a:t>
            </a:r>
          </a:p>
          <a:p>
            <a:pPr indent="0" algn="l">
              <a:lnSpc>
                <a:spcPct val="125000"/>
              </a:lnSpc>
              <a:spcBef>
                <a:spcPts val="1500"/>
              </a:spcBef>
            </a:pPr>
            <a:r>
              <a:rPr lang="en-US" sz="2000" b="1" i="0" u="none" strike="noStrike">
                <a:solidFill>
                  <a:srgbClr val="7030A0"/>
                </a:solidFill>
                <a:latin typeface="Noto Sans SC"/>
                <a:ea typeface="Noto Sans SC"/>
                <a:cs typeface="Noto Sans SC"/>
                <a:sym typeface="Noto Sans SC"/>
              </a:rPr>
              <a:t>▍定义 7.21 (3NF)</a:t>
            </a:r>
          </a:p>
          <a:p>
            <a:pPr indent="0" algn="l">
              <a:lnSpc>
                <a:spcPct val="125000"/>
              </a:lnSpc>
            </a:pPr>
            <a:r>
              <a:rPr lang="en-US" sz="1600" b="0" i="0" u="none" strike="noStrike">
                <a:solidFill>
                  <a:srgbClr val="1F2329"/>
                </a:solidFill>
                <a:latin typeface="Noto Sans SC"/>
                <a:ea typeface="Noto Sans SC"/>
                <a:cs typeface="Noto Sans SC"/>
                <a:sym typeface="Noto Sans SC"/>
              </a:rPr>
              <a:t>若关系模式 R 满足第一范式(1NF)，且</a:t>
            </a:r>
            <a:r>
              <a:rPr lang="en-US" sz="1600" b="1" i="0" u="none" strike="noStrike">
                <a:solidFill>
                  <a:srgbClr val="1F2329"/>
                </a:solidFill>
                <a:latin typeface="Noto Sans SC"/>
                <a:ea typeface="Noto Sans SC"/>
                <a:cs typeface="Noto Sans SC"/>
                <a:sym typeface="Noto Sans SC"/>
              </a:rPr>
              <a:t>每个非主属性都不传递依赖于 R 的任何候选键</a:t>
            </a:r>
            <a:r>
              <a:rPr lang="en-US" sz="1600" b="0" i="0" u="none" strike="noStrike">
                <a:solidFill>
                  <a:srgbClr val="1F2329"/>
                </a:solidFill>
                <a:latin typeface="Noto Sans SC"/>
                <a:ea typeface="Noto Sans SC"/>
                <a:cs typeface="Noto Sans SC"/>
                <a:sym typeface="Noto Sans SC"/>
              </a:rPr>
              <a:t>，则称 R 属于第三范式，记作</a:t>
            </a:r>
            <a:r>
              <a:rPr lang="en-US" sz="1600" b="1" i="0" u="none" strike="noStrike">
                <a:solidFill>
                  <a:srgbClr val="1F2329"/>
                </a:solidFill>
                <a:latin typeface="Noto Sans SC"/>
                <a:ea typeface="Noto Sans SC"/>
                <a:cs typeface="Noto Sans SC"/>
                <a:sym typeface="Noto Sans SC"/>
              </a:rPr>
              <a:t>R ∈ 3NF</a:t>
            </a:r>
            <a:r>
              <a:rPr lang="en-US" sz="1600" b="0" i="0" u="none" strike="noStrike">
                <a:solidFill>
                  <a:srgbClr val="1F2329"/>
                </a:solidFill>
                <a:latin typeface="Noto Sans SC"/>
                <a:ea typeface="Noto Sans SC"/>
                <a:cs typeface="Noto Sans SC"/>
                <a:sym typeface="Noto Sans SC"/>
              </a:rPr>
              <a:t>。</a:t>
            </a:r>
          </a:p>
          <a:p>
            <a:pPr>
              <a:lnSpc>
                <a:spcPct val="125000"/>
              </a:lnSpc>
              <a:spcBef>
                <a:spcPts val="1500"/>
              </a:spcBef>
            </a:pPr>
            <a:r>
              <a:rPr lang="en-US" sz="2000" b="1" i="0" u="none" strike="noStrike">
                <a:solidFill>
                  <a:srgbClr val="7030A0"/>
                </a:solidFill>
                <a:latin typeface="Noto Sans SC"/>
                <a:ea typeface="Noto Sans SC"/>
                <a:cs typeface="Noto Sans SC"/>
                <a:sym typeface="Noto Sans SC"/>
              </a:rPr>
              <a:t>▍等价定义</a:t>
            </a:r>
            <a:r>
              <a:rPr lang="en-US" altLang="zh-CN" sz="2000" b="1">
                <a:solidFill>
                  <a:srgbClr val="7030A0"/>
                </a:solidFill>
                <a:latin typeface="Noto Sans SC"/>
                <a:ea typeface="Noto Sans SC"/>
                <a:cs typeface="Noto Sans SC"/>
                <a:sym typeface="Noto Sans SC"/>
              </a:rPr>
              <a:t> (3NF)</a:t>
            </a:r>
            <a:endParaRPr lang="en-US" sz="2000" b="1" i="0" u="none" strike="noStrike">
              <a:solidFill>
                <a:srgbClr val="7030A0"/>
              </a:solidFill>
              <a:latin typeface="Noto Sans SC"/>
              <a:ea typeface="Noto Sans SC"/>
              <a:cs typeface="Noto Sans SC"/>
              <a:sym typeface="Noto Sans SC"/>
            </a:endParaRPr>
          </a:p>
          <a:p>
            <a:pPr indent="0" algn="l">
              <a:lnSpc>
                <a:spcPct val="125000"/>
              </a:lnSpc>
            </a:pPr>
            <a:r>
              <a:rPr lang="en-US" sz="1600" b="0" i="0" u="none" strike="noStrike">
                <a:solidFill>
                  <a:srgbClr val="1F2329"/>
                </a:solidFill>
                <a:latin typeface="Noto Sans SC"/>
                <a:ea typeface="Noto Sans SC"/>
                <a:cs typeface="Noto Sans SC"/>
                <a:sym typeface="Noto Sans SC"/>
              </a:rPr>
              <a:t>对R 的任意非平凡函数依赖 X→Y，均满足以下两个条件之一：</a:t>
            </a:r>
          </a:p>
          <a:p>
            <a:pPr marL="342900" indent="-342900" algn="l">
              <a:lnSpc>
                <a:spcPct val="125000"/>
              </a:lnSpc>
              <a:buAutoNum type="arabicPeriod"/>
            </a:pPr>
            <a:r>
              <a:rPr lang="en-US" sz="1600" b="0" i="0" u="none" strike="noStrike">
                <a:solidFill>
                  <a:srgbClr val="1F2329"/>
                </a:solidFill>
                <a:latin typeface="Noto Sans SC"/>
                <a:ea typeface="Noto Sans SC"/>
                <a:cs typeface="Noto Sans SC"/>
                <a:sym typeface="Noto Sans SC"/>
              </a:rPr>
              <a:t>X 是 R 的一个超键 (Superkey)；</a:t>
            </a:r>
          </a:p>
          <a:p>
            <a:pPr marL="342900" indent="-342900" algn="l">
              <a:lnSpc>
                <a:spcPct val="125000"/>
              </a:lnSpc>
              <a:buAutoNum type="arabicPeriod"/>
            </a:pPr>
            <a:r>
              <a:rPr lang="en-US" sz="1600" b="0" i="0" u="none" strike="noStrike">
                <a:solidFill>
                  <a:srgbClr val="1F2329"/>
                </a:solidFill>
                <a:latin typeface="Noto Sans SC"/>
                <a:ea typeface="Noto Sans SC"/>
                <a:cs typeface="Noto Sans SC"/>
                <a:sym typeface="Noto Sans SC"/>
              </a:rPr>
              <a:t>Y 中的每一个属性都是 R 的主属性。</a:t>
            </a:r>
          </a:p>
          <a:p>
            <a:pPr>
              <a:lnSpc>
                <a:spcPct val="125000"/>
              </a:lnSpc>
              <a:spcBef>
                <a:spcPts val="1200"/>
              </a:spcBef>
            </a:pPr>
            <a:r>
              <a:rPr lang="en-US" altLang="zh-CN" sz="2000" b="1">
                <a:solidFill>
                  <a:srgbClr val="DC2626"/>
                </a:solidFill>
                <a:latin typeface="Noto Sans SC"/>
                <a:ea typeface="Noto Sans SC"/>
                <a:cs typeface="Noto Sans SC"/>
                <a:sym typeface="Noto Sans SC"/>
              </a:rPr>
              <a:t>▍</a:t>
            </a:r>
            <a:r>
              <a:rPr lang="zh-CN" altLang="en-US" sz="2000" b="1">
                <a:solidFill>
                  <a:srgbClr val="DC2626"/>
                </a:solidFill>
                <a:latin typeface="Noto Sans SC"/>
                <a:ea typeface="Noto Sans SC"/>
                <a:cs typeface="Noto Sans SC"/>
                <a:sym typeface="Noto Sans SC"/>
              </a:rPr>
              <a:t>核心</a:t>
            </a:r>
            <a:r>
              <a:rPr lang="en-US" altLang="zh-CN" sz="2000" b="1">
                <a:solidFill>
                  <a:srgbClr val="DC2626"/>
                </a:solidFill>
                <a:latin typeface="Noto Sans SC"/>
                <a:ea typeface="Noto Sans SC"/>
                <a:cs typeface="Noto Sans SC"/>
                <a:sym typeface="Noto Sans SC"/>
              </a:rPr>
              <a:t>目标</a:t>
            </a:r>
            <a:r>
              <a:rPr lang="zh-CN" altLang="en-US" sz="2000" b="1">
                <a:solidFill>
                  <a:srgbClr val="DC2626"/>
                </a:solidFill>
                <a:latin typeface="Noto Sans SC"/>
                <a:ea typeface="Noto Sans SC"/>
                <a:cs typeface="Noto Sans SC"/>
                <a:sym typeface="Noto Sans SC"/>
              </a:rPr>
              <a:t>：</a:t>
            </a:r>
            <a:r>
              <a:rPr lang="en-US" altLang="zh-CN" sz="1600">
                <a:solidFill>
                  <a:srgbClr val="1F2329"/>
                </a:solidFill>
                <a:latin typeface="Noto Sans SC"/>
                <a:ea typeface="Noto Sans SC"/>
                <a:cs typeface="Noto Sans SC"/>
                <a:sym typeface="Noto Sans SC"/>
              </a:rPr>
              <a:t>在2NF消除</a:t>
            </a:r>
            <a:r>
              <a:rPr lang="zh-CN" altLang="en-US" sz="1600">
                <a:solidFill>
                  <a:srgbClr val="1F2329"/>
                </a:solidFill>
                <a:latin typeface="Noto Sans SC"/>
                <a:ea typeface="Noto Sans SC"/>
                <a:cs typeface="Noto Sans SC"/>
                <a:sym typeface="Noto Sans SC"/>
              </a:rPr>
              <a:t>非主属性</a:t>
            </a:r>
            <a:r>
              <a:rPr lang="en-US" altLang="zh-CN" sz="1600">
                <a:solidFill>
                  <a:srgbClr val="1F2329"/>
                </a:solidFill>
                <a:latin typeface="Noto Sans SC"/>
                <a:ea typeface="Noto Sans SC"/>
                <a:cs typeface="Noto Sans SC"/>
                <a:sym typeface="Noto Sans SC"/>
              </a:rPr>
              <a:t>部分依赖</a:t>
            </a:r>
            <a:r>
              <a:rPr lang="zh-CN" altLang="en-US" sz="1600">
                <a:solidFill>
                  <a:srgbClr val="1F2329"/>
                </a:solidFill>
                <a:latin typeface="Noto Sans SC"/>
                <a:ea typeface="Noto Sans SC"/>
                <a:cs typeface="Noto Sans SC"/>
                <a:sym typeface="Noto Sans SC"/>
              </a:rPr>
              <a:t>候选</a:t>
            </a:r>
            <a:r>
              <a:rPr lang="en-US" altLang="zh-CN" sz="1600">
                <a:solidFill>
                  <a:srgbClr val="1F2329"/>
                </a:solidFill>
                <a:latin typeface="Noto Sans SC"/>
                <a:ea typeface="Noto Sans SC"/>
                <a:cs typeface="Noto Sans SC"/>
                <a:sym typeface="Noto Sans SC"/>
              </a:rPr>
              <a:t>的基础上，进一步消除非主属性对候选键的</a:t>
            </a:r>
            <a:r>
              <a:rPr lang="en-US" altLang="zh-CN" sz="1600" b="1">
                <a:solidFill>
                  <a:srgbClr val="DC2626"/>
                </a:solidFill>
                <a:latin typeface="Noto Sans SC"/>
                <a:ea typeface="Noto Sans SC"/>
                <a:cs typeface="Noto Sans SC"/>
                <a:sym typeface="Noto Sans SC"/>
              </a:rPr>
              <a:t>传递依赖</a:t>
            </a:r>
            <a:r>
              <a:rPr lang="en-US" altLang="zh-CN" sz="1600">
                <a:solidFill>
                  <a:srgbClr val="1F2329"/>
                </a:solidFill>
                <a:latin typeface="Noto Sans SC"/>
                <a:ea typeface="Noto Sans SC"/>
                <a:cs typeface="Noto Sans SC"/>
                <a:sym typeface="Noto Sans SC"/>
              </a:rPr>
              <a:t>，使数据库设计更合理、冗余更低。</a:t>
            </a:r>
          </a:p>
          <a:p>
            <a:pPr marL="342900" indent="-342900" algn="l">
              <a:lnSpc>
                <a:spcPct val="125000"/>
              </a:lnSpc>
              <a:buAutoNum type="arabicPeriod"/>
            </a:pPr>
            <a:endParaRPr lang="en-US" sz="1600" b="0" i="0" u="none" strike="noStrike">
              <a:solidFill>
                <a:srgbClr val="1F2329"/>
              </a:solidFill>
              <a:latin typeface="Noto Sans SC"/>
              <a:ea typeface="Noto Sans SC"/>
              <a:cs typeface="Noto Sans SC"/>
              <a:sym typeface="Noto Sans SC"/>
            </a:endParaRPr>
          </a:p>
        </p:txBody>
      </p:sp>
      <p:sp>
        <p:nvSpPr>
          <p:cNvPr id="4" name="AutoShape 4"/>
          <p:cNvSpPr/>
          <p:nvPr/>
        </p:nvSpPr>
        <p:spPr>
          <a:xfrm>
            <a:off x="7417124" y="1626199"/>
            <a:ext cx="582129" cy="4431102"/>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关键</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特征</a:t>
            </a:r>
            <a:endParaRPr lang="en-US" sz="1600" b="1">
              <a:solidFill>
                <a:srgbClr val="FFFFFF"/>
              </a:solidFill>
              <a:latin typeface="Noto Sans SC"/>
              <a:ea typeface="Noto Sans SC"/>
            </a:endParaRPr>
          </a:p>
        </p:txBody>
      </p:sp>
      <p:sp>
        <p:nvSpPr>
          <p:cNvPr id="5" name="AutoShape 5"/>
          <p:cNvSpPr/>
          <p:nvPr/>
        </p:nvSpPr>
        <p:spPr>
          <a:xfrm>
            <a:off x="7999253" y="1626199"/>
            <a:ext cx="3354546" cy="825500"/>
          </a:xfrm>
          <a:prstGeom prst="roundRect">
            <a:avLst>
              <a:gd name="adj" fmla="val 0"/>
            </a:avLst>
          </a:prstGeom>
          <a:solidFill>
            <a:srgbClr val="1E293B">
              <a:alpha val="100000"/>
            </a:srgbClr>
          </a:solidFill>
          <a:ln w="12700" cap="flat" cmpd="sng">
            <a:solidFill>
              <a:srgbClr val="FFFFFF">
                <a:alpha val="100000"/>
              </a:srgbClr>
            </a:solidFill>
            <a:prstDash val="solid"/>
            <a:round/>
          </a:ln>
        </p:spPr>
        <p:txBody>
          <a:bodyPr vert="horz" wrap="square" lIns="101600" tIns="0" rIns="101600" bIns="0" rtlCol="0" anchor="ctr" anchorCtr="0"/>
          <a:lstStyle/>
          <a:p>
            <a:pPr indent="0" algn="ctr">
              <a:lnSpc>
                <a:spcPct val="125000"/>
              </a:lnSpc>
              <a:defRPr/>
            </a:pPr>
            <a:r>
              <a:rPr lang="en-US" sz="1600" b="1" i="0" u="none" strike="noStrike">
                <a:solidFill>
                  <a:srgbClr val="7DD3FC"/>
                </a:solidFill>
                <a:latin typeface="Noto Sans SC"/>
                <a:ea typeface="Noto Sans SC"/>
                <a:cs typeface="Noto Sans SC"/>
                <a:sym typeface="Noto Sans SC"/>
              </a:rPr>
              <a:t>基础前提</a:t>
            </a:r>
            <a:endParaRPr lang="en-US" sz="1100"/>
          </a:p>
          <a:p>
            <a:pPr indent="0" algn="ctr">
              <a:lnSpc>
                <a:spcPct val="125000"/>
              </a:lnSpc>
            </a:pPr>
            <a:r>
              <a:rPr lang="en-US" b="0" i="0" u="none" strike="noStrike">
                <a:solidFill>
                  <a:srgbClr val="E5E7EB"/>
                </a:solidFill>
                <a:latin typeface="Noto Sans SC"/>
                <a:ea typeface="Noto Sans SC"/>
                <a:cs typeface="Noto Sans SC"/>
                <a:sym typeface="Noto Sans SC"/>
              </a:rPr>
              <a:t>必须先满足 1NF 和 2NF 的要求</a:t>
            </a:r>
          </a:p>
        </p:txBody>
      </p:sp>
      <p:sp>
        <p:nvSpPr>
          <p:cNvPr id="6" name="AutoShape 6"/>
          <p:cNvSpPr/>
          <p:nvPr/>
        </p:nvSpPr>
        <p:spPr>
          <a:xfrm>
            <a:off x="7999254" y="2828066"/>
            <a:ext cx="3354545" cy="825500"/>
          </a:xfrm>
          <a:prstGeom prst="roundRect">
            <a:avLst>
              <a:gd name="adj" fmla="val 0"/>
            </a:avLst>
          </a:prstGeom>
          <a:solidFill>
            <a:srgbClr val="1E293B">
              <a:alpha val="100000"/>
            </a:srgbClr>
          </a:solidFill>
          <a:ln w="12700" cap="flat" cmpd="sng">
            <a:solidFill>
              <a:srgbClr val="FFFFFF">
                <a:alpha val="100000"/>
              </a:srgbClr>
            </a:solidFill>
            <a:prstDash val="solid"/>
            <a:round/>
          </a:ln>
        </p:spPr>
        <p:txBody>
          <a:bodyPr vert="horz" wrap="square" lIns="101600" tIns="0" rIns="101600" bIns="0" rtlCol="0" anchor="ctr" anchorCtr="0"/>
          <a:lstStyle/>
          <a:p>
            <a:pPr indent="0" algn="ctr">
              <a:lnSpc>
                <a:spcPct val="125000"/>
              </a:lnSpc>
              <a:defRPr/>
            </a:pPr>
            <a:r>
              <a:rPr lang="en-US" sz="1600" b="1" i="0" u="none" strike="noStrike">
                <a:solidFill>
                  <a:srgbClr val="A7F3D0"/>
                </a:solidFill>
                <a:latin typeface="Noto Sans SC"/>
                <a:ea typeface="Noto Sans SC"/>
                <a:cs typeface="Noto Sans SC"/>
                <a:sym typeface="Noto Sans SC"/>
              </a:rPr>
              <a:t>依赖限制</a:t>
            </a:r>
            <a:endParaRPr lang="en-US" sz="1100"/>
          </a:p>
          <a:p>
            <a:pPr indent="0" algn="ctr">
              <a:lnSpc>
                <a:spcPct val="125000"/>
              </a:lnSpc>
            </a:pPr>
            <a:r>
              <a:rPr lang="en-US" b="0" i="0" u="none" strike="noStrike">
                <a:solidFill>
                  <a:srgbClr val="E5E7EB"/>
                </a:solidFill>
                <a:latin typeface="Noto Sans SC"/>
                <a:ea typeface="Noto Sans SC"/>
                <a:cs typeface="Noto Sans SC"/>
                <a:sym typeface="Noto Sans SC"/>
              </a:rPr>
              <a:t>禁止非主属性间的“间接依赖”候选键</a:t>
            </a:r>
          </a:p>
        </p:txBody>
      </p:sp>
      <p:sp>
        <p:nvSpPr>
          <p:cNvPr id="7" name="AutoShape 7"/>
          <p:cNvSpPr/>
          <p:nvPr/>
        </p:nvSpPr>
        <p:spPr>
          <a:xfrm>
            <a:off x="7999254" y="4029933"/>
            <a:ext cx="3354546" cy="825500"/>
          </a:xfrm>
          <a:prstGeom prst="roundRect">
            <a:avLst>
              <a:gd name="adj" fmla="val 0"/>
            </a:avLst>
          </a:prstGeom>
          <a:solidFill>
            <a:srgbClr val="1E293B">
              <a:alpha val="100000"/>
            </a:srgbClr>
          </a:solidFill>
          <a:ln w="12700" cap="flat" cmpd="sng">
            <a:solidFill>
              <a:srgbClr val="FFFFFF">
                <a:alpha val="100000"/>
              </a:srgbClr>
            </a:solidFill>
            <a:prstDash val="solid"/>
            <a:round/>
          </a:ln>
        </p:spPr>
        <p:txBody>
          <a:bodyPr vert="horz" wrap="square" lIns="101600" tIns="0" rIns="101600" bIns="0" rtlCol="0" anchor="ctr" anchorCtr="0"/>
          <a:lstStyle/>
          <a:p>
            <a:pPr indent="0" algn="ctr">
              <a:lnSpc>
                <a:spcPct val="125000"/>
              </a:lnSpc>
              <a:defRPr/>
            </a:pPr>
            <a:r>
              <a:rPr lang="en-US" sz="1600" b="1" i="0" u="none" strike="noStrike">
                <a:solidFill>
                  <a:srgbClr val="FDBA74"/>
                </a:solidFill>
                <a:latin typeface="Noto Sans SC"/>
                <a:ea typeface="Noto Sans SC"/>
                <a:cs typeface="Noto Sans SC"/>
                <a:sym typeface="Noto Sans SC"/>
              </a:rPr>
              <a:t>判定捷径</a:t>
            </a:r>
            <a:endParaRPr lang="en-US" sz="1100"/>
          </a:p>
          <a:p>
            <a:pPr indent="0" algn="ctr">
              <a:lnSpc>
                <a:spcPct val="125000"/>
              </a:lnSpc>
            </a:pPr>
            <a:r>
              <a:rPr lang="en-US" b="0" i="0" u="none" strike="noStrike">
                <a:solidFill>
                  <a:srgbClr val="E5E7EB"/>
                </a:solidFill>
                <a:latin typeface="Noto Sans SC"/>
                <a:ea typeface="Noto Sans SC"/>
                <a:cs typeface="Noto Sans SC"/>
                <a:sym typeface="Noto Sans SC"/>
              </a:rPr>
              <a:t>不存在“键→非键→非键”的依赖链</a:t>
            </a:r>
          </a:p>
        </p:txBody>
      </p:sp>
      <p:sp>
        <p:nvSpPr>
          <p:cNvPr id="8" name="AutoShape 8"/>
          <p:cNvSpPr/>
          <p:nvPr/>
        </p:nvSpPr>
        <p:spPr>
          <a:xfrm>
            <a:off x="7999253" y="5231801"/>
            <a:ext cx="3354546" cy="825500"/>
          </a:xfrm>
          <a:prstGeom prst="roundRect">
            <a:avLst>
              <a:gd name="adj" fmla="val 0"/>
            </a:avLst>
          </a:prstGeom>
          <a:solidFill>
            <a:srgbClr val="1E293B">
              <a:alpha val="100000"/>
            </a:srgbClr>
          </a:solidFill>
          <a:ln w="12700" cap="flat" cmpd="sng">
            <a:solidFill>
              <a:srgbClr val="FFFFFF">
                <a:alpha val="100000"/>
              </a:srgbClr>
            </a:solidFill>
            <a:prstDash val="solid"/>
            <a:round/>
          </a:ln>
        </p:spPr>
        <p:txBody>
          <a:bodyPr vert="horz" wrap="square" lIns="101600" tIns="0" rIns="101600" bIns="0" rtlCol="0" anchor="ctr" anchorCtr="0"/>
          <a:lstStyle/>
          <a:p>
            <a:pPr indent="0" algn="ctr">
              <a:lnSpc>
                <a:spcPct val="125000"/>
              </a:lnSpc>
              <a:defRPr/>
            </a:pPr>
            <a:r>
              <a:rPr lang="en-US" sz="1600" b="1" i="0" u="none" strike="noStrike">
                <a:solidFill>
                  <a:srgbClr val="F87171"/>
                </a:solidFill>
                <a:latin typeface="Noto Sans SC"/>
                <a:ea typeface="Noto Sans SC"/>
                <a:cs typeface="Noto Sans SC"/>
                <a:sym typeface="Noto Sans SC"/>
              </a:rPr>
              <a:t>实际价值</a:t>
            </a:r>
            <a:endParaRPr lang="en-US" sz="1100"/>
          </a:p>
          <a:p>
            <a:pPr indent="0" algn="ctr">
              <a:lnSpc>
                <a:spcPct val="125000"/>
              </a:lnSpc>
            </a:pPr>
            <a:r>
              <a:rPr lang="en-US" b="0" i="0" u="none" strike="noStrike">
                <a:solidFill>
                  <a:srgbClr val="E5E7EB"/>
                </a:solidFill>
                <a:latin typeface="Noto Sans SC"/>
                <a:ea typeface="Noto Sans SC"/>
                <a:cs typeface="Noto Sans SC"/>
                <a:sym typeface="Noto Sans SC"/>
              </a:rPr>
              <a:t>工业界最常用的“标准范式”之一</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356C61-0258-4283-56BF-1F6852D50786}"/>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338A2F53-CC70-57A0-373E-2B426B7DB4FC}"/>
              </a:ext>
            </a:extLst>
          </p:cNvPr>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7.4.3 第三范式 (3NF)</a:t>
            </a:r>
            <a:r>
              <a:rPr lang="zh-CN" altLang="en-US" sz="2400" b="1">
                <a:solidFill>
                  <a:srgbClr val="FFFFFF"/>
                </a:solidFill>
                <a:latin typeface="Noto Sans SC"/>
                <a:ea typeface="Noto Sans SC"/>
                <a:sym typeface="Noto Sans SC"/>
              </a:rPr>
              <a:t>（</a:t>
            </a:r>
            <a:r>
              <a:rPr lang="en-US" altLang="zh-CN" sz="2400" b="1">
                <a:solidFill>
                  <a:srgbClr val="FFFFFF"/>
                </a:solidFill>
                <a:latin typeface="Noto Sans SC"/>
                <a:ea typeface="Noto Sans SC"/>
                <a:sym typeface="Noto Sans SC"/>
              </a:rPr>
              <a:t>2</a:t>
            </a:r>
            <a:r>
              <a:rPr lang="zh-CN" altLang="en-US" sz="2400" b="1">
                <a:solidFill>
                  <a:srgbClr val="FFFFFF"/>
                </a:solidFill>
                <a:latin typeface="Noto Sans SC"/>
                <a:ea typeface="Noto Sans SC"/>
                <a:sym typeface="Noto Sans SC"/>
              </a:rPr>
              <a:t>）</a:t>
            </a:r>
            <a:endParaRPr lang="en-US" sz="2400" b="1">
              <a:solidFill>
                <a:srgbClr val="FFFFFF"/>
              </a:solidFill>
              <a:latin typeface="Noto Sans SC"/>
              <a:ea typeface="Noto Sans SC"/>
            </a:endParaRPr>
          </a:p>
        </p:txBody>
      </p:sp>
      <p:sp>
        <p:nvSpPr>
          <p:cNvPr id="3" name="AutoShape 3">
            <a:extLst>
              <a:ext uri="{FF2B5EF4-FFF2-40B4-BE49-F238E27FC236}">
                <a16:creationId xmlns:a16="http://schemas.microsoft.com/office/drawing/2014/main" id="{8BDA42C0-6EC0-74CC-1D7B-E43E2E63F0D4}"/>
              </a:ext>
            </a:extLst>
          </p:cNvPr>
          <p:cNvSpPr/>
          <p:nvPr/>
        </p:nvSpPr>
        <p:spPr>
          <a:xfrm>
            <a:off x="838200" y="1331561"/>
            <a:ext cx="5667302" cy="420457"/>
          </a:xfrm>
          <a:prstGeom prst="rect">
            <a:avLst/>
          </a:prstGeom>
          <a:noFill/>
          <a:ln w="12700" cap="flat" cmpd="sng">
            <a:noFill/>
            <a:prstDash val="solid"/>
            <a:round/>
          </a:ln>
        </p:spPr>
        <p:txBody>
          <a:bodyPr vert="horz" wrap="square" lIns="0" tIns="0" rIns="0" bIns="0" rtlCol="0" anchor="t" anchorCtr="0"/>
          <a:lstStyle/>
          <a:p>
            <a:pPr indent="0" algn="l">
              <a:lnSpc>
                <a:spcPct val="125000"/>
              </a:lnSpc>
              <a:spcBef>
                <a:spcPts val="1000"/>
              </a:spcBef>
              <a:defRPr/>
            </a:pPr>
            <a:r>
              <a:rPr lang="en-US" sz="2000" b="1" i="0" u="none" strike="noStrike">
                <a:solidFill>
                  <a:srgbClr val="7030A0"/>
                </a:solidFill>
                <a:latin typeface="Noto Sans SC"/>
                <a:ea typeface="Noto Sans SC"/>
                <a:cs typeface="Noto Sans SC"/>
                <a:sym typeface="Noto Sans SC"/>
              </a:rPr>
              <a:t>▍</a:t>
            </a:r>
            <a:r>
              <a:rPr lang="zh-CN" altLang="en-US" sz="2000" b="1" i="0" u="none" strike="noStrike">
                <a:solidFill>
                  <a:srgbClr val="7030A0"/>
                </a:solidFill>
                <a:latin typeface="Noto Sans SC"/>
                <a:ea typeface="Noto Sans SC"/>
                <a:cs typeface="Noto Sans SC"/>
                <a:sym typeface="Noto Sans SC"/>
              </a:rPr>
              <a:t>违反</a:t>
            </a:r>
            <a:r>
              <a:rPr lang="en-US" altLang="zh-CN" sz="2000" b="1" i="0" u="none" strike="noStrike">
                <a:solidFill>
                  <a:srgbClr val="7030A0"/>
                </a:solidFill>
                <a:latin typeface="Noto Sans SC"/>
                <a:ea typeface="Noto Sans SC"/>
                <a:cs typeface="Noto Sans SC"/>
                <a:sym typeface="Noto Sans SC"/>
              </a:rPr>
              <a:t>3NF</a:t>
            </a:r>
            <a:r>
              <a:rPr lang="zh-CN" altLang="en-US" sz="2000" b="1" i="0" u="none" strike="noStrike">
                <a:solidFill>
                  <a:srgbClr val="7030A0"/>
                </a:solidFill>
                <a:latin typeface="Noto Sans SC"/>
                <a:ea typeface="Noto Sans SC"/>
                <a:cs typeface="Noto Sans SC"/>
                <a:sym typeface="Noto Sans SC"/>
              </a:rPr>
              <a:t>的三种情况</a:t>
            </a:r>
            <a:endParaRPr lang="en-US" sz="1600" b="0" i="0" u="none" strike="noStrike">
              <a:solidFill>
                <a:srgbClr val="1F2329"/>
              </a:solidFill>
              <a:latin typeface="Noto Sans SC"/>
              <a:ea typeface="Noto Sans SC"/>
              <a:cs typeface="Noto Sans SC"/>
              <a:sym typeface="Noto Sans SC"/>
            </a:endParaRPr>
          </a:p>
        </p:txBody>
      </p:sp>
      <p:pic>
        <p:nvPicPr>
          <p:cNvPr id="14" name="图片 13">
            <a:extLst>
              <a:ext uri="{FF2B5EF4-FFF2-40B4-BE49-F238E27FC236}">
                <a16:creationId xmlns:a16="http://schemas.microsoft.com/office/drawing/2014/main" id="{5E13EF3D-87B4-5723-1689-EC00843305F3}"/>
              </a:ext>
            </a:extLst>
          </p:cNvPr>
          <p:cNvPicPr>
            <a:picLocks noChangeAspect="1"/>
          </p:cNvPicPr>
          <p:nvPr/>
        </p:nvPicPr>
        <p:blipFill>
          <a:blip r:embed="rId3"/>
          <a:stretch>
            <a:fillRect/>
          </a:stretch>
        </p:blipFill>
        <p:spPr>
          <a:xfrm>
            <a:off x="3948002" y="1137218"/>
            <a:ext cx="7094599" cy="5424125"/>
          </a:xfrm>
          <a:prstGeom prst="rect">
            <a:avLst/>
          </a:prstGeom>
        </p:spPr>
      </p:pic>
    </p:spTree>
    <p:extLst>
      <p:ext uri="{BB962C8B-B14F-4D97-AF65-F5344CB8AC3E}">
        <p14:creationId xmlns:p14="http://schemas.microsoft.com/office/powerpoint/2010/main" val="27166820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pic>
        <p:nvPicPr>
          <p:cNvPr id="14" name="图片 13">
            <a:extLst>
              <a:ext uri="{FF2B5EF4-FFF2-40B4-BE49-F238E27FC236}">
                <a16:creationId xmlns:a16="http://schemas.microsoft.com/office/drawing/2014/main" id="{98504368-EC63-70EA-2E1F-E61CA1D8FAB1}"/>
              </a:ext>
            </a:extLst>
          </p:cNvPr>
          <p:cNvPicPr>
            <a:picLocks noChangeAspect="1"/>
          </p:cNvPicPr>
          <p:nvPr/>
        </p:nvPicPr>
        <p:blipFill>
          <a:blip r:embed="rId3"/>
          <a:stretch>
            <a:fillRect/>
          </a:stretch>
        </p:blipFill>
        <p:spPr>
          <a:xfrm>
            <a:off x="966996" y="3741967"/>
            <a:ext cx="3793707" cy="1961704"/>
          </a:xfrm>
          <a:prstGeom prst="rect">
            <a:avLst/>
          </a:prstGeom>
        </p:spPr>
      </p:pic>
      <p:sp>
        <p:nvSpPr>
          <p:cNvPr id="3" name="AutoShape 3"/>
          <p:cNvSpPr/>
          <p:nvPr/>
        </p:nvSpPr>
        <p:spPr>
          <a:xfrm>
            <a:off x="838201" y="1955411"/>
            <a:ext cx="4121150" cy="405239"/>
          </a:xfrm>
          <a:prstGeom prst="roundRect">
            <a:avLst>
              <a:gd name="adj" fmla="val 0"/>
            </a:avLst>
          </a:prstGeom>
          <a:solidFill>
            <a:srgbClr val="FFC000">
              <a:alpha val="100000"/>
            </a:srgbClr>
          </a:solidFill>
          <a:ln w="25400" cap="flat" cmpd="sng">
            <a:solidFill>
              <a:srgbClr val="FFFFFF">
                <a:alpha val="100000"/>
              </a:srgbClr>
            </a:solidFill>
            <a:prstDash val="solid"/>
            <a:miter lim="10000000"/>
          </a:ln>
        </p:spPr>
        <p:txBody>
          <a:bodyPr vert="horz" wrap="square" lIns="63500" tIns="63500" rIns="63500" bIns="63500" rtlCol="0" anchor="ctr">
            <a:spAutoFit/>
          </a:bodyPr>
          <a:lstStyle/>
          <a:p>
            <a:pPr algn="ctr">
              <a:defRPr/>
            </a:pPr>
            <a:r>
              <a:rPr lang="en-US" altLang="zh-CN" sz="1800" b="1">
                <a:solidFill>
                  <a:srgbClr val="333333"/>
                </a:solidFill>
                <a:latin typeface="Noto Sans SC" panose="020B0200000000000000" pitchFamily="34" charset="-122"/>
                <a:ea typeface="Noto Sans SC" panose="020B0200000000000000" pitchFamily="34" charset="-122"/>
                <a:cs typeface="微软雅黑 Light"/>
                <a:sym typeface="微软雅黑 Light"/>
              </a:rPr>
              <a:t>违反3NF的例子</a:t>
            </a:r>
            <a:endParaRPr sz="1800">
              <a:latin typeface="Noto Sans SC" panose="020B0200000000000000" pitchFamily="34" charset="-122"/>
              <a:ea typeface="Noto Sans SC" panose="020B0200000000000000" pitchFamily="34" charset="-122"/>
            </a:endParaRPr>
          </a:p>
        </p:txBody>
      </p:sp>
      <p:sp>
        <p:nvSpPr>
          <p:cNvPr id="5" name="AutoShape 5"/>
          <p:cNvSpPr/>
          <p:nvPr/>
        </p:nvSpPr>
        <p:spPr>
          <a:xfrm>
            <a:off x="838200" y="2528496"/>
            <a:ext cx="4121150" cy="1360181"/>
          </a:xfrm>
          <a:prstGeom prst="rect">
            <a:avLst/>
          </a:prstGeom>
          <a:noFill/>
          <a:ln w="12700" cap="flat" cmpd="sng">
            <a:noFill/>
            <a:prstDash val="solid"/>
            <a:round/>
          </a:ln>
        </p:spPr>
        <p:txBody>
          <a:bodyPr vert="horz" wrap="square" lIns="0" tIns="0" rIns="0" bIns="0" rtlCol="0" anchor="t" anchorCtr="0">
            <a:spAutoFit/>
          </a:bodyPr>
          <a:lstStyle/>
          <a:p>
            <a:pPr indent="0" algn="l">
              <a:lnSpc>
                <a:spcPct val="116666"/>
              </a:lnSpc>
              <a:spcBef>
                <a:spcPts val="600"/>
              </a:spcBef>
              <a:defRPr/>
            </a:pPr>
            <a:r>
              <a:rPr lang="zh-CN" altLang="en-US" sz="1600">
                <a:solidFill>
                  <a:srgbClr val="1F2329"/>
                </a:solidFill>
                <a:latin typeface="Noto Sans SC" panose="020B0200000000000000" pitchFamily="34" charset="-122"/>
                <a:ea typeface="Noto Sans SC" panose="020B0200000000000000" pitchFamily="34" charset="-122"/>
                <a:cs typeface="Noto Sans SC"/>
                <a:sym typeface="Noto Sans SC"/>
              </a:rPr>
              <a:t>之前分解</a:t>
            </a: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得到的关系模式 R2(C#, T#, Title) ：</a:t>
            </a:r>
            <a:endParaRPr lang="en-US" sz="1200">
              <a:latin typeface="Noto Sans SC" panose="020B0200000000000000" pitchFamily="34" charset="-122"/>
              <a:ea typeface="Noto Sans SC" panose="020B0200000000000000" pitchFamily="34" charset="-122"/>
            </a:endParaRPr>
          </a:p>
          <a:p>
            <a:pPr indent="0" algn="l">
              <a:lnSpc>
                <a:spcPct val="116666"/>
              </a:lnSpc>
              <a:spcBef>
                <a:spcPts val="600"/>
              </a:spcBef>
            </a:pPr>
            <a:r>
              <a:rPr lang="en-US" sz="1600" b="1"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候选键：</a:t>
            </a: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C# (课程号)</a:t>
            </a:r>
          </a:p>
          <a:p>
            <a:pPr>
              <a:lnSpc>
                <a:spcPct val="116666"/>
              </a:lnSpc>
              <a:spcBef>
                <a:spcPts val="600"/>
              </a:spcBef>
            </a:pPr>
            <a:r>
              <a:rPr lang="zh-CN" altLang="en-US" sz="1600" b="1">
                <a:latin typeface="Noto Sans SC" panose="020B0200000000000000" pitchFamily="34" charset="-122"/>
                <a:ea typeface="Noto Sans SC" panose="020B0200000000000000" pitchFamily="34" charset="-122"/>
                <a:cs typeface="Consolas"/>
                <a:sym typeface="Consolas"/>
              </a:rPr>
              <a:t>主属性：</a:t>
            </a:r>
            <a:r>
              <a:rPr lang="en-US" altLang="zh-CN" sz="1600">
                <a:latin typeface="Noto Sans SC" panose="020B0200000000000000" pitchFamily="34" charset="-122"/>
                <a:ea typeface="Noto Sans SC" panose="020B0200000000000000" pitchFamily="34" charset="-122"/>
                <a:cs typeface="Consolas"/>
                <a:sym typeface="Consolas"/>
              </a:rPr>
              <a:t>C#	</a:t>
            </a:r>
            <a:r>
              <a:rPr lang="zh-CN" altLang="en-US" sz="1600" b="1">
                <a:latin typeface="Noto Sans SC" panose="020B0200000000000000" pitchFamily="34" charset="-122"/>
                <a:ea typeface="Noto Sans SC" panose="020B0200000000000000" pitchFamily="34" charset="-122"/>
                <a:cs typeface="Consolas"/>
                <a:sym typeface="Consolas"/>
              </a:rPr>
              <a:t>非主属性：</a:t>
            </a:r>
            <a:r>
              <a:rPr lang="en-US" altLang="zh-CN" sz="1600">
                <a:solidFill>
                  <a:srgbClr val="1F2329"/>
                </a:solidFill>
                <a:latin typeface="Noto Sans SC" panose="020B0200000000000000" pitchFamily="34" charset="-122"/>
                <a:ea typeface="Noto Sans SC" panose="020B0200000000000000" pitchFamily="34" charset="-122"/>
                <a:cs typeface="Noto Sans SC"/>
                <a:sym typeface="Noto Sans SC"/>
              </a:rPr>
              <a:t>T#, Title</a:t>
            </a:r>
            <a:endPar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endParaRPr>
          </a:p>
          <a:p>
            <a:pPr>
              <a:lnSpc>
                <a:spcPct val="116666"/>
              </a:lnSpc>
              <a:spcBef>
                <a:spcPts val="600"/>
              </a:spcBef>
            </a:pPr>
            <a:r>
              <a:rPr lang="en-US" altLang="zh-CN" sz="1600" b="1"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FD</a:t>
            </a:r>
            <a:r>
              <a:rPr lang="zh-CN" altLang="en-US" sz="1600" b="1"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集</a:t>
            </a:r>
            <a:r>
              <a:rPr lang="en-US" altLang="zh-CN" sz="1600" b="1"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F</a:t>
            </a:r>
            <a:r>
              <a:rPr lang="zh-CN" altLang="en-US" sz="1600" b="1"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及</a:t>
            </a:r>
            <a:r>
              <a:rPr lang="en-US" altLang="zh-CN" sz="1600" b="1">
                <a:latin typeface="Noto Sans SC" panose="020B0200000000000000" pitchFamily="34" charset="-122"/>
                <a:ea typeface="Noto Sans SC" panose="020B0200000000000000" pitchFamily="34" charset="-122"/>
                <a:cs typeface="Consolas"/>
                <a:sym typeface="Consolas"/>
              </a:rPr>
              <a:t>Fmin</a:t>
            </a:r>
            <a:r>
              <a:rPr lang="zh-CN" altLang="en-US" sz="1600" b="1">
                <a:latin typeface="Noto Sans SC" panose="020B0200000000000000" pitchFamily="34" charset="-122"/>
                <a:ea typeface="Noto Sans SC" panose="020B0200000000000000" pitchFamily="34" charset="-122"/>
                <a:cs typeface="Consolas"/>
                <a:sym typeface="Consolas"/>
              </a:rPr>
              <a:t>：</a:t>
            </a:r>
            <a:endParaRPr lang="en-US" sz="1600" b="0" i="0" u="none" strike="noStrike">
              <a:solidFill>
                <a:srgbClr val="505050"/>
              </a:solidFill>
              <a:latin typeface="Noto Sans SC" panose="020B0200000000000000" pitchFamily="34" charset="-122"/>
              <a:ea typeface="Noto Sans SC" panose="020B0200000000000000" pitchFamily="34" charset="-122"/>
              <a:cs typeface="Noto Sans SC"/>
              <a:sym typeface="Noto Sans SC"/>
            </a:endParaRPr>
          </a:p>
        </p:txBody>
      </p:sp>
      <p:sp>
        <p:nvSpPr>
          <p:cNvPr id="6" name="AutoShape 6"/>
          <p:cNvSpPr/>
          <p:nvPr/>
        </p:nvSpPr>
        <p:spPr>
          <a:xfrm>
            <a:off x="5869172" y="1280179"/>
            <a:ext cx="5484628" cy="405239"/>
          </a:xfrm>
          <a:prstGeom prst="roundRect">
            <a:avLst>
              <a:gd name="adj" fmla="val 0"/>
            </a:avLst>
          </a:prstGeom>
          <a:solidFill>
            <a:srgbClr val="FFC000">
              <a:alpha val="100000"/>
            </a:srgbClr>
          </a:solidFill>
          <a:ln w="25400" cap="flat" cmpd="sng">
            <a:solidFill>
              <a:srgbClr val="FFFFFF">
                <a:alpha val="100000"/>
              </a:srgbClr>
            </a:solidFill>
            <a:prstDash val="solid"/>
            <a:miter lim="10000000"/>
          </a:ln>
        </p:spPr>
        <p:txBody>
          <a:bodyPr vert="horz" wrap="square" lIns="63500" tIns="63500" rIns="63500" bIns="63500" rtlCol="0" anchor="ctr">
            <a:spAutoFit/>
          </a:bodyPr>
          <a:lstStyle/>
          <a:p>
            <a:pPr algn="ctr">
              <a:defRPr/>
            </a:pPr>
            <a:r>
              <a:rPr lang="en-US" altLang="zh-CN" sz="1800" b="1">
                <a:solidFill>
                  <a:srgbClr val="333333"/>
                </a:solidFill>
                <a:latin typeface="Noto Sans SC" panose="020B0200000000000000" pitchFamily="34" charset="-122"/>
                <a:ea typeface="Noto Sans SC" panose="020B0200000000000000" pitchFamily="34" charset="-122"/>
                <a:cs typeface="微软雅黑 Light"/>
                <a:sym typeface="微软雅黑 Light"/>
              </a:rPr>
              <a:t>分解为满足 3NF 的</a:t>
            </a:r>
            <a:r>
              <a:rPr lang="zh-CN" altLang="en-US" sz="1800" b="1">
                <a:solidFill>
                  <a:srgbClr val="333333"/>
                </a:solidFill>
                <a:latin typeface="Noto Sans SC" panose="020B0200000000000000" pitchFamily="34" charset="-122"/>
                <a:ea typeface="Noto Sans SC" panose="020B0200000000000000" pitchFamily="34" charset="-122"/>
                <a:cs typeface="微软雅黑 Light"/>
                <a:sym typeface="微软雅黑 Light"/>
              </a:rPr>
              <a:t>多个</a:t>
            </a:r>
            <a:r>
              <a:rPr lang="en-US" altLang="zh-CN" sz="1800" b="1">
                <a:solidFill>
                  <a:srgbClr val="333333"/>
                </a:solidFill>
                <a:latin typeface="Noto Sans SC" panose="020B0200000000000000" pitchFamily="34" charset="-122"/>
                <a:ea typeface="Noto Sans SC" panose="020B0200000000000000" pitchFamily="34" charset="-122"/>
                <a:cs typeface="微软雅黑 Light"/>
                <a:sym typeface="微软雅黑 Light"/>
              </a:rPr>
              <a:t>关系模式</a:t>
            </a:r>
            <a:endParaRPr sz="1800">
              <a:latin typeface="Noto Sans SC" panose="020B0200000000000000" pitchFamily="34" charset="-122"/>
              <a:ea typeface="Noto Sans SC" panose="020B0200000000000000" pitchFamily="34" charset="-122"/>
            </a:endParaRPr>
          </a:p>
        </p:txBody>
      </p:sp>
      <p:sp>
        <p:nvSpPr>
          <p:cNvPr id="7" name="AutoShape 7"/>
          <p:cNvSpPr/>
          <p:nvPr/>
        </p:nvSpPr>
        <p:spPr>
          <a:xfrm>
            <a:off x="6223000" y="1270000"/>
            <a:ext cx="4953000" cy="609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endParaRPr lang="en-US" sz="1100">
              <a:latin typeface="Noto Sans SC" panose="020B0200000000000000" pitchFamily="34" charset="-122"/>
              <a:ea typeface="Noto Sans SC" panose="020B0200000000000000" pitchFamily="34" charset="-122"/>
            </a:endParaRPr>
          </a:p>
        </p:txBody>
      </p:sp>
      <p:sp>
        <p:nvSpPr>
          <p:cNvPr id="8" name="AutoShape 8"/>
          <p:cNvSpPr/>
          <p:nvPr/>
        </p:nvSpPr>
        <p:spPr>
          <a:xfrm>
            <a:off x="8397949" y="3208587"/>
            <a:ext cx="2955851" cy="1972528"/>
          </a:xfrm>
          <a:prstGeom prst="rect">
            <a:avLst/>
          </a:prstGeom>
          <a:noFill/>
          <a:ln w="12700" cap="flat" cmpd="sng">
            <a:noFill/>
            <a:prstDash val="solid"/>
            <a:round/>
          </a:ln>
        </p:spPr>
        <p:txBody>
          <a:bodyPr vert="horz" wrap="square" lIns="0" tIns="0" rIns="0" bIns="0" rtlCol="0" anchor="t" anchorCtr="0">
            <a:spAutoFit/>
          </a:bodyPr>
          <a:lstStyle/>
          <a:p>
            <a:pPr indent="0" algn="l">
              <a:lnSpc>
                <a:spcPct val="125000"/>
              </a:lnSpc>
              <a:spcAft>
                <a:spcPts val="600"/>
              </a:spcAft>
              <a:defRPr/>
            </a:pPr>
            <a:r>
              <a:rPr lang="zh-CN" altLang="en-US" sz="1600">
                <a:solidFill>
                  <a:srgbClr val="1F2329"/>
                </a:solidFill>
                <a:latin typeface="Noto Sans SC" panose="020B0200000000000000" pitchFamily="34" charset="-122"/>
                <a:ea typeface="Noto Sans SC" panose="020B0200000000000000" pitchFamily="34" charset="-122"/>
                <a:cs typeface="Noto Sans SC"/>
                <a:sym typeface="Noto Sans SC"/>
              </a:rPr>
              <a:t>把表</a:t>
            </a: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R2 分解为两个</a:t>
            </a:r>
            <a:r>
              <a:rPr lang="zh-CN" alt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表</a:t>
            </a:r>
            <a:r>
              <a:rPr lang="en-US" sz="1600" b="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a:t>
            </a:r>
            <a:endParaRPr lang="en-US" sz="1200">
              <a:latin typeface="Noto Sans SC" panose="020B0200000000000000" pitchFamily="34" charset="-122"/>
              <a:ea typeface="Noto Sans SC" panose="020B0200000000000000" pitchFamily="34" charset="-122"/>
            </a:endParaRPr>
          </a:p>
          <a:p>
            <a:pPr>
              <a:lnSpc>
                <a:spcPct val="125000"/>
              </a:lnSpc>
              <a:spcAft>
                <a:spcPts val="600"/>
              </a:spcAft>
              <a:defRPr/>
            </a:pPr>
            <a:r>
              <a:rPr lang="zh-CN" altLang="en-US" sz="1600" b="1">
                <a:solidFill>
                  <a:srgbClr val="1F2329"/>
                </a:solidFill>
                <a:latin typeface="Noto Sans SC" panose="020B0200000000000000" pitchFamily="34" charset="-122"/>
                <a:ea typeface="Noto Sans SC" panose="020B0200000000000000" pitchFamily="34" charset="-122"/>
                <a:cs typeface="Noto Sans SC"/>
                <a:sym typeface="Noto Sans SC"/>
              </a:rPr>
              <a:t>教师信息表：</a:t>
            </a:r>
            <a:br>
              <a:rPr lang="en-US" altLang="zh-CN" sz="1600" b="1">
                <a:solidFill>
                  <a:srgbClr val="1F2329"/>
                </a:solidFill>
                <a:latin typeface="Noto Sans SC" panose="020B0200000000000000" pitchFamily="34" charset="-122"/>
                <a:ea typeface="Noto Sans SC" panose="020B0200000000000000" pitchFamily="34" charset="-122"/>
                <a:cs typeface="Noto Sans SC"/>
                <a:sym typeface="Noto Sans SC"/>
              </a:rPr>
            </a:br>
            <a:r>
              <a:rPr lang="en-US" sz="160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R</a:t>
            </a:r>
            <a:r>
              <a:rPr lang="en-US" sz="1600" i="0" u="none" strike="noStrike" baseline="-25000">
                <a:solidFill>
                  <a:srgbClr val="1F2329"/>
                </a:solidFill>
                <a:latin typeface="Noto Sans SC" panose="020B0200000000000000" pitchFamily="34" charset="-122"/>
                <a:ea typeface="Noto Sans SC" panose="020B0200000000000000" pitchFamily="34" charset="-122"/>
                <a:cs typeface="Noto Sans SC"/>
                <a:sym typeface="Noto Sans SC"/>
              </a:rPr>
              <a:t>2_2</a:t>
            </a:r>
            <a:r>
              <a:rPr lang="en-US" sz="160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 (T#, Title)</a:t>
            </a:r>
            <a:r>
              <a:rPr lang="zh-CN" altLang="en-US" sz="160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a:t>
            </a:r>
            <a:r>
              <a:rPr lang="en-US" altLang="zh-CN" sz="160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CK</a:t>
            </a:r>
            <a:r>
              <a:rPr lang="zh-CN" altLang="en-US" sz="160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 </a:t>
            </a:r>
            <a:r>
              <a:rPr lang="en-US" altLang="zh-CN" sz="1600" i="0" u="none" strike="noStrike">
                <a:solidFill>
                  <a:srgbClr val="1F2329"/>
                </a:solidFill>
                <a:latin typeface="Noto Sans SC" panose="020B0200000000000000" pitchFamily="34" charset="-122"/>
                <a:ea typeface="Noto Sans SC" panose="020B0200000000000000" pitchFamily="34" charset="-122"/>
                <a:cs typeface="Noto Sans SC"/>
                <a:sym typeface="Noto Sans SC"/>
              </a:rPr>
              <a:t>=</a:t>
            </a:r>
            <a:r>
              <a:rPr lang="en-US" altLang="zh-CN" sz="1600">
                <a:solidFill>
                  <a:srgbClr val="505050"/>
                </a:solidFill>
                <a:latin typeface="Noto Sans SC" panose="020B0200000000000000" pitchFamily="34" charset="-122"/>
                <a:ea typeface="Noto Sans SC" panose="020B0200000000000000" pitchFamily="34" charset="-122"/>
                <a:cs typeface="Noto Sans SC"/>
                <a:sym typeface="Noto Sans SC"/>
              </a:rPr>
              <a:t> (T#) = PK</a:t>
            </a:r>
          </a:p>
          <a:p>
            <a:pPr>
              <a:lnSpc>
                <a:spcPct val="125000"/>
              </a:lnSpc>
              <a:spcAft>
                <a:spcPts val="600"/>
              </a:spcAft>
              <a:defRPr/>
            </a:pPr>
            <a:r>
              <a:rPr lang="zh-CN" altLang="en-US" sz="1600" b="1">
                <a:solidFill>
                  <a:srgbClr val="1F2329"/>
                </a:solidFill>
                <a:latin typeface="Noto Sans SC" panose="020B0200000000000000" pitchFamily="34" charset="-122"/>
                <a:ea typeface="Noto Sans SC" panose="020B0200000000000000" pitchFamily="34" charset="-122"/>
                <a:cs typeface="Noto Sans SC"/>
                <a:sym typeface="Noto Sans SC"/>
              </a:rPr>
              <a:t>课程的授课教师信息表：</a:t>
            </a:r>
            <a:br>
              <a:rPr lang="en-US" altLang="zh-CN" sz="1600" b="1">
                <a:solidFill>
                  <a:srgbClr val="1F2329"/>
                </a:solidFill>
                <a:latin typeface="Noto Sans SC" panose="020B0200000000000000" pitchFamily="34" charset="-122"/>
                <a:ea typeface="Noto Sans SC" panose="020B0200000000000000" pitchFamily="34" charset="-122"/>
                <a:cs typeface="Noto Sans SC"/>
                <a:sym typeface="Noto Sans SC"/>
              </a:rPr>
            </a:br>
            <a:r>
              <a:rPr lang="en-US" altLang="zh-CN" sz="1600">
                <a:solidFill>
                  <a:srgbClr val="1F2329"/>
                </a:solidFill>
                <a:latin typeface="Noto Sans SC" panose="020B0200000000000000" pitchFamily="34" charset="-122"/>
                <a:ea typeface="Noto Sans SC" panose="020B0200000000000000" pitchFamily="34" charset="-122"/>
                <a:cs typeface="Noto Sans SC"/>
                <a:sym typeface="Noto Sans SC"/>
              </a:rPr>
              <a:t>R</a:t>
            </a:r>
            <a:r>
              <a:rPr lang="en-US" altLang="zh-CN" sz="1600" baseline="-25000">
                <a:solidFill>
                  <a:srgbClr val="1F2329"/>
                </a:solidFill>
                <a:latin typeface="Noto Sans SC" panose="020B0200000000000000" pitchFamily="34" charset="-122"/>
                <a:ea typeface="Noto Sans SC" panose="020B0200000000000000" pitchFamily="34" charset="-122"/>
                <a:cs typeface="Noto Sans SC"/>
                <a:sym typeface="Noto Sans SC"/>
              </a:rPr>
              <a:t>2_1</a:t>
            </a:r>
            <a:r>
              <a:rPr lang="en-US" altLang="zh-CN" sz="1600">
                <a:solidFill>
                  <a:srgbClr val="1F2329"/>
                </a:solidFill>
                <a:latin typeface="Noto Sans SC" panose="020B0200000000000000" pitchFamily="34" charset="-122"/>
                <a:ea typeface="Noto Sans SC" panose="020B0200000000000000" pitchFamily="34" charset="-122"/>
                <a:cs typeface="Noto Sans SC"/>
                <a:sym typeface="Noto Sans SC"/>
              </a:rPr>
              <a:t> (C#, T#)</a:t>
            </a:r>
            <a:r>
              <a:rPr lang="zh-CN" altLang="en-US" sz="1600">
                <a:solidFill>
                  <a:srgbClr val="1F2329"/>
                </a:solidFill>
                <a:latin typeface="Noto Sans SC" panose="020B0200000000000000" pitchFamily="34" charset="-122"/>
                <a:ea typeface="Noto Sans SC" panose="020B0200000000000000" pitchFamily="34" charset="-122"/>
                <a:cs typeface="Noto Sans SC"/>
                <a:sym typeface="Noto Sans SC"/>
              </a:rPr>
              <a:t>，</a:t>
            </a:r>
            <a:r>
              <a:rPr lang="en-US" altLang="zh-CN" sz="1600">
                <a:solidFill>
                  <a:srgbClr val="1F2329"/>
                </a:solidFill>
                <a:latin typeface="Noto Sans SC" panose="020B0200000000000000" pitchFamily="34" charset="-122"/>
                <a:ea typeface="Noto Sans SC" panose="020B0200000000000000" pitchFamily="34" charset="-122"/>
                <a:cs typeface="Noto Sans SC"/>
                <a:sym typeface="Noto Sans SC"/>
              </a:rPr>
              <a:t>CK</a:t>
            </a:r>
            <a:r>
              <a:rPr lang="zh-CN" altLang="en-US" sz="1600">
                <a:solidFill>
                  <a:srgbClr val="1F2329"/>
                </a:solidFill>
                <a:latin typeface="Noto Sans SC" panose="020B0200000000000000" pitchFamily="34" charset="-122"/>
                <a:ea typeface="Noto Sans SC" panose="020B0200000000000000" pitchFamily="34" charset="-122"/>
                <a:cs typeface="Noto Sans SC"/>
                <a:sym typeface="Noto Sans SC"/>
              </a:rPr>
              <a:t> </a:t>
            </a:r>
            <a:r>
              <a:rPr lang="en-US" altLang="zh-CN" sz="1600">
                <a:solidFill>
                  <a:srgbClr val="1F2329"/>
                </a:solidFill>
                <a:latin typeface="Noto Sans SC" panose="020B0200000000000000" pitchFamily="34" charset="-122"/>
                <a:ea typeface="Noto Sans SC" panose="020B0200000000000000" pitchFamily="34" charset="-122"/>
                <a:cs typeface="Noto Sans SC"/>
                <a:sym typeface="Noto Sans SC"/>
              </a:rPr>
              <a:t>=</a:t>
            </a:r>
            <a:r>
              <a:rPr lang="en-US" altLang="zh-CN" sz="1600">
                <a:solidFill>
                  <a:srgbClr val="505050"/>
                </a:solidFill>
                <a:latin typeface="Noto Sans SC" panose="020B0200000000000000" pitchFamily="34" charset="-122"/>
                <a:ea typeface="Noto Sans SC" panose="020B0200000000000000" pitchFamily="34" charset="-122"/>
                <a:cs typeface="Noto Sans SC"/>
                <a:sym typeface="Noto Sans SC"/>
              </a:rPr>
              <a:t> (C#) = PK</a:t>
            </a:r>
            <a:br>
              <a:rPr lang="en-US" altLang="zh-CN" sz="1600">
                <a:solidFill>
                  <a:srgbClr val="505050"/>
                </a:solidFill>
                <a:latin typeface="Noto Sans SC" panose="020B0200000000000000" pitchFamily="34" charset="-122"/>
                <a:ea typeface="Noto Sans SC" panose="020B0200000000000000" pitchFamily="34" charset="-122"/>
                <a:cs typeface="Noto Sans SC"/>
                <a:sym typeface="Noto Sans SC"/>
              </a:rPr>
            </a:br>
            <a:r>
              <a:rPr lang="en-US" altLang="zh-CN" sz="1600">
                <a:solidFill>
                  <a:srgbClr val="505050"/>
                </a:solidFill>
                <a:latin typeface="Noto Sans SC" panose="020B0200000000000000" pitchFamily="34" charset="-122"/>
                <a:ea typeface="Noto Sans SC" panose="020B0200000000000000" pitchFamily="34" charset="-122"/>
                <a:cs typeface="Noto Sans SC"/>
                <a:sym typeface="Noto Sans SC"/>
              </a:rPr>
              <a:t>FK1</a:t>
            </a:r>
            <a:r>
              <a:rPr lang="zh-CN" altLang="en-US" sz="1600">
                <a:solidFill>
                  <a:srgbClr val="505050"/>
                </a:solidFill>
                <a:latin typeface="Noto Sans SC" panose="020B0200000000000000" pitchFamily="34" charset="-122"/>
                <a:ea typeface="Noto Sans SC" panose="020B0200000000000000" pitchFamily="34" charset="-122"/>
                <a:cs typeface="Noto Sans SC"/>
                <a:sym typeface="Noto Sans SC"/>
              </a:rPr>
              <a:t> </a:t>
            </a:r>
            <a:r>
              <a:rPr lang="en-US" altLang="zh-CN" sz="1600">
                <a:solidFill>
                  <a:srgbClr val="505050"/>
                </a:solidFill>
                <a:latin typeface="Noto Sans SC" panose="020B0200000000000000" pitchFamily="34" charset="-122"/>
                <a:ea typeface="Noto Sans SC" panose="020B0200000000000000" pitchFamily="34" charset="-122"/>
                <a:cs typeface="Noto Sans SC"/>
                <a:sym typeface="Noto Sans SC"/>
              </a:rPr>
              <a:t>= (T#)</a:t>
            </a:r>
            <a:r>
              <a:rPr lang="zh-CN" altLang="en-US" sz="1600">
                <a:solidFill>
                  <a:srgbClr val="505050"/>
                </a:solidFill>
                <a:latin typeface="Noto Sans SC" panose="020B0200000000000000" pitchFamily="34" charset="-122"/>
                <a:ea typeface="Noto Sans SC" panose="020B0200000000000000" pitchFamily="34" charset="-122"/>
                <a:cs typeface="Noto Sans SC"/>
                <a:sym typeface="Noto Sans SC"/>
              </a:rPr>
              <a:t>引用</a:t>
            </a:r>
            <a:r>
              <a:rPr lang="en-US" altLang="zh-CN" sz="1600">
                <a:solidFill>
                  <a:srgbClr val="1F2329"/>
                </a:solidFill>
                <a:latin typeface="Noto Sans SC" panose="020B0200000000000000" pitchFamily="34" charset="-122"/>
                <a:ea typeface="Noto Sans SC" panose="020B0200000000000000" pitchFamily="34" charset="-122"/>
                <a:cs typeface="Noto Sans SC"/>
                <a:sym typeface="Noto Sans SC"/>
              </a:rPr>
              <a:t>R</a:t>
            </a:r>
            <a:r>
              <a:rPr lang="en-US" altLang="zh-CN" sz="1600" baseline="-25000">
                <a:solidFill>
                  <a:srgbClr val="1F2329"/>
                </a:solidFill>
                <a:latin typeface="Noto Sans SC" panose="020B0200000000000000" pitchFamily="34" charset="-122"/>
                <a:ea typeface="Noto Sans SC" panose="020B0200000000000000" pitchFamily="34" charset="-122"/>
                <a:cs typeface="Noto Sans SC"/>
                <a:sym typeface="Noto Sans SC"/>
              </a:rPr>
              <a:t>2_2</a:t>
            </a:r>
            <a:r>
              <a:rPr lang="en-US" altLang="zh-CN" sz="1600">
                <a:solidFill>
                  <a:srgbClr val="1F2329"/>
                </a:solidFill>
                <a:latin typeface="Noto Sans SC" panose="020B0200000000000000" pitchFamily="34" charset="-122"/>
                <a:ea typeface="Noto Sans SC" panose="020B0200000000000000" pitchFamily="34" charset="-122"/>
                <a:cs typeface="Noto Sans SC"/>
                <a:sym typeface="Noto Sans SC"/>
              </a:rPr>
              <a:t>.PK</a:t>
            </a:r>
          </a:p>
        </p:txBody>
      </p:sp>
      <p:sp>
        <p:nvSpPr>
          <p:cNvPr id="11" name="AutoShape 2">
            <a:extLst>
              <a:ext uri="{FF2B5EF4-FFF2-40B4-BE49-F238E27FC236}">
                <a16:creationId xmlns:a16="http://schemas.microsoft.com/office/drawing/2014/main" id="{878EC8D8-DD32-ADD6-AD82-FD6ECF6695C0}"/>
              </a:ext>
            </a:extLst>
          </p:cNvPr>
          <p:cNvSpPr/>
          <p:nvPr/>
        </p:nvSpPr>
        <p:spPr>
          <a:xfrm>
            <a:off x="838200" y="402857"/>
            <a:ext cx="10515600" cy="489686"/>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7.4.3 第三范式 (3NF)</a:t>
            </a:r>
            <a:r>
              <a:rPr lang="zh-CN" altLang="en-US" sz="2400" b="1">
                <a:solidFill>
                  <a:srgbClr val="FFFFFF"/>
                </a:solidFill>
                <a:latin typeface="Noto Sans SC"/>
                <a:ea typeface="Noto Sans SC"/>
                <a:sym typeface="Noto Sans SC"/>
              </a:rPr>
              <a:t>（</a:t>
            </a:r>
            <a:r>
              <a:rPr lang="en-US" altLang="zh-CN" sz="2400" b="1">
                <a:solidFill>
                  <a:srgbClr val="FFFFFF"/>
                </a:solidFill>
                <a:latin typeface="Noto Sans SC"/>
                <a:ea typeface="Noto Sans SC"/>
                <a:sym typeface="Noto Sans SC"/>
              </a:rPr>
              <a:t>3</a:t>
            </a:r>
            <a:r>
              <a:rPr lang="zh-CN" altLang="en-US" sz="2400" b="1">
                <a:solidFill>
                  <a:srgbClr val="FFFFFF"/>
                </a:solidFill>
                <a:latin typeface="Noto Sans SC"/>
                <a:ea typeface="Noto Sans SC"/>
                <a:sym typeface="Noto Sans SC"/>
              </a:rPr>
              <a:t>）</a:t>
            </a:r>
            <a:endParaRPr lang="en-US" sz="2400" b="1">
              <a:solidFill>
                <a:srgbClr val="FFFFFF"/>
              </a:solidFill>
              <a:latin typeface="Noto Sans SC"/>
              <a:ea typeface="Noto Sans SC"/>
            </a:endParaRPr>
          </a:p>
        </p:txBody>
      </p:sp>
      <p:sp>
        <p:nvSpPr>
          <p:cNvPr id="15" name="AutoShape 5">
            <a:extLst>
              <a:ext uri="{FF2B5EF4-FFF2-40B4-BE49-F238E27FC236}">
                <a16:creationId xmlns:a16="http://schemas.microsoft.com/office/drawing/2014/main" id="{A12365ED-F682-D56B-3A51-ACE8213D09AD}"/>
              </a:ext>
            </a:extLst>
          </p:cNvPr>
          <p:cNvSpPr/>
          <p:nvPr/>
        </p:nvSpPr>
        <p:spPr>
          <a:xfrm>
            <a:off x="838200" y="5853717"/>
            <a:ext cx="4121150" cy="553100"/>
          </a:xfrm>
          <a:prstGeom prst="rect">
            <a:avLst/>
          </a:prstGeom>
          <a:noFill/>
          <a:ln w="12700" cap="flat" cmpd="sng">
            <a:noFill/>
            <a:prstDash val="solid"/>
            <a:round/>
          </a:ln>
        </p:spPr>
        <p:txBody>
          <a:bodyPr vert="horz" wrap="square" lIns="0" tIns="0" rIns="0" bIns="0" rtlCol="0" anchor="t" anchorCtr="0">
            <a:spAutoFit/>
          </a:bodyPr>
          <a:lstStyle/>
          <a:p>
            <a:pPr>
              <a:lnSpc>
                <a:spcPct val="116666"/>
              </a:lnSpc>
              <a:spcBef>
                <a:spcPts val="600"/>
              </a:spcBef>
            </a:pPr>
            <a:r>
              <a:rPr lang="zh-CN" altLang="en-US" sz="1600" b="0" i="0" u="none" strike="noStrike">
                <a:solidFill>
                  <a:srgbClr val="505050"/>
                </a:solidFill>
                <a:latin typeface="Noto Sans SC" panose="020B0200000000000000" pitchFamily="34" charset="-122"/>
                <a:ea typeface="Noto Sans SC" panose="020B0200000000000000" pitchFamily="34" charset="-122"/>
                <a:cs typeface="Noto Sans SC"/>
                <a:sym typeface="Noto Sans SC"/>
              </a:rPr>
              <a:t>∵ </a:t>
            </a:r>
            <a:r>
              <a:rPr lang="en-US" sz="1600" b="0" i="0" u="none" strike="noStrike">
                <a:solidFill>
                  <a:srgbClr val="505050"/>
                </a:solidFill>
                <a:latin typeface="Noto Sans SC" panose="020B0200000000000000" pitchFamily="34" charset="-122"/>
                <a:ea typeface="Noto Sans SC" panose="020B0200000000000000" pitchFamily="34" charset="-122"/>
                <a:cs typeface="Noto Sans SC"/>
                <a:sym typeface="Noto Sans SC"/>
              </a:rPr>
              <a:t>非主属性 Title传递依赖于候选键 C#</a:t>
            </a:r>
            <a:r>
              <a:rPr lang="zh-CN" altLang="en-US" sz="1600">
                <a:solidFill>
                  <a:srgbClr val="505050"/>
                </a:solidFill>
                <a:latin typeface="Noto Sans SC" panose="020B0200000000000000" pitchFamily="34" charset="-122"/>
                <a:ea typeface="Noto Sans SC" panose="020B0200000000000000" pitchFamily="34" charset="-122"/>
                <a:cs typeface="Noto Sans SC"/>
                <a:sym typeface="Noto Sans SC"/>
              </a:rPr>
              <a:t>。 </a:t>
            </a:r>
            <a:br>
              <a:rPr lang="en-US" altLang="zh-CN" sz="1600">
                <a:solidFill>
                  <a:srgbClr val="505050"/>
                </a:solidFill>
                <a:latin typeface="Noto Sans SC" panose="020B0200000000000000" pitchFamily="34" charset="-122"/>
                <a:ea typeface="Noto Sans SC" panose="020B0200000000000000" pitchFamily="34" charset="-122"/>
                <a:cs typeface="Noto Sans SC"/>
                <a:sym typeface="Noto Sans SC"/>
              </a:rPr>
            </a:br>
            <a:r>
              <a:rPr lang="zh-CN" altLang="en-US" sz="1600" b="0" i="0" u="none" strike="noStrike">
                <a:solidFill>
                  <a:srgbClr val="505050"/>
                </a:solidFill>
                <a:latin typeface="Noto Sans SC" panose="020B0200000000000000" pitchFamily="34" charset="-122"/>
                <a:ea typeface="Noto Sans SC" panose="020B0200000000000000" pitchFamily="34" charset="-122"/>
                <a:cs typeface="Noto Sans SC"/>
                <a:sym typeface="Noto Sans SC"/>
              </a:rPr>
              <a:t>∴ </a:t>
            </a:r>
            <a:r>
              <a:rPr lang="en-US" sz="1600" b="0" i="0" u="none" strike="noStrike">
                <a:solidFill>
                  <a:srgbClr val="FF0000"/>
                </a:solidFill>
                <a:latin typeface="Noto Sans SC" panose="020B0200000000000000" pitchFamily="34" charset="-122"/>
                <a:ea typeface="Noto Sans SC" panose="020B0200000000000000" pitchFamily="34" charset="-122"/>
                <a:cs typeface="Noto Sans SC"/>
                <a:sym typeface="Noto Sans SC"/>
              </a:rPr>
              <a:t>关系模式 R2 不满足 3NF</a:t>
            </a:r>
            <a:r>
              <a:rPr lang="en-US" sz="1600" b="0" i="0" u="none" strike="noStrike">
                <a:solidFill>
                  <a:srgbClr val="505050"/>
                </a:solidFill>
                <a:latin typeface="Noto Sans SC" panose="020B0200000000000000" pitchFamily="34" charset="-122"/>
                <a:ea typeface="Noto Sans SC" panose="020B0200000000000000" pitchFamily="34" charset="-122"/>
                <a:cs typeface="Noto Sans SC"/>
                <a:sym typeface="Noto Sans SC"/>
              </a:rPr>
              <a:t>。</a:t>
            </a:r>
          </a:p>
        </p:txBody>
      </p:sp>
      <p:pic>
        <p:nvPicPr>
          <p:cNvPr id="17" name="图片 16">
            <a:extLst>
              <a:ext uri="{FF2B5EF4-FFF2-40B4-BE49-F238E27FC236}">
                <a16:creationId xmlns:a16="http://schemas.microsoft.com/office/drawing/2014/main" id="{2DD6508D-AF02-53A1-C9E0-996A5358EBF0}"/>
              </a:ext>
            </a:extLst>
          </p:cNvPr>
          <p:cNvPicPr>
            <a:picLocks noChangeAspect="1"/>
          </p:cNvPicPr>
          <p:nvPr/>
        </p:nvPicPr>
        <p:blipFill>
          <a:blip r:embed="rId4"/>
          <a:stretch>
            <a:fillRect/>
          </a:stretch>
        </p:blipFill>
        <p:spPr>
          <a:xfrm>
            <a:off x="8039708" y="1802631"/>
            <a:ext cx="2974857" cy="1026000"/>
          </a:xfrm>
          <a:prstGeom prst="rect">
            <a:avLst/>
          </a:prstGeom>
        </p:spPr>
      </p:pic>
      <p:sp>
        <p:nvSpPr>
          <p:cNvPr id="20" name="箭头: 左弧形 19">
            <a:extLst>
              <a:ext uri="{FF2B5EF4-FFF2-40B4-BE49-F238E27FC236}">
                <a16:creationId xmlns:a16="http://schemas.microsoft.com/office/drawing/2014/main" id="{4E884A3A-9DCD-876F-3DE7-6A6353CEC4BD}"/>
              </a:ext>
            </a:extLst>
          </p:cNvPr>
          <p:cNvSpPr/>
          <p:nvPr/>
        </p:nvSpPr>
        <p:spPr>
          <a:xfrm rot="3154572">
            <a:off x="6900817" y="1813657"/>
            <a:ext cx="569300" cy="1251300"/>
          </a:xfrm>
          <a:prstGeom prst="curvedRightArrow">
            <a:avLst>
              <a:gd name="adj1" fmla="val 25000"/>
              <a:gd name="adj2" fmla="val 47873"/>
              <a:gd name="adj3" fmla="val 4204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latin typeface="Noto Sans SC" panose="020B0200000000000000" pitchFamily="34" charset="-122"/>
              <a:ea typeface="Noto Sans SC" panose="020B0200000000000000" pitchFamily="34" charset="-122"/>
            </a:endParaRPr>
          </a:p>
        </p:txBody>
      </p:sp>
      <p:sp>
        <p:nvSpPr>
          <p:cNvPr id="21" name="AutoShape 7">
            <a:extLst>
              <a:ext uri="{FF2B5EF4-FFF2-40B4-BE49-F238E27FC236}">
                <a16:creationId xmlns:a16="http://schemas.microsoft.com/office/drawing/2014/main" id="{8B002932-ED69-39AF-1F4F-15E9C8ED4261}"/>
              </a:ext>
            </a:extLst>
          </p:cNvPr>
          <p:cNvSpPr/>
          <p:nvPr/>
        </p:nvSpPr>
        <p:spPr>
          <a:xfrm>
            <a:off x="5869172" y="5545862"/>
            <a:ext cx="5484628" cy="805258"/>
          </a:xfrm>
          <a:prstGeom prst="rect">
            <a:avLst/>
          </a:prstGeom>
          <a:solidFill>
            <a:srgbClr val="F0F9EB">
              <a:alpha val="100000"/>
            </a:srgbClr>
          </a:solidFill>
          <a:ln w="12700" cap="flat" cmpd="sng">
            <a:noFill/>
            <a:prstDash val="solid"/>
            <a:round/>
          </a:ln>
        </p:spPr>
        <p:txBody>
          <a:bodyPr vert="horz" wrap="square" lIns="108000" tIns="108000" rIns="108000" bIns="108000" rtlCol="0" anchor="ctr" anchorCtr="0">
            <a:spAutoFit/>
          </a:bodyPr>
          <a:lstStyle/>
          <a:p>
            <a:pPr indent="0" algn="ctr">
              <a:lnSpc>
                <a:spcPct val="125000"/>
              </a:lnSpc>
              <a:defRPr/>
            </a:pPr>
            <a:r>
              <a:rPr lang="en-US" sz="1600" b="1" i="0" u="none" strike="noStrike">
                <a:solidFill>
                  <a:srgbClr val="15803D"/>
                </a:solidFill>
                <a:latin typeface="Noto Sans SC"/>
                <a:ea typeface="Noto Sans SC"/>
                <a:cs typeface="Noto Sans SC"/>
                <a:sym typeface="Noto Sans SC"/>
              </a:rPr>
              <a:t>✅ 分解：新</a:t>
            </a:r>
            <a:r>
              <a:rPr lang="zh-CN" altLang="en-US" sz="1600" b="1" i="0" u="none" strike="noStrike">
                <a:solidFill>
                  <a:srgbClr val="15803D"/>
                </a:solidFill>
                <a:latin typeface="Noto Sans SC"/>
                <a:ea typeface="Noto Sans SC"/>
                <a:cs typeface="Noto Sans SC"/>
                <a:sym typeface="Noto Sans SC"/>
              </a:rPr>
              <a:t>的表</a:t>
            </a:r>
            <a:r>
              <a:rPr lang="en-US" altLang="zh-CN" sz="1600" b="1" i="0" u="none" strike="noStrike">
                <a:solidFill>
                  <a:srgbClr val="15803D"/>
                </a:solidFill>
                <a:latin typeface="Noto Sans SC"/>
                <a:ea typeface="Noto Sans SC"/>
                <a:cs typeface="Noto Sans SC"/>
                <a:sym typeface="Noto Sans SC"/>
              </a:rPr>
              <a:t>R</a:t>
            </a:r>
            <a:r>
              <a:rPr lang="en-US" altLang="zh-CN" sz="1600" b="1" i="0" u="none" strike="noStrike" baseline="-25000">
                <a:solidFill>
                  <a:srgbClr val="15803D"/>
                </a:solidFill>
                <a:latin typeface="Noto Sans SC"/>
                <a:ea typeface="Noto Sans SC"/>
                <a:cs typeface="Noto Sans SC"/>
                <a:sym typeface="Noto Sans SC"/>
              </a:rPr>
              <a:t>2_1</a:t>
            </a:r>
            <a:r>
              <a:rPr lang="zh-CN" altLang="en-US" sz="1600" b="1">
                <a:solidFill>
                  <a:srgbClr val="15803D"/>
                </a:solidFill>
                <a:latin typeface="Noto Sans SC"/>
                <a:ea typeface="Noto Sans SC"/>
                <a:cs typeface="Noto Sans SC"/>
                <a:sym typeface="Noto Sans SC"/>
              </a:rPr>
              <a:t>和</a:t>
            </a:r>
            <a:r>
              <a:rPr lang="en-US" altLang="zh-CN" sz="1600" b="1" i="0" u="none" strike="noStrike">
                <a:solidFill>
                  <a:srgbClr val="15803D"/>
                </a:solidFill>
                <a:latin typeface="Noto Sans SC"/>
                <a:ea typeface="Noto Sans SC"/>
                <a:cs typeface="Noto Sans SC"/>
                <a:sym typeface="Noto Sans SC"/>
              </a:rPr>
              <a:t>R</a:t>
            </a:r>
            <a:r>
              <a:rPr lang="en-US" altLang="zh-CN" sz="1600" b="1" i="0" u="none" strike="noStrike" baseline="-25000">
                <a:solidFill>
                  <a:srgbClr val="15803D"/>
                </a:solidFill>
                <a:latin typeface="Noto Sans SC"/>
                <a:ea typeface="Noto Sans SC"/>
                <a:cs typeface="Noto Sans SC"/>
                <a:sym typeface="Noto Sans SC"/>
              </a:rPr>
              <a:t>2_2</a:t>
            </a:r>
            <a:r>
              <a:rPr lang="en-US" sz="1600" b="1" i="0" u="none" strike="noStrike">
                <a:solidFill>
                  <a:srgbClr val="15803D"/>
                </a:solidFill>
                <a:latin typeface="Noto Sans SC"/>
                <a:ea typeface="Noto Sans SC"/>
                <a:cs typeface="Noto Sans SC"/>
                <a:sym typeface="Noto Sans SC"/>
              </a:rPr>
              <a:t>均消除了</a:t>
            </a:r>
            <a:r>
              <a:rPr lang="zh-CN" altLang="en-US" sz="1600" b="1" i="0" u="none" strike="noStrike">
                <a:solidFill>
                  <a:srgbClr val="15803D"/>
                </a:solidFill>
                <a:latin typeface="Noto Sans SC"/>
                <a:ea typeface="Noto Sans SC"/>
                <a:cs typeface="Noto Sans SC"/>
                <a:sym typeface="Noto Sans SC"/>
              </a:rPr>
              <a:t>非主属性传递依赖于候选键的问题</a:t>
            </a:r>
            <a:r>
              <a:rPr lang="en-US" sz="1600" b="1" i="0" u="none" strike="noStrike">
                <a:solidFill>
                  <a:srgbClr val="15803D"/>
                </a:solidFill>
                <a:latin typeface="Noto Sans SC"/>
                <a:ea typeface="Noto Sans SC"/>
                <a:cs typeface="Noto Sans SC"/>
                <a:sym typeface="Noto Sans SC"/>
              </a:rPr>
              <a:t>，满足3NF。</a:t>
            </a:r>
            <a:r>
              <a:rPr lang="zh-CN" altLang="en-US" sz="1600" b="1" i="0" u="none" strike="noStrike">
                <a:solidFill>
                  <a:srgbClr val="15803D"/>
                </a:solidFill>
                <a:latin typeface="Noto Sans SC"/>
                <a:ea typeface="Noto Sans SC"/>
                <a:cs typeface="Noto Sans SC"/>
                <a:sym typeface="Noto Sans SC"/>
              </a:rPr>
              <a:t>且分解是</a:t>
            </a:r>
            <a:r>
              <a:rPr lang="zh-CN" altLang="en-US" sz="1600" b="1">
                <a:solidFill>
                  <a:srgbClr val="15803D"/>
                </a:solidFill>
                <a:latin typeface="Noto Sans SC"/>
                <a:ea typeface="Noto Sans SC"/>
                <a:cs typeface="Noto Sans SC"/>
                <a:sym typeface="Noto Sans SC"/>
              </a:rPr>
              <a:t>无损、</a:t>
            </a:r>
            <a:r>
              <a:rPr lang="en-US" altLang="zh-CN" sz="1600" b="1" i="0" u="none" strike="noStrike">
                <a:solidFill>
                  <a:srgbClr val="15803D"/>
                </a:solidFill>
                <a:latin typeface="Noto Sans SC"/>
                <a:ea typeface="Noto Sans SC"/>
                <a:cs typeface="Noto Sans SC"/>
                <a:sym typeface="Noto Sans SC"/>
              </a:rPr>
              <a:t> </a:t>
            </a:r>
            <a:r>
              <a:rPr lang="zh-CN" altLang="en-US" sz="1600" b="1" i="0" u="none" strike="noStrike">
                <a:solidFill>
                  <a:srgbClr val="15803D"/>
                </a:solidFill>
                <a:latin typeface="Noto Sans SC"/>
                <a:ea typeface="Noto Sans SC"/>
                <a:cs typeface="Noto Sans SC"/>
                <a:sym typeface="Noto Sans SC"/>
              </a:rPr>
              <a:t>保持依赖的。</a:t>
            </a:r>
            <a:endParaRPr lang="en-US" sz="1200"/>
          </a:p>
        </p:txBody>
      </p:sp>
      <p:pic>
        <p:nvPicPr>
          <p:cNvPr id="23" name="图片 22">
            <a:extLst>
              <a:ext uri="{FF2B5EF4-FFF2-40B4-BE49-F238E27FC236}">
                <a16:creationId xmlns:a16="http://schemas.microsoft.com/office/drawing/2014/main" id="{B07FA11A-BD26-C116-6626-CD587DB98410}"/>
              </a:ext>
            </a:extLst>
          </p:cNvPr>
          <p:cNvPicPr>
            <a:picLocks noChangeAspect="1"/>
          </p:cNvPicPr>
          <p:nvPr/>
        </p:nvPicPr>
        <p:blipFill>
          <a:blip r:embed="rId5"/>
          <a:stretch>
            <a:fillRect/>
          </a:stretch>
        </p:blipFill>
        <p:spPr>
          <a:xfrm>
            <a:off x="5869172" y="2917400"/>
            <a:ext cx="1905428" cy="2263715"/>
          </a:xfrm>
          <a:prstGeom prst="rect">
            <a:avLst/>
          </a:prstGeom>
        </p:spPr>
      </p:pic>
      <p:sp>
        <p:nvSpPr>
          <p:cNvPr id="24" name="AutoShape 4">
            <a:extLst>
              <a:ext uri="{FF2B5EF4-FFF2-40B4-BE49-F238E27FC236}">
                <a16:creationId xmlns:a16="http://schemas.microsoft.com/office/drawing/2014/main" id="{5CB7E54C-9502-3E75-559B-4C6F258A10CE}"/>
              </a:ext>
            </a:extLst>
          </p:cNvPr>
          <p:cNvSpPr/>
          <p:nvPr/>
        </p:nvSpPr>
        <p:spPr>
          <a:xfrm>
            <a:off x="838199" y="1311761"/>
            <a:ext cx="4557459"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12</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：违反</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3NF</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的关系模式</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7.4.4 BCNF(Boyce-Codd Normal Form)</a:t>
            </a:r>
            <a:endParaRPr lang="en-US" sz="2400" b="1">
              <a:solidFill>
                <a:srgbClr val="FFFFFF"/>
              </a:solidFill>
              <a:latin typeface="Noto Sans SC"/>
              <a:ea typeface="Noto Sans SC"/>
            </a:endParaRPr>
          </a:p>
        </p:txBody>
      </p:sp>
      <p:sp>
        <p:nvSpPr>
          <p:cNvPr id="3" name="AutoShape 3"/>
          <p:cNvSpPr/>
          <p:nvPr/>
        </p:nvSpPr>
        <p:spPr>
          <a:xfrm>
            <a:off x="838200" y="1481470"/>
            <a:ext cx="4330700" cy="4690730"/>
          </a:xfrm>
          <a:prstGeom prst="rect">
            <a:avLst/>
          </a:prstGeom>
          <a:solidFill>
            <a:srgbClr val="F9FAFB">
              <a:alpha val="100000"/>
            </a:srgbClr>
          </a:solidFill>
          <a:ln w="12700" cap="flat" cmpd="sng">
            <a:noFill/>
            <a:prstDash val="solid"/>
            <a:round/>
          </a:ln>
        </p:spPr>
        <p:txBody>
          <a:bodyPr vert="horz" wrap="square" lIns="127000" tIns="152400" rIns="127000" bIns="152400" rtlCol="0" anchor="t" anchorCtr="0"/>
          <a:lstStyle/>
          <a:p>
            <a:pPr indent="0" algn="l">
              <a:lnSpc>
                <a:spcPct val="100000"/>
              </a:lnSpc>
              <a:spcAft>
                <a:spcPts val="1200"/>
              </a:spcAft>
              <a:defRPr/>
            </a:pPr>
            <a:r>
              <a:rPr lang="en-US" sz="2000" b="1" i="0" u="none" strike="noStrike">
                <a:solidFill>
                  <a:srgbClr val="B91C1C"/>
                </a:solidFill>
                <a:latin typeface="Noto Sans SC"/>
                <a:ea typeface="Noto Sans SC"/>
                <a:cs typeface="Noto Sans SC"/>
                <a:sym typeface="Noto Sans SC"/>
              </a:rPr>
              <a:t>▌ 定义 7.24</a:t>
            </a:r>
            <a:endParaRPr lang="en-US" sz="1200"/>
          </a:p>
          <a:p>
            <a:pPr indent="0" algn="l">
              <a:lnSpc>
                <a:spcPct val="125000"/>
              </a:lnSpc>
              <a:spcAft>
                <a:spcPts val="2400"/>
              </a:spcAft>
            </a:pPr>
            <a:r>
              <a:rPr lang="en-US" sz="1600" b="0" i="0" u="none" strike="noStrike">
                <a:solidFill>
                  <a:srgbClr val="374151"/>
                </a:solidFill>
                <a:latin typeface="Noto Sans SC"/>
                <a:ea typeface="Noto Sans SC"/>
                <a:cs typeface="Noto Sans SC"/>
                <a:sym typeface="Noto Sans SC"/>
              </a:rPr>
              <a:t>设F是关系模式R的函数依赖(FD)集，如果对F中</a:t>
            </a:r>
            <a:r>
              <a:rPr lang="en-US" sz="1600" b="1" i="0" u="none" strike="noStrike">
                <a:solidFill>
                  <a:srgbClr val="2563EB"/>
                </a:solidFill>
                <a:latin typeface="Noto Sans SC"/>
                <a:ea typeface="Noto Sans SC"/>
                <a:cs typeface="Noto Sans SC"/>
                <a:sym typeface="Noto Sans SC"/>
              </a:rPr>
              <a:t>每个非平凡的FD X→Y</a:t>
            </a:r>
            <a:r>
              <a:rPr lang="en-US" sz="1600" b="0" i="0" u="none" strike="noStrike">
                <a:solidFill>
                  <a:srgbClr val="374151"/>
                </a:solidFill>
                <a:latin typeface="Noto Sans SC"/>
                <a:ea typeface="Noto Sans SC"/>
                <a:cs typeface="Noto Sans SC"/>
                <a:sym typeface="Noto Sans SC"/>
              </a:rPr>
              <a:t>，都有</a:t>
            </a:r>
            <a:r>
              <a:rPr lang="en-US" sz="1600" b="1" i="0" u="none" strike="noStrike">
                <a:solidFill>
                  <a:srgbClr val="2563EB"/>
                </a:solidFill>
                <a:latin typeface="Noto Sans SC"/>
                <a:ea typeface="Noto Sans SC"/>
                <a:cs typeface="Noto Sans SC"/>
                <a:sym typeface="Noto Sans SC"/>
              </a:rPr>
              <a:t>X是R的超键</a:t>
            </a:r>
            <a:r>
              <a:rPr lang="en-US" sz="1600" b="0" i="0" u="none" strike="noStrike">
                <a:solidFill>
                  <a:srgbClr val="374151"/>
                </a:solidFill>
                <a:latin typeface="Noto Sans SC"/>
                <a:ea typeface="Noto Sans SC"/>
                <a:cs typeface="Noto Sans SC"/>
                <a:sym typeface="Noto Sans SC"/>
              </a:rPr>
              <a:t>，那么称R是</a:t>
            </a:r>
            <a:r>
              <a:rPr lang="en-US" sz="1600" b="1" i="0" u="none" strike="noStrike">
                <a:solidFill>
                  <a:srgbClr val="B91C1C"/>
                </a:solidFill>
                <a:latin typeface="Noto Sans SC"/>
                <a:ea typeface="Noto Sans SC"/>
                <a:cs typeface="Noto Sans SC"/>
                <a:sym typeface="Noto Sans SC"/>
              </a:rPr>
              <a:t>BCNF</a:t>
            </a:r>
            <a:r>
              <a:rPr lang="en-US" sz="1600" b="0" i="0" u="none" strike="noStrike">
                <a:solidFill>
                  <a:srgbClr val="374151"/>
                </a:solidFill>
                <a:latin typeface="Noto Sans SC"/>
                <a:ea typeface="Noto Sans SC"/>
                <a:cs typeface="Noto Sans SC"/>
                <a:sym typeface="Noto Sans SC"/>
              </a:rPr>
              <a:t>的模式。</a:t>
            </a:r>
          </a:p>
          <a:p>
            <a:pPr indent="0" algn="l">
              <a:lnSpc>
                <a:spcPct val="100000"/>
              </a:lnSpc>
              <a:spcAft>
                <a:spcPts val="1200"/>
              </a:spcAft>
            </a:pPr>
            <a:r>
              <a:rPr lang="en-US" sz="2000" b="1" i="0" u="none" strike="noStrike">
                <a:solidFill>
                  <a:srgbClr val="B91C1C"/>
                </a:solidFill>
                <a:latin typeface="Noto Sans SC"/>
                <a:ea typeface="Noto Sans SC"/>
                <a:cs typeface="Noto Sans SC"/>
                <a:sym typeface="Noto Sans SC"/>
              </a:rPr>
              <a:t>▌ 核心目标</a:t>
            </a:r>
          </a:p>
          <a:p>
            <a:pPr indent="0" algn="l">
              <a:lnSpc>
                <a:spcPct val="125000"/>
              </a:lnSpc>
            </a:pPr>
            <a:r>
              <a:rPr lang="en-US" sz="1600" b="0" i="0" u="none" strike="noStrike">
                <a:solidFill>
                  <a:srgbClr val="374151"/>
                </a:solidFill>
                <a:latin typeface="Noto Sans SC"/>
                <a:ea typeface="Noto Sans SC"/>
                <a:cs typeface="Noto Sans SC"/>
                <a:sym typeface="Noto Sans SC"/>
              </a:rPr>
              <a:t>彻底消除</a:t>
            </a:r>
            <a:r>
              <a:rPr lang="en-US" sz="1600" b="1" i="0" u="none" strike="noStrike">
                <a:solidFill>
                  <a:srgbClr val="374151"/>
                </a:solidFill>
                <a:latin typeface="Noto Sans SC"/>
                <a:ea typeface="Noto Sans SC"/>
                <a:cs typeface="Noto Sans SC"/>
                <a:sym typeface="Noto Sans SC"/>
              </a:rPr>
              <a:t>所有属性</a:t>
            </a:r>
            <a:r>
              <a:rPr lang="en-US" sz="1600" b="0" i="0" u="none" strike="noStrike">
                <a:solidFill>
                  <a:srgbClr val="374151"/>
                </a:solidFill>
                <a:latin typeface="Noto Sans SC"/>
                <a:ea typeface="Noto Sans SC"/>
                <a:cs typeface="Noto Sans SC"/>
                <a:sym typeface="Noto Sans SC"/>
              </a:rPr>
              <a:t>（包括主属性和非主属性）对候选键的</a:t>
            </a:r>
            <a:r>
              <a:rPr lang="en-US" sz="1600" b="1" i="0" u="none" strike="noStrike">
                <a:solidFill>
                  <a:srgbClr val="374151"/>
                </a:solidFill>
                <a:latin typeface="Noto Sans SC"/>
                <a:ea typeface="Noto Sans SC"/>
                <a:cs typeface="Noto Sans SC"/>
                <a:sym typeface="Noto Sans SC"/>
              </a:rPr>
              <a:t>传递依赖</a:t>
            </a:r>
            <a:r>
              <a:rPr lang="en-US" sz="1600" b="0" i="0" u="none" strike="noStrike">
                <a:solidFill>
                  <a:srgbClr val="374151"/>
                </a:solidFill>
                <a:latin typeface="Noto Sans SC"/>
                <a:ea typeface="Noto Sans SC"/>
                <a:cs typeface="Noto Sans SC"/>
                <a:sym typeface="Noto Sans SC"/>
              </a:rPr>
              <a:t>和</a:t>
            </a:r>
            <a:r>
              <a:rPr lang="en-US" sz="1600" b="1" i="0" u="none" strike="noStrike">
                <a:solidFill>
                  <a:srgbClr val="374151"/>
                </a:solidFill>
                <a:latin typeface="Noto Sans SC"/>
                <a:ea typeface="Noto Sans SC"/>
                <a:cs typeface="Noto Sans SC"/>
                <a:sym typeface="Noto Sans SC"/>
              </a:rPr>
              <a:t>部分依赖</a:t>
            </a:r>
            <a:r>
              <a:rPr lang="en-US" sz="1600" b="0" i="0" u="none" strike="noStrike">
                <a:solidFill>
                  <a:srgbClr val="374151"/>
                </a:solidFill>
                <a:latin typeface="Noto Sans SC"/>
                <a:ea typeface="Noto Sans SC"/>
                <a:cs typeface="Noto Sans SC"/>
                <a:sym typeface="Noto Sans SC"/>
              </a:rPr>
              <a:t>，在函数依赖范畴内实现了模式的彻底分解，消除了数据冗余和操作异常。</a:t>
            </a:r>
          </a:p>
        </p:txBody>
      </p:sp>
      <p:sp>
        <p:nvSpPr>
          <p:cNvPr id="4" name="AutoShape 4"/>
          <p:cNvSpPr/>
          <p:nvPr/>
        </p:nvSpPr>
        <p:spPr>
          <a:xfrm>
            <a:off x="6620539" y="1481470"/>
            <a:ext cx="4733261" cy="4703430"/>
          </a:xfrm>
          <a:prstGeom prst="rect">
            <a:avLst/>
          </a:prstGeom>
          <a:solidFill>
            <a:srgbClr val="F9FAFB">
              <a:alpha val="100000"/>
            </a:srgbClr>
          </a:solidFill>
          <a:ln w="12700" cap="flat" cmpd="sng">
            <a:noFill/>
            <a:prstDash val="solid"/>
            <a:round/>
          </a:ln>
        </p:spPr>
        <p:txBody>
          <a:bodyPr vert="horz" wrap="square" lIns="127000" tIns="152400" rIns="127000" bIns="152400" rtlCol="0" anchor="t" anchorCtr="0"/>
          <a:lstStyle/>
          <a:p>
            <a:pPr indent="0">
              <a:lnSpc>
                <a:spcPct val="100000"/>
              </a:lnSpc>
              <a:spcAft>
                <a:spcPts val="1200"/>
              </a:spcAft>
              <a:defRPr/>
            </a:pPr>
            <a:r>
              <a:rPr lang="en-US" sz="2000" b="1" i="0" u="none" strike="noStrike">
                <a:solidFill>
                  <a:srgbClr val="D97706"/>
                </a:solidFill>
                <a:latin typeface="Noto Sans SC"/>
                <a:ea typeface="Noto Sans SC"/>
                <a:cs typeface="Noto Sans SC"/>
                <a:sym typeface="Noto Sans SC"/>
              </a:rPr>
              <a:t>▌ 概念理解</a:t>
            </a:r>
            <a:endParaRPr lang="en-US" sz="1200"/>
          </a:p>
          <a:p>
            <a:pPr marL="285750" indent="-285750">
              <a:lnSpc>
                <a:spcPct val="125000"/>
              </a:lnSpc>
              <a:spcAft>
                <a:spcPts val="600"/>
              </a:spcAft>
              <a:buFont typeface="Arial" panose="020B0604020202020204" pitchFamily="34" charset="0"/>
              <a:buChar char="•"/>
            </a:pPr>
            <a:r>
              <a:rPr lang="en-US" sz="1600" b="1" i="0" u="none" strike="noStrike">
                <a:solidFill>
                  <a:srgbClr val="374151"/>
                </a:solidFill>
                <a:latin typeface="Noto Sans SC"/>
                <a:ea typeface="Noto Sans SC"/>
                <a:cs typeface="Noto Sans SC"/>
                <a:sym typeface="Noto Sans SC"/>
              </a:rPr>
              <a:t>要求更严格：</a:t>
            </a:r>
            <a:r>
              <a:rPr lang="en-US" sz="1600" b="0" i="0" u="none" strike="noStrike">
                <a:solidFill>
                  <a:srgbClr val="374151"/>
                </a:solidFill>
                <a:latin typeface="Noto Sans SC"/>
                <a:ea typeface="Noto Sans SC"/>
                <a:cs typeface="Noto Sans SC"/>
                <a:sym typeface="Noto Sans SC"/>
              </a:rPr>
              <a:t>BCNF是3NF的改进形式，条件比3NF更强。</a:t>
            </a:r>
          </a:p>
          <a:p>
            <a:pPr marL="285750" indent="-285750">
              <a:lnSpc>
                <a:spcPct val="125000"/>
              </a:lnSpc>
              <a:spcAft>
                <a:spcPts val="600"/>
              </a:spcAft>
              <a:buFont typeface="Arial" panose="020B0604020202020204" pitchFamily="34" charset="0"/>
              <a:buChar char="•"/>
            </a:pPr>
            <a:r>
              <a:rPr lang="en-US" sz="1600" b="1" i="0" u="none" strike="noStrike">
                <a:solidFill>
                  <a:srgbClr val="374151"/>
                </a:solidFill>
                <a:latin typeface="Noto Sans SC"/>
                <a:ea typeface="Noto Sans SC"/>
                <a:cs typeface="Noto Sans SC"/>
                <a:sym typeface="Noto Sans SC"/>
              </a:rPr>
              <a:t>关注范围不同：</a:t>
            </a:r>
            <a:r>
              <a:rPr lang="en-US" sz="1600" b="0" i="0" u="none" strike="noStrike">
                <a:solidFill>
                  <a:srgbClr val="374151"/>
                </a:solidFill>
                <a:latin typeface="Noto Sans SC"/>
                <a:ea typeface="Noto Sans SC"/>
                <a:cs typeface="Noto Sans SC"/>
                <a:sym typeface="Noto Sans SC"/>
              </a:rPr>
              <a:t>3NF仅限制非主属性对候选键的依赖；而BCNF将限制扩展到</a:t>
            </a:r>
            <a:r>
              <a:rPr lang="en-US" sz="1600" b="1" i="0" u="none" strike="noStrike">
                <a:solidFill>
                  <a:srgbClr val="374151"/>
                </a:solidFill>
                <a:latin typeface="Noto Sans SC"/>
                <a:ea typeface="Noto Sans SC"/>
                <a:cs typeface="Noto Sans SC"/>
                <a:sym typeface="Noto Sans SC"/>
              </a:rPr>
              <a:t>所有属性</a:t>
            </a:r>
            <a:r>
              <a:rPr lang="en-US" sz="1600" b="0" i="0" u="none" strike="noStrike">
                <a:solidFill>
                  <a:srgbClr val="374151"/>
                </a:solidFill>
                <a:latin typeface="Noto Sans SC"/>
                <a:ea typeface="Noto Sans SC"/>
                <a:cs typeface="Noto Sans SC"/>
                <a:sym typeface="Noto Sans SC"/>
              </a:rPr>
              <a:t>（含主属性）之间的依赖。</a:t>
            </a:r>
          </a:p>
          <a:p>
            <a:pPr marL="285750" indent="-285750">
              <a:lnSpc>
                <a:spcPct val="125000"/>
              </a:lnSpc>
              <a:spcAft>
                <a:spcPts val="600"/>
              </a:spcAft>
              <a:buFont typeface="Arial" panose="020B0604020202020204" pitchFamily="34" charset="0"/>
              <a:buChar char="•"/>
            </a:pPr>
            <a:r>
              <a:rPr lang="en-US" sz="1600" b="1" i="0" u="none" strike="noStrike">
                <a:solidFill>
                  <a:srgbClr val="374151"/>
                </a:solidFill>
                <a:latin typeface="Noto Sans SC"/>
                <a:ea typeface="Noto Sans SC"/>
                <a:cs typeface="Noto Sans SC"/>
                <a:sym typeface="Noto Sans SC"/>
              </a:rPr>
              <a:t>本质特征：</a:t>
            </a:r>
            <a:r>
              <a:rPr lang="en-US" sz="1600" b="0" i="0" u="none" strike="noStrike">
                <a:solidFill>
                  <a:srgbClr val="374151"/>
                </a:solidFill>
                <a:latin typeface="Noto Sans SC"/>
                <a:ea typeface="Noto Sans SC"/>
                <a:cs typeface="Noto Sans SC"/>
                <a:sym typeface="Noto Sans SC"/>
              </a:rPr>
              <a:t>在关系模式中，任何函数依赖的决定因素X，都必须是超键。</a:t>
            </a:r>
          </a:p>
          <a:p>
            <a:pPr indent="0">
              <a:lnSpc>
                <a:spcPct val="100000"/>
              </a:lnSpc>
              <a:spcBef>
                <a:spcPts val="1800"/>
              </a:spcBef>
              <a:spcAft>
                <a:spcPts val="1200"/>
              </a:spcAft>
            </a:pPr>
            <a:r>
              <a:rPr lang="en-US" sz="2000" b="1" i="0" u="none" strike="noStrike">
                <a:solidFill>
                  <a:srgbClr val="D97706"/>
                </a:solidFill>
                <a:latin typeface="Noto Sans SC"/>
                <a:ea typeface="Noto Sans SC"/>
                <a:cs typeface="Noto Sans SC"/>
                <a:sym typeface="Noto Sans SC"/>
              </a:rPr>
              <a:t>▌ 定理 7.9</a:t>
            </a:r>
          </a:p>
          <a:p>
            <a:pPr indent="0">
              <a:lnSpc>
                <a:spcPct val="125000"/>
              </a:lnSpc>
            </a:pPr>
            <a:r>
              <a:rPr lang="en-US" sz="1600" b="0" i="0" u="none" strike="noStrike">
                <a:solidFill>
                  <a:srgbClr val="374151"/>
                </a:solidFill>
                <a:latin typeface="Noto Sans SC"/>
                <a:ea typeface="Noto Sans SC"/>
                <a:cs typeface="Noto Sans SC"/>
                <a:sym typeface="Noto Sans SC"/>
              </a:rPr>
              <a:t>如果关系模式R是BCNF模式，那么R一定也是3NF模式。反之不成立，即满足3NF的模式不一定满足BCNF。</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7.4.5 分解成BCNF模式集的算法</a:t>
            </a:r>
            <a:endParaRPr lang="en-US" sz="2400" b="1">
              <a:solidFill>
                <a:srgbClr val="FFFFFF"/>
              </a:solidFill>
              <a:latin typeface="Noto Sans SC"/>
              <a:ea typeface="Noto Sans SC"/>
            </a:endParaRPr>
          </a:p>
        </p:txBody>
      </p:sp>
      <p:sp>
        <p:nvSpPr>
          <p:cNvPr id="3" name="AutoShape 3"/>
          <p:cNvSpPr/>
          <p:nvPr/>
        </p:nvSpPr>
        <p:spPr>
          <a:xfrm>
            <a:off x="838199" y="1435100"/>
            <a:ext cx="5456275" cy="4896405"/>
          </a:xfrm>
          <a:prstGeom prst="rect">
            <a:avLst/>
          </a:prstGeom>
          <a:noFill/>
          <a:ln w="12700" cap="flat" cmpd="sng">
            <a:noFill/>
            <a:prstDash val="solid"/>
            <a:round/>
          </a:ln>
        </p:spPr>
        <p:txBody>
          <a:bodyPr vert="horz" wrap="square" lIns="0" tIns="0" rIns="0" bIns="0" rtlCol="0" anchor="t" anchorCtr="0">
            <a:spAutoFit/>
          </a:bodyPr>
          <a:lstStyle/>
          <a:p>
            <a:pPr indent="0" algn="just">
              <a:spcAft>
                <a:spcPts val="600"/>
              </a:spcAft>
              <a:defRPr/>
            </a:pPr>
            <a:r>
              <a:rPr lang="en-US" sz="2000" b="1" i="0" u="none" strike="noStrike">
                <a:solidFill>
                  <a:srgbClr val="7030A0"/>
                </a:solidFill>
                <a:latin typeface="Noto Sans SC"/>
                <a:ea typeface="Noto Sans SC"/>
                <a:cs typeface="Noto Sans SC"/>
                <a:sym typeface="Noto Sans SC"/>
              </a:rPr>
              <a:t>▍算法7.6：无损分解成BCNF模式集</a:t>
            </a:r>
            <a:endParaRPr lang="en-US"/>
          </a:p>
          <a:p>
            <a:pPr indent="0" algn="just">
              <a:lnSpc>
                <a:spcPct val="125000"/>
              </a:lnSpc>
              <a:spcAft>
                <a:spcPts val="600"/>
              </a:spcAft>
            </a:pPr>
            <a:r>
              <a:rPr lang="en-US" sz="1600" b="0" i="0" u="none" strike="noStrike">
                <a:solidFill>
                  <a:srgbClr val="333333"/>
                </a:solidFill>
                <a:latin typeface="Noto Sans SC"/>
                <a:ea typeface="Noto Sans SC"/>
                <a:cs typeface="Noto Sans SC"/>
                <a:sym typeface="Noto Sans SC"/>
              </a:rPr>
              <a:t>初始分解集合 ρ = {R}。若ρ中存在关系模式Ri不满足BCNF，即存在非平凡函数依赖X→Y，且X不包含超键，则将Ri分解为XY和Ri-Y两个模式。重复上述过程，直到ρ中所有模式均满足BCNF条件。</a:t>
            </a:r>
          </a:p>
          <a:p>
            <a:pPr indent="0" algn="just">
              <a:spcBef>
                <a:spcPts val="1800"/>
              </a:spcBef>
              <a:spcAft>
                <a:spcPts val="600"/>
              </a:spcAft>
            </a:pPr>
            <a:r>
              <a:rPr lang="en-US" sz="2000" b="1" i="0" u="none" strike="noStrike">
                <a:solidFill>
                  <a:srgbClr val="7030A0"/>
                </a:solidFill>
                <a:latin typeface="Noto Sans SC"/>
                <a:ea typeface="Noto Sans SC"/>
                <a:cs typeface="Noto Sans SC"/>
                <a:sym typeface="Noto Sans SC"/>
              </a:rPr>
              <a:t>▍算法特点</a:t>
            </a:r>
          </a:p>
          <a:p>
            <a:pPr marL="342900" indent="-342900" algn="just">
              <a:lnSpc>
                <a:spcPct val="125000"/>
              </a:lnSpc>
              <a:spcAft>
                <a:spcPts val="600"/>
              </a:spcAft>
              <a:buFont typeface="+mj-ea"/>
              <a:buAutoNum type="circleNumDbPlain"/>
            </a:pPr>
            <a:r>
              <a:rPr lang="en-US" sz="1600">
                <a:solidFill>
                  <a:srgbClr val="333333"/>
                </a:solidFill>
                <a:latin typeface="Noto Sans SC"/>
                <a:ea typeface="Noto Sans SC"/>
                <a:sym typeface="Noto Sans SC"/>
              </a:rPr>
              <a:t>分解逻辑：从泛关系模式R出发，通过不断寻找并拆分不满足BCNF的子模式，最终得到符合要求的模式集合，因此也被称为“分解算法”。</a:t>
            </a:r>
          </a:p>
          <a:p>
            <a:pPr marL="342900" indent="-342900" algn="just">
              <a:lnSpc>
                <a:spcPct val="125000"/>
              </a:lnSpc>
              <a:spcAft>
                <a:spcPts val="600"/>
              </a:spcAft>
              <a:buFont typeface="+mj-ea"/>
              <a:buAutoNum type="circleNumDbPlain"/>
            </a:pPr>
            <a:r>
              <a:rPr lang="en-US" sz="1600">
                <a:solidFill>
                  <a:srgbClr val="333333"/>
                </a:solidFill>
                <a:latin typeface="Noto Sans SC"/>
                <a:ea typeface="Noto Sans SC"/>
                <a:sym typeface="Noto Sans SC"/>
              </a:rPr>
              <a:t>无损分解：该算法严格保证分解过程是无损的，即分解后的模式集可以通过自然连接恢复出原关系中的全部信息，不会丢失数据。</a:t>
            </a:r>
          </a:p>
          <a:p>
            <a:pPr marL="342900" indent="-342900" algn="just">
              <a:lnSpc>
                <a:spcPct val="125000"/>
              </a:lnSpc>
              <a:spcAft>
                <a:spcPts val="600"/>
              </a:spcAft>
              <a:buFont typeface="+mj-ea"/>
              <a:buAutoNum type="circleNumDbPlain"/>
            </a:pPr>
            <a:r>
              <a:rPr lang="en-US" sz="1600">
                <a:solidFill>
                  <a:srgbClr val="333333"/>
                </a:solidFill>
                <a:latin typeface="Noto Sans SC"/>
                <a:ea typeface="Noto Sans SC"/>
                <a:sym typeface="Noto Sans SC"/>
              </a:rPr>
              <a:t>依赖保持：算法无法保证分解后的模式集能完全保持原有的函数依赖，</a:t>
            </a:r>
            <a:r>
              <a:rPr lang="zh-CN" altLang="en-US" sz="1600">
                <a:solidFill>
                  <a:srgbClr val="333333"/>
                </a:solidFill>
                <a:latin typeface="Noto Sans SC"/>
                <a:ea typeface="Noto Sans SC"/>
                <a:sym typeface="Noto Sans SC"/>
              </a:rPr>
              <a:t>即</a:t>
            </a:r>
            <a:r>
              <a:rPr lang="en-US" sz="1600">
                <a:solidFill>
                  <a:srgbClr val="333333"/>
                </a:solidFill>
                <a:latin typeface="Noto Sans SC"/>
                <a:ea typeface="Noto Sans SC"/>
                <a:sym typeface="Noto Sans SC"/>
              </a:rPr>
              <a:t>原有的一些约束关系可能在分解中丢失。</a:t>
            </a:r>
          </a:p>
        </p:txBody>
      </p:sp>
      <p:sp>
        <p:nvSpPr>
          <p:cNvPr id="4" name="AutoShape 4"/>
          <p:cNvSpPr/>
          <p:nvPr/>
        </p:nvSpPr>
        <p:spPr>
          <a:xfrm>
            <a:off x="7542028" y="1435099"/>
            <a:ext cx="598672" cy="4826001"/>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关键</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要点</a:t>
            </a:r>
            <a:endParaRPr lang="en-US" sz="1600" b="1">
              <a:solidFill>
                <a:srgbClr val="FFFFFF"/>
              </a:solidFill>
              <a:latin typeface="Noto Sans SC"/>
              <a:ea typeface="Noto Sans SC"/>
            </a:endParaRPr>
          </a:p>
        </p:txBody>
      </p:sp>
      <p:sp>
        <p:nvSpPr>
          <p:cNvPr id="5" name="AutoShape 5"/>
          <p:cNvSpPr/>
          <p:nvPr/>
        </p:nvSpPr>
        <p:spPr>
          <a:xfrm>
            <a:off x="8140700" y="1435100"/>
            <a:ext cx="3213100" cy="762000"/>
          </a:xfrm>
          <a:prstGeom prst="roundRect">
            <a:avLst>
              <a:gd name="adj" fmla="val 0"/>
            </a:avLst>
          </a:prstGeom>
          <a:solidFill>
            <a:srgbClr val="1E3A8A">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91666"/>
              </a:lnSpc>
              <a:defRPr/>
            </a:pPr>
            <a:r>
              <a:rPr lang="en-US" sz="1800" b="1" i="0" u="none" strike="noStrike">
                <a:solidFill>
                  <a:srgbClr val="FFFFFF"/>
                </a:solidFill>
                <a:latin typeface="Noto Sans SC"/>
                <a:ea typeface="Noto Sans SC"/>
                <a:cs typeface="Noto Sans SC"/>
                <a:sym typeface="Noto Sans SC"/>
              </a:rPr>
              <a:t>算法核心</a:t>
            </a:r>
            <a:br>
              <a:rPr lang="en-US" sz="1800" b="0" i="0" u="none" strike="noStrike">
                <a:solidFill>
                  <a:srgbClr val="FFFFFF"/>
                </a:solidFill>
                <a:latin typeface="Noto Sans SC"/>
                <a:ea typeface="Noto Sans SC"/>
                <a:cs typeface="Noto Sans SC"/>
                <a:sym typeface="Noto Sans SC"/>
              </a:rPr>
            </a:br>
            <a:r>
              <a:rPr lang="en-US" sz="1600" b="0" i="0" u="none" strike="noStrike">
                <a:solidFill>
                  <a:srgbClr val="E5E7EB"/>
                </a:solidFill>
                <a:latin typeface="Noto Sans SC"/>
                <a:ea typeface="Noto Sans SC"/>
                <a:cs typeface="Noto Sans SC"/>
                <a:sym typeface="Noto Sans SC"/>
              </a:rPr>
              <a:t>找非超键依赖，不断拆分</a:t>
            </a:r>
            <a:endParaRPr lang="en-US" sz="1800"/>
          </a:p>
        </p:txBody>
      </p:sp>
      <p:sp>
        <p:nvSpPr>
          <p:cNvPr id="6" name="AutoShape 6"/>
          <p:cNvSpPr/>
          <p:nvPr/>
        </p:nvSpPr>
        <p:spPr>
          <a:xfrm>
            <a:off x="8140700" y="2451100"/>
            <a:ext cx="3213100" cy="762000"/>
          </a:xfrm>
          <a:prstGeom prst="roundRect">
            <a:avLst>
              <a:gd name="adj" fmla="val 0"/>
            </a:avLst>
          </a:prstGeom>
          <a:solidFill>
            <a:srgbClr val="1E3A8A">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91666"/>
              </a:lnSpc>
              <a:defRPr/>
            </a:pPr>
            <a:r>
              <a:rPr lang="en-US" sz="1800" b="1" i="0" u="none" strike="noStrike">
                <a:solidFill>
                  <a:srgbClr val="FFFFFF"/>
                </a:solidFill>
                <a:latin typeface="Noto Sans SC"/>
                <a:ea typeface="Noto Sans SC"/>
                <a:cs typeface="Noto Sans SC"/>
                <a:sym typeface="Noto Sans SC"/>
              </a:rPr>
              <a:t>拆分方式</a:t>
            </a:r>
            <a:br>
              <a:rPr lang="en-US" sz="1800" b="0" i="0" u="none" strike="noStrike">
                <a:solidFill>
                  <a:srgbClr val="FFFFFF"/>
                </a:solidFill>
                <a:latin typeface="Noto Sans SC"/>
                <a:ea typeface="Noto Sans SC"/>
                <a:cs typeface="Noto Sans SC"/>
                <a:sym typeface="Noto Sans SC"/>
              </a:rPr>
            </a:br>
            <a:r>
              <a:rPr lang="en-US" sz="1600">
                <a:solidFill>
                  <a:srgbClr val="E5E7EB"/>
                </a:solidFill>
                <a:latin typeface="Noto Sans SC"/>
                <a:ea typeface="Noto Sans SC"/>
                <a:sym typeface="Noto Sans SC"/>
              </a:rPr>
              <a:t>将Ri拆分为 XY 和 Ri-Y</a:t>
            </a:r>
            <a:endParaRPr lang="en-US" sz="1600">
              <a:solidFill>
                <a:srgbClr val="E5E7EB"/>
              </a:solidFill>
              <a:latin typeface="Noto Sans SC"/>
              <a:ea typeface="Noto Sans SC"/>
            </a:endParaRPr>
          </a:p>
        </p:txBody>
      </p:sp>
      <p:sp>
        <p:nvSpPr>
          <p:cNvPr id="7" name="AutoShape 7"/>
          <p:cNvSpPr/>
          <p:nvPr/>
        </p:nvSpPr>
        <p:spPr>
          <a:xfrm>
            <a:off x="8140700" y="3467100"/>
            <a:ext cx="3213100" cy="762000"/>
          </a:xfrm>
          <a:prstGeom prst="roundRect">
            <a:avLst>
              <a:gd name="adj" fmla="val 0"/>
            </a:avLst>
          </a:prstGeom>
          <a:solidFill>
            <a:srgbClr val="10B981">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91666"/>
              </a:lnSpc>
              <a:defRPr/>
            </a:pPr>
            <a:r>
              <a:rPr lang="en-US" sz="1800" b="1" i="0" u="none" strike="noStrike">
                <a:solidFill>
                  <a:srgbClr val="FFFFFF"/>
                </a:solidFill>
                <a:latin typeface="Noto Sans SC"/>
                <a:ea typeface="Noto Sans SC"/>
                <a:cs typeface="Noto Sans SC"/>
                <a:sym typeface="Noto Sans SC"/>
              </a:rPr>
              <a:t>✅ 无损分解</a:t>
            </a:r>
            <a:br>
              <a:rPr lang="en-US" sz="1800" b="0" i="0" u="none" strike="noStrike">
                <a:solidFill>
                  <a:srgbClr val="FFFFFF"/>
                </a:solidFill>
                <a:latin typeface="Noto Sans SC"/>
                <a:ea typeface="Noto Sans SC"/>
                <a:cs typeface="Noto Sans SC"/>
                <a:sym typeface="Noto Sans SC"/>
              </a:rPr>
            </a:br>
            <a:r>
              <a:rPr lang="en-US" sz="1600">
                <a:solidFill>
                  <a:srgbClr val="E5E7EB"/>
                </a:solidFill>
                <a:latin typeface="Noto Sans SC"/>
                <a:ea typeface="Noto Sans SC"/>
                <a:sym typeface="Noto Sans SC"/>
              </a:rPr>
              <a:t>保证连接后信息无丢失</a:t>
            </a:r>
            <a:endParaRPr lang="en-US" sz="1600">
              <a:solidFill>
                <a:srgbClr val="E5E7EB"/>
              </a:solidFill>
              <a:latin typeface="Noto Sans SC"/>
              <a:ea typeface="Noto Sans SC"/>
            </a:endParaRPr>
          </a:p>
        </p:txBody>
      </p:sp>
      <p:sp>
        <p:nvSpPr>
          <p:cNvPr id="8" name="AutoShape 8"/>
          <p:cNvSpPr/>
          <p:nvPr/>
        </p:nvSpPr>
        <p:spPr>
          <a:xfrm>
            <a:off x="8140700" y="4483100"/>
            <a:ext cx="3213100" cy="762000"/>
          </a:xfrm>
          <a:prstGeom prst="roundRect">
            <a:avLst>
              <a:gd name="adj" fmla="val 0"/>
            </a:avLst>
          </a:prstGeom>
          <a:solidFill>
            <a:srgbClr val="EF4444">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91666"/>
              </a:lnSpc>
              <a:defRPr/>
            </a:pPr>
            <a:r>
              <a:rPr lang="en-US" sz="1800" b="1" i="0" u="none" strike="noStrike">
                <a:solidFill>
                  <a:srgbClr val="FFFFFF"/>
                </a:solidFill>
                <a:latin typeface="Noto Sans SC"/>
                <a:ea typeface="Noto Sans SC"/>
                <a:cs typeface="Noto Sans SC"/>
                <a:sym typeface="Noto Sans SC"/>
              </a:rPr>
              <a:t>⚠️ 依赖保持</a:t>
            </a:r>
            <a:br>
              <a:rPr lang="en-US" sz="1800" b="0" i="0" u="none" strike="noStrike">
                <a:solidFill>
                  <a:srgbClr val="FFFFFF"/>
                </a:solidFill>
                <a:latin typeface="Noto Sans SC"/>
                <a:ea typeface="Noto Sans SC"/>
                <a:cs typeface="Noto Sans SC"/>
                <a:sym typeface="Noto Sans SC"/>
              </a:rPr>
            </a:br>
            <a:r>
              <a:rPr lang="en-US" sz="1600">
                <a:solidFill>
                  <a:srgbClr val="E5E7EB"/>
                </a:solidFill>
                <a:latin typeface="Noto Sans SC"/>
                <a:ea typeface="Noto Sans SC"/>
                <a:sym typeface="Noto Sans SC"/>
              </a:rPr>
              <a:t>无法确保保留原函数依赖</a:t>
            </a:r>
            <a:endParaRPr lang="en-US" sz="1600">
              <a:solidFill>
                <a:srgbClr val="E5E7EB"/>
              </a:solidFill>
              <a:latin typeface="Noto Sans SC"/>
              <a:ea typeface="Noto Sans SC"/>
            </a:endParaRPr>
          </a:p>
        </p:txBody>
      </p:sp>
      <p:sp>
        <p:nvSpPr>
          <p:cNvPr id="9" name="AutoShape 9"/>
          <p:cNvSpPr/>
          <p:nvPr/>
        </p:nvSpPr>
        <p:spPr>
          <a:xfrm>
            <a:off x="8140700" y="5499100"/>
            <a:ext cx="3213100" cy="762000"/>
          </a:xfrm>
          <a:prstGeom prst="roundRect">
            <a:avLst>
              <a:gd name="adj" fmla="val 0"/>
            </a:avLst>
          </a:prstGeom>
          <a:solidFill>
            <a:srgbClr val="F59E0B">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91666"/>
              </a:lnSpc>
              <a:defRPr/>
            </a:pPr>
            <a:r>
              <a:rPr lang="en-US" sz="1800" b="1" i="0" u="none" strike="noStrike">
                <a:solidFill>
                  <a:srgbClr val="FFFFFF"/>
                </a:solidFill>
                <a:latin typeface="Noto Sans SC"/>
                <a:ea typeface="Noto Sans SC"/>
                <a:cs typeface="Noto Sans SC"/>
                <a:sym typeface="Noto Sans SC"/>
              </a:rPr>
              <a:t>算法别名</a:t>
            </a:r>
            <a:br>
              <a:rPr lang="en-US" sz="1800" b="0" i="0" u="none" strike="noStrike">
                <a:solidFill>
                  <a:srgbClr val="FFFFFF"/>
                </a:solidFill>
                <a:latin typeface="Noto Sans SC"/>
                <a:ea typeface="Noto Sans SC"/>
                <a:cs typeface="Noto Sans SC"/>
                <a:sym typeface="Noto Sans SC"/>
              </a:rPr>
            </a:br>
            <a:r>
              <a:rPr lang="en-US" sz="1600">
                <a:solidFill>
                  <a:srgbClr val="E5E7EB"/>
                </a:solidFill>
                <a:latin typeface="Noto Sans SC"/>
                <a:ea typeface="Noto Sans SC"/>
                <a:sym typeface="Noto Sans SC"/>
              </a:rPr>
              <a:t>从泛关系出发的“分解算法”</a:t>
            </a:r>
            <a:endParaRPr lang="en-US" sz="1600">
              <a:solidFill>
                <a:srgbClr val="E5E7EB"/>
              </a:solidFill>
              <a:latin typeface="Noto Sans SC"/>
              <a:ea typeface="Noto Sans SC"/>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7.4.6 分解成3NF模式集的算法 (1)</a:t>
            </a:r>
            <a:endParaRPr lang="en-US" sz="2400" b="1">
              <a:solidFill>
                <a:srgbClr val="FFFFFF"/>
              </a:solidFill>
              <a:latin typeface="Noto Sans SC"/>
              <a:ea typeface="Noto Sans SC"/>
            </a:endParaRPr>
          </a:p>
        </p:txBody>
      </p:sp>
      <p:sp>
        <p:nvSpPr>
          <p:cNvPr id="3" name="AutoShape 3"/>
          <p:cNvSpPr/>
          <p:nvPr/>
        </p:nvSpPr>
        <p:spPr>
          <a:xfrm>
            <a:off x="838200" y="1270000"/>
            <a:ext cx="5945372" cy="5080000"/>
          </a:xfrm>
          <a:prstGeom prst="rect">
            <a:avLst/>
          </a:prstGeom>
          <a:noFill/>
          <a:ln w="12700" cap="flat" cmpd="sng">
            <a:noFill/>
            <a:prstDash val="solid"/>
            <a:round/>
          </a:ln>
        </p:spPr>
        <p:txBody>
          <a:bodyPr vert="horz" wrap="square" lIns="127000" tIns="127000" rIns="127000" bIns="127000" rtlCol="0" anchor="t" anchorCtr="0">
            <a:spAutoFit/>
          </a:bodyPr>
          <a:lstStyle/>
          <a:p>
            <a:pPr indent="0" algn="l">
              <a:lnSpc>
                <a:spcPct val="108333"/>
              </a:lnSpc>
              <a:defRPr/>
            </a:pPr>
            <a:r>
              <a:rPr lang="en-US" sz="2000" b="1" i="0" u="none" strike="noStrike">
                <a:solidFill>
                  <a:srgbClr val="7030A0"/>
                </a:solidFill>
                <a:latin typeface="Noto Sans SC"/>
                <a:ea typeface="Noto Sans SC"/>
                <a:cs typeface="Noto Sans SC"/>
                <a:sym typeface="Noto Sans SC"/>
              </a:rPr>
              <a:t>▍算法 7.7</a:t>
            </a:r>
            <a:r>
              <a:rPr lang="zh-CN" altLang="en-US" sz="2000" b="1" i="0" u="none" strike="noStrike">
                <a:solidFill>
                  <a:srgbClr val="7030A0"/>
                </a:solidFill>
                <a:latin typeface="Noto Sans SC"/>
                <a:ea typeface="Noto Sans SC"/>
                <a:cs typeface="Noto Sans SC"/>
                <a:sym typeface="Noto Sans SC"/>
              </a:rPr>
              <a:t>：</a:t>
            </a:r>
            <a:r>
              <a:rPr lang="en-US" sz="2000" b="1" i="0" u="none" strike="noStrike">
                <a:solidFill>
                  <a:srgbClr val="7030A0"/>
                </a:solidFill>
                <a:latin typeface="Noto Sans SC"/>
                <a:ea typeface="Noto Sans SC"/>
                <a:cs typeface="Noto Sans SC"/>
                <a:sym typeface="Noto Sans SC"/>
              </a:rPr>
              <a:t>无损且保持依赖地分解成 3NF 模式集</a:t>
            </a:r>
            <a:endParaRPr lang="en-US" sz="1100"/>
          </a:p>
          <a:p>
            <a:pPr indent="0" algn="l">
              <a:lnSpc>
                <a:spcPct val="116666"/>
              </a:lnSpc>
              <a:spcBef>
                <a:spcPts val="1200"/>
              </a:spcBef>
            </a:pPr>
            <a:r>
              <a:rPr lang="en-US" sz="1800" b="1" i="0" u="none" strike="noStrike">
                <a:solidFill>
                  <a:srgbClr val="1F2329"/>
                </a:solidFill>
                <a:latin typeface="Noto Sans SC"/>
                <a:ea typeface="Noto Sans SC"/>
                <a:cs typeface="Noto Sans SC"/>
                <a:sym typeface="Noto Sans SC"/>
              </a:rPr>
              <a:t>Step 1. 规范化处理依赖集</a:t>
            </a:r>
            <a:br>
              <a:rPr lang="en-US" sz="1800" b="0" i="0" u="none" strike="noStrike">
                <a:solidFill>
                  <a:srgbClr val="1F2329"/>
                </a:solidFill>
                <a:latin typeface="Noto Sans SC"/>
                <a:ea typeface="Noto Sans SC"/>
                <a:cs typeface="Noto Sans SC"/>
                <a:sym typeface="Noto Sans SC"/>
              </a:rPr>
            </a:br>
            <a:r>
              <a:rPr lang="en-US" sz="1800" b="0" i="0" u="none" strike="noStrike">
                <a:solidFill>
                  <a:srgbClr val="505050"/>
                </a:solidFill>
                <a:latin typeface="Noto Sans SC"/>
                <a:ea typeface="Noto Sans SC"/>
                <a:cs typeface="Noto Sans SC"/>
                <a:sym typeface="Noto Sans SC"/>
              </a:rPr>
              <a:t>对关系模式 R 和其上的 FD 集 F，先求 F 的最小依赖集。将最小依赖集中左部相同的 FD 合并。</a:t>
            </a:r>
          </a:p>
          <a:p>
            <a:pPr indent="0" algn="l">
              <a:lnSpc>
                <a:spcPct val="116666"/>
              </a:lnSpc>
              <a:spcBef>
                <a:spcPts val="1600"/>
              </a:spcBef>
            </a:pPr>
            <a:r>
              <a:rPr lang="en-US" sz="1800" b="1" i="0" u="none" strike="noStrike">
                <a:solidFill>
                  <a:srgbClr val="1F2329"/>
                </a:solidFill>
                <a:latin typeface="Noto Sans SC"/>
                <a:ea typeface="Noto Sans SC"/>
                <a:cs typeface="Noto Sans SC"/>
                <a:sym typeface="Noto Sans SC"/>
              </a:rPr>
              <a:t>Step 2. 构建基本模式集</a:t>
            </a:r>
            <a:br>
              <a:rPr lang="en-US" sz="1800" b="0" i="0" u="none" strike="noStrike">
                <a:solidFill>
                  <a:srgbClr val="1F2329"/>
                </a:solidFill>
                <a:latin typeface="Noto Sans SC"/>
                <a:ea typeface="Noto Sans SC"/>
                <a:cs typeface="Noto Sans SC"/>
                <a:sym typeface="Noto Sans SC"/>
              </a:rPr>
            </a:br>
            <a:r>
              <a:rPr lang="en-US" sz="1800" b="0" i="0" u="none" strike="noStrike">
                <a:solidFill>
                  <a:srgbClr val="505050"/>
                </a:solidFill>
                <a:latin typeface="Noto Sans SC"/>
                <a:ea typeface="Noto Sans SC"/>
                <a:cs typeface="Noto Sans SC"/>
                <a:sym typeface="Noto Sans SC"/>
              </a:rPr>
              <a:t>对最小依赖集中的每一个 FD：X→Y，单独构成一个新的关系模式 XY。</a:t>
            </a:r>
          </a:p>
          <a:p>
            <a:pPr indent="0" algn="l">
              <a:lnSpc>
                <a:spcPct val="116666"/>
              </a:lnSpc>
              <a:spcBef>
                <a:spcPts val="1600"/>
              </a:spcBef>
            </a:pPr>
            <a:r>
              <a:rPr lang="en-US" sz="1800" b="1" i="0" u="none" strike="noStrike">
                <a:solidFill>
                  <a:srgbClr val="1F2329"/>
                </a:solidFill>
                <a:latin typeface="Noto Sans SC"/>
                <a:ea typeface="Noto Sans SC"/>
                <a:cs typeface="Noto Sans SC"/>
                <a:sym typeface="Noto Sans SC"/>
              </a:rPr>
              <a:t>Step 3. 补充候选键模式</a:t>
            </a:r>
            <a:br>
              <a:rPr lang="en-US" sz="1800" b="0" i="0" u="none" strike="noStrike">
                <a:solidFill>
                  <a:srgbClr val="1F2329"/>
                </a:solidFill>
                <a:latin typeface="Noto Sans SC"/>
                <a:ea typeface="Noto Sans SC"/>
                <a:cs typeface="Noto Sans SC"/>
                <a:sym typeface="Noto Sans SC"/>
              </a:rPr>
            </a:br>
            <a:r>
              <a:rPr lang="en-US" sz="1800" b="0" i="0" u="none" strike="noStrike">
                <a:solidFill>
                  <a:srgbClr val="505050"/>
                </a:solidFill>
                <a:latin typeface="Noto Sans SC"/>
                <a:ea typeface="Noto Sans SC"/>
                <a:cs typeface="Noto Sans SC"/>
                <a:sym typeface="Noto Sans SC"/>
              </a:rPr>
              <a:t>若当前所有模式均未包含 R 的候选键，则将候选键单独作为一个模式加入集合。</a:t>
            </a:r>
          </a:p>
          <a:p>
            <a:pPr indent="0" algn="l">
              <a:lnSpc>
                <a:spcPct val="116666"/>
              </a:lnSpc>
              <a:spcBef>
                <a:spcPts val="1800"/>
              </a:spcBef>
            </a:pPr>
            <a:r>
              <a:rPr lang="en-US" sz="1800" b="1" i="0" u="none" strike="noStrike">
                <a:solidFill>
                  <a:srgbClr val="D93025"/>
                </a:solidFill>
                <a:latin typeface="Noto Sans SC"/>
                <a:ea typeface="Noto Sans SC"/>
                <a:cs typeface="Noto Sans SC"/>
                <a:sym typeface="Noto Sans SC"/>
              </a:rPr>
              <a:t>结论：通过此方法得到的模式集，既是无损分解，又能保持函数依赖。</a:t>
            </a:r>
          </a:p>
        </p:txBody>
      </p:sp>
      <p:sp>
        <p:nvSpPr>
          <p:cNvPr id="4" name="AutoShape 4"/>
          <p:cNvSpPr/>
          <p:nvPr/>
        </p:nvSpPr>
        <p:spPr>
          <a:xfrm>
            <a:off x="7097823" y="1447209"/>
            <a:ext cx="4318000" cy="4563731"/>
          </a:xfrm>
          <a:prstGeom prst="roundRect">
            <a:avLst>
              <a:gd name="adj" fmla="val 0"/>
            </a:avLst>
          </a:prstGeom>
          <a:solidFill>
            <a:srgbClr val="F5F5F5">
              <a:alpha val="100000"/>
            </a:srgbClr>
          </a:solidFill>
          <a:ln w="12700" cap="flat" cmpd="sng">
            <a:solidFill>
              <a:srgbClr val="DCDCDC">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7351823" y="1853609"/>
            <a:ext cx="3810000" cy="1016000"/>
          </a:xfrm>
          <a:prstGeom prst="roundRect">
            <a:avLst>
              <a:gd name="adj" fmla="val 0"/>
            </a:avLst>
          </a:prstGeom>
          <a:solidFill>
            <a:srgbClr val="7030A0">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42323" y="2209209"/>
            <a:ext cx="508000" cy="508000"/>
          </a:xfrm>
          <a:prstGeom prst="rect">
            <a:avLst/>
          </a:prstGeom>
        </p:spPr>
      </p:pic>
      <p:sp>
        <p:nvSpPr>
          <p:cNvPr id="7" name="AutoShape 7"/>
          <p:cNvSpPr/>
          <p:nvPr/>
        </p:nvSpPr>
        <p:spPr>
          <a:xfrm>
            <a:off x="8240823" y="2107609"/>
            <a:ext cx="2667000"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基于最小依赖集</a:t>
            </a:r>
            <a:endParaRPr lang="en-US" sz="1100"/>
          </a:p>
          <a:p>
            <a:pPr indent="0" algn="l">
              <a:lnSpc>
                <a:spcPct val="125000"/>
              </a:lnSpc>
            </a:pPr>
            <a:r>
              <a:rPr lang="en-US" b="0" i="0" u="none" strike="noStrike">
                <a:solidFill>
                  <a:srgbClr val="E6E6E6"/>
                </a:solidFill>
                <a:latin typeface="Noto Sans SC"/>
                <a:ea typeface="Noto Sans SC"/>
                <a:cs typeface="Noto Sans SC"/>
                <a:sym typeface="Noto Sans SC"/>
              </a:rPr>
              <a:t>消除冗余，确保依赖的精简性</a:t>
            </a:r>
          </a:p>
        </p:txBody>
      </p:sp>
      <p:sp>
        <p:nvSpPr>
          <p:cNvPr id="8" name="AutoShape 8"/>
          <p:cNvSpPr/>
          <p:nvPr/>
        </p:nvSpPr>
        <p:spPr>
          <a:xfrm>
            <a:off x="7351823" y="3225209"/>
            <a:ext cx="3810000" cy="1016000"/>
          </a:xfrm>
          <a:prstGeom prst="roundRect">
            <a:avLst>
              <a:gd name="adj" fmla="val 0"/>
            </a:avLst>
          </a:prstGeom>
          <a:solidFill>
            <a:srgbClr val="2563EB">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542323" y="3479209"/>
            <a:ext cx="508000" cy="508000"/>
          </a:xfrm>
          <a:prstGeom prst="rect">
            <a:avLst/>
          </a:prstGeom>
        </p:spPr>
      </p:pic>
      <p:sp>
        <p:nvSpPr>
          <p:cNvPr id="10" name="AutoShape 10"/>
          <p:cNvSpPr/>
          <p:nvPr/>
        </p:nvSpPr>
        <p:spPr>
          <a:xfrm>
            <a:off x="8240823" y="3377609"/>
            <a:ext cx="2667000"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无损分解</a:t>
            </a:r>
            <a:endParaRPr lang="en-US" sz="1100"/>
          </a:p>
          <a:p>
            <a:pPr indent="0" algn="l">
              <a:lnSpc>
                <a:spcPct val="125000"/>
              </a:lnSpc>
            </a:pPr>
            <a:r>
              <a:rPr lang="en-US" b="0" i="0" u="none" strike="noStrike">
                <a:solidFill>
                  <a:srgbClr val="E6E6E6"/>
                </a:solidFill>
                <a:latin typeface="Noto Sans SC"/>
                <a:ea typeface="Noto Sans SC"/>
                <a:cs typeface="Noto Sans SC"/>
                <a:sym typeface="Noto Sans SC"/>
              </a:rPr>
              <a:t>分解后不丢失原关系信息</a:t>
            </a:r>
            <a:endParaRPr lang="en-US" sz="1300" b="0" i="0" u="none" strike="noStrike">
              <a:solidFill>
                <a:srgbClr val="E6E6E6"/>
              </a:solidFill>
              <a:latin typeface="Noto Sans SC"/>
              <a:ea typeface="Noto Sans SC"/>
              <a:cs typeface="Noto Sans SC"/>
              <a:sym typeface="Noto Sans SC"/>
            </a:endParaRPr>
          </a:p>
        </p:txBody>
      </p:sp>
      <p:sp>
        <p:nvSpPr>
          <p:cNvPr id="11" name="AutoShape 11"/>
          <p:cNvSpPr/>
          <p:nvPr/>
        </p:nvSpPr>
        <p:spPr>
          <a:xfrm>
            <a:off x="7351823" y="4580972"/>
            <a:ext cx="3810000" cy="1016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542323" y="4834972"/>
            <a:ext cx="508000" cy="508000"/>
          </a:xfrm>
          <a:prstGeom prst="rect">
            <a:avLst/>
          </a:prstGeom>
        </p:spPr>
      </p:pic>
      <p:sp>
        <p:nvSpPr>
          <p:cNvPr id="13" name="AutoShape 13"/>
          <p:cNvSpPr/>
          <p:nvPr/>
        </p:nvSpPr>
        <p:spPr>
          <a:xfrm>
            <a:off x="8240823" y="4733372"/>
            <a:ext cx="2667000" cy="711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保持函数依赖</a:t>
            </a:r>
            <a:endParaRPr lang="en-US" sz="1100"/>
          </a:p>
          <a:p>
            <a:pPr indent="0" algn="l">
              <a:lnSpc>
                <a:spcPct val="125000"/>
              </a:lnSpc>
            </a:pPr>
            <a:r>
              <a:rPr lang="en-US" b="0" i="0" u="none" strike="noStrike">
                <a:solidFill>
                  <a:srgbClr val="E6E6E6"/>
                </a:solidFill>
                <a:latin typeface="Noto Sans SC"/>
                <a:ea typeface="Noto Sans SC"/>
                <a:cs typeface="Noto Sans SC"/>
                <a:sym typeface="Noto Sans SC"/>
              </a:rPr>
              <a:t>数据约束在分解中得以保留</a:t>
            </a:r>
            <a:endParaRPr lang="en-US" sz="1300" b="0" i="0" u="none" strike="noStrike">
              <a:solidFill>
                <a:srgbClr val="E6E6E6"/>
              </a:solidFill>
              <a:latin typeface="Noto Sans SC"/>
              <a:ea typeface="Noto Sans SC"/>
              <a:cs typeface="Noto Sans SC"/>
              <a:sym typeface="Noto Sans SC"/>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7.4.6 分解成3NF模式集的算法(2)</a:t>
            </a:r>
            <a:endParaRPr lang="en-US" sz="2400" b="1">
              <a:solidFill>
                <a:srgbClr val="FFFFFF"/>
              </a:solidFill>
              <a:latin typeface="Noto Sans SC"/>
              <a:ea typeface="Noto Sans SC"/>
            </a:endParaRPr>
          </a:p>
        </p:txBody>
      </p:sp>
      <p:sp>
        <p:nvSpPr>
          <p:cNvPr id="3" name="AutoShape 3"/>
          <p:cNvSpPr/>
          <p:nvPr/>
        </p:nvSpPr>
        <p:spPr>
          <a:xfrm>
            <a:off x="838201" y="1750828"/>
            <a:ext cx="5342860" cy="4421372"/>
          </a:xfrm>
          <a:prstGeom prst="rect">
            <a:avLst/>
          </a:prstGeom>
          <a:noFill/>
          <a:ln w="12700" cap="flat" cmpd="sng">
            <a:noFill/>
            <a:prstDash val="solid"/>
            <a:round/>
          </a:ln>
        </p:spPr>
        <p:txBody>
          <a:bodyPr vert="horz" wrap="square" lIns="127000" tIns="127000" rIns="127000" bIns="0" rtlCol="0" anchor="t" anchorCtr="0"/>
          <a:lstStyle/>
          <a:p>
            <a:pPr marL="342900" indent="-342900" algn="l">
              <a:lnSpc>
                <a:spcPct val="125000"/>
              </a:lnSpc>
              <a:spcAft>
                <a:spcPts val="1200"/>
              </a:spcAft>
              <a:buFont typeface="+mj-lt"/>
              <a:buAutoNum type="arabicPeriod"/>
              <a:defRPr/>
            </a:pPr>
            <a:r>
              <a:rPr lang="en-US" sz="1600" b="1" i="0" u="none" strike="noStrike">
                <a:solidFill>
                  <a:srgbClr val="333333"/>
                </a:solidFill>
                <a:latin typeface="Noto Sans SC"/>
                <a:ea typeface="Noto Sans SC"/>
                <a:cs typeface="Noto Sans SC"/>
                <a:sym typeface="Noto Sans SC"/>
              </a:rPr>
              <a:t>已知条件：</a:t>
            </a:r>
            <a:r>
              <a:rPr lang="en-US" sz="1600" b="0" i="0" u="none" strike="noStrike">
                <a:solidFill>
                  <a:srgbClr val="333333"/>
                </a:solidFill>
                <a:latin typeface="Noto Sans SC"/>
                <a:ea typeface="Noto Sans SC"/>
                <a:cs typeface="Noto Sans SC"/>
                <a:sym typeface="Noto Sans SC"/>
              </a:rPr>
              <a:t>设关系模式 R(ABCDE)，其最小函数依赖集 Fmin = { A→B，C→D }。</a:t>
            </a:r>
          </a:p>
          <a:p>
            <a:pPr marL="342900" indent="-342900" algn="l">
              <a:lnSpc>
                <a:spcPct val="125000"/>
              </a:lnSpc>
              <a:spcAft>
                <a:spcPts val="1200"/>
              </a:spcAft>
              <a:buFont typeface="+mj-lt"/>
              <a:buAutoNum type="arabicPeriod"/>
            </a:pPr>
            <a:r>
              <a:rPr lang="en-US" sz="1600" b="1" i="0" u="none" strike="noStrike">
                <a:solidFill>
                  <a:srgbClr val="333333"/>
                </a:solidFill>
                <a:latin typeface="Noto Sans SC"/>
                <a:ea typeface="Noto Sans SC"/>
                <a:cs typeface="Noto Sans SC"/>
                <a:sym typeface="Noto Sans SC"/>
              </a:rPr>
              <a:t>求候选键：</a:t>
            </a:r>
            <a:r>
              <a:rPr lang="en-US" sz="1600" b="0" i="0" u="none" strike="noStrike">
                <a:solidFill>
                  <a:srgbClr val="333333"/>
                </a:solidFill>
                <a:latin typeface="Noto Sans SC"/>
                <a:ea typeface="Noto Sans SC"/>
                <a:cs typeface="Noto Sans SC"/>
                <a:sym typeface="Noto Sans SC"/>
              </a:rPr>
              <a:t>根据属性闭包计算规则，(ACE)+ = ABCDE，且其真子集的闭包无法推出全部属性，故 R 的候选键为</a:t>
            </a:r>
            <a:r>
              <a:rPr lang="en-US" sz="1600" b="1" i="0" u="none" strike="noStrike">
                <a:solidFill>
                  <a:srgbClr val="333333"/>
                </a:solidFill>
                <a:latin typeface="Noto Sans SC"/>
                <a:ea typeface="Noto Sans SC"/>
                <a:cs typeface="Noto Sans SC"/>
                <a:sym typeface="Noto Sans SC"/>
              </a:rPr>
              <a:t>ACE</a:t>
            </a:r>
            <a:r>
              <a:rPr lang="en-US" sz="1600" b="0" i="0" u="none" strike="noStrike">
                <a:solidFill>
                  <a:srgbClr val="333333"/>
                </a:solidFill>
                <a:latin typeface="Noto Sans SC"/>
                <a:ea typeface="Noto Sans SC"/>
                <a:cs typeface="Noto Sans SC"/>
                <a:sym typeface="Noto Sans SC"/>
              </a:rPr>
              <a:t>。</a:t>
            </a:r>
          </a:p>
          <a:p>
            <a:pPr marL="342900" indent="-342900" algn="l">
              <a:lnSpc>
                <a:spcPct val="125000"/>
              </a:lnSpc>
              <a:spcAft>
                <a:spcPts val="1200"/>
              </a:spcAft>
              <a:buFont typeface="+mj-lt"/>
              <a:buAutoNum type="arabicPeriod"/>
            </a:pPr>
            <a:r>
              <a:rPr lang="en-US" sz="1600" b="1" i="0" u="none" strike="noStrike">
                <a:solidFill>
                  <a:srgbClr val="333333"/>
                </a:solidFill>
                <a:latin typeface="Noto Sans SC"/>
                <a:ea typeface="Noto Sans SC"/>
                <a:cs typeface="Noto Sans SC"/>
                <a:sym typeface="Noto Sans SC"/>
              </a:rPr>
              <a:t>初步分解：</a:t>
            </a:r>
            <a:r>
              <a:rPr lang="en-US" sz="1600" b="0" i="0" u="none" strike="noStrike">
                <a:solidFill>
                  <a:srgbClr val="333333"/>
                </a:solidFill>
                <a:latin typeface="Noto Sans SC"/>
                <a:ea typeface="Noto Sans SC"/>
                <a:cs typeface="Noto Sans SC"/>
                <a:sym typeface="Noto Sans SC"/>
              </a:rPr>
              <a:t>依据最小依赖集，对每个函数依赖 X→Y 构造模式 XY，得到分解 ρ = { AB, CD }。</a:t>
            </a:r>
          </a:p>
          <a:p>
            <a:pPr marL="342900" indent="-342900" algn="l">
              <a:lnSpc>
                <a:spcPct val="125000"/>
              </a:lnSpc>
              <a:spcAft>
                <a:spcPts val="1200"/>
              </a:spcAft>
              <a:buFont typeface="+mj-lt"/>
              <a:buAutoNum type="arabicPeriod"/>
            </a:pPr>
            <a:r>
              <a:rPr lang="en-US" sz="1600" b="1" i="0" u="none" strike="noStrike">
                <a:solidFill>
                  <a:srgbClr val="333333"/>
                </a:solidFill>
                <a:latin typeface="Noto Sans SC"/>
                <a:ea typeface="Noto Sans SC"/>
                <a:cs typeface="Noto Sans SC"/>
                <a:sym typeface="Noto Sans SC"/>
              </a:rPr>
              <a:t>补充候选键：</a:t>
            </a:r>
            <a:r>
              <a:rPr lang="en-US" sz="1600" b="0" i="0" u="none" strike="noStrike">
                <a:solidFill>
                  <a:srgbClr val="333333"/>
                </a:solidFill>
                <a:latin typeface="Noto Sans SC"/>
                <a:ea typeface="Noto Sans SC"/>
                <a:cs typeface="Noto Sans SC"/>
                <a:sym typeface="Noto Sans SC"/>
              </a:rPr>
              <a:t>检查发现，初步分解的模式均不包含候选键 ACE，因此需将 ACE 作为一个独立模式加入分解结果。</a:t>
            </a:r>
          </a:p>
          <a:p>
            <a:pPr indent="0" algn="l">
              <a:lnSpc>
                <a:spcPct val="125000"/>
              </a:lnSpc>
              <a:spcAft>
                <a:spcPts val="1200"/>
              </a:spcAft>
            </a:pPr>
            <a:r>
              <a:rPr lang="en-US" sz="1600" b="1" i="0" u="none" strike="noStrike">
                <a:solidFill>
                  <a:srgbClr val="D93025"/>
                </a:solidFill>
                <a:latin typeface="Noto Sans SC"/>
                <a:ea typeface="Noto Sans SC"/>
                <a:cs typeface="Noto Sans SC"/>
                <a:sym typeface="Noto Sans SC"/>
              </a:rPr>
              <a:t>最终结果：</a:t>
            </a:r>
            <a:r>
              <a:rPr lang="en-US" sz="1600" i="0" u="none" strike="noStrike">
                <a:solidFill>
                  <a:schemeClr val="tx1"/>
                </a:solidFill>
                <a:latin typeface="Noto Sans SC"/>
                <a:ea typeface="Noto Sans SC"/>
                <a:cs typeface="Noto Sans SC"/>
                <a:sym typeface="Noto Sans SC"/>
              </a:rPr>
              <a:t>ρ = { AB, CD, ACE }。该分解满足3NF，且是无损连接分解并保持函数依赖。</a:t>
            </a:r>
          </a:p>
        </p:txBody>
      </p:sp>
      <p:sp>
        <p:nvSpPr>
          <p:cNvPr id="4" name="AutoShape 4"/>
          <p:cNvSpPr/>
          <p:nvPr/>
        </p:nvSpPr>
        <p:spPr>
          <a:xfrm>
            <a:off x="7527852" y="1435100"/>
            <a:ext cx="600148" cy="43561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核心</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步骤</a:t>
            </a:r>
            <a:endParaRPr lang="en-US" sz="1600" b="1">
              <a:solidFill>
                <a:srgbClr val="FFFFFF"/>
              </a:solidFill>
              <a:latin typeface="Noto Sans SC"/>
              <a:ea typeface="Noto Sans SC"/>
            </a:endParaRPr>
          </a:p>
        </p:txBody>
      </p:sp>
      <p:sp>
        <p:nvSpPr>
          <p:cNvPr id="5" name="AutoShape 5"/>
          <p:cNvSpPr/>
          <p:nvPr/>
        </p:nvSpPr>
        <p:spPr>
          <a:xfrm>
            <a:off x="8140700" y="1435100"/>
            <a:ext cx="3213100" cy="6477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1. 确定R(U)与Fmin</a:t>
            </a:r>
            <a:endParaRPr lang="en-US" sz="1100"/>
          </a:p>
        </p:txBody>
      </p:sp>
      <p:sp>
        <p:nvSpPr>
          <p:cNvPr id="6" name="AutoShape 6"/>
          <p:cNvSpPr/>
          <p:nvPr/>
        </p:nvSpPr>
        <p:spPr>
          <a:xfrm>
            <a:off x="8140700" y="2362200"/>
            <a:ext cx="3213100" cy="6477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125000"/>
              </a:lnSpc>
              <a:defRPr/>
            </a:pPr>
            <a:r>
              <a:rPr lang="en-US" sz="1600" b="1" i="0" u="none" strike="noStrike">
                <a:solidFill>
                  <a:srgbClr val="FFC107"/>
                </a:solidFill>
                <a:latin typeface="Noto Sans SC"/>
                <a:ea typeface="Noto Sans SC"/>
                <a:cs typeface="Noto Sans SC"/>
                <a:sym typeface="Noto Sans SC"/>
              </a:rPr>
              <a:t>2. 求解R的候选键</a:t>
            </a:r>
            <a:endParaRPr lang="en-US" sz="1100"/>
          </a:p>
        </p:txBody>
      </p:sp>
      <p:sp>
        <p:nvSpPr>
          <p:cNvPr id="7" name="AutoShape 7"/>
          <p:cNvSpPr/>
          <p:nvPr/>
        </p:nvSpPr>
        <p:spPr>
          <a:xfrm>
            <a:off x="8140700" y="3302000"/>
            <a:ext cx="3213100" cy="6477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3. 按Fmin逐一分解</a:t>
            </a:r>
            <a:endParaRPr lang="en-US" sz="1100"/>
          </a:p>
        </p:txBody>
      </p:sp>
      <p:sp>
        <p:nvSpPr>
          <p:cNvPr id="8" name="AutoShape 8"/>
          <p:cNvSpPr/>
          <p:nvPr/>
        </p:nvSpPr>
        <p:spPr>
          <a:xfrm>
            <a:off x="8140700" y="4241800"/>
            <a:ext cx="3213100" cy="6477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125000"/>
              </a:lnSpc>
              <a:defRPr/>
            </a:pPr>
            <a:r>
              <a:rPr lang="en-US" sz="1600" b="1" i="0" u="none" strike="noStrike">
                <a:solidFill>
                  <a:srgbClr val="FFC107"/>
                </a:solidFill>
                <a:latin typeface="Noto Sans SC"/>
                <a:ea typeface="Noto Sans SC"/>
                <a:cs typeface="Noto Sans SC"/>
                <a:sym typeface="Noto Sans SC"/>
              </a:rPr>
              <a:t>4. 补充候选键模式</a:t>
            </a:r>
            <a:endParaRPr lang="en-US" sz="1100"/>
          </a:p>
        </p:txBody>
      </p:sp>
      <p:sp>
        <p:nvSpPr>
          <p:cNvPr id="9" name="AutoShape 9"/>
          <p:cNvSpPr/>
          <p:nvPr/>
        </p:nvSpPr>
        <p:spPr>
          <a:xfrm>
            <a:off x="8140700" y="5130800"/>
            <a:ext cx="3213100" cy="6477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125000"/>
              </a:lnSpc>
              <a:defRPr/>
            </a:pPr>
            <a:r>
              <a:rPr lang="en-US" sz="1600" b="0" i="0" u="none" strike="noStrike">
                <a:solidFill>
                  <a:srgbClr val="2ECC71"/>
                </a:solidFill>
                <a:latin typeface="Noto Sans SC"/>
                <a:ea typeface="Noto Sans SC"/>
                <a:cs typeface="Noto Sans SC"/>
                <a:sym typeface="Noto Sans SC"/>
              </a:rPr>
              <a:t>5. 验证分解性质</a:t>
            </a:r>
            <a:endParaRPr lang="en-US" sz="1100"/>
          </a:p>
        </p:txBody>
      </p:sp>
      <p:sp>
        <p:nvSpPr>
          <p:cNvPr id="10" name="AutoShape 4">
            <a:extLst>
              <a:ext uri="{FF2B5EF4-FFF2-40B4-BE49-F238E27FC236}">
                <a16:creationId xmlns:a16="http://schemas.microsoft.com/office/drawing/2014/main" id="{EE15E2F2-62C6-EB14-B570-7A2ABAAD82CA}"/>
              </a:ext>
            </a:extLst>
          </p:cNvPr>
          <p:cNvSpPr/>
          <p:nvPr/>
        </p:nvSpPr>
        <p:spPr>
          <a:xfrm>
            <a:off x="838199" y="1311761"/>
            <a:ext cx="4557459"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13</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a:t>
            </a:r>
            <a:r>
              <a:rPr lang="en-US" altLang="zh-CN" sz="2000" b="1">
                <a:solidFill>
                  <a:srgbClr val="7030A0"/>
                </a:solidFill>
                <a:latin typeface="Noto Sans SC"/>
                <a:ea typeface="Noto Sans SC"/>
                <a:cs typeface="Noto Sans SC"/>
                <a:sym typeface="Noto Sans SC"/>
              </a:rPr>
              <a:t>3NF模式分解实例</a:t>
            </a:r>
            <a:endParaRPr lang="zh-CN" altLang="en-US" sz="2000">
              <a:solidFill>
                <a:srgbClr val="7030A0"/>
              </a:solidFill>
              <a:latin typeface="Noto Sans SC Black" panose="020B0200000000000000" pitchFamily="34" charset="-122"/>
              <a:ea typeface="Noto Sans SC Black" panose="020B0200000000000000" pitchFamily="34" charset="-122"/>
              <a:sym typeface="Noto Sans SC"/>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7.4.7 模式设计方法小结 (1)</a:t>
            </a:r>
            <a:endParaRPr lang="en-US" sz="2400" b="1">
              <a:solidFill>
                <a:srgbClr val="FFFFFF"/>
              </a:solidFill>
              <a:latin typeface="Noto Sans SC"/>
              <a:ea typeface="Noto Sans SC"/>
            </a:endParaRPr>
          </a:p>
        </p:txBody>
      </p:sp>
      <p:sp>
        <p:nvSpPr>
          <p:cNvPr id="3" name="AutoShape 3"/>
          <p:cNvSpPr/>
          <p:nvPr/>
        </p:nvSpPr>
        <p:spPr>
          <a:xfrm>
            <a:off x="838200" y="1397000"/>
            <a:ext cx="5842000" cy="4953000"/>
          </a:xfrm>
          <a:prstGeom prst="rect">
            <a:avLst/>
          </a:prstGeom>
          <a:noFill/>
          <a:ln w="12700" cap="flat" cmpd="sng">
            <a:noFill/>
            <a:prstDash val="solid"/>
            <a:round/>
          </a:ln>
        </p:spPr>
        <p:txBody>
          <a:bodyPr vert="horz" wrap="square" lIns="0" tIns="0" rIns="0" bIns="0" rtlCol="0" anchor="t" anchorCtr="0"/>
          <a:lstStyle/>
          <a:p>
            <a:pPr indent="0" algn="just">
              <a:lnSpc>
                <a:spcPct val="125000"/>
              </a:lnSpc>
              <a:spcAft>
                <a:spcPts val="600"/>
              </a:spcAft>
              <a:defRPr/>
            </a:pPr>
            <a:r>
              <a:rPr lang="en-US" sz="2000" b="1" i="0" u="none" strike="noStrike">
                <a:solidFill>
                  <a:srgbClr val="333333"/>
                </a:solidFill>
                <a:latin typeface="Noto Sans SC"/>
                <a:ea typeface="Noto Sans SC"/>
                <a:cs typeface="Noto Sans SC"/>
                <a:sym typeface="Noto Sans SC"/>
              </a:rPr>
              <a:t>关系模式分解的三大核心特性</a:t>
            </a:r>
            <a:endParaRPr lang="en-US" sz="1200"/>
          </a:p>
          <a:p>
            <a:pPr indent="0" algn="just">
              <a:lnSpc>
                <a:spcPct val="125000"/>
              </a:lnSpc>
              <a:spcAft>
                <a:spcPts val="600"/>
              </a:spcAft>
            </a:pPr>
            <a:r>
              <a:rPr lang="en-US" sz="1600" b="0" i="0" u="none" strike="noStrike">
                <a:solidFill>
                  <a:srgbClr val="1F2329"/>
                </a:solidFill>
                <a:latin typeface="Noto Sans SC"/>
                <a:ea typeface="Noto Sans SC"/>
                <a:cs typeface="Noto Sans SC"/>
                <a:sym typeface="Noto Sans SC"/>
              </a:rPr>
              <a:t>关系模式 R 相对于函数依赖集 F 分解为 ρ={R1, R2, ..., Rk}，理想的分解应满足以下三个标准，以保证逻辑结构的合理性：</a:t>
            </a:r>
          </a:p>
          <a:p>
            <a:pPr marL="342900" indent="-342900" algn="just">
              <a:lnSpc>
                <a:spcPct val="125000"/>
              </a:lnSpc>
              <a:spcAft>
                <a:spcPts val="600"/>
              </a:spcAft>
              <a:buFont typeface="+mj-lt"/>
              <a:buAutoNum type="arabicPeriod"/>
            </a:pPr>
            <a:r>
              <a:rPr lang="en-US" sz="1600" b="1" i="0" u="none" strike="noStrike">
                <a:solidFill>
                  <a:srgbClr val="7030A0"/>
                </a:solidFill>
                <a:latin typeface="Noto Sans SC"/>
                <a:ea typeface="Noto Sans SC"/>
                <a:cs typeface="Noto Sans SC"/>
                <a:sym typeface="Noto Sans SC"/>
              </a:rPr>
              <a:t>范式要求：</a:t>
            </a:r>
            <a:r>
              <a:rPr lang="en-US" sz="1600" b="0" i="0" u="none" strike="noStrike">
                <a:solidFill>
                  <a:srgbClr val="1F2329"/>
                </a:solidFill>
                <a:latin typeface="Noto Sans SC"/>
                <a:ea typeface="Noto Sans SC"/>
                <a:cs typeface="Noto Sans SC"/>
                <a:sym typeface="Noto Sans SC"/>
              </a:rPr>
              <a:t>分解后的每个子模式都应属于</a:t>
            </a:r>
            <a:r>
              <a:rPr lang="en-US" sz="1600" b="1" i="0" u="none" strike="noStrike">
                <a:solidFill>
                  <a:srgbClr val="D93025"/>
                </a:solidFill>
                <a:latin typeface="Noto Sans SC"/>
                <a:ea typeface="Noto Sans SC"/>
                <a:cs typeface="Noto Sans SC"/>
                <a:sym typeface="Noto Sans SC"/>
              </a:rPr>
              <a:t>BCNF 或 3NF</a:t>
            </a:r>
            <a:r>
              <a:rPr lang="en-US" sz="1600" b="0" i="0" u="none" strike="noStrike">
                <a:solidFill>
                  <a:srgbClr val="1F2329"/>
                </a:solidFill>
                <a:latin typeface="Noto Sans SC"/>
                <a:ea typeface="Noto Sans SC"/>
                <a:cs typeface="Noto Sans SC"/>
                <a:sym typeface="Noto Sans SC"/>
              </a:rPr>
              <a:t>，以最大程度消除数据冗余和操作异常。</a:t>
            </a:r>
          </a:p>
          <a:p>
            <a:pPr marL="342900" indent="-342900" algn="just">
              <a:lnSpc>
                <a:spcPct val="125000"/>
              </a:lnSpc>
              <a:spcAft>
                <a:spcPts val="600"/>
              </a:spcAft>
              <a:buFont typeface="+mj-lt"/>
              <a:buAutoNum type="arabicPeriod"/>
            </a:pPr>
            <a:r>
              <a:rPr lang="en-US" sz="1600" b="1" i="0" u="none" strike="noStrike">
                <a:solidFill>
                  <a:srgbClr val="7030A0"/>
                </a:solidFill>
                <a:latin typeface="Noto Sans SC"/>
                <a:ea typeface="Noto Sans SC"/>
                <a:cs typeface="Noto Sans SC"/>
                <a:sym typeface="Noto Sans SC"/>
              </a:rPr>
              <a:t>无损分解性：</a:t>
            </a:r>
            <a:r>
              <a:rPr lang="en-US" sz="1600" b="0" i="0" u="none" strike="noStrike">
                <a:solidFill>
                  <a:srgbClr val="1F2329"/>
                </a:solidFill>
                <a:latin typeface="Noto Sans SC"/>
                <a:ea typeface="Noto Sans SC"/>
                <a:cs typeface="Noto Sans SC"/>
                <a:sym typeface="Noto Sans SC"/>
              </a:rPr>
              <a:t>不丢失原有信息。对于满足 F 的任意泛关系 r，必须满足 r = mρ(r)，即通过自然连接可以精确恢复原关系。</a:t>
            </a:r>
          </a:p>
          <a:p>
            <a:pPr marL="342900" indent="-342900" algn="just">
              <a:lnSpc>
                <a:spcPct val="125000"/>
              </a:lnSpc>
              <a:spcAft>
                <a:spcPts val="600"/>
              </a:spcAft>
              <a:buFont typeface="+mj-lt"/>
              <a:buAutoNum type="arabicPeriod"/>
            </a:pPr>
            <a:r>
              <a:rPr lang="en-US" sz="1600" b="1" i="0" u="none" strike="noStrike">
                <a:solidFill>
                  <a:srgbClr val="7030A0"/>
                </a:solidFill>
                <a:latin typeface="Noto Sans SC"/>
                <a:ea typeface="Noto Sans SC"/>
                <a:cs typeface="Noto Sans SC"/>
                <a:sym typeface="Noto Sans SC"/>
              </a:rPr>
              <a:t>依赖保持性：</a:t>
            </a:r>
            <a:r>
              <a:rPr lang="en-US" sz="1600" b="0" i="0" u="none" strike="noStrike">
                <a:solidFill>
                  <a:srgbClr val="1F2329"/>
                </a:solidFill>
                <a:latin typeface="Noto Sans SC"/>
                <a:ea typeface="Noto Sans SC"/>
                <a:cs typeface="Noto Sans SC"/>
                <a:sym typeface="Noto Sans SC"/>
              </a:rPr>
              <a:t>分解后各子模式的函数依赖集之并集，在逻辑上应蕴含原有的函数依赖集 F ((∪πRi(F))⊨F)，以保证数据完整性约束不被破坏。</a:t>
            </a:r>
          </a:p>
          <a:p>
            <a:pPr indent="0" algn="just">
              <a:lnSpc>
                <a:spcPct val="125000"/>
              </a:lnSpc>
              <a:spcBef>
                <a:spcPts val="600"/>
              </a:spcBef>
              <a:spcAft>
                <a:spcPts val="600"/>
              </a:spcAft>
            </a:pPr>
            <a:r>
              <a:rPr lang="en-US" sz="1800" b="1" i="0" u="none" strike="noStrike">
                <a:solidFill>
                  <a:srgbClr val="333333"/>
                </a:solidFill>
                <a:latin typeface="Noto Sans SC"/>
                <a:ea typeface="Noto Sans SC"/>
                <a:cs typeface="Noto Sans SC"/>
                <a:sym typeface="Noto Sans SC"/>
              </a:rPr>
              <a:t>💡 </a:t>
            </a:r>
            <a:r>
              <a:rPr lang="en-US" sz="2000" b="1" i="0" u="none" strike="noStrike">
                <a:solidFill>
                  <a:srgbClr val="333333"/>
                </a:solidFill>
                <a:latin typeface="Noto Sans SC"/>
                <a:ea typeface="Noto Sans SC"/>
                <a:cs typeface="Noto Sans SC"/>
                <a:sym typeface="Noto Sans SC"/>
              </a:rPr>
              <a:t>设计权衡</a:t>
            </a:r>
            <a:endParaRPr lang="en-US" sz="1800" b="1" i="0" u="none" strike="noStrike">
              <a:solidFill>
                <a:srgbClr val="333333"/>
              </a:solidFill>
              <a:latin typeface="Noto Sans SC"/>
              <a:ea typeface="Noto Sans SC"/>
              <a:cs typeface="Noto Sans SC"/>
              <a:sym typeface="Noto Sans SC"/>
            </a:endParaRPr>
          </a:p>
          <a:p>
            <a:pPr indent="0" algn="just">
              <a:lnSpc>
                <a:spcPct val="125000"/>
              </a:lnSpc>
              <a:spcAft>
                <a:spcPts val="1200"/>
              </a:spcAft>
            </a:pPr>
            <a:r>
              <a:rPr lang="en-US" sz="1600" b="0" i="0" u="none" strike="noStrike">
                <a:solidFill>
                  <a:srgbClr val="555555"/>
                </a:solidFill>
                <a:latin typeface="Noto Sans SC"/>
                <a:ea typeface="Noto Sans SC"/>
                <a:cs typeface="Noto Sans SC"/>
                <a:sym typeface="Noto Sans SC"/>
              </a:rPr>
              <a:t>设计时应优先尝试设计为</a:t>
            </a:r>
            <a:r>
              <a:rPr lang="en-US" sz="1600" b="1" i="0" u="none" strike="noStrike">
                <a:solidFill>
                  <a:srgbClr val="D93025"/>
                </a:solidFill>
                <a:latin typeface="Noto Sans SC"/>
                <a:ea typeface="Noto Sans SC"/>
                <a:cs typeface="Noto Sans SC"/>
                <a:sym typeface="Noto Sans SC"/>
              </a:rPr>
              <a:t>BCNF</a:t>
            </a:r>
            <a:r>
              <a:rPr lang="en-US" sz="1600" b="0" i="0" u="none" strike="noStrike">
                <a:solidFill>
                  <a:srgbClr val="555555"/>
                </a:solidFill>
                <a:latin typeface="Noto Sans SC"/>
                <a:ea typeface="Noto Sans SC"/>
                <a:cs typeface="Noto Sans SC"/>
                <a:sym typeface="Noto Sans SC"/>
              </a:rPr>
              <a:t>。若无法同时满足“无损分解”与“保持依赖”，则降低要求，采用</a:t>
            </a:r>
            <a:r>
              <a:rPr lang="en-US" sz="1600" b="1" i="0" u="none" strike="noStrike">
                <a:solidFill>
                  <a:srgbClr val="D93025"/>
                </a:solidFill>
                <a:latin typeface="Noto Sans SC"/>
                <a:ea typeface="Noto Sans SC"/>
                <a:cs typeface="Noto Sans SC"/>
                <a:sym typeface="Noto Sans SC"/>
              </a:rPr>
              <a:t>3NF</a:t>
            </a:r>
            <a:r>
              <a:rPr lang="en-US" sz="1600" b="0" i="0" u="none" strike="noStrike">
                <a:solidFill>
                  <a:srgbClr val="555555"/>
                </a:solidFill>
                <a:latin typeface="Noto Sans SC"/>
                <a:ea typeface="Noto Sans SC"/>
                <a:cs typeface="Noto Sans SC"/>
                <a:sym typeface="Noto Sans SC"/>
              </a:rPr>
              <a:t>模式集，以换取无损分解和依赖保持的双重保证。</a:t>
            </a:r>
          </a:p>
        </p:txBody>
      </p:sp>
      <p:sp>
        <p:nvSpPr>
          <p:cNvPr id="4" name="AutoShape 4"/>
          <p:cNvSpPr/>
          <p:nvPr/>
        </p:nvSpPr>
        <p:spPr>
          <a:xfrm>
            <a:off x="7378995" y="1645093"/>
            <a:ext cx="622005" cy="418273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核心</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要点</a:t>
            </a:r>
            <a:endParaRPr lang="en-US" sz="1600" b="1">
              <a:solidFill>
                <a:srgbClr val="FFFFFF"/>
              </a:solidFill>
              <a:latin typeface="Noto Sans SC"/>
              <a:ea typeface="Noto Sans SC"/>
            </a:endParaRPr>
          </a:p>
        </p:txBody>
      </p:sp>
      <p:sp>
        <p:nvSpPr>
          <p:cNvPr id="5" name="AutoShape 5"/>
          <p:cNvSpPr/>
          <p:nvPr/>
        </p:nvSpPr>
        <p:spPr>
          <a:xfrm>
            <a:off x="8001000" y="1651000"/>
            <a:ext cx="3302000" cy="753730"/>
          </a:xfrm>
          <a:prstGeom prst="roundRect">
            <a:avLst>
              <a:gd name="adj" fmla="val 0"/>
            </a:avLst>
          </a:prstGeom>
          <a:solidFill>
            <a:srgbClr val="1E3A8A">
              <a:alpha val="100000"/>
            </a:srgbClr>
          </a:solidFill>
          <a:ln w="12700" cap="flat" cmpd="sng">
            <a:solidFill>
              <a:srgbClr val="BFDBFE">
                <a:alpha val="100000"/>
              </a:srgbClr>
            </a:solidFill>
            <a:prstDash val="solid"/>
            <a:round/>
          </a:ln>
        </p:spPr>
        <p:txBody>
          <a:bodyPr vert="horz" wrap="square" lIns="127000" tIns="0" rIns="127000" bIns="0" rtlCol="0" anchor="ctr" anchorCtr="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范式要求</a:t>
            </a:r>
            <a:endParaRPr lang="en-US" sz="1600"/>
          </a:p>
          <a:p>
            <a:pPr indent="0" algn="ctr">
              <a:lnSpc>
                <a:spcPct val="100000"/>
              </a:lnSpc>
            </a:pPr>
            <a:r>
              <a:rPr lang="en-US" b="0" i="0" u="none" strike="noStrike">
                <a:solidFill>
                  <a:srgbClr val="DBEAFE"/>
                </a:solidFill>
                <a:latin typeface="Noto Sans SC"/>
                <a:ea typeface="Noto Sans SC"/>
                <a:cs typeface="Noto Sans SC"/>
                <a:sym typeface="Noto Sans SC"/>
              </a:rPr>
              <a:t>分解后为 BCNF 或 3NF，消除冗余</a:t>
            </a:r>
          </a:p>
        </p:txBody>
      </p:sp>
      <p:sp>
        <p:nvSpPr>
          <p:cNvPr id="6" name="AutoShape 6"/>
          <p:cNvSpPr/>
          <p:nvPr/>
        </p:nvSpPr>
        <p:spPr>
          <a:xfrm>
            <a:off x="8001000" y="2794000"/>
            <a:ext cx="3302000" cy="753730"/>
          </a:xfrm>
          <a:prstGeom prst="roundRect">
            <a:avLst>
              <a:gd name="adj" fmla="val 0"/>
            </a:avLst>
          </a:prstGeom>
          <a:solidFill>
            <a:srgbClr val="B45309">
              <a:alpha val="100000"/>
            </a:srgbClr>
          </a:solidFill>
          <a:ln w="12700" cap="flat" cmpd="sng">
            <a:solidFill>
              <a:srgbClr val="FED7AA">
                <a:alpha val="100000"/>
              </a:srgbClr>
            </a:solidFill>
            <a:prstDash val="solid"/>
            <a:round/>
          </a:ln>
        </p:spPr>
        <p:txBody>
          <a:bodyPr vert="horz" wrap="square" lIns="127000" tIns="0" rIns="127000" bIns="0" rtlCol="0" anchor="ctr" anchorCtr="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无损分解</a:t>
            </a:r>
            <a:endParaRPr lang="en-US" sz="1600"/>
          </a:p>
          <a:p>
            <a:pPr indent="0" algn="ctr">
              <a:lnSpc>
                <a:spcPct val="100000"/>
              </a:lnSpc>
            </a:pPr>
            <a:r>
              <a:rPr lang="en-US" b="0" i="0" u="none" strike="noStrike">
                <a:solidFill>
                  <a:srgbClr val="FEF3C7"/>
                </a:solidFill>
                <a:latin typeface="Noto Sans SC"/>
                <a:ea typeface="Noto Sans SC"/>
                <a:cs typeface="Noto Sans SC"/>
                <a:sym typeface="Noto Sans SC"/>
              </a:rPr>
              <a:t>自然连接可还原原关系，不丢失信息</a:t>
            </a:r>
          </a:p>
        </p:txBody>
      </p:sp>
      <p:sp>
        <p:nvSpPr>
          <p:cNvPr id="7" name="AutoShape 7"/>
          <p:cNvSpPr/>
          <p:nvPr/>
        </p:nvSpPr>
        <p:spPr>
          <a:xfrm>
            <a:off x="8001000" y="3937000"/>
            <a:ext cx="3302000" cy="753730"/>
          </a:xfrm>
          <a:prstGeom prst="roundRect">
            <a:avLst>
              <a:gd name="adj" fmla="val 0"/>
            </a:avLst>
          </a:prstGeom>
          <a:solidFill>
            <a:srgbClr val="047857">
              <a:alpha val="100000"/>
            </a:srgbClr>
          </a:solidFill>
          <a:ln w="12700" cap="flat" cmpd="sng">
            <a:solidFill>
              <a:srgbClr val="A7F3D0">
                <a:alpha val="100000"/>
              </a:srgbClr>
            </a:solidFill>
            <a:prstDash val="solid"/>
            <a:round/>
          </a:ln>
        </p:spPr>
        <p:txBody>
          <a:bodyPr vert="horz" wrap="square" lIns="127000" tIns="0" rIns="127000" bIns="0" rtlCol="0" anchor="ctr" anchorCtr="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保持依赖</a:t>
            </a:r>
            <a:endParaRPr lang="en-US" sz="1600"/>
          </a:p>
          <a:p>
            <a:pPr indent="0" algn="ctr">
              <a:lnSpc>
                <a:spcPct val="100000"/>
              </a:lnSpc>
            </a:pPr>
            <a:r>
              <a:rPr lang="en-US" b="0" i="0" u="none" strike="noStrike">
                <a:solidFill>
                  <a:srgbClr val="D1FAE5"/>
                </a:solidFill>
                <a:latin typeface="Noto Sans SC"/>
                <a:ea typeface="Noto Sans SC"/>
                <a:cs typeface="Noto Sans SC"/>
                <a:sym typeface="Noto Sans SC"/>
              </a:rPr>
              <a:t>保持原有函数依赖，维护数据一致性</a:t>
            </a:r>
          </a:p>
        </p:txBody>
      </p:sp>
      <p:sp>
        <p:nvSpPr>
          <p:cNvPr id="8" name="AutoShape 8"/>
          <p:cNvSpPr/>
          <p:nvPr/>
        </p:nvSpPr>
        <p:spPr>
          <a:xfrm>
            <a:off x="8001000" y="5080000"/>
            <a:ext cx="3302000" cy="753730"/>
          </a:xfrm>
          <a:prstGeom prst="roundRect">
            <a:avLst>
              <a:gd name="adj" fmla="val 0"/>
            </a:avLst>
          </a:prstGeom>
          <a:solidFill>
            <a:srgbClr val="4B5563">
              <a:alpha val="100000"/>
            </a:srgbClr>
          </a:solidFill>
          <a:ln w="12700" cap="flat" cmpd="sng">
            <a:solidFill>
              <a:srgbClr val="D1D5DB">
                <a:alpha val="100000"/>
              </a:srgbClr>
            </a:solidFill>
            <a:prstDash val="solid"/>
            <a:round/>
          </a:ln>
        </p:spPr>
        <p:txBody>
          <a:bodyPr vert="horz" wrap="square" lIns="127000" tIns="0" rIns="127000" bIns="0" rtlCol="0" anchor="ctr" anchorCtr="0"/>
          <a:lstStyle/>
          <a:p>
            <a:pPr indent="0" algn="ctr">
              <a:lnSpc>
                <a:spcPct val="100000"/>
              </a:lnSpc>
              <a:defRPr/>
            </a:pPr>
            <a:r>
              <a:rPr lang="en-US" sz="1600" b="1" i="0" u="none" strike="noStrike">
                <a:solidFill>
                  <a:srgbClr val="FFFFFF"/>
                </a:solidFill>
                <a:latin typeface="Noto Sans SC"/>
                <a:ea typeface="Noto Sans SC"/>
                <a:cs typeface="Noto Sans SC"/>
                <a:sym typeface="Noto Sans SC"/>
              </a:rPr>
              <a:t>设计策略权衡</a:t>
            </a:r>
            <a:endParaRPr lang="en-US" sz="1600"/>
          </a:p>
          <a:p>
            <a:pPr indent="0" algn="ctr">
              <a:lnSpc>
                <a:spcPct val="100000"/>
              </a:lnSpc>
            </a:pPr>
            <a:r>
              <a:rPr lang="en-US" b="0" i="0" u="none" strike="noStrike">
                <a:solidFill>
                  <a:srgbClr val="E5E7EB"/>
                </a:solidFill>
                <a:latin typeface="Noto Sans SC"/>
                <a:ea typeface="Noto Sans SC"/>
                <a:cs typeface="Noto Sans SC"/>
                <a:sym typeface="Noto Sans SC"/>
              </a:rPr>
              <a:t>优先 BCNF，否则退求 3NF</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711200"/>
          </a:xfrm>
          <a:prstGeom prst="roundRect">
            <a:avLst>
              <a:gd name="adj" fmla="val 0"/>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7.4.7 模式设计方法小结(2)</a:t>
            </a:r>
            <a:endParaRPr lang="en-US" sz="2400" b="1">
              <a:solidFill>
                <a:srgbClr val="FFFFFF"/>
              </a:solidFill>
              <a:latin typeface="Noto Sans SC"/>
              <a:ea typeface="Noto Sans SC"/>
            </a:endParaRPr>
          </a:p>
        </p:txBody>
      </p:sp>
      <p:sp>
        <p:nvSpPr>
          <p:cNvPr id="3" name="AutoShape 3"/>
          <p:cNvSpPr/>
          <p:nvPr/>
        </p:nvSpPr>
        <p:spPr>
          <a:xfrm>
            <a:off x="838200" y="1616110"/>
            <a:ext cx="3599121" cy="3135282"/>
          </a:xfrm>
          <a:prstGeom prst="rect">
            <a:avLst/>
          </a:prstGeom>
          <a:noFill/>
          <a:ln w="12700" cap="flat" cmpd="sng">
            <a:noFill/>
            <a:prstDash val="solid"/>
            <a:round/>
          </a:ln>
        </p:spPr>
        <p:txBody>
          <a:bodyPr vert="horz" wrap="square" lIns="0" tIns="0" rIns="0" bIns="0" rtlCol="0" anchor="ctr" anchorCtr="0">
            <a:spAutoFit/>
          </a:bodyPr>
          <a:lstStyle/>
          <a:p>
            <a:pPr>
              <a:lnSpc>
                <a:spcPct val="133333"/>
              </a:lnSpc>
              <a:spcBef>
                <a:spcPts val="1500"/>
              </a:spcBef>
              <a:defRPr/>
            </a:pPr>
            <a:r>
              <a:rPr lang="en-US" altLang="zh-CN" sz="2000" b="1">
                <a:solidFill>
                  <a:srgbClr val="1F2937"/>
                </a:solidFill>
                <a:latin typeface="Noto Sans SC"/>
                <a:ea typeface="Noto Sans SC"/>
                <a:sym typeface="Noto Sans SC"/>
              </a:rPr>
              <a:t>▍ </a:t>
            </a:r>
            <a:r>
              <a:rPr lang="zh-CN" altLang="en-US" sz="2000" b="1">
                <a:solidFill>
                  <a:srgbClr val="1F2937"/>
                </a:solidFill>
                <a:latin typeface="Noto Sans SC"/>
                <a:ea typeface="Noto Sans SC"/>
                <a:sym typeface="Noto Sans SC"/>
              </a:rPr>
              <a:t>模式</a:t>
            </a:r>
            <a:r>
              <a:rPr lang="en-US" sz="2000" b="1" i="0" u="none" strike="noStrike">
                <a:solidFill>
                  <a:srgbClr val="1F2937"/>
                </a:solidFill>
                <a:latin typeface="Noto Sans SC"/>
                <a:ea typeface="Noto Sans SC"/>
                <a:cs typeface="Noto Sans SC"/>
                <a:sym typeface="Noto Sans SC"/>
              </a:rPr>
              <a:t>分解的广义定义</a:t>
            </a:r>
            <a:br>
              <a:rPr lang="en-US" sz="1800" b="0" i="0" u="none" strike="noStrike">
                <a:solidFill>
                  <a:srgbClr val="1F2329"/>
                </a:solidFill>
                <a:latin typeface="Noto Sans SC"/>
                <a:ea typeface="Noto Sans SC"/>
                <a:cs typeface="Noto Sans SC"/>
                <a:sym typeface="Noto Sans SC"/>
              </a:rPr>
            </a:br>
            <a:r>
              <a:rPr lang="en-US" sz="1600" b="0" i="0" u="none" strike="noStrike">
                <a:solidFill>
                  <a:srgbClr val="4B5563"/>
                </a:solidFill>
                <a:latin typeface="Noto Sans SC"/>
                <a:ea typeface="Noto Sans SC"/>
                <a:cs typeface="Noto Sans SC"/>
                <a:sym typeface="Noto Sans SC"/>
              </a:rPr>
              <a:t>模式分解并非单向的从泛关系模式到数据库模式的拆解，也包含对已有数据库模式进行优化和转换的过程。</a:t>
            </a:r>
            <a:endParaRPr lang="en-US" sz="1200"/>
          </a:p>
          <a:p>
            <a:pPr>
              <a:lnSpc>
                <a:spcPct val="133333"/>
              </a:lnSpc>
              <a:spcBef>
                <a:spcPts val="3000"/>
              </a:spcBef>
            </a:pPr>
            <a:r>
              <a:rPr lang="en-US" altLang="zh-CN" sz="2000" b="1">
                <a:solidFill>
                  <a:srgbClr val="1F2937"/>
                </a:solidFill>
                <a:latin typeface="Noto Sans SC"/>
                <a:ea typeface="Noto Sans SC"/>
                <a:sym typeface="Noto Sans SC"/>
              </a:rPr>
              <a:t>▍</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 </a:t>
            </a:r>
            <a:r>
              <a:rPr lang="en-US" sz="2000" b="1" i="0" u="none" strike="noStrike">
                <a:solidFill>
                  <a:srgbClr val="1F2937"/>
                </a:solidFill>
                <a:latin typeface="Noto Sans SC"/>
                <a:ea typeface="Noto Sans SC"/>
                <a:cs typeface="Noto Sans SC"/>
                <a:sym typeface="Noto Sans SC"/>
              </a:rPr>
              <a:t>核心要求：“等价”分解</a:t>
            </a:r>
            <a:br>
              <a:rPr lang="en-US" sz="1800" b="0" i="0" u="none" strike="noStrike">
                <a:solidFill>
                  <a:srgbClr val="1F2329"/>
                </a:solidFill>
                <a:latin typeface="Noto Sans SC"/>
                <a:ea typeface="Noto Sans SC"/>
                <a:cs typeface="Noto Sans SC"/>
                <a:sym typeface="Noto Sans SC"/>
              </a:rPr>
            </a:br>
            <a:r>
              <a:rPr lang="en-US" sz="1600" b="0" i="0" u="none" strike="noStrike">
                <a:solidFill>
                  <a:srgbClr val="4B5563"/>
                </a:solidFill>
                <a:latin typeface="Noto Sans SC"/>
                <a:ea typeface="Noto Sans SC"/>
                <a:cs typeface="Noto Sans SC"/>
                <a:sym typeface="Noto Sans SC"/>
              </a:rPr>
              <a:t>无论分解还是转换，关键在于保持“等价”，确保分解前后信息不丢失、语义不改变，且数据的依赖关系保持一致。</a:t>
            </a:r>
          </a:p>
        </p:txBody>
      </p:sp>
      <p:sp>
        <p:nvSpPr>
          <p:cNvPr id="4" name="AutoShape 4"/>
          <p:cNvSpPr/>
          <p:nvPr/>
        </p:nvSpPr>
        <p:spPr>
          <a:xfrm>
            <a:off x="8348330" y="3211033"/>
            <a:ext cx="3005469" cy="801432"/>
          </a:xfrm>
          <a:prstGeom prst="roundRect">
            <a:avLst>
              <a:gd name="adj" fmla="val 0"/>
            </a:avLst>
          </a:prstGeom>
          <a:solidFill>
            <a:srgbClr val="F3E8FF">
              <a:alpha val="100000"/>
            </a:srgbClr>
          </a:solidFill>
          <a:ln w="25400" cap="flat" cmpd="sng">
            <a:noFill/>
            <a:prstDash val="solid"/>
            <a:round/>
          </a:ln>
        </p:spPr>
        <p:txBody>
          <a:bodyPr vert="horz" wrap="square" lIns="144000" tIns="72000" rIns="144000" bIns="72000" rtlCol="0" anchor="ctr">
            <a:noAutofit/>
          </a:bodyPr>
          <a:lstStyle/>
          <a:p>
            <a:pPr indent="0" algn="just">
              <a:lnSpc>
                <a:spcPct val="125000"/>
              </a:lnSpc>
              <a:spcBef>
                <a:spcPts val="800"/>
              </a:spcBef>
            </a:pPr>
            <a:r>
              <a:rPr lang="en-US" altLang="zh-CN" sz="1600">
                <a:solidFill>
                  <a:srgbClr val="43144A"/>
                </a:solidFill>
                <a:latin typeface="Noto Sans SC"/>
                <a:ea typeface="Noto Sans SC"/>
                <a:cs typeface="Noto Sans SC"/>
                <a:sym typeface="Noto Sans SC"/>
              </a:rPr>
              <a:t>准确描述现实世界的实体、属性与联系，不丢失信息</a:t>
            </a:r>
            <a:endParaRPr sz="1600"/>
          </a:p>
        </p:txBody>
      </p:sp>
      <p:sp>
        <p:nvSpPr>
          <p:cNvPr id="6" name="AutoShape 6"/>
          <p:cNvSpPr/>
          <p:nvPr/>
        </p:nvSpPr>
        <p:spPr>
          <a:xfrm>
            <a:off x="8348326" y="4179634"/>
            <a:ext cx="3005471" cy="801432"/>
          </a:xfrm>
          <a:prstGeom prst="roundRect">
            <a:avLst>
              <a:gd name="adj" fmla="val 0"/>
            </a:avLst>
          </a:prstGeom>
          <a:solidFill>
            <a:srgbClr val="DBEAFE">
              <a:alpha val="100000"/>
            </a:srgbClr>
          </a:solidFill>
          <a:ln w="25400" cap="flat" cmpd="sng">
            <a:noFill/>
            <a:prstDash val="solid"/>
            <a:round/>
          </a:ln>
        </p:spPr>
        <p:txBody>
          <a:bodyPr vert="horz" wrap="square" lIns="144000" tIns="72000" rIns="144000" bIns="72000" rtlCol="0" anchor="ctr">
            <a:noAutofit/>
          </a:bodyPr>
          <a:lstStyle/>
          <a:p>
            <a:pPr indent="0" algn="just">
              <a:lnSpc>
                <a:spcPct val="125000"/>
              </a:lnSpc>
              <a:spcBef>
                <a:spcPts val="800"/>
              </a:spcBef>
            </a:pPr>
            <a:r>
              <a:rPr lang="en-US" altLang="zh-CN" sz="1600">
                <a:solidFill>
                  <a:srgbClr val="1E3A8A"/>
                </a:solidFill>
                <a:latin typeface="Noto Sans SC"/>
                <a:ea typeface="Noto Sans SC"/>
                <a:cs typeface="Noto Sans SC"/>
                <a:sym typeface="Noto Sans SC"/>
              </a:rPr>
              <a:t>将不同的实体、联系和属性合理分离，避免互相干扰</a:t>
            </a:r>
            <a:endParaRPr/>
          </a:p>
        </p:txBody>
      </p:sp>
      <p:sp>
        <p:nvSpPr>
          <p:cNvPr id="8" name="AutoShape 8"/>
          <p:cNvSpPr/>
          <p:nvPr/>
        </p:nvSpPr>
        <p:spPr>
          <a:xfrm>
            <a:off x="8348322" y="5148235"/>
            <a:ext cx="3005472" cy="801432"/>
          </a:xfrm>
          <a:prstGeom prst="roundRect">
            <a:avLst>
              <a:gd name="adj" fmla="val 0"/>
            </a:avLst>
          </a:prstGeom>
          <a:solidFill>
            <a:srgbClr val="D1FAE5">
              <a:alpha val="100000"/>
            </a:srgbClr>
          </a:solidFill>
          <a:ln w="25400" cap="flat" cmpd="sng">
            <a:noFill/>
            <a:prstDash val="solid"/>
            <a:round/>
          </a:ln>
        </p:spPr>
        <p:txBody>
          <a:bodyPr vert="horz" wrap="square" lIns="144000" tIns="72000" rIns="144000" bIns="72000" rtlCol="0" anchor="ctr">
            <a:noAutofit/>
          </a:bodyPr>
          <a:lstStyle/>
          <a:p>
            <a:pPr indent="0" algn="ctr">
              <a:lnSpc>
                <a:spcPct val="125000"/>
              </a:lnSpc>
              <a:spcBef>
                <a:spcPts val="800"/>
              </a:spcBef>
            </a:pPr>
            <a:r>
              <a:rPr lang="en-US" altLang="zh-CN" sz="1600">
                <a:solidFill>
                  <a:srgbClr val="064E3B"/>
                </a:solidFill>
                <a:latin typeface="Noto Sans SC"/>
                <a:ea typeface="Noto Sans SC"/>
                <a:cs typeface="Noto Sans SC"/>
                <a:sym typeface="Noto Sans SC"/>
              </a:rPr>
              <a:t>在保证表达性和分离性的前提下，尽可能减少数据重复存储</a:t>
            </a:r>
            <a:endParaRPr sz="1600"/>
          </a:p>
        </p:txBody>
      </p:sp>
      <p:sp>
        <p:nvSpPr>
          <p:cNvPr id="11" name="AutoShape 4">
            <a:extLst>
              <a:ext uri="{FF2B5EF4-FFF2-40B4-BE49-F238E27FC236}">
                <a16:creationId xmlns:a16="http://schemas.microsoft.com/office/drawing/2014/main" id="{10CF2536-A450-EB61-F1C2-278FB0A9D9D9}"/>
              </a:ext>
            </a:extLst>
          </p:cNvPr>
          <p:cNvSpPr/>
          <p:nvPr/>
        </p:nvSpPr>
        <p:spPr>
          <a:xfrm>
            <a:off x="6492949" y="3211033"/>
            <a:ext cx="1855383" cy="801432"/>
          </a:xfrm>
          <a:prstGeom prst="roundRect">
            <a:avLst>
              <a:gd name="adj" fmla="val 0"/>
            </a:avLst>
          </a:prstGeom>
          <a:solidFill>
            <a:srgbClr val="F3E8FF">
              <a:alpha val="100000"/>
            </a:srgbClr>
          </a:solidFill>
          <a:ln w="25400" cap="flat" cmpd="sng">
            <a:noFill/>
            <a:prstDash val="solid"/>
            <a:round/>
          </a:ln>
        </p:spPr>
        <p:txBody>
          <a:bodyPr vert="horz" wrap="square" lIns="144000" tIns="72000" rIns="144000" bIns="72000" rtlCol="0" anchor="ctr">
            <a:noAutofit/>
          </a:bodyPr>
          <a:lstStyle/>
          <a:p>
            <a:pPr indent="0" algn="ctr">
              <a:lnSpc>
                <a:spcPct val="125000"/>
              </a:lnSpc>
              <a:defRPr/>
            </a:pPr>
            <a:r>
              <a:rPr lang="en-US" altLang="zh-CN" sz="1800" b="1">
                <a:solidFill>
                  <a:srgbClr val="581C87"/>
                </a:solidFill>
                <a:latin typeface="Noto Sans SC"/>
                <a:ea typeface="Noto Sans SC"/>
                <a:cs typeface="Noto Sans SC"/>
                <a:sym typeface="Noto Sans SC"/>
              </a:rPr>
              <a:t>🎯 表达性</a:t>
            </a:r>
            <a:endParaRPr sz="1600"/>
          </a:p>
        </p:txBody>
      </p:sp>
      <p:sp>
        <p:nvSpPr>
          <p:cNvPr id="12" name="AutoShape 6">
            <a:extLst>
              <a:ext uri="{FF2B5EF4-FFF2-40B4-BE49-F238E27FC236}">
                <a16:creationId xmlns:a16="http://schemas.microsoft.com/office/drawing/2014/main" id="{2BC1F75A-8386-0503-AF5E-99CC9E3AA9D4}"/>
              </a:ext>
            </a:extLst>
          </p:cNvPr>
          <p:cNvSpPr/>
          <p:nvPr/>
        </p:nvSpPr>
        <p:spPr>
          <a:xfrm>
            <a:off x="6492945" y="4179634"/>
            <a:ext cx="1855383" cy="801432"/>
          </a:xfrm>
          <a:prstGeom prst="roundRect">
            <a:avLst>
              <a:gd name="adj" fmla="val 0"/>
            </a:avLst>
          </a:prstGeom>
          <a:solidFill>
            <a:srgbClr val="DBEAFE">
              <a:alpha val="100000"/>
            </a:srgbClr>
          </a:solidFill>
          <a:ln w="25400" cap="flat" cmpd="sng">
            <a:noFill/>
            <a:prstDash val="solid"/>
            <a:round/>
          </a:ln>
        </p:spPr>
        <p:txBody>
          <a:bodyPr vert="horz" wrap="square" lIns="144000" tIns="72000" rIns="144000" bIns="72000" rtlCol="0" anchor="ctr">
            <a:noAutofit/>
          </a:bodyPr>
          <a:lstStyle/>
          <a:p>
            <a:pPr indent="0" algn="ctr">
              <a:lnSpc>
                <a:spcPct val="125000"/>
              </a:lnSpc>
              <a:defRPr/>
            </a:pPr>
            <a:r>
              <a:rPr lang="en-US" altLang="zh-CN" sz="1800" b="1">
                <a:solidFill>
                  <a:srgbClr val="1E40AF"/>
                </a:solidFill>
                <a:latin typeface="Noto Sans SC"/>
                <a:ea typeface="Noto Sans SC"/>
                <a:cs typeface="Noto Sans SC"/>
                <a:sym typeface="Noto Sans SC"/>
              </a:rPr>
              <a:t>🔀 分离性</a:t>
            </a:r>
            <a:endParaRPr/>
          </a:p>
        </p:txBody>
      </p:sp>
      <p:sp>
        <p:nvSpPr>
          <p:cNvPr id="13" name="AutoShape 8">
            <a:extLst>
              <a:ext uri="{FF2B5EF4-FFF2-40B4-BE49-F238E27FC236}">
                <a16:creationId xmlns:a16="http://schemas.microsoft.com/office/drawing/2014/main" id="{C2134684-07E0-0D70-FEB7-E86F6070BF0E}"/>
              </a:ext>
            </a:extLst>
          </p:cNvPr>
          <p:cNvSpPr/>
          <p:nvPr/>
        </p:nvSpPr>
        <p:spPr>
          <a:xfrm>
            <a:off x="6492945" y="5148235"/>
            <a:ext cx="1855379" cy="801432"/>
          </a:xfrm>
          <a:prstGeom prst="roundRect">
            <a:avLst>
              <a:gd name="adj" fmla="val 0"/>
            </a:avLst>
          </a:prstGeom>
          <a:solidFill>
            <a:srgbClr val="D1FAE5">
              <a:alpha val="100000"/>
            </a:srgbClr>
          </a:solidFill>
          <a:ln w="25400" cap="flat" cmpd="sng">
            <a:noFill/>
            <a:prstDash val="solid"/>
            <a:round/>
          </a:ln>
        </p:spPr>
        <p:txBody>
          <a:bodyPr vert="horz" wrap="square" lIns="144000" tIns="72000" rIns="144000" bIns="72000" rtlCol="0" anchor="ctr">
            <a:noAutofit/>
          </a:bodyPr>
          <a:lstStyle/>
          <a:p>
            <a:pPr indent="0" algn="ctr">
              <a:lnSpc>
                <a:spcPct val="125000"/>
              </a:lnSpc>
              <a:defRPr/>
            </a:pPr>
            <a:r>
              <a:rPr lang="en-US" altLang="zh-CN" sz="1800" b="1">
                <a:solidFill>
                  <a:srgbClr val="065F46"/>
                </a:solidFill>
                <a:latin typeface="Noto Sans SC"/>
                <a:ea typeface="Noto Sans SC"/>
                <a:cs typeface="Noto Sans SC"/>
                <a:sym typeface="Noto Sans SC"/>
              </a:rPr>
              <a:t>⚡ 最小冗余性</a:t>
            </a:r>
            <a:endParaRPr sz="1600"/>
          </a:p>
        </p:txBody>
      </p:sp>
      <p:sp>
        <p:nvSpPr>
          <p:cNvPr id="14" name="AutoShape 3">
            <a:extLst>
              <a:ext uri="{FF2B5EF4-FFF2-40B4-BE49-F238E27FC236}">
                <a16:creationId xmlns:a16="http://schemas.microsoft.com/office/drawing/2014/main" id="{7D02DE76-6844-8D72-F19F-351FC77274BB}"/>
              </a:ext>
            </a:extLst>
          </p:cNvPr>
          <p:cNvSpPr/>
          <p:nvPr/>
        </p:nvSpPr>
        <p:spPr>
          <a:xfrm>
            <a:off x="6492946" y="1616110"/>
            <a:ext cx="4860851" cy="1358834"/>
          </a:xfrm>
          <a:prstGeom prst="rect">
            <a:avLst/>
          </a:prstGeom>
          <a:noFill/>
          <a:ln w="12700" cap="flat" cmpd="sng">
            <a:noFill/>
            <a:prstDash val="solid"/>
            <a:round/>
          </a:ln>
        </p:spPr>
        <p:txBody>
          <a:bodyPr vert="horz" wrap="square" lIns="0" tIns="0" rIns="0" bIns="0" rtlCol="0" anchor="ctr" anchorCtr="0">
            <a:spAutoFit/>
          </a:bodyPr>
          <a:lstStyle/>
          <a:p>
            <a:pPr>
              <a:lnSpc>
                <a:spcPct val="133333"/>
              </a:lnSpc>
              <a:spcBef>
                <a:spcPts val="3000"/>
              </a:spcBef>
            </a:pPr>
            <a:r>
              <a:rPr lang="en-US" altLang="zh-CN" sz="2000" b="1">
                <a:solidFill>
                  <a:srgbClr val="1F2937"/>
                </a:solidFill>
                <a:latin typeface="Noto Sans SC"/>
                <a:ea typeface="Noto Sans SC"/>
                <a:sym typeface="Noto Sans SC"/>
              </a:rPr>
              <a:t>▍ </a:t>
            </a:r>
            <a:r>
              <a:rPr lang="en-US" sz="2000" b="1" i="0" u="none" strike="noStrike">
                <a:solidFill>
                  <a:srgbClr val="1F2937"/>
                </a:solidFill>
                <a:latin typeface="Noto Sans SC"/>
                <a:ea typeface="Noto Sans SC"/>
                <a:cs typeface="Noto Sans SC"/>
                <a:sym typeface="Noto Sans SC"/>
              </a:rPr>
              <a:t>评价模式设计的核心维度</a:t>
            </a:r>
            <a:br>
              <a:rPr lang="en-US" sz="1800" b="0" i="0" u="none" strike="noStrike">
                <a:solidFill>
                  <a:srgbClr val="1F2329"/>
                </a:solidFill>
                <a:latin typeface="Noto Sans SC"/>
                <a:ea typeface="Noto Sans SC"/>
                <a:cs typeface="Noto Sans SC"/>
                <a:sym typeface="Noto Sans SC"/>
              </a:rPr>
            </a:br>
            <a:r>
              <a:rPr lang="en-US" sz="1600" b="0" i="0" u="none" strike="noStrike">
                <a:solidFill>
                  <a:srgbClr val="4B5563"/>
                </a:solidFill>
                <a:latin typeface="Noto Sans SC"/>
                <a:ea typeface="Noto Sans SC"/>
                <a:cs typeface="Noto Sans SC"/>
                <a:sym typeface="Noto Sans SC"/>
              </a:rPr>
              <a:t>一个优秀的模式设计方法，应当在</a:t>
            </a:r>
            <a:r>
              <a:rPr lang="zh-CN" altLang="en-US" sz="1600" b="0" i="0" u="none" strike="noStrike">
                <a:solidFill>
                  <a:srgbClr val="4B5563"/>
                </a:solidFill>
                <a:latin typeface="Noto Sans SC"/>
                <a:ea typeface="Noto Sans SC"/>
                <a:cs typeface="Noto Sans SC"/>
                <a:sym typeface="Noto Sans SC"/>
              </a:rPr>
              <a:t>表达性、分离性、最小冗余性这</a:t>
            </a:r>
            <a:r>
              <a:rPr lang="en-US" sz="1600" b="0" i="0" u="none" strike="noStrike">
                <a:solidFill>
                  <a:srgbClr val="4B5563"/>
                </a:solidFill>
                <a:latin typeface="Noto Sans SC"/>
                <a:ea typeface="Noto Sans SC"/>
                <a:cs typeface="Noto Sans SC"/>
                <a:sym typeface="Noto Sans SC"/>
              </a:rPr>
              <a:t>三个维度上达到平衡，以构建稳定、高效、易于维护的数据库结构</a:t>
            </a:r>
            <a:r>
              <a:rPr lang="zh-CN" altLang="en-US" sz="1600" b="0" i="0" u="none" strike="noStrike">
                <a:solidFill>
                  <a:srgbClr val="4B5563"/>
                </a:solidFill>
                <a:latin typeface="Noto Sans SC"/>
                <a:ea typeface="Noto Sans SC"/>
                <a:cs typeface="Noto Sans SC"/>
                <a:sym typeface="Noto Sans SC"/>
              </a:rPr>
              <a:t>。</a:t>
            </a:r>
            <a:endParaRPr lang="en-US" sz="1600" b="0" i="0" u="none" strike="noStrike">
              <a:solidFill>
                <a:srgbClr val="4B5563"/>
              </a:solidFill>
              <a:latin typeface="Noto Sans SC"/>
              <a:ea typeface="Noto Sans SC"/>
              <a:cs typeface="Noto Sans SC"/>
              <a:sym typeface="Noto Sans SC"/>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en-US" sz="2800">
                <a:solidFill>
                  <a:srgbClr val="FFFFFF"/>
                </a:solidFill>
                <a:latin typeface="Noto Sans SC Black" panose="020B0200000000000000" pitchFamily="34" charset="-122"/>
                <a:ea typeface="Noto Sans SC Black" panose="020B0200000000000000" pitchFamily="34" charset="-122"/>
                <a:sym typeface="Noto Sans SC"/>
              </a:rPr>
              <a:t>7.5 模式的进一步规范化处理</a:t>
            </a:r>
            <a:endParaRPr lang="en-US" sz="2800">
              <a:solidFill>
                <a:srgbClr val="FFFFFF"/>
              </a:solidFill>
              <a:latin typeface="Noto Sans SC Black" panose="020B0200000000000000" pitchFamily="34" charset="-122"/>
              <a:ea typeface="Noto Sans SC Black" panose="020B0200000000000000" pitchFamily="34" charset="-122"/>
            </a:endParaRPr>
          </a:p>
        </p:txBody>
      </p:sp>
      <p:sp>
        <p:nvSpPr>
          <p:cNvPr id="3" name="AutoShape 3"/>
          <p:cNvSpPr/>
          <p:nvPr/>
        </p:nvSpPr>
        <p:spPr>
          <a:xfrm>
            <a:off x="838200" y="1397000"/>
            <a:ext cx="4662377" cy="5064207"/>
          </a:xfrm>
          <a:prstGeom prst="rect">
            <a:avLst/>
          </a:prstGeom>
          <a:noFill/>
          <a:ln w="12700" cap="flat" cmpd="sng">
            <a:noFill/>
            <a:prstDash val="solid"/>
            <a:round/>
          </a:ln>
        </p:spPr>
        <p:txBody>
          <a:bodyPr vert="horz" wrap="square" lIns="0" tIns="0" rIns="0" bIns="0" rtlCol="0" anchor="t" anchorCtr="0">
            <a:spAutoFit/>
          </a:bodyPr>
          <a:lstStyle/>
          <a:p>
            <a:pPr algn="l">
              <a:lnSpc>
                <a:spcPct val="133333"/>
              </a:lnSpc>
              <a:buClr>
                <a:srgbClr val="333333"/>
              </a:buClr>
              <a:defRPr/>
            </a:pPr>
            <a:r>
              <a:rPr lang="en-US" sz="1800" b="1" i="0" u="none" strike="noStrike">
                <a:solidFill>
                  <a:srgbClr val="333333"/>
                </a:solidFill>
                <a:latin typeface="Noto Sans SC"/>
                <a:ea typeface="Noto Sans SC"/>
                <a:cs typeface="Noto Sans SC"/>
                <a:sym typeface="Noto Sans SC"/>
              </a:rPr>
              <a:t>7.5.1 多值依赖的定义</a:t>
            </a:r>
          </a:p>
          <a:p>
            <a:pPr marL="288000">
              <a:lnSpc>
                <a:spcPct val="133333"/>
              </a:lnSpc>
              <a:buClr>
                <a:srgbClr val="333333"/>
              </a:buClr>
              <a:defRPr/>
            </a:pPr>
            <a:r>
              <a:rPr lang="en-US" sz="1600" b="0" i="0" u="none" strike="noStrike">
                <a:solidFill>
                  <a:srgbClr val="666666"/>
                </a:solidFill>
                <a:latin typeface="Noto Sans SC"/>
                <a:ea typeface="Noto Sans SC"/>
                <a:cs typeface="Noto Sans SC"/>
                <a:sym typeface="Noto Sans SC"/>
              </a:rPr>
              <a:t>多值依赖(MVD)的形式化描述与直观意义，解决函数依赖无法描述的属性独立问题。</a:t>
            </a:r>
            <a:endParaRPr lang="en-US" sz="1600"/>
          </a:p>
          <a:p>
            <a:pPr algn="l">
              <a:lnSpc>
                <a:spcPct val="133333"/>
              </a:lnSpc>
              <a:spcBef>
                <a:spcPts val="600"/>
              </a:spcBef>
              <a:buClr>
                <a:srgbClr val="333333"/>
              </a:buClr>
            </a:pPr>
            <a:r>
              <a:rPr lang="en-US" sz="1800" b="1" i="0" u="none" strike="noStrike">
                <a:solidFill>
                  <a:srgbClr val="333333"/>
                </a:solidFill>
                <a:latin typeface="Noto Sans SC"/>
                <a:ea typeface="Noto Sans SC"/>
                <a:cs typeface="Noto Sans SC"/>
                <a:sym typeface="Noto Sans SC"/>
              </a:rPr>
              <a:t>7.5.2 关于FD和MVD的推理规则集</a:t>
            </a:r>
          </a:p>
          <a:p>
            <a:pPr marL="288000">
              <a:lnSpc>
                <a:spcPct val="133333"/>
              </a:lnSpc>
              <a:buClr>
                <a:srgbClr val="333333"/>
              </a:buClr>
              <a:defRPr/>
            </a:pPr>
            <a:r>
              <a:rPr lang="en-US" sz="1600">
                <a:solidFill>
                  <a:srgbClr val="666666"/>
                </a:solidFill>
                <a:latin typeface="Noto Sans SC"/>
                <a:ea typeface="Noto Sans SC"/>
                <a:sym typeface="Noto Sans SC"/>
              </a:rPr>
              <a:t>一套既包含函数依赖也包含多值依赖的完整有效推理规则系统。</a:t>
            </a:r>
          </a:p>
          <a:p>
            <a:pPr>
              <a:lnSpc>
                <a:spcPct val="133333"/>
              </a:lnSpc>
              <a:spcBef>
                <a:spcPts val="600"/>
              </a:spcBef>
              <a:buClr>
                <a:srgbClr val="333333"/>
              </a:buClr>
            </a:pPr>
            <a:r>
              <a:rPr lang="en-US" sz="1800" b="1">
                <a:solidFill>
                  <a:srgbClr val="333333"/>
                </a:solidFill>
                <a:latin typeface="Noto Sans SC"/>
                <a:ea typeface="Noto Sans SC"/>
                <a:sym typeface="Noto Sans SC"/>
              </a:rPr>
              <a:t>7.5.3 第四范式 (4NF)</a:t>
            </a:r>
          </a:p>
          <a:p>
            <a:pPr marL="288000">
              <a:lnSpc>
                <a:spcPct val="133333"/>
              </a:lnSpc>
              <a:buClr>
                <a:srgbClr val="333333"/>
              </a:buClr>
              <a:defRPr/>
            </a:pPr>
            <a:r>
              <a:rPr lang="en-US" sz="1600">
                <a:solidFill>
                  <a:srgbClr val="666666"/>
                </a:solidFill>
                <a:latin typeface="Noto Sans SC"/>
                <a:ea typeface="Noto Sans SC"/>
                <a:sym typeface="Noto Sans SC"/>
              </a:rPr>
              <a:t>基于多值依赖的范式定义，消除非平凡且非函数依赖的多值依赖，进一步降低数据冗余。</a:t>
            </a:r>
          </a:p>
          <a:p>
            <a:pPr>
              <a:lnSpc>
                <a:spcPct val="133333"/>
              </a:lnSpc>
              <a:spcBef>
                <a:spcPts val="600"/>
              </a:spcBef>
              <a:buClr>
                <a:srgbClr val="333333"/>
              </a:buClr>
            </a:pPr>
            <a:r>
              <a:rPr lang="en-US" sz="1800" b="1">
                <a:solidFill>
                  <a:srgbClr val="333333"/>
                </a:solidFill>
                <a:latin typeface="Noto Sans SC"/>
                <a:ea typeface="Noto Sans SC"/>
                <a:sym typeface="Noto Sans SC"/>
              </a:rPr>
              <a:t>7.5.4 嵌入多值依赖 (Embedded MVD)</a:t>
            </a:r>
          </a:p>
          <a:p>
            <a:pPr marL="288000">
              <a:lnSpc>
                <a:spcPct val="133333"/>
              </a:lnSpc>
              <a:buClr>
                <a:srgbClr val="333333"/>
              </a:buClr>
              <a:defRPr/>
            </a:pPr>
            <a:r>
              <a:rPr lang="en-US" sz="1600">
                <a:solidFill>
                  <a:srgbClr val="666666"/>
                </a:solidFill>
                <a:latin typeface="Noto Sans SC"/>
                <a:ea typeface="Noto Sans SC"/>
                <a:sym typeface="Noto Sans SC"/>
              </a:rPr>
              <a:t>关系模式在投影下产生的多值依赖及处理方法。</a:t>
            </a:r>
          </a:p>
          <a:p>
            <a:pPr>
              <a:lnSpc>
                <a:spcPct val="133333"/>
              </a:lnSpc>
              <a:spcBef>
                <a:spcPts val="600"/>
              </a:spcBef>
              <a:buClr>
                <a:srgbClr val="333333"/>
              </a:buClr>
            </a:pPr>
            <a:r>
              <a:rPr lang="en-US" sz="1800" b="1">
                <a:solidFill>
                  <a:srgbClr val="333333"/>
                </a:solidFill>
                <a:latin typeface="Noto Sans SC"/>
                <a:ea typeface="Noto Sans SC"/>
                <a:sym typeface="Noto Sans SC"/>
              </a:rPr>
              <a:t>7.5.5 连接依赖和第五范式 (5NF)</a:t>
            </a:r>
          </a:p>
          <a:p>
            <a:pPr marL="288000">
              <a:lnSpc>
                <a:spcPct val="133333"/>
              </a:lnSpc>
              <a:buClr>
                <a:srgbClr val="333333"/>
              </a:buClr>
              <a:defRPr/>
            </a:pPr>
            <a:r>
              <a:rPr lang="en-US" sz="1600">
                <a:solidFill>
                  <a:srgbClr val="666666"/>
                </a:solidFill>
                <a:latin typeface="Noto Sans SC"/>
                <a:ea typeface="Noto Sans SC"/>
                <a:sym typeface="Noto Sans SC"/>
              </a:rPr>
              <a:t>引入连接依赖概念，定义消除了所有非平凡连接依赖的第五范式。</a:t>
            </a:r>
          </a:p>
        </p:txBody>
      </p:sp>
      <p:sp>
        <p:nvSpPr>
          <p:cNvPr id="4" name="AutoShape 4"/>
          <p:cNvSpPr/>
          <p:nvPr/>
        </p:nvSpPr>
        <p:spPr>
          <a:xfrm>
            <a:off x="7258493" y="1396999"/>
            <a:ext cx="666307" cy="5064207"/>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核心</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知识点</a:t>
            </a:r>
            <a:endParaRPr lang="en-US" sz="1600" b="1">
              <a:solidFill>
                <a:srgbClr val="FFFFFF"/>
              </a:solidFill>
              <a:latin typeface="Noto Sans SC"/>
              <a:ea typeface="Noto Sans SC"/>
            </a:endParaRPr>
          </a:p>
        </p:txBody>
      </p:sp>
      <p:sp>
        <p:nvSpPr>
          <p:cNvPr id="5" name="AutoShape 5"/>
          <p:cNvSpPr/>
          <p:nvPr/>
        </p:nvSpPr>
        <p:spPr>
          <a:xfrm>
            <a:off x="7924800" y="1396999"/>
            <a:ext cx="3429000" cy="762000"/>
          </a:xfrm>
          <a:prstGeom prst="roundRect">
            <a:avLst>
              <a:gd name="adj" fmla="val 0"/>
            </a:avLst>
          </a:prstGeom>
          <a:solidFill>
            <a:srgbClr val="F5F5F5">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i="0" u="none" strike="noStrike">
                <a:solidFill>
                  <a:srgbClr val="333333"/>
                </a:solidFill>
                <a:latin typeface="Noto Sans SC"/>
                <a:ea typeface="Noto Sans SC"/>
                <a:cs typeface="Noto Sans SC"/>
                <a:sym typeface="Noto Sans SC"/>
              </a:rPr>
              <a:t>多值依赖 (MVD)</a:t>
            </a:r>
            <a:endParaRPr lang="en-US" sz="1600"/>
          </a:p>
        </p:txBody>
      </p:sp>
      <p:sp>
        <p:nvSpPr>
          <p:cNvPr id="6" name="AutoShape 6"/>
          <p:cNvSpPr/>
          <p:nvPr/>
        </p:nvSpPr>
        <p:spPr>
          <a:xfrm>
            <a:off x="7924800" y="2472551"/>
            <a:ext cx="3429000" cy="762000"/>
          </a:xfrm>
          <a:prstGeom prst="roundRect">
            <a:avLst>
              <a:gd name="adj" fmla="val 0"/>
            </a:avLst>
          </a:prstGeom>
          <a:solidFill>
            <a:srgbClr val="F5F5F5">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i="0" u="none" strike="noStrike">
                <a:solidFill>
                  <a:srgbClr val="333333"/>
                </a:solidFill>
                <a:latin typeface="Noto Sans SC"/>
                <a:ea typeface="Noto Sans SC"/>
                <a:cs typeface="Noto Sans SC"/>
                <a:sym typeface="Noto Sans SC"/>
              </a:rPr>
              <a:t>FD &amp; MVD 推理规则</a:t>
            </a:r>
            <a:endParaRPr lang="en-US" sz="1600"/>
          </a:p>
        </p:txBody>
      </p:sp>
      <p:sp>
        <p:nvSpPr>
          <p:cNvPr id="7" name="AutoShape 7"/>
          <p:cNvSpPr/>
          <p:nvPr/>
        </p:nvSpPr>
        <p:spPr>
          <a:xfrm>
            <a:off x="7924800" y="3548103"/>
            <a:ext cx="3429000" cy="762000"/>
          </a:xfrm>
          <a:prstGeom prst="roundRect">
            <a:avLst>
              <a:gd name="adj" fmla="val 0"/>
            </a:avLst>
          </a:prstGeom>
          <a:solidFill>
            <a:srgbClr val="E6DCF0">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i="0" u="none" strike="noStrike">
                <a:solidFill>
                  <a:srgbClr val="7030A0"/>
                </a:solidFill>
                <a:latin typeface="Noto Sans SC"/>
                <a:ea typeface="Noto Sans SC"/>
                <a:cs typeface="Noto Sans SC"/>
                <a:sym typeface="Noto Sans SC"/>
              </a:rPr>
              <a:t>第四范式 (4NF)</a:t>
            </a:r>
            <a:endParaRPr lang="en-US" sz="1600"/>
          </a:p>
        </p:txBody>
      </p:sp>
      <p:sp>
        <p:nvSpPr>
          <p:cNvPr id="8" name="AutoShape 8"/>
          <p:cNvSpPr/>
          <p:nvPr/>
        </p:nvSpPr>
        <p:spPr>
          <a:xfrm>
            <a:off x="7924800" y="4623655"/>
            <a:ext cx="3429000" cy="762000"/>
          </a:xfrm>
          <a:prstGeom prst="roundRect">
            <a:avLst>
              <a:gd name="adj" fmla="val 0"/>
            </a:avLst>
          </a:prstGeom>
          <a:solidFill>
            <a:srgbClr val="F5F5F5">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i="0" u="none" strike="noStrike">
                <a:solidFill>
                  <a:srgbClr val="333333"/>
                </a:solidFill>
                <a:latin typeface="Noto Sans SC"/>
                <a:ea typeface="Noto Sans SC"/>
                <a:cs typeface="Noto Sans SC"/>
                <a:sym typeface="Noto Sans SC"/>
              </a:rPr>
              <a:t>嵌入多值依赖</a:t>
            </a:r>
            <a:endParaRPr lang="en-US" sz="1600"/>
          </a:p>
        </p:txBody>
      </p:sp>
      <p:sp>
        <p:nvSpPr>
          <p:cNvPr id="9" name="AutoShape 9"/>
          <p:cNvSpPr/>
          <p:nvPr/>
        </p:nvSpPr>
        <p:spPr>
          <a:xfrm>
            <a:off x="7924800" y="5699206"/>
            <a:ext cx="3429000" cy="762000"/>
          </a:xfrm>
          <a:prstGeom prst="roundRect">
            <a:avLst>
              <a:gd name="adj" fmla="val 0"/>
            </a:avLst>
          </a:prstGeom>
          <a:solidFill>
            <a:srgbClr val="F5F5F5">
              <a:alpha val="10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600" i="0" u="none" strike="noStrike">
                <a:solidFill>
                  <a:srgbClr val="333333"/>
                </a:solidFill>
                <a:latin typeface="Noto Sans SC"/>
                <a:ea typeface="Noto Sans SC"/>
                <a:cs typeface="Noto Sans SC"/>
                <a:sym typeface="Noto Sans SC"/>
              </a:rPr>
              <a:t>连接依赖 &amp; 第五范式 (5NF)</a:t>
            </a:r>
            <a:endParaRPr lang="en-US" sz="16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7.5 模式的进一步规范化处理（续）</a:t>
            </a:r>
            <a:endParaRPr lang="en-US" sz="2400" b="1">
              <a:solidFill>
                <a:srgbClr val="FFFFFF"/>
              </a:solidFill>
              <a:latin typeface="Noto Sans SC"/>
              <a:ea typeface="Noto Sans SC"/>
            </a:endParaRPr>
          </a:p>
        </p:txBody>
      </p:sp>
      <p:sp>
        <p:nvSpPr>
          <p:cNvPr id="3" name="AutoShape 3"/>
          <p:cNvSpPr/>
          <p:nvPr/>
        </p:nvSpPr>
        <p:spPr>
          <a:xfrm>
            <a:off x="838200" y="1435100"/>
            <a:ext cx="4159102" cy="4434740"/>
          </a:xfrm>
          <a:prstGeom prst="rect">
            <a:avLst/>
          </a:prstGeom>
          <a:noFill/>
          <a:ln w="12700" cap="flat" cmpd="sng">
            <a:noFill/>
            <a:prstDash val="solid"/>
            <a:round/>
          </a:ln>
        </p:spPr>
        <p:txBody>
          <a:bodyPr vert="horz" wrap="square" lIns="0" tIns="0" rIns="0" bIns="0" rtlCol="0" anchor="t" anchorCtr="0">
            <a:spAutoFit/>
          </a:bodyPr>
          <a:lstStyle/>
          <a:p>
            <a:pPr indent="0" algn="l">
              <a:lnSpc>
                <a:spcPct val="125000"/>
              </a:lnSpc>
              <a:defRPr/>
            </a:pPr>
            <a:r>
              <a:rPr lang="en-US" sz="2000" b="1" i="0" u="none" strike="noStrike">
                <a:solidFill>
                  <a:srgbClr val="1F2329"/>
                </a:solidFill>
                <a:latin typeface="Noto Sans SC"/>
                <a:ea typeface="Noto Sans SC"/>
                <a:cs typeface="Noto Sans SC"/>
                <a:sym typeface="Noto Sans SC"/>
              </a:rPr>
              <a:t>▍函数依赖 (FD) 的价值</a:t>
            </a:r>
            <a:endParaRPr lang="en-US" sz="1200"/>
          </a:p>
          <a:p>
            <a:pPr indent="0" algn="l">
              <a:lnSpc>
                <a:spcPct val="125000"/>
              </a:lnSpc>
              <a:spcBef>
                <a:spcPts val="600"/>
              </a:spcBef>
              <a:spcAft>
                <a:spcPts val="600"/>
              </a:spcAft>
            </a:pPr>
            <a:r>
              <a:rPr lang="en-US" sz="1600" b="0" i="0" u="none" strike="noStrike">
                <a:solidFill>
                  <a:srgbClr val="505050"/>
                </a:solidFill>
                <a:latin typeface="Noto Sans SC"/>
                <a:ea typeface="Noto Sans SC"/>
                <a:cs typeface="Noto Sans SC"/>
                <a:sym typeface="Noto Sans SC"/>
              </a:rPr>
              <a:t>前面提到的函数依赖（FD）揭示了数据属性间的确定性联系。通过对FD的观察、分析与规范化分解，可以有效消除关系模式中存在的数据冗余、插入异常和删除异常等问题。</a:t>
            </a:r>
          </a:p>
          <a:p>
            <a:pPr indent="0" algn="l">
              <a:lnSpc>
                <a:spcPct val="125000"/>
              </a:lnSpc>
              <a:spcBef>
                <a:spcPts val="2400"/>
              </a:spcBef>
            </a:pPr>
            <a:r>
              <a:rPr lang="en-US" sz="2000" b="1" i="0" u="none" strike="noStrike">
                <a:solidFill>
                  <a:srgbClr val="1F2329"/>
                </a:solidFill>
                <a:latin typeface="Noto Sans SC"/>
                <a:ea typeface="Noto Sans SC"/>
                <a:cs typeface="Noto Sans SC"/>
                <a:sym typeface="Noto Sans SC"/>
              </a:rPr>
              <a:t>▍FD的局限性与扩展依赖</a:t>
            </a:r>
          </a:p>
          <a:p>
            <a:pPr indent="0" algn="l">
              <a:lnSpc>
                <a:spcPct val="125000"/>
              </a:lnSpc>
              <a:spcBef>
                <a:spcPts val="600"/>
              </a:spcBef>
            </a:pPr>
            <a:r>
              <a:rPr lang="en-US" sz="1600" b="0" i="0" u="none" strike="noStrike">
                <a:solidFill>
                  <a:srgbClr val="505050"/>
                </a:solidFill>
                <a:latin typeface="Noto Sans SC"/>
                <a:ea typeface="Noto Sans SC"/>
                <a:cs typeface="Noto Sans SC"/>
                <a:sym typeface="Noto Sans SC"/>
              </a:rPr>
              <a:t>FD不足以刻画现实世界中所有的数据联系。对于一个属性决定一组独立多值的情况，需要引入</a:t>
            </a:r>
            <a:r>
              <a:rPr lang="en-US" sz="1600" b="1" i="0" u="none" strike="noStrike">
                <a:solidFill>
                  <a:srgbClr val="7030A0"/>
                </a:solidFill>
                <a:latin typeface="Noto Sans SC"/>
                <a:ea typeface="Noto Sans SC"/>
                <a:cs typeface="Noto Sans SC"/>
                <a:sym typeface="Noto Sans SC"/>
              </a:rPr>
              <a:t>多值依赖 (MVD)</a:t>
            </a:r>
            <a:r>
              <a:rPr lang="en-US" sz="1600" b="0" i="0" u="none" strike="noStrike">
                <a:solidFill>
                  <a:srgbClr val="505050"/>
                </a:solidFill>
                <a:latin typeface="Noto Sans SC"/>
                <a:ea typeface="Noto Sans SC"/>
                <a:cs typeface="Noto Sans SC"/>
                <a:sym typeface="Noto Sans SC"/>
              </a:rPr>
              <a:t>来描述；对于更复杂的分量间连接关系，则需要</a:t>
            </a:r>
            <a:r>
              <a:rPr lang="en-US" sz="1600" b="1" i="0" u="none" strike="noStrike">
                <a:solidFill>
                  <a:srgbClr val="7030A0"/>
                </a:solidFill>
                <a:latin typeface="Noto Sans SC"/>
                <a:ea typeface="Noto Sans SC"/>
                <a:cs typeface="Noto Sans SC"/>
                <a:sym typeface="Noto Sans SC"/>
              </a:rPr>
              <a:t>连接依赖 (JD)</a:t>
            </a:r>
            <a:r>
              <a:rPr lang="en-US" sz="1600" b="0" i="0" u="none" strike="noStrike">
                <a:solidFill>
                  <a:srgbClr val="505050"/>
                </a:solidFill>
                <a:latin typeface="Noto Sans SC"/>
                <a:ea typeface="Noto Sans SC"/>
                <a:cs typeface="Noto Sans SC"/>
                <a:sym typeface="Noto Sans SC"/>
              </a:rPr>
              <a:t>。</a:t>
            </a:r>
          </a:p>
          <a:p>
            <a:pPr indent="0" algn="l">
              <a:lnSpc>
                <a:spcPct val="125000"/>
              </a:lnSpc>
              <a:spcBef>
                <a:spcPts val="600"/>
              </a:spcBef>
            </a:pPr>
            <a:r>
              <a:rPr lang="en-US" sz="1600" b="0" i="0" u="none" strike="noStrike">
                <a:solidFill>
                  <a:srgbClr val="505050"/>
                </a:solidFill>
                <a:latin typeface="Noto Sans SC"/>
                <a:ea typeface="Noto Sans SC"/>
                <a:cs typeface="Noto Sans SC"/>
                <a:sym typeface="Noto Sans SC"/>
              </a:rPr>
              <a:t>本节重点介绍这两种依赖及其对应的范式标准（4NF与5NF）。</a:t>
            </a:r>
          </a:p>
        </p:txBody>
      </p:sp>
      <p:sp>
        <p:nvSpPr>
          <p:cNvPr id="4" name="AutoShape 4"/>
          <p:cNvSpPr/>
          <p:nvPr/>
        </p:nvSpPr>
        <p:spPr>
          <a:xfrm>
            <a:off x="7483845" y="1435100"/>
            <a:ext cx="656855" cy="43434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核心</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概念</a:t>
            </a:r>
            <a:endParaRPr lang="en-US" sz="1600" b="1">
              <a:solidFill>
                <a:srgbClr val="FFFFFF"/>
              </a:solidFill>
              <a:latin typeface="Noto Sans SC"/>
              <a:ea typeface="Noto Sans SC"/>
            </a:endParaRPr>
          </a:p>
        </p:txBody>
      </p:sp>
      <p:sp>
        <p:nvSpPr>
          <p:cNvPr id="5" name="AutoShape 5"/>
          <p:cNvSpPr/>
          <p:nvPr/>
        </p:nvSpPr>
        <p:spPr>
          <a:xfrm>
            <a:off x="8140700" y="1435100"/>
            <a:ext cx="3213100" cy="6477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88900" tIns="50800" rIns="88900" bIns="50800" rtlCol="0" anchor="ctr" anchorCtr="0"/>
          <a:lstStyle/>
          <a:p>
            <a:pPr indent="0" algn="ctr">
              <a:lnSpc>
                <a:spcPct val="100000"/>
              </a:lnSpc>
              <a:defRPr/>
            </a:pPr>
            <a:r>
              <a:rPr lang="en-US" sz="1600" b="0" i="0" u="none" strike="noStrike">
                <a:solidFill>
                  <a:srgbClr val="FFFFFF"/>
                </a:solidFill>
                <a:latin typeface="Noto Sans SC"/>
                <a:ea typeface="Noto Sans SC"/>
                <a:cs typeface="Noto Sans SC"/>
                <a:sym typeface="Noto Sans SC"/>
              </a:rPr>
              <a:t>函数依赖 (FD)</a:t>
            </a:r>
            <a:endParaRPr lang="en-US" sz="1600"/>
          </a:p>
        </p:txBody>
      </p:sp>
      <p:sp>
        <p:nvSpPr>
          <p:cNvPr id="6" name="AutoShape 6"/>
          <p:cNvSpPr/>
          <p:nvPr/>
        </p:nvSpPr>
        <p:spPr>
          <a:xfrm>
            <a:off x="8140700" y="2362200"/>
            <a:ext cx="3213100" cy="6477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88900" tIns="50800" rIns="88900" bIns="50800" rtlCol="0" anchor="ctr" anchorCtr="0"/>
          <a:lstStyle/>
          <a:p>
            <a:pPr indent="0" algn="ctr">
              <a:lnSpc>
                <a:spcPct val="100000"/>
              </a:lnSpc>
              <a:defRPr/>
            </a:pPr>
            <a:r>
              <a:rPr lang="en-US" sz="1600" b="0" i="0" u="none" strike="noStrike">
                <a:solidFill>
                  <a:srgbClr val="FFFFFF"/>
                </a:solidFill>
                <a:latin typeface="Noto Sans SC"/>
                <a:ea typeface="Noto Sans SC"/>
                <a:cs typeface="Noto Sans SC"/>
                <a:sym typeface="Noto Sans SC"/>
              </a:rPr>
              <a:t>消除数据冗余</a:t>
            </a:r>
            <a:endParaRPr lang="en-US" sz="1600"/>
          </a:p>
        </p:txBody>
      </p:sp>
      <p:sp>
        <p:nvSpPr>
          <p:cNvPr id="7" name="AutoShape 7"/>
          <p:cNvSpPr/>
          <p:nvPr/>
        </p:nvSpPr>
        <p:spPr>
          <a:xfrm>
            <a:off x="8140700" y="3302000"/>
            <a:ext cx="3213100" cy="6477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88900" tIns="50800" rIns="88900" bIns="50800" rtlCol="0" anchor="ctr" anchorCtr="0"/>
          <a:lstStyle/>
          <a:p>
            <a:pPr indent="0" algn="ctr">
              <a:lnSpc>
                <a:spcPct val="100000"/>
              </a:lnSpc>
              <a:defRPr/>
            </a:pPr>
            <a:r>
              <a:rPr lang="en-US" sz="1600" b="0" i="0" u="none" strike="noStrike">
                <a:solidFill>
                  <a:srgbClr val="FFFFFF"/>
                </a:solidFill>
                <a:latin typeface="Noto Sans SC"/>
                <a:ea typeface="Noto Sans SC"/>
                <a:cs typeface="Noto Sans SC"/>
                <a:sym typeface="Noto Sans SC"/>
              </a:rPr>
              <a:t>多值依赖 (MVD)</a:t>
            </a:r>
            <a:endParaRPr lang="en-US" sz="1600"/>
          </a:p>
        </p:txBody>
      </p:sp>
      <p:sp>
        <p:nvSpPr>
          <p:cNvPr id="8" name="AutoShape 8"/>
          <p:cNvSpPr/>
          <p:nvPr/>
        </p:nvSpPr>
        <p:spPr>
          <a:xfrm>
            <a:off x="8140700" y="4241800"/>
            <a:ext cx="3213100" cy="6477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88900" tIns="50800" rIns="88900" bIns="50800" rtlCol="0" anchor="ctr" anchorCtr="0"/>
          <a:lstStyle/>
          <a:p>
            <a:pPr indent="0" algn="ctr">
              <a:lnSpc>
                <a:spcPct val="100000"/>
              </a:lnSpc>
              <a:defRPr/>
            </a:pPr>
            <a:r>
              <a:rPr lang="en-US" sz="1600" b="0" i="0" u="none" strike="noStrike">
                <a:solidFill>
                  <a:srgbClr val="FFFFFF"/>
                </a:solidFill>
                <a:latin typeface="Noto Sans SC"/>
                <a:ea typeface="Noto Sans SC"/>
                <a:cs typeface="Noto Sans SC"/>
                <a:sym typeface="Noto Sans SC"/>
              </a:rPr>
              <a:t>连接依赖 (JD)</a:t>
            </a:r>
            <a:endParaRPr lang="en-US" sz="1600"/>
          </a:p>
        </p:txBody>
      </p:sp>
      <p:sp>
        <p:nvSpPr>
          <p:cNvPr id="9" name="AutoShape 9"/>
          <p:cNvSpPr/>
          <p:nvPr/>
        </p:nvSpPr>
        <p:spPr>
          <a:xfrm>
            <a:off x="8140700" y="5130800"/>
            <a:ext cx="3213100" cy="6477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88900" tIns="50800" rIns="88900" bIns="50800" rtlCol="0" anchor="ctr" anchorCtr="0"/>
          <a:lstStyle/>
          <a:p>
            <a:pPr indent="0" algn="ctr">
              <a:lnSpc>
                <a:spcPct val="100000"/>
              </a:lnSpc>
              <a:defRPr/>
            </a:pPr>
            <a:r>
              <a:rPr lang="en-US" sz="1600" b="0" i="0" u="none" strike="noStrike">
                <a:solidFill>
                  <a:srgbClr val="FFFFFF"/>
                </a:solidFill>
                <a:latin typeface="Noto Sans SC"/>
                <a:ea typeface="Noto Sans SC"/>
                <a:cs typeface="Noto Sans SC"/>
                <a:sym typeface="Noto Sans SC"/>
              </a:rPr>
              <a:t>4NF / 5NF 范式标准</a:t>
            </a:r>
            <a:endParaRPr lang="en-US" sz="16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762000"/>
          </a:xfrm>
          <a:prstGeom prst="roundRect">
            <a:avLst>
              <a:gd name="adj" fmla="val 0"/>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7.5.1 多值依赖的定义 (1)</a:t>
            </a:r>
            <a:endParaRPr lang="en-US" sz="2400" b="1">
              <a:solidFill>
                <a:srgbClr val="FFFFFF"/>
              </a:solidFill>
              <a:latin typeface="Noto Sans SC"/>
              <a:ea typeface="Noto Sans SC"/>
            </a:endParaRPr>
          </a:p>
        </p:txBody>
      </p:sp>
      <p:sp>
        <p:nvSpPr>
          <p:cNvPr id="3" name="AutoShape 3"/>
          <p:cNvSpPr/>
          <p:nvPr/>
        </p:nvSpPr>
        <p:spPr>
          <a:xfrm>
            <a:off x="768019" y="2016876"/>
            <a:ext cx="3952838" cy="1664302"/>
          </a:xfrm>
          <a:prstGeom prst="roundRect">
            <a:avLst>
              <a:gd name="adj" fmla="val 0"/>
            </a:avLst>
          </a:prstGeom>
          <a:noFill/>
          <a:ln w="12700" cap="flat" cmpd="sng">
            <a:noFill/>
            <a:prstDash val="solid"/>
            <a:round/>
          </a:ln>
        </p:spPr>
        <p:txBody>
          <a:bodyPr vert="horz" wrap="square" lIns="0" tIns="0" rIns="0" bIns="0" rtlCol="0" anchor="ctr">
            <a:spAutoFit/>
          </a:bodyPr>
          <a:lstStyle/>
          <a:p>
            <a:pPr indent="0" algn="just">
              <a:lnSpc>
                <a:spcPct val="125000"/>
              </a:lnSpc>
              <a:spcAft>
                <a:spcPts val="1200"/>
              </a:spcAft>
            </a:pPr>
            <a:r>
              <a:rPr lang="en-US" altLang="zh-CN" sz="1600">
                <a:solidFill>
                  <a:schemeClr val="tx1"/>
                </a:solidFill>
                <a:latin typeface="Noto Sans SC"/>
                <a:ea typeface="Noto Sans SC"/>
                <a:cs typeface="Noto Sans SC"/>
                <a:sym typeface="Noto Sans SC"/>
              </a:rPr>
              <a:t>假设关系模式R(C#, S#, PreC#)，</a:t>
            </a:r>
            <a:r>
              <a:rPr lang="zh-CN" altLang="en-US" sz="1600">
                <a:solidFill>
                  <a:schemeClr val="tx1"/>
                </a:solidFill>
                <a:latin typeface="Noto Sans SC"/>
                <a:ea typeface="Noto Sans SC"/>
                <a:cs typeface="Noto Sans SC"/>
                <a:sym typeface="Noto Sans SC"/>
              </a:rPr>
              <a:t>存储</a:t>
            </a:r>
            <a:r>
              <a:rPr lang="en-US" altLang="zh-CN" sz="1600">
                <a:solidFill>
                  <a:schemeClr val="tx1"/>
                </a:solidFill>
                <a:latin typeface="Noto Sans SC"/>
                <a:ea typeface="Noto Sans SC"/>
                <a:cs typeface="Noto Sans SC"/>
                <a:sym typeface="Noto Sans SC"/>
              </a:rPr>
              <a:t>“课程-选修学生-先修课程”之间的</a:t>
            </a:r>
            <a:r>
              <a:rPr lang="zh-CN" altLang="en-US" sz="1600">
                <a:solidFill>
                  <a:schemeClr val="tx1"/>
                </a:solidFill>
                <a:latin typeface="Noto Sans SC"/>
                <a:ea typeface="Noto Sans SC"/>
                <a:cs typeface="Noto Sans SC"/>
                <a:sym typeface="Noto Sans SC"/>
              </a:rPr>
              <a:t>关系</a:t>
            </a:r>
            <a:r>
              <a:rPr lang="en-US" altLang="zh-CN" sz="1600">
                <a:solidFill>
                  <a:schemeClr val="tx1"/>
                </a:solidFill>
                <a:latin typeface="Noto Sans SC"/>
                <a:ea typeface="Noto Sans SC"/>
                <a:cs typeface="Noto Sans SC"/>
                <a:sym typeface="Noto Sans SC"/>
              </a:rPr>
              <a:t>。</a:t>
            </a:r>
          </a:p>
          <a:p>
            <a:pPr algn="just">
              <a:lnSpc>
                <a:spcPct val="125000"/>
              </a:lnSpc>
              <a:spcAft>
                <a:spcPts val="1200"/>
              </a:spcAft>
            </a:pPr>
            <a:r>
              <a:rPr lang="en-US" altLang="zh-CN" sz="1600">
                <a:solidFill>
                  <a:schemeClr val="tx1"/>
                </a:solidFill>
                <a:latin typeface="Noto Sans SC"/>
                <a:ea typeface="Noto Sans SC"/>
                <a:cs typeface="Noto Sans SC"/>
                <a:sym typeface="Noto Sans SC"/>
              </a:rPr>
              <a:t>课程C4有学生(S1, S2)</a:t>
            </a:r>
            <a:r>
              <a:rPr lang="zh-CN" altLang="en-US" sz="1600">
                <a:solidFill>
                  <a:schemeClr val="tx1"/>
                </a:solidFill>
                <a:latin typeface="Noto Sans SC"/>
                <a:ea typeface="Noto Sans SC"/>
                <a:cs typeface="Noto Sans SC"/>
                <a:sym typeface="Noto Sans SC"/>
              </a:rPr>
              <a:t>选修；同时，</a:t>
            </a:r>
            <a:r>
              <a:rPr lang="en-US" altLang="zh-CN" sz="1600">
                <a:solidFill>
                  <a:schemeClr val="tx1"/>
                </a:solidFill>
                <a:latin typeface="Noto Sans SC"/>
                <a:ea typeface="Noto Sans SC"/>
                <a:cs typeface="Noto Sans SC"/>
                <a:sym typeface="Noto Sans SC"/>
              </a:rPr>
              <a:t>该课程有多个先修课程(C1, C2, C3)。在未规范化的表中，属性值表现为“集合”形式</a:t>
            </a:r>
            <a:r>
              <a:rPr lang="zh-CN" altLang="en-US" sz="1600">
                <a:solidFill>
                  <a:schemeClr val="tx1"/>
                </a:solidFill>
                <a:latin typeface="Noto Sans SC"/>
                <a:ea typeface="Noto Sans SC"/>
                <a:cs typeface="Noto Sans SC"/>
                <a:sym typeface="Noto Sans SC"/>
              </a:rPr>
              <a:t>。</a:t>
            </a:r>
            <a:endParaRPr sz="1600">
              <a:solidFill>
                <a:schemeClr val="tx1"/>
              </a:solidFill>
            </a:endParaRPr>
          </a:p>
        </p:txBody>
      </p:sp>
      <p:sp>
        <p:nvSpPr>
          <p:cNvPr id="5" name="AutoShape 5"/>
          <p:cNvSpPr/>
          <p:nvPr/>
        </p:nvSpPr>
        <p:spPr>
          <a:xfrm>
            <a:off x="6206755" y="1311760"/>
            <a:ext cx="5080000" cy="5252073"/>
          </a:xfrm>
          <a:prstGeom prst="roundRect">
            <a:avLst>
              <a:gd name="adj" fmla="val 0"/>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564984" y="1518438"/>
            <a:ext cx="4579679" cy="996876"/>
          </a:xfrm>
          <a:prstGeom prst="rect">
            <a:avLst/>
          </a:prstGeom>
          <a:noFill/>
          <a:ln w="12700" cap="flat" cmpd="sng">
            <a:noFill/>
            <a:prstDash val="solid"/>
            <a:round/>
          </a:ln>
        </p:spPr>
        <p:txBody>
          <a:bodyPr vert="horz" wrap="square" lIns="0" tIns="0" rIns="0" bIns="0" rtlCol="0" anchor="t" anchorCtr="0">
            <a:spAutoFit/>
          </a:bodyPr>
          <a:lstStyle/>
          <a:p>
            <a:pPr indent="0" algn="l">
              <a:lnSpc>
                <a:spcPct val="108333"/>
              </a:lnSpc>
              <a:defRPr/>
            </a:pPr>
            <a:r>
              <a:rPr lang="en-US" sz="2000" b="1" i="0" u="none" strike="noStrike">
                <a:solidFill>
                  <a:srgbClr val="15803D"/>
                </a:solidFill>
                <a:latin typeface="Noto Sans SC"/>
                <a:ea typeface="Noto Sans SC"/>
                <a:cs typeface="Noto Sans SC"/>
                <a:sym typeface="Noto Sans SC"/>
              </a:rPr>
              <a:t>▌ 规范化：满足 1NF 的关系</a:t>
            </a:r>
          </a:p>
          <a:p>
            <a:pPr indent="0" algn="l">
              <a:lnSpc>
                <a:spcPct val="125000"/>
              </a:lnSpc>
              <a:spcBef>
                <a:spcPts val="600"/>
              </a:spcBef>
              <a:spcAft>
                <a:spcPts val="600"/>
              </a:spcAft>
              <a:defRPr/>
            </a:pPr>
            <a:r>
              <a:rPr lang="en-US" sz="1600" b="0" i="0" u="none" strike="noStrike">
                <a:solidFill>
                  <a:srgbClr val="374151"/>
                </a:solidFill>
                <a:latin typeface="Noto Sans SC"/>
                <a:ea typeface="Noto Sans SC"/>
                <a:cs typeface="Noto Sans SC"/>
                <a:sym typeface="Noto Sans SC"/>
              </a:rPr>
              <a:t>为了满足1</a:t>
            </a:r>
            <a:r>
              <a:rPr lang="en-US" altLang="zh-CN" sz="1600" b="0" i="0" u="none" strike="noStrike">
                <a:solidFill>
                  <a:srgbClr val="374151"/>
                </a:solidFill>
                <a:latin typeface="Noto Sans SC"/>
                <a:ea typeface="Noto Sans SC"/>
                <a:cs typeface="Noto Sans SC"/>
                <a:sym typeface="Noto Sans SC"/>
              </a:rPr>
              <a:t>NF</a:t>
            </a:r>
            <a:r>
              <a:rPr lang="en-US" sz="1600" b="0" i="0" u="none" strike="noStrike">
                <a:solidFill>
                  <a:srgbClr val="374151"/>
                </a:solidFill>
                <a:latin typeface="Noto Sans SC"/>
                <a:ea typeface="Noto Sans SC"/>
                <a:cs typeface="Noto Sans SC"/>
                <a:sym typeface="Noto Sans SC"/>
              </a:rPr>
              <a:t>，必须将多值属性“拆包”，生成所有可能的元组</a:t>
            </a:r>
            <a:r>
              <a:rPr lang="zh-CN" altLang="en-US" sz="1600" b="0" i="0" u="none" strike="noStrike">
                <a:solidFill>
                  <a:srgbClr val="374151"/>
                </a:solidFill>
                <a:latin typeface="Noto Sans SC"/>
                <a:ea typeface="Noto Sans SC"/>
                <a:cs typeface="Noto Sans SC"/>
                <a:sym typeface="Noto Sans SC"/>
              </a:rPr>
              <a:t>（</a:t>
            </a:r>
            <a:r>
              <a:rPr lang="en-US" sz="1600" b="0" i="0" u="none" strike="noStrike">
                <a:solidFill>
                  <a:srgbClr val="374151"/>
                </a:solidFill>
                <a:latin typeface="Noto Sans SC"/>
                <a:ea typeface="Noto Sans SC"/>
                <a:cs typeface="Noto Sans SC"/>
                <a:sym typeface="Noto Sans SC"/>
              </a:rPr>
              <a:t>组合</a:t>
            </a:r>
            <a:r>
              <a:rPr lang="zh-CN" altLang="en-US" sz="1600" b="0" i="0" u="none" strike="noStrike">
                <a:solidFill>
                  <a:srgbClr val="374151"/>
                </a:solidFill>
                <a:latin typeface="Noto Sans SC"/>
                <a:ea typeface="Noto Sans SC"/>
                <a:cs typeface="Noto Sans SC"/>
                <a:sym typeface="Noto Sans SC"/>
              </a:rPr>
              <a:t>）</a:t>
            </a:r>
            <a:r>
              <a:rPr lang="zh-CN" altLang="en-US" sz="1600">
                <a:solidFill>
                  <a:srgbClr val="374151"/>
                </a:solidFill>
                <a:latin typeface="Noto Sans SC"/>
                <a:ea typeface="Noto Sans SC"/>
                <a:cs typeface="Noto Sans SC"/>
                <a:sym typeface="Noto Sans SC"/>
              </a:rPr>
              <a:t>，</a:t>
            </a:r>
            <a:r>
              <a:rPr lang="en-US" sz="1600" b="0" i="0" u="none" strike="noStrike">
                <a:solidFill>
                  <a:srgbClr val="374151"/>
                </a:solidFill>
                <a:latin typeface="Noto Sans SC"/>
                <a:ea typeface="Noto Sans SC"/>
                <a:cs typeface="Noto Sans SC"/>
                <a:sym typeface="Noto Sans SC"/>
              </a:rPr>
              <a:t>展开后的表如下</a:t>
            </a:r>
            <a:r>
              <a:rPr lang="zh-CN" altLang="en-US" sz="1600">
                <a:solidFill>
                  <a:srgbClr val="374151"/>
                </a:solidFill>
                <a:latin typeface="Noto Sans SC"/>
                <a:ea typeface="Noto Sans SC"/>
                <a:cs typeface="Noto Sans SC"/>
                <a:sym typeface="Noto Sans SC"/>
              </a:rPr>
              <a:t>。</a:t>
            </a:r>
            <a:endParaRPr lang="en-US" sz="1300" b="0" i="0" u="none" strike="noStrike">
              <a:solidFill>
                <a:srgbClr val="4B5563"/>
              </a:solidFill>
              <a:latin typeface="Noto Sans SC"/>
              <a:ea typeface="Noto Sans SC"/>
              <a:cs typeface="Noto Sans SC"/>
              <a:sym typeface="Noto Sans SC"/>
            </a:endParaRPr>
          </a:p>
        </p:txBody>
      </p:sp>
      <p:sp>
        <p:nvSpPr>
          <p:cNvPr id="7" name="AutoShape 4">
            <a:extLst>
              <a:ext uri="{FF2B5EF4-FFF2-40B4-BE49-F238E27FC236}">
                <a16:creationId xmlns:a16="http://schemas.microsoft.com/office/drawing/2014/main" id="{CE60BA24-9861-2E74-AEEA-2EC7F83AB253}"/>
              </a:ext>
            </a:extLst>
          </p:cNvPr>
          <p:cNvSpPr/>
          <p:nvPr/>
        </p:nvSpPr>
        <p:spPr>
          <a:xfrm>
            <a:off x="838199" y="1311761"/>
            <a:ext cx="4557459"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14</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b="1">
                <a:solidFill>
                  <a:srgbClr val="7030A0"/>
                </a:solidFill>
                <a:latin typeface="Noto Sans SC"/>
                <a:ea typeface="Noto Sans SC"/>
                <a:cs typeface="Noto Sans SC"/>
                <a:sym typeface="Noto Sans SC"/>
              </a:rPr>
              <a:t>多值属性的原始关系</a:t>
            </a:r>
            <a:endParaRPr lang="zh-CN" altLang="en-US" sz="2000">
              <a:solidFill>
                <a:srgbClr val="7030A0"/>
              </a:solidFill>
              <a:latin typeface="Noto Sans SC Black" panose="020B0200000000000000" pitchFamily="34" charset="-122"/>
              <a:ea typeface="Noto Sans SC Black" panose="020B0200000000000000" pitchFamily="34" charset="-122"/>
              <a:sym typeface="Noto Sans SC"/>
            </a:endParaRPr>
          </a:p>
        </p:txBody>
      </p:sp>
      <p:graphicFrame>
        <p:nvGraphicFramePr>
          <p:cNvPr id="10" name="Group 336">
            <a:extLst>
              <a:ext uri="{FF2B5EF4-FFF2-40B4-BE49-F238E27FC236}">
                <a16:creationId xmlns:a16="http://schemas.microsoft.com/office/drawing/2014/main" id="{EC2AA649-82C6-0211-7396-35F49A513EDA}"/>
              </a:ext>
            </a:extLst>
          </p:cNvPr>
          <p:cNvGraphicFramePr>
            <a:graphicFrameLocks noGrp="1"/>
          </p:cNvGraphicFramePr>
          <p:nvPr>
            <p:extLst>
              <p:ext uri="{D42A27DB-BD31-4B8C-83A1-F6EECF244321}">
                <p14:modId xmlns:p14="http://schemas.microsoft.com/office/powerpoint/2010/main" val="1810964180"/>
              </p:ext>
            </p:extLst>
          </p:nvPr>
        </p:nvGraphicFramePr>
        <p:xfrm>
          <a:off x="1155405" y="4008973"/>
          <a:ext cx="2998381" cy="1126053"/>
        </p:xfrm>
        <a:graphic>
          <a:graphicData uri="http://schemas.openxmlformats.org/drawingml/2006/table">
            <a:tbl>
              <a:tblPr>
                <a:tableStyleId>{5940675A-B579-460E-94D1-54222C63F5DA}</a:tableStyleId>
              </a:tblPr>
              <a:tblGrid>
                <a:gridCol w="589746">
                  <a:extLst>
                    <a:ext uri="{9D8B030D-6E8A-4147-A177-3AD203B41FA5}">
                      <a16:colId xmlns:a16="http://schemas.microsoft.com/office/drawing/2014/main" val="20000"/>
                    </a:ext>
                  </a:extLst>
                </a:gridCol>
                <a:gridCol w="995096">
                  <a:extLst>
                    <a:ext uri="{9D8B030D-6E8A-4147-A177-3AD203B41FA5}">
                      <a16:colId xmlns:a16="http://schemas.microsoft.com/office/drawing/2014/main" val="20001"/>
                    </a:ext>
                  </a:extLst>
                </a:gridCol>
                <a:gridCol w="1413539">
                  <a:extLst>
                    <a:ext uri="{9D8B030D-6E8A-4147-A177-3AD203B41FA5}">
                      <a16:colId xmlns:a16="http://schemas.microsoft.com/office/drawing/2014/main" val="20002"/>
                    </a:ext>
                  </a:extLst>
                </a:gridCol>
              </a:tblGrid>
              <a:tr h="375351">
                <a:tc gridSpan="3">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zh-CN" altLang="en-US" sz="1400" b="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rPr>
                        <a:t>属性为多值的表</a:t>
                      </a:r>
                      <a:endParaRPr kumimoji="0" lang="zh-CN" altLang="en-US" sz="1400" b="0" i="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FC000"/>
                    </a:solidFill>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0000"/>
                  </a:ext>
                </a:extLst>
              </a:tr>
              <a:tr h="375351">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rPr>
                        <a:t>C#</a:t>
                      </a:r>
                      <a:endParaRPr kumimoji="0" lang="zh-CN" altLang="en-US" sz="1400" b="0" i="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rPr>
                        <a:t>S#</a:t>
                      </a:r>
                      <a:endParaRPr kumimoji="0" lang="zh-CN" altLang="en-US" sz="1400" b="0" i="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rPr>
                        <a:t>PreC#</a:t>
                      </a:r>
                      <a:endParaRPr kumimoji="0" lang="zh-CN" altLang="en-US" sz="1400" b="0" i="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75351">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rPr>
                        <a:t>C4</a:t>
                      </a:r>
                      <a:endParaRPr kumimoji="0" lang="zh-CN" altLang="en-US" sz="1400" b="0" i="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rPr>
                        <a:t>{S1，S2}</a:t>
                      </a:r>
                      <a:endParaRPr kumimoji="0" lang="zh-CN" altLang="en-US" sz="1400" b="0" i="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rPr>
                        <a:t>{C1，C2，C3}</a:t>
                      </a:r>
                      <a:endParaRPr kumimoji="0" lang="zh-CN" altLang="en-US" sz="1400" b="0" i="0" u="none" strike="noStrike" cap="none" normalizeH="0" baseline="0">
                        <a:ln>
                          <a:noFill/>
                        </a:ln>
                        <a:solidFill>
                          <a:sysClr val="windowText" lastClr="00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1" name="AutoShape 3">
            <a:extLst>
              <a:ext uri="{FF2B5EF4-FFF2-40B4-BE49-F238E27FC236}">
                <a16:creationId xmlns:a16="http://schemas.microsoft.com/office/drawing/2014/main" id="{F3459569-03A6-32EC-EBE6-90681FF397EE}"/>
              </a:ext>
            </a:extLst>
          </p:cNvPr>
          <p:cNvSpPr/>
          <p:nvPr/>
        </p:nvSpPr>
        <p:spPr>
          <a:xfrm>
            <a:off x="768018" y="5492048"/>
            <a:ext cx="3952839" cy="587084"/>
          </a:xfrm>
          <a:prstGeom prst="roundRect">
            <a:avLst>
              <a:gd name="adj" fmla="val 0"/>
            </a:avLst>
          </a:prstGeom>
          <a:noFill/>
          <a:ln w="12700" cap="flat" cmpd="sng">
            <a:noFill/>
            <a:prstDash val="solid"/>
            <a:round/>
          </a:ln>
        </p:spPr>
        <p:txBody>
          <a:bodyPr vert="horz" wrap="square" lIns="0" tIns="0" rIns="0" bIns="0" rtlCol="0" anchor="ctr">
            <a:spAutoFit/>
          </a:bodyPr>
          <a:lstStyle/>
          <a:p>
            <a:pPr indent="0" algn="just">
              <a:lnSpc>
                <a:spcPct val="125000"/>
              </a:lnSpc>
              <a:spcAft>
                <a:spcPts val="1200"/>
              </a:spcAft>
            </a:pPr>
            <a:r>
              <a:rPr lang="en-US" altLang="zh-CN" sz="1600">
                <a:solidFill>
                  <a:srgbClr val="FF0000"/>
                </a:solidFill>
                <a:latin typeface="Noto Sans SC"/>
                <a:ea typeface="Noto Sans SC"/>
                <a:cs typeface="Noto Sans SC"/>
                <a:sym typeface="Noto Sans SC"/>
              </a:rPr>
              <a:t>⚠️ 问题：S# 和 PreC# 都是多值属性，违背</a:t>
            </a:r>
            <a:br>
              <a:rPr lang="en-US" altLang="zh-CN" sz="1600">
                <a:solidFill>
                  <a:srgbClr val="FF0000"/>
                </a:solidFill>
                <a:latin typeface="Noto Sans SC"/>
                <a:ea typeface="Noto Sans SC"/>
                <a:cs typeface="Noto Sans SC"/>
                <a:sym typeface="Noto Sans SC"/>
              </a:rPr>
            </a:br>
            <a:r>
              <a:rPr lang="en-US" altLang="zh-CN" sz="1600">
                <a:solidFill>
                  <a:srgbClr val="FF0000"/>
                </a:solidFill>
                <a:latin typeface="Noto Sans SC"/>
                <a:ea typeface="Noto Sans SC"/>
                <a:cs typeface="Noto Sans SC"/>
                <a:sym typeface="Noto Sans SC"/>
              </a:rPr>
              <a:t>       了1NF 要求“属性原子性”的定义。</a:t>
            </a:r>
            <a:endParaRPr sz="1600">
              <a:solidFill>
                <a:srgbClr val="FF0000"/>
              </a:solidFill>
            </a:endParaRPr>
          </a:p>
        </p:txBody>
      </p:sp>
      <p:graphicFrame>
        <p:nvGraphicFramePr>
          <p:cNvPr id="12" name="表格 11">
            <a:extLst>
              <a:ext uri="{FF2B5EF4-FFF2-40B4-BE49-F238E27FC236}">
                <a16:creationId xmlns:a16="http://schemas.microsoft.com/office/drawing/2014/main" id="{C10E6561-EB8A-8C20-A339-0E6B98B5B0E3}"/>
              </a:ext>
            </a:extLst>
          </p:cNvPr>
          <p:cNvGraphicFramePr>
            <a:graphicFrameLocks noGrp="1"/>
          </p:cNvGraphicFramePr>
          <p:nvPr>
            <p:extLst>
              <p:ext uri="{D42A27DB-BD31-4B8C-83A1-F6EECF244321}">
                <p14:modId xmlns:p14="http://schemas.microsoft.com/office/powerpoint/2010/main" val="912122579"/>
              </p:ext>
            </p:extLst>
          </p:nvPr>
        </p:nvGraphicFramePr>
        <p:xfrm>
          <a:off x="7475839" y="2655277"/>
          <a:ext cx="2407151" cy="2352070"/>
        </p:xfrm>
        <a:graphic>
          <a:graphicData uri="http://schemas.openxmlformats.org/drawingml/2006/table">
            <a:tbl>
              <a:tblPr firstRow="1" firstCol="1" bandRow="1">
                <a:tableStyleId>{5940675A-B579-460E-94D1-54222C63F5DA}</a:tableStyleId>
              </a:tblPr>
              <a:tblGrid>
                <a:gridCol w="802287">
                  <a:extLst>
                    <a:ext uri="{9D8B030D-6E8A-4147-A177-3AD203B41FA5}">
                      <a16:colId xmlns:a16="http://schemas.microsoft.com/office/drawing/2014/main" val="2337510096"/>
                    </a:ext>
                  </a:extLst>
                </a:gridCol>
                <a:gridCol w="802287">
                  <a:extLst>
                    <a:ext uri="{9D8B030D-6E8A-4147-A177-3AD203B41FA5}">
                      <a16:colId xmlns:a16="http://schemas.microsoft.com/office/drawing/2014/main" val="1459277653"/>
                    </a:ext>
                  </a:extLst>
                </a:gridCol>
                <a:gridCol w="802577">
                  <a:extLst>
                    <a:ext uri="{9D8B030D-6E8A-4147-A177-3AD203B41FA5}">
                      <a16:colId xmlns:a16="http://schemas.microsoft.com/office/drawing/2014/main" val="2881812794"/>
                    </a:ext>
                  </a:extLst>
                </a:gridCol>
              </a:tblGrid>
              <a:tr h="336010">
                <a:tc>
                  <a:txBody>
                    <a:bodyPr/>
                    <a:lstStyle/>
                    <a:p>
                      <a:pPr algn="ctr">
                        <a:buNone/>
                      </a:pPr>
                      <a:r>
                        <a:rPr lang="en-US" altLang="zh-CN" sz="1400" kern="100">
                          <a:effectLst/>
                          <a:latin typeface="Noto Sans SC Black" panose="020B0200000000000000" pitchFamily="34" charset="-122"/>
                          <a:ea typeface="Noto Sans SC Black" panose="020B0200000000000000" pitchFamily="34" charset="-122"/>
                          <a:cs typeface="Times New Roman" panose="02020603050405020304" pitchFamily="18" charset="0"/>
                        </a:rPr>
                        <a:t>C#</a:t>
                      </a:r>
                      <a:endParaRPr lang="zh-CN" sz="1400" kern="100">
                        <a:effectLst/>
                        <a:latin typeface="Noto Sans SC Black" panose="020B0200000000000000" pitchFamily="34" charset="-122"/>
                        <a:ea typeface="Noto Sans SC Black" panose="020B0200000000000000" pitchFamily="34" charset="-122"/>
                        <a:cs typeface="Times New Roman" panose="02020603050405020304" pitchFamily="18" charset="0"/>
                      </a:endParaRPr>
                    </a:p>
                  </a:txBody>
                  <a:tcPr marL="68580" marR="68580" marT="0" marB="0" anchor="ctr">
                    <a:solidFill>
                      <a:schemeClr val="accent4"/>
                    </a:solidFill>
                  </a:tcPr>
                </a:tc>
                <a:tc>
                  <a:txBody>
                    <a:bodyPr/>
                    <a:lstStyle/>
                    <a:p>
                      <a:pPr algn="ctr">
                        <a:buNone/>
                      </a:pPr>
                      <a:r>
                        <a:rPr lang="en-US" altLang="zh-CN" sz="1400" kern="100">
                          <a:effectLst/>
                          <a:latin typeface="Noto Sans SC Black" panose="020B0200000000000000" pitchFamily="34" charset="-122"/>
                          <a:ea typeface="Noto Sans SC Black" panose="020B0200000000000000" pitchFamily="34" charset="-122"/>
                          <a:cs typeface="Times New Roman" panose="02020603050405020304" pitchFamily="18" charset="0"/>
                        </a:rPr>
                        <a:t>S#</a:t>
                      </a:r>
                      <a:endParaRPr lang="zh-CN" sz="1400" kern="100">
                        <a:effectLst/>
                        <a:latin typeface="Noto Sans SC Black" panose="020B0200000000000000" pitchFamily="34" charset="-122"/>
                        <a:ea typeface="Noto Sans SC Black" panose="020B0200000000000000" pitchFamily="34" charset="-122"/>
                        <a:cs typeface="Times New Roman" panose="02020603050405020304" pitchFamily="18" charset="0"/>
                      </a:endParaRPr>
                    </a:p>
                  </a:txBody>
                  <a:tcPr marL="68580" marR="68580" marT="0" marB="0" anchor="ctr">
                    <a:solidFill>
                      <a:schemeClr val="accent4"/>
                    </a:solidFill>
                  </a:tcPr>
                </a:tc>
                <a:tc>
                  <a:txBody>
                    <a:bodyPr/>
                    <a:lstStyle/>
                    <a:p>
                      <a:pPr algn="ctr">
                        <a:buNone/>
                      </a:pPr>
                      <a:r>
                        <a:rPr lang="en-US" altLang="zh-CN" sz="1400" kern="100">
                          <a:effectLst/>
                          <a:latin typeface="Noto Sans SC Black" panose="020B0200000000000000" pitchFamily="34" charset="-122"/>
                          <a:ea typeface="Noto Sans SC Black" panose="020B0200000000000000" pitchFamily="34" charset="-122"/>
                          <a:cs typeface="Times New Roman" panose="02020603050405020304" pitchFamily="18" charset="0"/>
                        </a:rPr>
                        <a:t>PreC#</a:t>
                      </a:r>
                      <a:endParaRPr lang="zh-CN" sz="1400" kern="100">
                        <a:effectLst/>
                        <a:latin typeface="Noto Sans SC Black" panose="020B0200000000000000" pitchFamily="34" charset="-122"/>
                        <a:ea typeface="Noto Sans SC Black" panose="020B0200000000000000" pitchFamily="34" charset="-122"/>
                        <a:cs typeface="Times New Roman" panose="02020603050405020304" pitchFamily="18" charset="0"/>
                      </a:endParaRPr>
                    </a:p>
                  </a:txBody>
                  <a:tcPr marL="68580" marR="68580" marT="0" marB="0" anchor="ctr">
                    <a:solidFill>
                      <a:schemeClr val="accent4"/>
                    </a:solidFill>
                  </a:tcPr>
                </a:tc>
                <a:extLst>
                  <a:ext uri="{0D108BD9-81ED-4DB2-BD59-A6C34878D82A}">
                    <a16:rowId xmlns:a16="http://schemas.microsoft.com/office/drawing/2014/main" val="1858695816"/>
                  </a:ext>
                </a:extLst>
              </a:tr>
              <a:tr h="336010">
                <a:tc>
                  <a:txBody>
                    <a:bodyPr/>
                    <a:lstStyle/>
                    <a:p>
                      <a:pPr algn="ctr">
                        <a:buNone/>
                      </a:pPr>
                      <a:r>
                        <a:rPr lang="en-US" sz="1400" kern="100">
                          <a:effectLst/>
                          <a:latin typeface="Noto Sans SC" panose="020B0200000000000000" pitchFamily="34" charset="-122"/>
                          <a:ea typeface="Noto Sans SC" panose="020B0200000000000000" pitchFamily="34" charset="-122"/>
                        </a:rPr>
                        <a:t>C4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S1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C1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524364063"/>
                  </a:ext>
                </a:extLst>
              </a:tr>
              <a:tr h="336010">
                <a:tc>
                  <a:txBody>
                    <a:bodyPr/>
                    <a:lstStyle/>
                    <a:p>
                      <a:pPr algn="ctr">
                        <a:buNone/>
                      </a:pPr>
                      <a:r>
                        <a:rPr lang="en-US" sz="1400" kern="100">
                          <a:effectLst/>
                          <a:latin typeface="Noto Sans SC" panose="020B0200000000000000" pitchFamily="34" charset="-122"/>
                          <a:ea typeface="Noto Sans SC" panose="020B0200000000000000" pitchFamily="34" charset="-122"/>
                        </a:rPr>
                        <a:t>C4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S1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C2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887864506"/>
                  </a:ext>
                </a:extLst>
              </a:tr>
              <a:tr h="336010">
                <a:tc>
                  <a:txBody>
                    <a:bodyPr/>
                    <a:lstStyle/>
                    <a:p>
                      <a:pPr algn="ctr">
                        <a:buNone/>
                      </a:pPr>
                      <a:r>
                        <a:rPr lang="en-US" sz="1400" kern="100">
                          <a:effectLst/>
                          <a:latin typeface="Noto Sans SC" panose="020B0200000000000000" pitchFamily="34" charset="-122"/>
                          <a:ea typeface="Noto Sans SC" panose="020B0200000000000000" pitchFamily="34" charset="-122"/>
                        </a:rPr>
                        <a:t>C4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S1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C3</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4286464474"/>
                  </a:ext>
                </a:extLst>
              </a:tr>
              <a:tr h="336010">
                <a:tc>
                  <a:txBody>
                    <a:bodyPr/>
                    <a:lstStyle/>
                    <a:p>
                      <a:pPr algn="ctr">
                        <a:buNone/>
                      </a:pPr>
                      <a:r>
                        <a:rPr lang="en-US" sz="1400" kern="100">
                          <a:effectLst/>
                          <a:latin typeface="Noto Sans SC" panose="020B0200000000000000" pitchFamily="34" charset="-122"/>
                          <a:ea typeface="Noto Sans SC" panose="020B0200000000000000" pitchFamily="34" charset="-122"/>
                        </a:rPr>
                        <a:t>C4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S2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C1</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2110758200"/>
                  </a:ext>
                </a:extLst>
              </a:tr>
              <a:tr h="336010">
                <a:tc>
                  <a:txBody>
                    <a:bodyPr/>
                    <a:lstStyle/>
                    <a:p>
                      <a:pPr algn="ctr">
                        <a:buNone/>
                      </a:pPr>
                      <a:r>
                        <a:rPr lang="en-US" sz="1400" kern="100">
                          <a:effectLst/>
                          <a:latin typeface="Noto Sans SC" panose="020B0200000000000000" pitchFamily="34" charset="-122"/>
                          <a:ea typeface="Noto Sans SC" panose="020B0200000000000000" pitchFamily="34" charset="-122"/>
                        </a:rPr>
                        <a:t>C4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S2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C2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346212730"/>
                  </a:ext>
                </a:extLst>
              </a:tr>
              <a:tr h="336010">
                <a:tc>
                  <a:txBody>
                    <a:bodyPr/>
                    <a:lstStyle/>
                    <a:p>
                      <a:pPr algn="ctr">
                        <a:buNone/>
                      </a:pPr>
                      <a:r>
                        <a:rPr lang="en-US" sz="1400" kern="100">
                          <a:effectLst/>
                          <a:latin typeface="Noto Sans SC" panose="020B0200000000000000" pitchFamily="34" charset="-122"/>
                          <a:ea typeface="Noto Sans SC" panose="020B0200000000000000" pitchFamily="34" charset="-122"/>
                        </a:rPr>
                        <a:t>C4</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S2</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tc>
                  <a:txBody>
                    <a:bodyPr/>
                    <a:lstStyle/>
                    <a:p>
                      <a:pPr algn="ctr">
                        <a:buNone/>
                      </a:pPr>
                      <a:r>
                        <a:rPr lang="en-US" sz="1400" kern="100">
                          <a:effectLst/>
                          <a:latin typeface="Noto Sans SC" panose="020B0200000000000000" pitchFamily="34" charset="-122"/>
                          <a:ea typeface="Noto Sans SC" panose="020B0200000000000000" pitchFamily="34" charset="-122"/>
                        </a:rPr>
                        <a:t>C3</a:t>
                      </a:r>
                      <a:endParaRPr lang="zh-CN" sz="1400" kern="100">
                        <a:effectLst/>
                        <a:latin typeface="Noto Sans SC" panose="020B0200000000000000" pitchFamily="34" charset="-122"/>
                        <a:ea typeface="Noto Sans SC" panose="020B0200000000000000" pitchFamily="34" charset="-122"/>
                        <a:cs typeface="Times New Roman" panose="02020603050405020304" pitchFamily="18" charset="0"/>
                      </a:endParaRPr>
                    </a:p>
                  </a:txBody>
                  <a:tcPr marL="68580" marR="68580" marT="0" marB="0" anchor="ctr"/>
                </a:tc>
                <a:extLst>
                  <a:ext uri="{0D108BD9-81ED-4DB2-BD59-A6C34878D82A}">
                    <a16:rowId xmlns:a16="http://schemas.microsoft.com/office/drawing/2014/main" val="1468831805"/>
                  </a:ext>
                </a:extLst>
              </a:tr>
            </a:tbl>
          </a:graphicData>
        </a:graphic>
      </p:graphicFrame>
      <p:sp>
        <p:nvSpPr>
          <p:cNvPr id="13" name="AutoShape 6">
            <a:extLst>
              <a:ext uri="{FF2B5EF4-FFF2-40B4-BE49-F238E27FC236}">
                <a16:creationId xmlns:a16="http://schemas.microsoft.com/office/drawing/2014/main" id="{18AD843F-5FA2-EC63-4A4F-121B0D70076D}"/>
              </a:ext>
            </a:extLst>
          </p:cNvPr>
          <p:cNvSpPr/>
          <p:nvPr/>
        </p:nvSpPr>
        <p:spPr>
          <a:xfrm>
            <a:off x="6564983" y="5337935"/>
            <a:ext cx="4579679" cy="895310"/>
          </a:xfrm>
          <a:prstGeom prst="rect">
            <a:avLst/>
          </a:prstGeom>
          <a:noFill/>
          <a:ln w="12700" cap="flat" cmpd="sng">
            <a:noFill/>
            <a:prstDash val="solid"/>
            <a:round/>
          </a:ln>
        </p:spPr>
        <p:txBody>
          <a:bodyPr vert="horz" wrap="square" lIns="0" tIns="0" rIns="0" bIns="0" rtlCol="0" anchor="t" anchorCtr="0">
            <a:spAutoFit/>
          </a:bodyPr>
          <a:lstStyle/>
          <a:p>
            <a:pPr indent="0" algn="l">
              <a:lnSpc>
                <a:spcPct val="125000"/>
              </a:lnSpc>
            </a:pPr>
            <a:r>
              <a:rPr lang="en-US" sz="1600" b="1" i="0" u="none" strike="noStrike">
                <a:solidFill>
                  <a:srgbClr val="B91C1C"/>
                </a:solidFill>
                <a:latin typeface="Noto Sans SC"/>
                <a:ea typeface="Noto Sans SC"/>
                <a:cs typeface="Noto Sans SC"/>
                <a:sym typeface="Noto Sans SC"/>
              </a:rPr>
              <a:t>📉 数据冗余分析：</a:t>
            </a:r>
            <a:r>
              <a:rPr lang="en-US" sz="1600" b="0" i="0" u="none" strike="noStrike">
                <a:solidFill>
                  <a:srgbClr val="4B5563"/>
                </a:solidFill>
                <a:latin typeface="Noto Sans SC"/>
                <a:ea typeface="Noto Sans SC"/>
                <a:cs typeface="Noto Sans SC"/>
                <a:sym typeface="Noto Sans SC"/>
              </a:rPr>
              <a:t>从1个元组变为6个元组。学生信息与先修课程信息相互独立，却因“笛卡尔积”产生了大量的重复数据。</a:t>
            </a:r>
            <a:r>
              <a:rPr lang="en-US" sz="1600" b="1" i="0" u="none" strike="noStrike">
                <a:solidFill>
                  <a:srgbClr val="4B5563"/>
                </a:solidFill>
                <a:latin typeface="Noto Sans SC"/>
                <a:ea typeface="Noto Sans SC"/>
                <a:cs typeface="Noto Sans SC"/>
                <a:sym typeface="Noto Sans SC"/>
              </a:rPr>
              <a:t>需要解决</a:t>
            </a:r>
            <a:r>
              <a:rPr lang="zh-CN" altLang="en-US" sz="1600" b="1">
                <a:solidFill>
                  <a:srgbClr val="4B5563"/>
                </a:solidFill>
                <a:latin typeface="Noto Sans SC"/>
                <a:ea typeface="Noto Sans SC"/>
                <a:cs typeface="Noto Sans SC"/>
                <a:sym typeface="Noto Sans SC"/>
              </a:rPr>
              <a:t>该</a:t>
            </a:r>
            <a:r>
              <a:rPr lang="en-US" sz="1600" b="1" i="0" u="none" strike="noStrike">
                <a:solidFill>
                  <a:srgbClr val="4B5563"/>
                </a:solidFill>
                <a:latin typeface="Noto Sans SC"/>
                <a:ea typeface="Noto Sans SC"/>
                <a:cs typeface="Noto Sans SC"/>
                <a:sym typeface="Noto Sans SC"/>
              </a:rPr>
              <a:t>问题。</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SimHei"/>
              </a:rPr>
              <a:t>7.5.1 多值依赖的定义 (2)</a:t>
            </a:r>
            <a:endParaRPr lang="en-US" sz="2400" b="1">
              <a:solidFill>
                <a:srgbClr val="FFFFFF"/>
              </a:solidFill>
              <a:latin typeface="Noto Sans SC"/>
              <a:ea typeface="Noto Sans SC"/>
            </a:endParaRPr>
          </a:p>
        </p:txBody>
      </p:sp>
      <p:sp>
        <p:nvSpPr>
          <p:cNvPr id="3" name="AutoShape 3"/>
          <p:cNvSpPr/>
          <p:nvPr/>
        </p:nvSpPr>
        <p:spPr>
          <a:xfrm>
            <a:off x="838200" y="1509822"/>
            <a:ext cx="4896293" cy="4588628"/>
          </a:xfrm>
          <a:prstGeom prst="rect">
            <a:avLst/>
          </a:prstGeom>
          <a:noFill/>
          <a:ln w="12700" cap="flat" cmpd="sng">
            <a:noFill/>
            <a:prstDash val="solid"/>
            <a:round/>
          </a:ln>
        </p:spPr>
        <p:txBody>
          <a:bodyPr vert="horz" wrap="square" lIns="0" tIns="0" rIns="0" bIns="0" rtlCol="0" anchor="t" anchorCtr="0">
            <a:spAutoFit/>
          </a:bodyPr>
          <a:lstStyle/>
          <a:p>
            <a:pPr indent="0">
              <a:lnSpc>
                <a:spcPct val="125000"/>
              </a:lnSpc>
              <a:spcBef>
                <a:spcPts val="1000"/>
              </a:spcBef>
              <a:defRPr/>
            </a:pPr>
            <a:r>
              <a:rPr lang="en-US" sz="2000" b="1" i="0" u="none" strike="noStrike">
                <a:solidFill>
                  <a:srgbClr val="7030A0"/>
                </a:solidFill>
                <a:latin typeface="Noto Sans SC" panose="020B0200000000000000" pitchFamily="34" charset="-122"/>
                <a:ea typeface="Noto Sans SC" panose="020B0200000000000000" pitchFamily="34" charset="-122"/>
                <a:cs typeface="SimHei"/>
                <a:sym typeface="SimHei"/>
              </a:rPr>
              <a:t>模式现状：</a:t>
            </a:r>
          </a:p>
          <a:p>
            <a:pPr indent="0">
              <a:lnSpc>
                <a:spcPct val="125000"/>
              </a:lnSpc>
              <a:spcBef>
                <a:spcPts val="600"/>
              </a:spcBef>
              <a:spcAft>
                <a:spcPts val="600"/>
              </a:spcAft>
              <a:defRPr/>
            </a:pPr>
            <a:r>
              <a:rPr lang="en-US" sz="1600" i="0" u="none" strike="noStrike">
                <a:solidFill>
                  <a:srgbClr val="1F2329"/>
                </a:solidFill>
                <a:latin typeface="Noto Sans SC" panose="020B0200000000000000" pitchFamily="34" charset="-122"/>
                <a:ea typeface="Noto Sans SC" panose="020B0200000000000000" pitchFamily="34" charset="-122"/>
                <a:cs typeface="SimHei"/>
                <a:sym typeface="SimHei"/>
              </a:rPr>
              <a:t>模式 R (C#, S#, PreC#)已满足BCNF，但仍存在严重的数据冗余问题。</a:t>
            </a:r>
            <a:endParaRPr lang="en-US" sz="1600">
              <a:latin typeface="Noto Sans SC" panose="020B0200000000000000" pitchFamily="34" charset="-122"/>
              <a:ea typeface="Noto Sans SC" panose="020B0200000000000000" pitchFamily="34" charset="-122"/>
            </a:endParaRPr>
          </a:p>
          <a:p>
            <a:pPr indent="0">
              <a:lnSpc>
                <a:spcPct val="125000"/>
              </a:lnSpc>
              <a:spcBef>
                <a:spcPts val="1200"/>
              </a:spcBef>
            </a:pPr>
            <a:r>
              <a:rPr lang="en-US" sz="2000" b="1" i="0" u="none" strike="noStrike">
                <a:solidFill>
                  <a:srgbClr val="7030A0"/>
                </a:solidFill>
                <a:latin typeface="Noto Sans SC" panose="020B0200000000000000" pitchFamily="34" charset="-122"/>
                <a:ea typeface="Noto Sans SC" panose="020B0200000000000000" pitchFamily="34" charset="-122"/>
                <a:cs typeface="SimHei"/>
                <a:sym typeface="SimHei"/>
              </a:rPr>
              <a:t>解决方案：模式分解</a:t>
            </a:r>
          </a:p>
          <a:p>
            <a:pPr>
              <a:lnSpc>
                <a:spcPct val="125000"/>
              </a:lnSpc>
              <a:spcBef>
                <a:spcPts val="600"/>
              </a:spcBef>
              <a:spcAft>
                <a:spcPts val="600"/>
              </a:spcAft>
              <a:defRPr/>
            </a:pPr>
            <a:r>
              <a:rPr lang="en-US" sz="1600">
                <a:solidFill>
                  <a:srgbClr val="1F2329"/>
                </a:solidFill>
                <a:latin typeface="Noto Sans SC" panose="020B0200000000000000" pitchFamily="34" charset="-122"/>
                <a:ea typeface="Noto Sans SC" panose="020B0200000000000000" pitchFamily="34" charset="-122"/>
                <a:sym typeface="SimHei"/>
              </a:rPr>
              <a:t>将原模式 R 拆分为两个独立的模式：</a:t>
            </a:r>
          </a:p>
          <a:p>
            <a:pPr marL="190500">
              <a:lnSpc>
                <a:spcPct val="125000"/>
              </a:lnSpc>
              <a:defRPr/>
            </a:pPr>
            <a:r>
              <a:rPr lang="en-US" sz="1600">
                <a:solidFill>
                  <a:srgbClr val="1F2329"/>
                </a:solidFill>
                <a:latin typeface="Noto Sans SC" panose="020B0200000000000000" pitchFamily="34" charset="-122"/>
                <a:ea typeface="Noto Sans SC" panose="020B0200000000000000" pitchFamily="34" charset="-122"/>
                <a:sym typeface="SimHei"/>
              </a:rPr>
              <a:t>R₁ (C#, S#)：描述课程与学生的关系</a:t>
            </a:r>
          </a:p>
          <a:p>
            <a:pPr marL="190500">
              <a:lnSpc>
                <a:spcPct val="125000"/>
              </a:lnSpc>
              <a:defRPr/>
            </a:pPr>
            <a:r>
              <a:rPr lang="en-US" sz="1600">
                <a:solidFill>
                  <a:srgbClr val="1F2329"/>
                </a:solidFill>
                <a:latin typeface="Noto Sans SC" panose="020B0200000000000000" pitchFamily="34" charset="-122"/>
                <a:ea typeface="Noto Sans SC" panose="020B0200000000000000" pitchFamily="34" charset="-122"/>
                <a:sym typeface="SimHei"/>
              </a:rPr>
              <a:t>R₂ (C#, P</a:t>
            </a:r>
            <a:r>
              <a:rPr lang="en-US" altLang="zh-CN" sz="1600">
                <a:solidFill>
                  <a:srgbClr val="1F2329"/>
                </a:solidFill>
                <a:latin typeface="Noto Sans SC" panose="020B0200000000000000" pitchFamily="34" charset="-122"/>
                <a:ea typeface="Noto Sans SC" panose="020B0200000000000000" pitchFamily="34" charset="-122"/>
                <a:sym typeface="SimHei"/>
              </a:rPr>
              <a:t>re</a:t>
            </a:r>
            <a:r>
              <a:rPr lang="en-US" sz="1600">
                <a:solidFill>
                  <a:srgbClr val="1F2329"/>
                </a:solidFill>
                <a:latin typeface="Noto Sans SC" panose="020B0200000000000000" pitchFamily="34" charset="-122"/>
                <a:ea typeface="Noto Sans SC" panose="020B0200000000000000" pitchFamily="34" charset="-122"/>
                <a:sym typeface="SimHei"/>
              </a:rPr>
              <a:t>C#)：描述课程与先修课的关系</a:t>
            </a:r>
          </a:p>
          <a:p>
            <a:pPr indent="0">
              <a:lnSpc>
                <a:spcPct val="125000"/>
              </a:lnSpc>
              <a:spcBef>
                <a:spcPts val="1200"/>
              </a:spcBef>
            </a:pPr>
            <a:r>
              <a:rPr lang="en-US" sz="2000" b="1" i="0" u="none" strike="noStrike">
                <a:solidFill>
                  <a:srgbClr val="C83232"/>
                </a:solidFill>
                <a:latin typeface="Noto Sans SC" panose="020B0200000000000000" pitchFamily="34" charset="-122"/>
                <a:ea typeface="Noto Sans SC" panose="020B0200000000000000" pitchFamily="34" charset="-122"/>
                <a:cs typeface="SimHei"/>
                <a:sym typeface="SimHei"/>
              </a:rPr>
              <a:t>问题根源解析</a:t>
            </a:r>
          </a:p>
          <a:p>
            <a:pPr>
              <a:lnSpc>
                <a:spcPct val="125000"/>
              </a:lnSpc>
              <a:spcBef>
                <a:spcPts val="600"/>
              </a:spcBef>
              <a:spcAft>
                <a:spcPts val="600"/>
              </a:spcAft>
              <a:defRPr/>
            </a:pPr>
            <a:r>
              <a:rPr lang="en-US" sz="1600">
                <a:solidFill>
                  <a:srgbClr val="1F2329"/>
                </a:solidFill>
                <a:latin typeface="Noto Sans SC" panose="020B0200000000000000" pitchFamily="34" charset="-122"/>
                <a:ea typeface="Noto Sans SC" panose="020B0200000000000000" pitchFamily="34" charset="-122"/>
                <a:sym typeface="SimHei"/>
              </a:rPr>
              <a:t>冗余产生的根本原因：属性S#</a:t>
            </a:r>
            <a:r>
              <a:rPr lang="zh-CN" altLang="en-US" sz="1600">
                <a:solidFill>
                  <a:srgbClr val="1F2329"/>
                </a:solidFill>
                <a:latin typeface="Noto Sans SC" panose="020B0200000000000000" pitchFamily="34" charset="-122"/>
                <a:ea typeface="Noto Sans SC" panose="020B0200000000000000" pitchFamily="34" charset="-122"/>
                <a:sym typeface="SimHei"/>
              </a:rPr>
              <a:t>（学生）</a:t>
            </a:r>
            <a:r>
              <a:rPr lang="en-US" sz="1600">
                <a:solidFill>
                  <a:srgbClr val="1F2329"/>
                </a:solidFill>
                <a:latin typeface="Noto Sans SC" panose="020B0200000000000000" pitchFamily="34" charset="-122"/>
                <a:ea typeface="Noto Sans SC" panose="020B0200000000000000" pitchFamily="34" charset="-122"/>
                <a:sym typeface="SimHei"/>
              </a:rPr>
              <a:t>与PreC#</a:t>
            </a:r>
            <a:r>
              <a:rPr lang="zh-CN" altLang="en-US" sz="1600">
                <a:solidFill>
                  <a:srgbClr val="1F2329"/>
                </a:solidFill>
                <a:latin typeface="Noto Sans SC" panose="020B0200000000000000" pitchFamily="34" charset="-122"/>
                <a:ea typeface="Noto Sans SC" panose="020B0200000000000000" pitchFamily="34" charset="-122"/>
                <a:sym typeface="SimHei"/>
              </a:rPr>
              <a:t>（先修课）</a:t>
            </a:r>
            <a:r>
              <a:rPr lang="en-US" sz="1600">
                <a:solidFill>
                  <a:srgbClr val="1F2329"/>
                </a:solidFill>
                <a:latin typeface="Noto Sans SC" panose="020B0200000000000000" pitchFamily="34" charset="-122"/>
                <a:ea typeface="Noto Sans SC" panose="020B0200000000000000" pitchFamily="34" charset="-122"/>
                <a:sym typeface="SimHei"/>
              </a:rPr>
              <a:t>之间不存在直接</a:t>
            </a:r>
            <a:r>
              <a:rPr lang="zh-CN" altLang="en-US" sz="1600">
                <a:solidFill>
                  <a:srgbClr val="1F2329"/>
                </a:solidFill>
                <a:latin typeface="Noto Sans SC" panose="020B0200000000000000" pitchFamily="34" charset="-122"/>
                <a:ea typeface="Noto Sans SC" panose="020B0200000000000000" pitchFamily="34" charset="-122"/>
                <a:sym typeface="SimHei"/>
              </a:rPr>
              <a:t>的</a:t>
            </a:r>
            <a:r>
              <a:rPr lang="en-US" sz="1600">
                <a:solidFill>
                  <a:srgbClr val="1F2329"/>
                </a:solidFill>
                <a:latin typeface="Noto Sans SC" panose="020B0200000000000000" pitchFamily="34" charset="-122"/>
                <a:ea typeface="Noto Sans SC" panose="020B0200000000000000" pitchFamily="34" charset="-122"/>
                <a:sym typeface="SimHei"/>
              </a:rPr>
              <a:t>联系，它们仅通过C#</a:t>
            </a:r>
            <a:r>
              <a:rPr lang="zh-CN" altLang="en-US" sz="1600">
                <a:solidFill>
                  <a:srgbClr val="1F2329"/>
                </a:solidFill>
                <a:latin typeface="Noto Sans SC" panose="020B0200000000000000" pitchFamily="34" charset="-122"/>
                <a:ea typeface="Noto Sans SC" panose="020B0200000000000000" pitchFamily="34" charset="-122"/>
                <a:sym typeface="SimHei"/>
              </a:rPr>
              <a:t>（课程）</a:t>
            </a:r>
            <a:r>
              <a:rPr lang="en-US" sz="1600">
                <a:solidFill>
                  <a:srgbClr val="1F2329"/>
                </a:solidFill>
                <a:latin typeface="Noto Sans SC" panose="020B0200000000000000" pitchFamily="34" charset="-122"/>
                <a:ea typeface="Noto Sans SC" panose="020B0200000000000000" pitchFamily="34" charset="-122"/>
                <a:sym typeface="SimHei"/>
              </a:rPr>
              <a:t>建立间接关联。</a:t>
            </a:r>
            <a:r>
              <a:rPr lang="en-US" sz="1600">
                <a:solidFill>
                  <a:srgbClr val="C00000"/>
                </a:solidFill>
                <a:latin typeface="Noto Sans SC" panose="020B0200000000000000" pitchFamily="34" charset="-122"/>
                <a:ea typeface="Noto Sans SC" panose="020B0200000000000000" pitchFamily="34" charset="-122"/>
                <a:sym typeface="SimHei"/>
              </a:rPr>
              <a:t>将这种具有“间接联系”的属性置于同一模式中，必然会引发数据冗余及更新异常等问题。</a:t>
            </a:r>
          </a:p>
        </p:txBody>
      </p:sp>
      <p:sp>
        <p:nvSpPr>
          <p:cNvPr id="4" name="AutoShape 4"/>
          <p:cNvSpPr/>
          <p:nvPr/>
        </p:nvSpPr>
        <p:spPr>
          <a:xfrm>
            <a:off x="7570381" y="1509821"/>
            <a:ext cx="608419" cy="4588628"/>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SimHei"/>
              </a:rPr>
              <a:t>关键</a:t>
            </a:r>
            <a:br>
              <a:rPr lang="en-US" sz="1600" b="1">
                <a:solidFill>
                  <a:srgbClr val="FFFFFF"/>
                </a:solidFill>
                <a:latin typeface="Noto Sans SC"/>
                <a:ea typeface="Noto Sans SC"/>
                <a:sym typeface="SimHei"/>
              </a:rPr>
            </a:br>
            <a:r>
              <a:rPr lang="en-US" sz="1600" b="1">
                <a:solidFill>
                  <a:srgbClr val="FFFFFF"/>
                </a:solidFill>
                <a:latin typeface="Noto Sans SC"/>
                <a:ea typeface="Noto Sans SC"/>
                <a:sym typeface="SimHei"/>
              </a:rPr>
              <a:t>要点</a:t>
            </a:r>
            <a:br>
              <a:rPr lang="en-US" sz="1600" b="1">
                <a:solidFill>
                  <a:srgbClr val="FFFFFF"/>
                </a:solidFill>
                <a:latin typeface="Noto Sans SC"/>
                <a:ea typeface="Noto Sans SC"/>
                <a:sym typeface="SimHei"/>
              </a:rPr>
            </a:br>
            <a:r>
              <a:rPr lang="en-US" sz="1600" b="1">
                <a:solidFill>
                  <a:srgbClr val="FFFFFF"/>
                </a:solidFill>
                <a:latin typeface="Noto Sans SC"/>
                <a:ea typeface="Noto Sans SC"/>
                <a:sym typeface="SimHei"/>
              </a:rPr>
              <a:t>速览</a:t>
            </a:r>
            <a:endParaRPr lang="en-US" sz="1600" b="1">
              <a:solidFill>
                <a:srgbClr val="FFFFFF"/>
              </a:solidFill>
              <a:latin typeface="Noto Sans SC"/>
              <a:ea typeface="Noto Sans SC"/>
            </a:endParaRPr>
          </a:p>
        </p:txBody>
      </p:sp>
      <p:sp>
        <p:nvSpPr>
          <p:cNvPr id="5" name="AutoShape 5"/>
          <p:cNvSpPr/>
          <p:nvPr/>
        </p:nvSpPr>
        <p:spPr>
          <a:xfrm>
            <a:off x="8178800" y="1509821"/>
            <a:ext cx="3175000" cy="889000"/>
          </a:xfrm>
          <a:prstGeom prst="roundRect">
            <a:avLst>
              <a:gd name="adj" fmla="val 0"/>
            </a:avLst>
          </a:prstGeom>
          <a:solidFill>
            <a:srgbClr val="1E3A8A">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SimHei"/>
                <a:ea typeface="SimHei"/>
                <a:cs typeface="SimHei"/>
                <a:sym typeface="SimHei"/>
              </a:rPr>
              <a:t>现状：BCNF 非万能</a:t>
            </a:r>
            <a:endParaRPr lang="en-US" sz="1100"/>
          </a:p>
          <a:p>
            <a:pPr indent="0" algn="ctr">
              <a:lnSpc>
                <a:spcPct val="125000"/>
              </a:lnSpc>
            </a:pPr>
            <a:r>
              <a:rPr lang="en-US" b="0" i="0" u="none" strike="noStrike">
                <a:solidFill>
                  <a:srgbClr val="D1D5DB"/>
                </a:solidFill>
                <a:latin typeface="SimHei"/>
                <a:ea typeface="SimHei"/>
                <a:cs typeface="SimHei"/>
                <a:sym typeface="SimHei"/>
              </a:rPr>
              <a:t>满足 BCNF 仍可能有数据冗余</a:t>
            </a:r>
          </a:p>
        </p:txBody>
      </p:sp>
      <p:sp>
        <p:nvSpPr>
          <p:cNvPr id="6" name="AutoShape 6"/>
          <p:cNvSpPr/>
          <p:nvPr/>
        </p:nvSpPr>
        <p:spPr>
          <a:xfrm>
            <a:off x="8178800" y="2743030"/>
            <a:ext cx="3175000" cy="889000"/>
          </a:xfrm>
          <a:prstGeom prst="roundRect">
            <a:avLst>
              <a:gd name="adj" fmla="val 0"/>
            </a:avLst>
          </a:prstGeom>
          <a:solidFill>
            <a:srgbClr val="D97706">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SimHei"/>
                <a:ea typeface="SimHei"/>
                <a:cs typeface="SimHei"/>
                <a:sym typeface="SimHei"/>
              </a:rPr>
              <a:t>核心：属性间的间接联系</a:t>
            </a:r>
            <a:endParaRPr lang="en-US" sz="1100"/>
          </a:p>
          <a:p>
            <a:pPr indent="0" algn="ctr">
              <a:lnSpc>
                <a:spcPct val="125000"/>
              </a:lnSpc>
            </a:pPr>
            <a:r>
              <a:rPr lang="en-US" b="0" i="0" u="none" strike="noStrike">
                <a:solidFill>
                  <a:srgbClr val="FEF3C7"/>
                </a:solidFill>
                <a:latin typeface="SimHei"/>
                <a:ea typeface="SimHei"/>
                <a:cs typeface="SimHei"/>
                <a:sym typeface="SimHei"/>
              </a:rPr>
              <a:t>学生与先修课无直接依赖关系</a:t>
            </a:r>
          </a:p>
        </p:txBody>
      </p:sp>
      <p:sp>
        <p:nvSpPr>
          <p:cNvPr id="7" name="AutoShape 7"/>
          <p:cNvSpPr/>
          <p:nvPr/>
        </p:nvSpPr>
        <p:spPr>
          <a:xfrm>
            <a:off x="8178800" y="3976239"/>
            <a:ext cx="3175000" cy="889000"/>
          </a:xfrm>
          <a:prstGeom prst="roundRect">
            <a:avLst>
              <a:gd name="adj" fmla="val 0"/>
            </a:avLst>
          </a:prstGeom>
          <a:solidFill>
            <a:srgbClr val="10B981">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SimHei"/>
                <a:ea typeface="SimHei"/>
                <a:cs typeface="SimHei"/>
                <a:sym typeface="SimHei"/>
              </a:rPr>
              <a:t>策略：垂直分解模式</a:t>
            </a:r>
            <a:endParaRPr lang="en-US" sz="1100"/>
          </a:p>
          <a:p>
            <a:pPr indent="0" algn="ctr">
              <a:lnSpc>
                <a:spcPct val="125000"/>
              </a:lnSpc>
            </a:pPr>
            <a:r>
              <a:rPr lang="en-US" b="0" i="0" u="none" strike="noStrike">
                <a:solidFill>
                  <a:srgbClr val="D1FAE5"/>
                </a:solidFill>
                <a:latin typeface="SimHei"/>
                <a:ea typeface="SimHei"/>
                <a:cs typeface="SimHei"/>
                <a:sym typeface="SimHei"/>
              </a:rPr>
              <a:t>一分为二，隔离间接依赖属性</a:t>
            </a:r>
          </a:p>
        </p:txBody>
      </p:sp>
      <p:sp>
        <p:nvSpPr>
          <p:cNvPr id="8" name="AutoShape 8"/>
          <p:cNvSpPr/>
          <p:nvPr/>
        </p:nvSpPr>
        <p:spPr>
          <a:xfrm>
            <a:off x="8178800" y="5209449"/>
            <a:ext cx="3175000" cy="889000"/>
          </a:xfrm>
          <a:prstGeom prst="roundRect">
            <a:avLst>
              <a:gd name="adj" fmla="val 0"/>
            </a:avLst>
          </a:prstGeom>
          <a:solidFill>
            <a:srgbClr val="8B5CF6">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SimHei"/>
                <a:ea typeface="SimHei"/>
                <a:cs typeface="SimHei"/>
                <a:sym typeface="SimHei"/>
              </a:rPr>
              <a:t>结果：消除冗余与异常</a:t>
            </a:r>
            <a:endParaRPr lang="en-US" sz="1100"/>
          </a:p>
          <a:p>
            <a:pPr indent="0" algn="ctr">
              <a:lnSpc>
                <a:spcPct val="125000"/>
              </a:lnSpc>
            </a:pPr>
            <a:r>
              <a:rPr lang="en-US" b="0" i="0" u="none" strike="noStrike">
                <a:solidFill>
                  <a:srgbClr val="EDE9FE"/>
                </a:solidFill>
                <a:latin typeface="SimHei"/>
                <a:ea typeface="SimHei"/>
                <a:cs typeface="SimHei"/>
                <a:sym typeface="SimHei"/>
              </a:rPr>
              <a:t>优化数据结构，提升维护性</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SimHei"/>
              </a:rPr>
              <a:t>7.5.1 多值依赖的定义(3)</a:t>
            </a:r>
            <a:endParaRPr lang="en-US" sz="2400" b="1">
              <a:solidFill>
                <a:srgbClr val="FFFFFF"/>
              </a:solidFill>
              <a:latin typeface="Noto Sans SC"/>
              <a:ea typeface="Noto Sans SC"/>
            </a:endParaRPr>
          </a:p>
        </p:txBody>
      </p:sp>
      <p:sp>
        <p:nvSpPr>
          <p:cNvPr id="3" name="AutoShape 3"/>
          <p:cNvSpPr/>
          <p:nvPr/>
        </p:nvSpPr>
        <p:spPr>
          <a:xfrm>
            <a:off x="838200" y="1435100"/>
            <a:ext cx="5718544" cy="1868973"/>
          </a:xfrm>
          <a:prstGeom prst="rect">
            <a:avLst/>
          </a:prstGeom>
          <a:noFill/>
          <a:ln w="12700" cap="flat" cmpd="sng">
            <a:noFill/>
            <a:prstDash val="solid"/>
            <a:round/>
          </a:ln>
        </p:spPr>
        <p:txBody>
          <a:bodyPr vert="horz" wrap="square" lIns="0" tIns="0" rIns="0" bIns="0" rtlCol="0" anchor="t" anchorCtr="0">
            <a:spAutoFit/>
          </a:bodyPr>
          <a:lstStyle/>
          <a:p>
            <a:pPr indent="0" algn="l">
              <a:lnSpc>
                <a:spcPct val="108333"/>
              </a:lnSpc>
              <a:defRPr/>
            </a:pPr>
            <a:r>
              <a:rPr lang="en-US" sz="2000" b="1" i="0" u="none" strike="noStrike">
                <a:solidFill>
                  <a:srgbClr val="7030A0"/>
                </a:solidFill>
                <a:latin typeface="Noto Sans SC" panose="020B0200000000000000" pitchFamily="34" charset="-122"/>
                <a:ea typeface="Noto Sans SC" panose="020B0200000000000000" pitchFamily="34" charset="-122"/>
                <a:cs typeface="SimHei"/>
                <a:sym typeface="SimHei"/>
              </a:rPr>
              <a:t>▌ 定义7.25 (多值依赖 MVD)</a:t>
            </a:r>
            <a:endParaRPr lang="en-US" sz="2000">
              <a:latin typeface="Noto Sans SC" panose="020B0200000000000000" pitchFamily="34" charset="-122"/>
              <a:ea typeface="Noto Sans SC" panose="020B0200000000000000" pitchFamily="34" charset="-122"/>
            </a:endParaRPr>
          </a:p>
          <a:p>
            <a:pPr indent="0" algn="just">
              <a:lnSpc>
                <a:spcPct val="150000"/>
              </a:lnSpc>
              <a:spcBef>
                <a:spcPts val="800"/>
              </a:spcBef>
            </a:pPr>
            <a:r>
              <a:rPr lang="en-US" sz="1600" b="0" i="0" u="none" strike="noStrike">
                <a:solidFill>
                  <a:srgbClr val="333333"/>
                </a:solidFill>
                <a:latin typeface="Noto Sans SC" panose="020B0200000000000000" pitchFamily="34" charset="-122"/>
                <a:ea typeface="Noto Sans SC" panose="020B0200000000000000" pitchFamily="34" charset="-122"/>
                <a:cs typeface="SimHei"/>
                <a:sym typeface="SimHei"/>
              </a:rPr>
              <a:t>设 U 是关系模式 R 的属性集，X、Y 是 U 的子集，Z = U - X - Y。若对于 R 的任意关系 r，只要 r 中存在元组 (xy₁z₁) 和 (xy₂z₂)，就必然存在元组 (xy₂z₁) 和 (xy₁z₂)，则称“Y(Z) 多值依赖于 X”，记作</a:t>
            </a:r>
            <a:r>
              <a:rPr lang="en-US" sz="1600" b="1" i="0" u="none" strike="noStrike">
                <a:solidFill>
                  <a:srgbClr val="C00000"/>
                </a:solidFill>
                <a:latin typeface="Noto Sans SC" panose="020B0200000000000000" pitchFamily="34" charset="-122"/>
                <a:ea typeface="Noto Sans SC" panose="020B0200000000000000" pitchFamily="34" charset="-122"/>
                <a:cs typeface="SimHei"/>
                <a:sym typeface="SimHei"/>
              </a:rPr>
              <a:t>X →→ Y(Z)</a:t>
            </a:r>
            <a:r>
              <a:rPr lang="en-US" sz="1600" b="0" i="0" u="none" strike="noStrike">
                <a:solidFill>
                  <a:srgbClr val="333333"/>
                </a:solidFill>
                <a:latin typeface="Noto Sans SC" panose="020B0200000000000000" pitchFamily="34" charset="-122"/>
                <a:ea typeface="Noto Sans SC" panose="020B0200000000000000" pitchFamily="34" charset="-122"/>
                <a:cs typeface="SimHei"/>
                <a:sym typeface="SimHei"/>
              </a:rPr>
              <a:t>，X 称为多值依赖的决定因素。</a:t>
            </a:r>
            <a:endParaRPr lang="en-US" sz="1600" b="1" i="0" u="none" strike="noStrike">
              <a:solidFill>
                <a:srgbClr val="7030A0"/>
              </a:solidFill>
              <a:latin typeface="Noto Sans SC" panose="020B0200000000000000" pitchFamily="34" charset="-122"/>
              <a:ea typeface="Noto Sans SC" panose="020B0200000000000000" pitchFamily="34" charset="-122"/>
              <a:cs typeface="SimHei"/>
              <a:sym typeface="SimHei"/>
            </a:endParaRPr>
          </a:p>
        </p:txBody>
      </p:sp>
      <p:sp>
        <p:nvSpPr>
          <p:cNvPr id="4" name="AutoShape 4"/>
          <p:cNvSpPr/>
          <p:nvPr/>
        </p:nvSpPr>
        <p:spPr>
          <a:xfrm>
            <a:off x="7499498" y="1435100"/>
            <a:ext cx="628502" cy="43561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SimHei"/>
              </a:rPr>
              <a:t>核心</a:t>
            </a:r>
            <a:br>
              <a:rPr lang="en-US" sz="1600" b="1">
                <a:solidFill>
                  <a:srgbClr val="FFFFFF"/>
                </a:solidFill>
                <a:latin typeface="Noto Sans SC"/>
                <a:ea typeface="Noto Sans SC"/>
                <a:sym typeface="SimHei"/>
              </a:rPr>
            </a:br>
            <a:r>
              <a:rPr lang="en-US" sz="1600" b="1">
                <a:solidFill>
                  <a:srgbClr val="FFFFFF"/>
                </a:solidFill>
                <a:latin typeface="Noto Sans SC"/>
                <a:ea typeface="Noto Sans SC"/>
                <a:sym typeface="SimHei"/>
              </a:rPr>
              <a:t>特征</a:t>
            </a:r>
            <a:endParaRPr lang="en-US" sz="1600" b="1">
              <a:solidFill>
                <a:srgbClr val="FFFFFF"/>
              </a:solidFill>
              <a:latin typeface="Noto Sans SC"/>
              <a:ea typeface="Noto Sans SC"/>
            </a:endParaRPr>
          </a:p>
        </p:txBody>
      </p:sp>
      <p:sp>
        <p:nvSpPr>
          <p:cNvPr id="5" name="AutoShape 5"/>
          <p:cNvSpPr/>
          <p:nvPr/>
        </p:nvSpPr>
        <p:spPr>
          <a:xfrm>
            <a:off x="8140700" y="1435100"/>
            <a:ext cx="3213100" cy="647700"/>
          </a:xfrm>
          <a:prstGeom prst="roundRect">
            <a:avLst>
              <a:gd name="adj" fmla="val 0"/>
            </a:avLst>
          </a:prstGeom>
          <a:solidFill>
            <a:srgbClr val="1E293B">
              <a:alpha val="100000"/>
            </a:srgbClr>
          </a:solidFill>
          <a:ln w="12700" cap="flat" cmpd="sng">
            <a:solidFill>
              <a:srgbClr val="CBD5E1">
                <a:alpha val="100000"/>
              </a:srgbClr>
            </a:solidFill>
            <a:prstDash val="solid"/>
            <a:miter lim="10000000"/>
          </a:ln>
        </p:spPr>
        <p:txBody>
          <a:bodyPr vert="horz" wrap="square" lIns="63500" tIns="63500" rIns="63500" bIns="63500" rtlCol="0" anchor="ctr" anchorCtr="0"/>
          <a:lstStyle/>
          <a:p>
            <a:pPr indent="0" algn="ctr">
              <a:lnSpc>
                <a:spcPct val="100000"/>
              </a:lnSpc>
              <a:defRPr/>
            </a:pPr>
            <a:r>
              <a:rPr lang="en-US" sz="1600" b="0" i="0" u="none" strike="noStrike">
                <a:solidFill>
                  <a:srgbClr val="FFFFFF"/>
                </a:solidFill>
                <a:latin typeface="SimHei"/>
                <a:ea typeface="SimHei"/>
                <a:cs typeface="SimHei"/>
                <a:sym typeface="SimHei"/>
              </a:rPr>
              <a:t>属性可自由交换组合</a:t>
            </a:r>
            <a:endParaRPr lang="en-US" sz="1100"/>
          </a:p>
        </p:txBody>
      </p:sp>
      <p:sp>
        <p:nvSpPr>
          <p:cNvPr id="6" name="AutoShape 6"/>
          <p:cNvSpPr/>
          <p:nvPr/>
        </p:nvSpPr>
        <p:spPr>
          <a:xfrm>
            <a:off x="8140700" y="2362200"/>
            <a:ext cx="3213100" cy="647700"/>
          </a:xfrm>
          <a:prstGeom prst="roundRect">
            <a:avLst>
              <a:gd name="adj" fmla="val 0"/>
            </a:avLst>
          </a:prstGeom>
          <a:solidFill>
            <a:srgbClr val="1E293B">
              <a:alpha val="100000"/>
            </a:srgbClr>
          </a:solidFill>
          <a:ln w="12700" cap="flat" cmpd="sng">
            <a:solidFill>
              <a:srgbClr val="CBD5E1">
                <a:alpha val="100000"/>
              </a:srgbClr>
            </a:solidFill>
            <a:prstDash val="solid"/>
            <a:miter lim="10000000"/>
          </a:ln>
        </p:spPr>
        <p:txBody>
          <a:bodyPr vert="horz" wrap="square" lIns="63500" tIns="63500" rIns="63500" bIns="63500" rtlCol="0" anchor="ctr" anchorCtr="0"/>
          <a:lstStyle/>
          <a:p>
            <a:pPr indent="0" algn="ctr">
              <a:lnSpc>
                <a:spcPct val="100000"/>
              </a:lnSpc>
              <a:defRPr/>
            </a:pPr>
            <a:r>
              <a:rPr lang="en-US" sz="1600" b="0" i="0" u="none" strike="noStrike">
                <a:solidFill>
                  <a:srgbClr val="FFFFFF"/>
                </a:solidFill>
                <a:latin typeface="SimHei"/>
                <a:ea typeface="SimHei"/>
                <a:cs typeface="SimHei"/>
                <a:sym typeface="SimHei"/>
              </a:rPr>
              <a:t>体现“一对多”的联系</a:t>
            </a:r>
            <a:endParaRPr lang="en-US" sz="1100"/>
          </a:p>
        </p:txBody>
      </p:sp>
      <p:sp>
        <p:nvSpPr>
          <p:cNvPr id="7" name="AutoShape 7"/>
          <p:cNvSpPr/>
          <p:nvPr/>
        </p:nvSpPr>
        <p:spPr>
          <a:xfrm>
            <a:off x="8140700" y="3302000"/>
            <a:ext cx="3213100" cy="647700"/>
          </a:xfrm>
          <a:prstGeom prst="roundRect">
            <a:avLst>
              <a:gd name="adj" fmla="val 0"/>
            </a:avLst>
          </a:prstGeom>
          <a:solidFill>
            <a:srgbClr val="1E293B">
              <a:alpha val="100000"/>
            </a:srgbClr>
          </a:solidFill>
          <a:ln w="12700" cap="flat" cmpd="sng">
            <a:solidFill>
              <a:srgbClr val="CBD5E1">
                <a:alpha val="100000"/>
              </a:srgbClr>
            </a:solidFill>
            <a:prstDash val="solid"/>
            <a:miter lim="10000000"/>
          </a:ln>
        </p:spPr>
        <p:txBody>
          <a:bodyPr vert="horz" wrap="square" lIns="63500" tIns="63500" rIns="63500" bIns="63500" rtlCol="0" anchor="ctr" anchorCtr="0"/>
          <a:lstStyle/>
          <a:p>
            <a:pPr indent="0" algn="ctr">
              <a:lnSpc>
                <a:spcPct val="100000"/>
              </a:lnSpc>
              <a:defRPr/>
            </a:pPr>
            <a:r>
              <a:rPr lang="en-US" sz="1600" b="0" i="0" u="none" strike="noStrike">
                <a:solidFill>
                  <a:srgbClr val="FFFFFF"/>
                </a:solidFill>
                <a:latin typeface="SimHei"/>
                <a:ea typeface="SimHei"/>
                <a:cs typeface="SimHei"/>
                <a:sym typeface="SimHei"/>
              </a:rPr>
              <a:t>消除关系中的数据冗余</a:t>
            </a:r>
            <a:endParaRPr lang="en-US" sz="1100"/>
          </a:p>
        </p:txBody>
      </p:sp>
      <p:sp>
        <p:nvSpPr>
          <p:cNvPr id="8" name="AutoShape 8"/>
          <p:cNvSpPr/>
          <p:nvPr/>
        </p:nvSpPr>
        <p:spPr>
          <a:xfrm>
            <a:off x="8140700" y="4241800"/>
            <a:ext cx="3213100" cy="647700"/>
          </a:xfrm>
          <a:prstGeom prst="roundRect">
            <a:avLst>
              <a:gd name="adj" fmla="val 0"/>
            </a:avLst>
          </a:prstGeom>
          <a:solidFill>
            <a:srgbClr val="1E293B">
              <a:alpha val="100000"/>
            </a:srgbClr>
          </a:solidFill>
          <a:ln w="12700" cap="flat" cmpd="sng">
            <a:solidFill>
              <a:srgbClr val="CBD5E1">
                <a:alpha val="100000"/>
              </a:srgbClr>
            </a:solidFill>
            <a:prstDash val="solid"/>
            <a:miter lim="10000000"/>
          </a:ln>
        </p:spPr>
        <p:txBody>
          <a:bodyPr vert="horz" wrap="square" lIns="63500" tIns="63500" rIns="63500" bIns="63500" rtlCol="0" anchor="ctr" anchorCtr="0"/>
          <a:lstStyle/>
          <a:p>
            <a:pPr indent="0" algn="ctr">
              <a:lnSpc>
                <a:spcPct val="100000"/>
              </a:lnSpc>
              <a:defRPr/>
            </a:pPr>
            <a:r>
              <a:rPr lang="en-US" sz="1600" b="0" i="0" u="none" strike="noStrike">
                <a:solidFill>
                  <a:srgbClr val="FFFFFF"/>
                </a:solidFill>
                <a:latin typeface="SimHei"/>
                <a:ea typeface="SimHei"/>
                <a:cs typeface="SimHei"/>
                <a:sym typeface="SimHei"/>
              </a:rPr>
              <a:t>符号: X →→ Y (双箭头)</a:t>
            </a:r>
            <a:endParaRPr lang="en-US" sz="1100"/>
          </a:p>
        </p:txBody>
      </p:sp>
      <p:sp>
        <p:nvSpPr>
          <p:cNvPr id="9" name="AutoShape 9"/>
          <p:cNvSpPr/>
          <p:nvPr/>
        </p:nvSpPr>
        <p:spPr>
          <a:xfrm>
            <a:off x="8140700" y="5130800"/>
            <a:ext cx="3213100" cy="647700"/>
          </a:xfrm>
          <a:prstGeom prst="roundRect">
            <a:avLst>
              <a:gd name="adj" fmla="val 0"/>
            </a:avLst>
          </a:prstGeom>
          <a:solidFill>
            <a:srgbClr val="C00000">
              <a:alpha val="100000"/>
            </a:srgbClr>
          </a:solidFill>
          <a:ln w="12700" cap="flat" cmpd="sng">
            <a:solidFill>
              <a:srgbClr val="FFFFFF">
                <a:alpha val="100000"/>
              </a:srgbClr>
            </a:solidFill>
            <a:prstDash val="solid"/>
            <a:miter lim="10000000"/>
          </a:ln>
        </p:spPr>
        <p:txBody>
          <a:bodyPr vert="horz" wrap="square" lIns="63500" tIns="63500" rIns="63500" bIns="63500" rtlCol="0" anchor="ctr" anchorCtr="0"/>
          <a:lstStyle/>
          <a:p>
            <a:pPr indent="0" algn="ctr">
              <a:lnSpc>
                <a:spcPct val="100000"/>
              </a:lnSpc>
              <a:defRPr/>
            </a:pPr>
            <a:r>
              <a:rPr lang="en-US" sz="1600" b="1" i="0" u="none" strike="noStrike">
                <a:solidFill>
                  <a:srgbClr val="FFFFFF"/>
                </a:solidFill>
                <a:latin typeface="SimHei"/>
                <a:ea typeface="SimHei"/>
                <a:cs typeface="SimHei"/>
                <a:sym typeface="SimHei"/>
              </a:rPr>
              <a:t>4NF范式的理论基础</a:t>
            </a:r>
            <a:endParaRPr lang="en-US" sz="1100"/>
          </a:p>
        </p:txBody>
      </p:sp>
      <p:sp>
        <p:nvSpPr>
          <p:cNvPr id="10" name="AutoShape 4">
            <a:extLst>
              <a:ext uri="{FF2B5EF4-FFF2-40B4-BE49-F238E27FC236}">
                <a16:creationId xmlns:a16="http://schemas.microsoft.com/office/drawing/2014/main" id="{C1BF34D7-4168-B860-0559-4622A7C888F4}"/>
              </a:ext>
            </a:extLst>
          </p:cNvPr>
          <p:cNvSpPr/>
          <p:nvPr/>
        </p:nvSpPr>
        <p:spPr>
          <a:xfrm>
            <a:off x="838200" y="3569220"/>
            <a:ext cx="4557459"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15</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b="1">
                <a:solidFill>
                  <a:srgbClr val="7030A0"/>
                </a:solidFill>
                <a:latin typeface="Noto Sans SC"/>
                <a:ea typeface="Noto Sans SC"/>
                <a:cs typeface="Noto Sans SC"/>
                <a:sym typeface="Noto Sans SC"/>
              </a:rPr>
              <a:t>一对多联系的</a:t>
            </a:r>
            <a:r>
              <a:rPr lang="en-US" altLang="zh-CN" sz="2000" b="1">
                <a:solidFill>
                  <a:srgbClr val="7030A0"/>
                </a:solidFill>
                <a:latin typeface="Noto Sans SC"/>
                <a:ea typeface="Noto Sans SC"/>
                <a:cs typeface="Noto Sans SC"/>
                <a:sym typeface="Noto Sans SC"/>
              </a:rPr>
              <a:t>MVD</a:t>
            </a:r>
            <a:r>
              <a:rPr lang="zh-CN" altLang="en-US" sz="2000" b="1">
                <a:solidFill>
                  <a:srgbClr val="7030A0"/>
                </a:solidFill>
                <a:latin typeface="Noto Sans SC"/>
                <a:ea typeface="Noto Sans SC"/>
                <a:cs typeface="Noto Sans SC"/>
                <a:sym typeface="Noto Sans SC"/>
              </a:rPr>
              <a:t>表示</a:t>
            </a:r>
            <a:endParaRPr lang="zh-CN" altLang="en-US" sz="2000">
              <a:solidFill>
                <a:srgbClr val="7030A0"/>
              </a:solidFill>
              <a:latin typeface="Noto Sans SC Black" panose="020B0200000000000000" pitchFamily="34" charset="-122"/>
              <a:ea typeface="Noto Sans SC Black" panose="020B0200000000000000" pitchFamily="34" charset="-122"/>
              <a:sym typeface="Noto Sans SC"/>
            </a:endParaRPr>
          </a:p>
        </p:txBody>
      </p:sp>
      <p:sp>
        <p:nvSpPr>
          <p:cNvPr id="12" name="文本框 11">
            <a:extLst>
              <a:ext uri="{FF2B5EF4-FFF2-40B4-BE49-F238E27FC236}">
                <a16:creationId xmlns:a16="http://schemas.microsoft.com/office/drawing/2014/main" id="{53B80830-EF50-CAFB-73BF-1AB39AD62CE8}"/>
              </a:ext>
            </a:extLst>
          </p:cNvPr>
          <p:cNvSpPr txBox="1"/>
          <p:nvPr/>
        </p:nvSpPr>
        <p:spPr>
          <a:xfrm>
            <a:off x="838200" y="4000760"/>
            <a:ext cx="5718544" cy="1803251"/>
          </a:xfrm>
          <a:prstGeom prst="rect">
            <a:avLst/>
          </a:prstGeom>
          <a:noFill/>
          <a:ln w="12700" cap="flat" cmpd="sng">
            <a:noFill/>
            <a:prstDash val="solid"/>
            <a:round/>
          </a:ln>
        </p:spPr>
        <p:txBody>
          <a:bodyPr vert="horz" wrap="square" lIns="0" tIns="0" rIns="0" bIns="0" rtlCol="0" anchor="t" anchorCtr="0">
            <a:spAutoFit/>
          </a:bodyPr>
          <a:lstStyle>
            <a:defPPr marR="0" lvl="0" algn="l" rtl="0">
              <a:lnSpc>
                <a:spcPct val="100000"/>
              </a:lnSpc>
              <a:spcBef>
                <a:spcPts val="0"/>
              </a:spcBef>
              <a:spcAft>
                <a:spcPts val="0"/>
              </a:spcAft>
            </a:defPPr>
            <a:lvl1pPr indent="0">
              <a:lnSpc>
                <a:spcPct val="108333"/>
              </a:lnSpc>
              <a:defRPr sz="2000" b="1">
                <a:solidFill>
                  <a:srgbClr val="7030A0"/>
                </a:solidFill>
                <a:latin typeface="Noto Sans SC" panose="020B0200000000000000" pitchFamily="34" charset="-122"/>
                <a:ea typeface="Noto Sans SC" panose="020B0200000000000000" pitchFamily="34" charset="-122"/>
                <a:cs typeface="SimHei"/>
              </a:defRPr>
            </a:lvl1pPr>
          </a:lstStyle>
          <a:p>
            <a:pPr algn="just">
              <a:lnSpc>
                <a:spcPct val="150000"/>
              </a:lnSpc>
              <a:spcBef>
                <a:spcPts val="800"/>
              </a:spcBef>
            </a:pPr>
            <a:r>
              <a:rPr lang="en-US" altLang="zh-CN" sz="1600" b="0">
                <a:solidFill>
                  <a:srgbClr val="333333"/>
                </a:solidFill>
                <a:sym typeface="SimHei"/>
              </a:rPr>
              <a:t>在 课程-学生-先修课 的关系模式中，一门课程对应多个学生和多门先修课，且学生与先修课之间无直接关联，其多值依赖关系表现为：</a:t>
            </a:r>
          </a:p>
          <a:p>
            <a:pPr algn="just">
              <a:lnSpc>
                <a:spcPct val="150000"/>
              </a:lnSpc>
            </a:pPr>
            <a:r>
              <a:rPr lang="en-US" altLang="zh-CN" sz="1600" b="0">
                <a:solidFill>
                  <a:srgbClr val="333333"/>
                </a:solidFill>
                <a:sym typeface="SimHei"/>
              </a:rPr>
              <a:t>C# →→ S# (一门课对应多个选课学生)</a:t>
            </a:r>
          </a:p>
          <a:p>
            <a:pPr algn="just">
              <a:lnSpc>
                <a:spcPct val="150000"/>
              </a:lnSpc>
            </a:pPr>
            <a:r>
              <a:rPr lang="en-US" altLang="zh-CN" sz="1600" b="0">
                <a:solidFill>
                  <a:srgbClr val="333333"/>
                </a:solidFill>
                <a:sym typeface="SimHei"/>
              </a:rPr>
              <a:t>C# →→ PreC# (一门课对应多门先修课程)</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466763"/>
            <a:ext cx="10515600" cy="565073"/>
          </a:xfrm>
          <a:prstGeom prst="roundRect">
            <a:avLst>
              <a:gd name="adj" fmla="val 0"/>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altLang="zh-CN" sz="2400" b="1">
                <a:solidFill>
                  <a:srgbClr val="FFFFFF"/>
                </a:solidFill>
                <a:latin typeface="Noto Sans SC"/>
                <a:ea typeface="Noto Sans SC"/>
                <a:sym typeface="Noto Sans SC"/>
              </a:rPr>
              <a:t>7.5.2 FD 和 MVD 的推理规则集 (1)</a:t>
            </a:r>
            <a:endParaRPr sz="2400" b="1">
              <a:solidFill>
                <a:srgbClr val="FFFFFF"/>
              </a:solidFill>
              <a:latin typeface="Noto Sans SC"/>
              <a:ea typeface="Noto Sans SC"/>
            </a:endParaRPr>
          </a:p>
        </p:txBody>
      </p:sp>
      <p:sp>
        <p:nvSpPr>
          <p:cNvPr id="4" name="AutoShape 4"/>
          <p:cNvSpPr/>
          <p:nvPr/>
        </p:nvSpPr>
        <p:spPr>
          <a:xfrm>
            <a:off x="838200" y="1396999"/>
            <a:ext cx="4074042" cy="5092699"/>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092200" y="1651000"/>
            <a:ext cx="3593214" cy="4445000"/>
          </a:xfrm>
          <a:prstGeom prst="rect">
            <a:avLst/>
          </a:prstGeom>
          <a:noFill/>
          <a:ln w="12700" cap="flat" cmpd="sng">
            <a:noFill/>
            <a:prstDash val="solid"/>
            <a:round/>
          </a:ln>
        </p:spPr>
        <p:txBody>
          <a:bodyPr vert="horz" wrap="square" lIns="0" tIns="0" rIns="0" bIns="0" rtlCol="0" anchor="t" anchorCtr="0"/>
          <a:lstStyle/>
          <a:p>
            <a:pPr indent="0" algn="l">
              <a:lnSpc>
                <a:spcPct val="100000"/>
              </a:lnSpc>
              <a:spcAft>
                <a:spcPts val="1200"/>
              </a:spcAft>
              <a:defRPr/>
            </a:pPr>
            <a:r>
              <a:rPr lang="en-US" sz="2000" b="1" i="0" u="none" strike="noStrike">
                <a:solidFill>
                  <a:srgbClr val="7030A0"/>
                </a:solidFill>
                <a:latin typeface="Noto Sans SC"/>
                <a:ea typeface="Noto Sans SC"/>
                <a:cs typeface="Noto Sans SC"/>
                <a:sym typeface="Noto Sans SC"/>
              </a:rPr>
              <a:t>▌ 函数依赖 (FD) 推理规则</a:t>
            </a:r>
            <a:endParaRPr lang="en-US" sz="1200"/>
          </a:p>
          <a:p>
            <a:pPr indent="0" algn="l">
              <a:lnSpc>
                <a:spcPct val="150000"/>
              </a:lnSpc>
              <a:spcBef>
                <a:spcPts val="800"/>
              </a:spcBef>
            </a:pPr>
            <a:r>
              <a:rPr lang="en-US" sz="1600" b="1" i="0" u="none" strike="noStrike">
                <a:solidFill>
                  <a:srgbClr val="111827"/>
                </a:solidFill>
                <a:latin typeface="Noto Sans SC"/>
                <a:ea typeface="Noto Sans SC"/>
                <a:cs typeface="Noto Sans SC"/>
                <a:sym typeface="Noto Sans SC"/>
              </a:rPr>
              <a:t>A1 (自反性, Reflexivity)：</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74151"/>
                </a:solidFill>
                <a:latin typeface="Noto Sans SC"/>
                <a:ea typeface="Noto Sans SC"/>
                <a:cs typeface="Noto Sans SC"/>
                <a:sym typeface="Noto Sans SC"/>
              </a:rPr>
              <a:t>若属性集 Y 是 X 的子集 (Y⊆X)，则必有 X → Y。这是平凡的函数依赖。</a:t>
            </a:r>
          </a:p>
          <a:p>
            <a:pPr indent="0" algn="l">
              <a:lnSpc>
                <a:spcPct val="150000"/>
              </a:lnSpc>
              <a:spcBef>
                <a:spcPts val="1000"/>
              </a:spcBef>
            </a:pPr>
            <a:r>
              <a:rPr lang="en-US" sz="1600" b="1" i="0" u="none" strike="noStrike">
                <a:solidFill>
                  <a:srgbClr val="111827"/>
                </a:solidFill>
                <a:latin typeface="Noto Sans SC"/>
                <a:ea typeface="Noto Sans SC"/>
                <a:cs typeface="Noto Sans SC"/>
                <a:sym typeface="Noto Sans SC"/>
              </a:rPr>
              <a:t>A2 (增广性, Augmentation)：</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74151"/>
                </a:solidFill>
                <a:latin typeface="Noto Sans SC"/>
                <a:ea typeface="Noto Sans SC"/>
                <a:cs typeface="Noto Sans SC"/>
                <a:sym typeface="Noto Sans SC"/>
              </a:rPr>
              <a:t>若 X → Y 成立，且 Z⊆U，则两边同时增加属性 Z 后，XZ → YZ 依然成立。</a:t>
            </a:r>
          </a:p>
          <a:p>
            <a:pPr indent="0" algn="l">
              <a:lnSpc>
                <a:spcPct val="150000"/>
              </a:lnSpc>
              <a:spcBef>
                <a:spcPts val="1000"/>
              </a:spcBef>
            </a:pPr>
            <a:r>
              <a:rPr lang="en-US" sz="1600" b="1" i="0" u="none" strike="noStrike">
                <a:solidFill>
                  <a:srgbClr val="111827"/>
                </a:solidFill>
                <a:latin typeface="Noto Sans SC"/>
                <a:ea typeface="Noto Sans SC"/>
                <a:cs typeface="Noto Sans SC"/>
                <a:sym typeface="Noto Sans SC"/>
              </a:rPr>
              <a:t>A3 (传递性, Transitivity)：</a:t>
            </a:r>
            <a:br>
              <a:rPr lang="en-US" sz="1600" b="0" i="0" u="none" strike="noStrike">
                <a:solidFill>
                  <a:srgbClr val="1F2329"/>
                </a:solidFill>
                <a:latin typeface="Noto Sans SC"/>
                <a:ea typeface="Noto Sans SC"/>
                <a:cs typeface="Noto Sans SC"/>
                <a:sym typeface="Noto Sans SC"/>
              </a:rPr>
            </a:br>
            <a:r>
              <a:rPr lang="en-US" sz="1600" b="0" i="0" u="none" strike="noStrike">
                <a:solidFill>
                  <a:srgbClr val="374151"/>
                </a:solidFill>
                <a:latin typeface="Noto Sans SC"/>
                <a:ea typeface="Noto Sans SC"/>
                <a:cs typeface="Noto Sans SC"/>
                <a:sym typeface="Noto Sans SC"/>
              </a:rPr>
              <a:t>若 X → Y 和 Y → Z 都成立，则可以推导出 X → Z 也成立。</a:t>
            </a:r>
            <a:endParaRPr lang="en-US" b="0" i="0" u="none" strike="noStrike">
              <a:solidFill>
                <a:srgbClr val="374151"/>
              </a:solidFill>
              <a:latin typeface="Noto Sans SC"/>
              <a:ea typeface="Noto Sans SC"/>
              <a:cs typeface="Noto Sans SC"/>
              <a:sym typeface="Noto Sans SC"/>
            </a:endParaRPr>
          </a:p>
        </p:txBody>
      </p:sp>
      <p:sp>
        <p:nvSpPr>
          <p:cNvPr id="6" name="AutoShape 6"/>
          <p:cNvSpPr/>
          <p:nvPr/>
        </p:nvSpPr>
        <p:spPr>
          <a:xfrm>
            <a:off x="5791200" y="1397000"/>
            <a:ext cx="5562600" cy="5092700"/>
          </a:xfrm>
          <a:prstGeom prst="roundRect">
            <a:avLst>
              <a:gd name="adj" fmla="val 0"/>
            </a:avLst>
          </a:prstGeom>
          <a:solidFill>
            <a:srgbClr val="F9FAFB">
              <a:alpha val="10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endParaRPr/>
          </a:p>
        </p:txBody>
      </p:sp>
      <p:sp>
        <p:nvSpPr>
          <p:cNvPr id="7" name="AutoShape 7"/>
          <p:cNvSpPr/>
          <p:nvPr/>
        </p:nvSpPr>
        <p:spPr>
          <a:xfrm>
            <a:off x="6073552" y="1651000"/>
            <a:ext cx="5026248" cy="4671022"/>
          </a:xfrm>
          <a:prstGeom prst="rect">
            <a:avLst/>
          </a:prstGeom>
          <a:noFill/>
          <a:ln w="12700" cap="flat" cmpd="sng">
            <a:noFill/>
            <a:prstDash val="solid"/>
            <a:round/>
          </a:ln>
        </p:spPr>
        <p:txBody>
          <a:bodyPr vert="horz" wrap="square" lIns="0" tIns="0" rIns="0" bIns="0" rtlCol="0" anchor="t" anchorCtr="0">
            <a:spAutoFit/>
          </a:bodyPr>
          <a:lstStyle/>
          <a:p>
            <a:pPr indent="0" algn="l">
              <a:lnSpc>
                <a:spcPct val="100000"/>
              </a:lnSpc>
              <a:spcAft>
                <a:spcPts val="1200"/>
              </a:spcAft>
              <a:defRPr/>
            </a:pPr>
            <a:r>
              <a:rPr lang="en-US" sz="2000" b="1" i="0" u="none" strike="noStrike">
                <a:solidFill>
                  <a:srgbClr val="7030A0"/>
                </a:solidFill>
                <a:latin typeface="Noto Sans SC"/>
                <a:ea typeface="Noto Sans SC"/>
                <a:cs typeface="Noto Sans SC"/>
                <a:sym typeface="Noto Sans SC"/>
              </a:rPr>
              <a:t>▌ 多值依赖 (MVD) 与混合规则</a:t>
            </a:r>
            <a:endParaRPr lang="en-US" sz="1200"/>
          </a:p>
          <a:p>
            <a:pPr indent="0" algn="l">
              <a:lnSpc>
                <a:spcPct val="150000"/>
              </a:lnSpc>
            </a:pPr>
            <a:r>
              <a:rPr lang="en-US" sz="1600" b="1" i="0" u="none" strike="noStrike">
                <a:solidFill>
                  <a:srgbClr val="1F2937"/>
                </a:solidFill>
                <a:latin typeface="Noto Sans SC"/>
                <a:ea typeface="Noto Sans SC"/>
                <a:cs typeface="Noto Sans SC"/>
                <a:sym typeface="Noto Sans SC"/>
              </a:rPr>
              <a:t>MVD 核心规则：</a:t>
            </a:r>
          </a:p>
          <a:p>
            <a:pPr indent="0" algn="l">
              <a:lnSpc>
                <a:spcPct val="150000"/>
              </a:lnSpc>
            </a:pPr>
            <a:r>
              <a:rPr lang="en-US" b="1" i="0" u="none" strike="noStrike">
                <a:solidFill>
                  <a:srgbClr val="4B5563"/>
                </a:solidFill>
                <a:latin typeface="Noto Sans SC"/>
                <a:ea typeface="Noto Sans SC"/>
                <a:cs typeface="Noto Sans SC"/>
                <a:sym typeface="Noto Sans SC"/>
              </a:rPr>
              <a:t>M1(</a:t>
            </a:r>
            <a:r>
              <a:rPr lang="zh-CN" altLang="en-US" b="1">
                <a:solidFill>
                  <a:srgbClr val="4B5563"/>
                </a:solidFill>
                <a:latin typeface="Noto Sans SC"/>
                <a:ea typeface="Noto Sans SC"/>
                <a:cs typeface="Noto Sans SC"/>
                <a:sym typeface="Noto Sans SC"/>
              </a:rPr>
              <a:t>互补</a:t>
            </a:r>
            <a:r>
              <a:rPr lang="en-US" b="1" i="0" u="none" strike="noStrike">
                <a:solidFill>
                  <a:srgbClr val="4B5563"/>
                </a:solidFill>
                <a:latin typeface="Noto Sans SC"/>
                <a:ea typeface="Noto Sans SC"/>
                <a:cs typeface="Noto Sans SC"/>
                <a:sym typeface="Noto Sans SC"/>
              </a:rPr>
              <a:t>)  </a:t>
            </a:r>
            <a:r>
              <a:rPr lang="en-US" b="0" i="0" u="none" strike="noStrike">
                <a:solidFill>
                  <a:srgbClr val="4B5563"/>
                </a:solidFill>
                <a:latin typeface="Noto Sans SC"/>
                <a:ea typeface="Noto Sans SC"/>
                <a:cs typeface="Noto Sans SC"/>
                <a:sym typeface="Noto Sans SC"/>
              </a:rPr>
              <a:t>X→→Y</a:t>
            </a:r>
            <a:r>
              <a:rPr lang="en-US" b="1" i="0" u="none" strike="noStrike">
                <a:solidFill>
                  <a:srgbClr val="4B5563"/>
                </a:solidFill>
                <a:latin typeface="Noto Sans SC"/>
                <a:ea typeface="Noto Sans SC"/>
                <a:cs typeface="Noto Sans SC"/>
                <a:sym typeface="Noto Sans SC"/>
              </a:rPr>
              <a:t>  </a:t>
            </a:r>
            <a:r>
              <a:rPr lang="en-US" b="1" i="0" u="none" strike="noStrike">
                <a:solidFill>
                  <a:srgbClr val="C00000"/>
                </a:solidFill>
                <a:latin typeface="Noto Sans SC"/>
                <a:ea typeface="Noto Sans SC"/>
                <a:cs typeface="Noto Sans SC"/>
                <a:sym typeface="Noto Sans SC"/>
              </a:rPr>
              <a:t>⇒</a:t>
            </a:r>
            <a:r>
              <a:rPr lang="en-US" b="1" i="0" u="none" strike="noStrike">
                <a:solidFill>
                  <a:srgbClr val="4B5563"/>
                </a:solidFill>
                <a:latin typeface="Noto Sans SC"/>
                <a:ea typeface="Noto Sans SC"/>
                <a:cs typeface="Noto Sans SC"/>
                <a:sym typeface="Noto Sans SC"/>
              </a:rPr>
              <a:t>  </a:t>
            </a:r>
            <a:r>
              <a:rPr lang="en-US" b="0" i="0" u="none" strike="noStrike">
                <a:solidFill>
                  <a:srgbClr val="4B5563"/>
                </a:solidFill>
                <a:latin typeface="Noto Sans SC"/>
                <a:ea typeface="Noto Sans SC"/>
                <a:cs typeface="Noto Sans SC"/>
                <a:sym typeface="Noto Sans SC"/>
              </a:rPr>
              <a:t>X→→(U-XY)</a:t>
            </a:r>
          </a:p>
          <a:p>
            <a:pPr indent="0" algn="l">
              <a:lnSpc>
                <a:spcPct val="150000"/>
              </a:lnSpc>
            </a:pPr>
            <a:r>
              <a:rPr lang="en-US" b="1" i="0" u="none" strike="noStrike">
                <a:solidFill>
                  <a:srgbClr val="4B5563"/>
                </a:solidFill>
                <a:latin typeface="Noto Sans SC"/>
                <a:ea typeface="Noto Sans SC"/>
                <a:cs typeface="Noto Sans SC"/>
                <a:sym typeface="Noto Sans SC"/>
              </a:rPr>
              <a:t>M2(增广)  </a:t>
            </a:r>
            <a:r>
              <a:rPr lang="en-US" b="0" i="0" u="none" strike="noStrike">
                <a:solidFill>
                  <a:srgbClr val="4B5563"/>
                </a:solidFill>
                <a:latin typeface="Noto Sans SC"/>
                <a:ea typeface="Noto Sans SC"/>
                <a:cs typeface="Noto Sans SC"/>
                <a:sym typeface="Noto Sans SC"/>
              </a:rPr>
              <a:t>X→→Y ∧ V⊆W⊆U </a:t>
            </a:r>
            <a:r>
              <a:rPr lang="en-US" b="0" i="0" u="none" strike="noStrike">
                <a:solidFill>
                  <a:srgbClr val="C00000"/>
                </a:solidFill>
                <a:latin typeface="Noto Sans SC"/>
                <a:ea typeface="Noto Sans SC"/>
                <a:cs typeface="Noto Sans SC"/>
                <a:sym typeface="Noto Sans SC"/>
              </a:rPr>
              <a:t> </a:t>
            </a:r>
            <a:r>
              <a:rPr lang="en-US" b="1" i="0" u="none" strike="noStrike">
                <a:solidFill>
                  <a:srgbClr val="C00000"/>
                </a:solidFill>
                <a:latin typeface="Noto Sans SC"/>
                <a:ea typeface="Noto Sans SC"/>
                <a:cs typeface="Noto Sans SC"/>
                <a:sym typeface="Noto Sans SC"/>
              </a:rPr>
              <a:t>⇒ </a:t>
            </a:r>
            <a:r>
              <a:rPr lang="en-US" b="1" i="0" u="none" strike="noStrike">
                <a:solidFill>
                  <a:srgbClr val="4B5563"/>
                </a:solidFill>
                <a:latin typeface="Noto Sans SC"/>
                <a:ea typeface="Noto Sans SC"/>
                <a:cs typeface="Noto Sans SC"/>
                <a:sym typeface="Noto Sans SC"/>
              </a:rPr>
              <a:t> </a:t>
            </a:r>
            <a:r>
              <a:rPr lang="en-US" b="0" i="0" u="none" strike="noStrike">
                <a:solidFill>
                  <a:srgbClr val="4B5563"/>
                </a:solidFill>
                <a:latin typeface="Noto Sans SC"/>
                <a:ea typeface="Noto Sans SC"/>
                <a:cs typeface="Noto Sans SC"/>
                <a:sym typeface="Noto Sans SC"/>
              </a:rPr>
              <a:t>WX→→VY</a:t>
            </a:r>
          </a:p>
          <a:p>
            <a:pPr indent="0" algn="l">
              <a:lnSpc>
                <a:spcPct val="150000"/>
              </a:lnSpc>
            </a:pPr>
            <a:r>
              <a:rPr lang="en-US" b="1" i="0" u="none" strike="noStrike">
                <a:solidFill>
                  <a:srgbClr val="4B5563"/>
                </a:solidFill>
                <a:latin typeface="Noto Sans SC"/>
                <a:ea typeface="Noto Sans SC"/>
                <a:cs typeface="Noto Sans SC"/>
                <a:sym typeface="Noto Sans SC"/>
              </a:rPr>
              <a:t>M3(传递)  </a:t>
            </a:r>
            <a:r>
              <a:rPr lang="en-US" b="0" i="0" u="none" strike="noStrike">
                <a:solidFill>
                  <a:srgbClr val="4B5563"/>
                </a:solidFill>
                <a:latin typeface="Noto Sans SC"/>
                <a:ea typeface="Noto Sans SC"/>
                <a:cs typeface="Noto Sans SC"/>
                <a:sym typeface="Noto Sans SC"/>
              </a:rPr>
              <a:t>X→→Y ∧ Y→→Z</a:t>
            </a:r>
            <a:r>
              <a:rPr lang="en-US" b="1" i="0" u="none" strike="noStrike">
                <a:solidFill>
                  <a:srgbClr val="4B5563"/>
                </a:solidFill>
                <a:latin typeface="Noto Sans SC"/>
                <a:ea typeface="Noto Sans SC"/>
                <a:cs typeface="Noto Sans SC"/>
                <a:sym typeface="Noto Sans SC"/>
              </a:rPr>
              <a:t> </a:t>
            </a:r>
            <a:r>
              <a:rPr lang="en-US" b="1" i="0" u="none" strike="noStrike">
                <a:solidFill>
                  <a:srgbClr val="C00000"/>
                </a:solidFill>
                <a:latin typeface="Noto Sans SC"/>
                <a:ea typeface="Noto Sans SC"/>
                <a:cs typeface="Noto Sans SC"/>
                <a:sym typeface="Noto Sans SC"/>
              </a:rPr>
              <a:t>⇒</a:t>
            </a:r>
            <a:r>
              <a:rPr lang="en-US" b="1" i="0" u="none" strike="noStrike">
                <a:solidFill>
                  <a:srgbClr val="4B5563"/>
                </a:solidFill>
                <a:latin typeface="Noto Sans SC"/>
                <a:ea typeface="Noto Sans SC"/>
                <a:cs typeface="Noto Sans SC"/>
                <a:sym typeface="Noto Sans SC"/>
              </a:rPr>
              <a:t> </a:t>
            </a:r>
            <a:r>
              <a:rPr lang="en-US" b="0" i="0" u="none" strike="noStrike">
                <a:solidFill>
                  <a:srgbClr val="4B5563"/>
                </a:solidFill>
                <a:latin typeface="Noto Sans SC"/>
                <a:ea typeface="Noto Sans SC"/>
                <a:cs typeface="Noto Sans SC"/>
                <a:sym typeface="Noto Sans SC"/>
              </a:rPr>
              <a:t>X→→(Z-Y)</a:t>
            </a:r>
          </a:p>
          <a:p>
            <a:pPr indent="0" algn="l">
              <a:lnSpc>
                <a:spcPct val="100000"/>
              </a:lnSpc>
              <a:spcBef>
                <a:spcPts val="600"/>
              </a:spcBef>
            </a:pPr>
            <a:r>
              <a:rPr lang="en-US" sz="1600" b="1" i="0" u="none" strike="noStrike">
                <a:solidFill>
                  <a:srgbClr val="1F2937"/>
                </a:solidFill>
                <a:latin typeface="Noto Sans SC"/>
                <a:ea typeface="Noto Sans SC"/>
                <a:cs typeface="Noto Sans SC"/>
                <a:sym typeface="Noto Sans SC"/>
              </a:rPr>
              <a:t>MVD 衍生规则：</a:t>
            </a:r>
          </a:p>
          <a:p>
            <a:pPr indent="0" algn="l">
              <a:lnSpc>
                <a:spcPct val="150000"/>
              </a:lnSpc>
            </a:pPr>
            <a:r>
              <a:rPr lang="en-US" b="1">
                <a:solidFill>
                  <a:srgbClr val="4B5563"/>
                </a:solidFill>
                <a:latin typeface="Noto Sans SC"/>
                <a:ea typeface="Noto Sans SC"/>
                <a:sym typeface="Noto Sans SC"/>
              </a:rPr>
              <a:t>M4(</a:t>
            </a:r>
            <a:r>
              <a:rPr lang="zh-CN" altLang="en-US" b="1">
                <a:solidFill>
                  <a:srgbClr val="4B5563"/>
                </a:solidFill>
                <a:latin typeface="Noto Sans SC"/>
                <a:ea typeface="Noto Sans SC"/>
                <a:sym typeface="Noto Sans SC"/>
              </a:rPr>
              <a:t>并</a:t>
            </a:r>
            <a:r>
              <a:rPr lang="en-US" b="1">
                <a:solidFill>
                  <a:srgbClr val="4B5563"/>
                </a:solidFill>
                <a:latin typeface="Noto Sans SC"/>
                <a:ea typeface="Noto Sans SC"/>
                <a:sym typeface="Noto Sans SC"/>
              </a:rPr>
              <a:t>) </a:t>
            </a:r>
            <a:r>
              <a:rPr lang="en-US">
                <a:solidFill>
                  <a:srgbClr val="4B5563"/>
                </a:solidFill>
                <a:latin typeface="Noto Sans SC"/>
                <a:ea typeface="Noto Sans SC"/>
                <a:sym typeface="Noto Sans SC"/>
              </a:rPr>
              <a:t>  X→→YZ</a:t>
            </a:r>
          </a:p>
          <a:p>
            <a:pPr indent="0" algn="l">
              <a:lnSpc>
                <a:spcPct val="150000"/>
              </a:lnSpc>
            </a:pPr>
            <a:r>
              <a:rPr lang="en-US" b="1">
                <a:solidFill>
                  <a:srgbClr val="4B5563"/>
                </a:solidFill>
                <a:latin typeface="Noto Sans SC"/>
                <a:ea typeface="Noto Sans SC"/>
                <a:sym typeface="Noto Sans SC"/>
              </a:rPr>
              <a:t>M5(交)  </a:t>
            </a:r>
            <a:r>
              <a:rPr lang="en-US">
                <a:solidFill>
                  <a:srgbClr val="4B5563"/>
                </a:solidFill>
                <a:latin typeface="Noto Sans SC"/>
                <a:ea typeface="Noto Sans SC"/>
                <a:sym typeface="Noto Sans SC"/>
              </a:rPr>
              <a:t> X→→Y∩Z</a:t>
            </a:r>
          </a:p>
          <a:p>
            <a:pPr indent="0" algn="l">
              <a:lnSpc>
                <a:spcPct val="150000"/>
              </a:lnSpc>
            </a:pPr>
            <a:r>
              <a:rPr lang="en-US" b="1">
                <a:solidFill>
                  <a:srgbClr val="4B5563"/>
                </a:solidFill>
                <a:latin typeface="Noto Sans SC"/>
                <a:ea typeface="Noto Sans SC"/>
                <a:sym typeface="Noto Sans SC"/>
              </a:rPr>
              <a:t>M6(差)   </a:t>
            </a:r>
            <a:r>
              <a:rPr lang="en-US">
                <a:solidFill>
                  <a:srgbClr val="4B5563"/>
                </a:solidFill>
                <a:latin typeface="Noto Sans SC"/>
                <a:ea typeface="Noto Sans SC"/>
                <a:sym typeface="Noto Sans SC"/>
              </a:rPr>
              <a:t>X→→Y-Z</a:t>
            </a:r>
          </a:p>
          <a:p>
            <a:pPr indent="0" algn="l">
              <a:lnSpc>
                <a:spcPct val="150000"/>
              </a:lnSpc>
            </a:pPr>
            <a:r>
              <a:rPr lang="en-US" b="1">
                <a:solidFill>
                  <a:srgbClr val="4B5563"/>
                </a:solidFill>
                <a:latin typeface="Noto Sans SC"/>
                <a:ea typeface="Noto Sans SC"/>
                <a:sym typeface="Noto Sans SC"/>
              </a:rPr>
              <a:t>M7(伪传递)</a:t>
            </a:r>
            <a:r>
              <a:rPr lang="en-US">
                <a:solidFill>
                  <a:srgbClr val="4B5563"/>
                </a:solidFill>
                <a:latin typeface="Noto Sans SC"/>
                <a:ea typeface="Noto Sans SC"/>
                <a:sym typeface="Noto Sans SC"/>
              </a:rPr>
              <a:t>   WX→→(Z-WY)</a:t>
            </a:r>
          </a:p>
          <a:p>
            <a:pPr>
              <a:spcBef>
                <a:spcPts val="600"/>
              </a:spcBef>
            </a:pPr>
            <a:r>
              <a:rPr lang="en-US" sz="1600" b="1">
                <a:solidFill>
                  <a:srgbClr val="1F2937"/>
                </a:solidFill>
                <a:latin typeface="Noto Sans SC"/>
                <a:ea typeface="Noto Sans SC"/>
                <a:sym typeface="Noto Sans SC"/>
              </a:rPr>
              <a:t>FD 与 MVD 混合规则：</a:t>
            </a:r>
          </a:p>
          <a:p>
            <a:pPr indent="0" algn="l">
              <a:lnSpc>
                <a:spcPct val="150000"/>
              </a:lnSpc>
            </a:pPr>
            <a:r>
              <a:rPr lang="en-US" b="1" i="0" u="none" strike="noStrike">
                <a:solidFill>
                  <a:srgbClr val="B45309"/>
                </a:solidFill>
                <a:latin typeface="Noto Sans SC"/>
                <a:ea typeface="Noto Sans SC"/>
                <a:cs typeface="Noto Sans SC"/>
                <a:sym typeface="Noto Sans SC"/>
              </a:rPr>
              <a:t>FM1 (复制性)  </a:t>
            </a:r>
            <a:r>
              <a:rPr lang="en-US" b="0" i="0" u="none" strike="noStrike">
                <a:solidFill>
                  <a:srgbClr val="4B5563"/>
                </a:solidFill>
                <a:latin typeface="Noto Sans SC"/>
                <a:ea typeface="Noto Sans SC"/>
                <a:cs typeface="Noto Sans SC"/>
                <a:sym typeface="Noto Sans SC"/>
              </a:rPr>
              <a:t>若 X→Y，则 X→→Y</a:t>
            </a:r>
          </a:p>
          <a:p>
            <a:pPr indent="0" algn="l">
              <a:lnSpc>
                <a:spcPct val="150000"/>
              </a:lnSpc>
            </a:pPr>
            <a:r>
              <a:rPr lang="en-US" b="1" i="0" u="none" strike="noStrike">
                <a:solidFill>
                  <a:srgbClr val="B45309"/>
                </a:solidFill>
                <a:latin typeface="Noto Sans SC"/>
                <a:ea typeface="Noto Sans SC"/>
                <a:cs typeface="Noto Sans SC"/>
                <a:sym typeface="Noto Sans SC"/>
              </a:rPr>
              <a:t>FM2 (接合性)  </a:t>
            </a:r>
            <a:r>
              <a:rPr lang="en-US" b="0" i="0" u="none" strike="noStrike">
                <a:solidFill>
                  <a:srgbClr val="4B5563"/>
                </a:solidFill>
                <a:latin typeface="Noto Sans SC"/>
                <a:ea typeface="Noto Sans SC"/>
                <a:cs typeface="Noto Sans SC"/>
                <a:sym typeface="Noto Sans SC"/>
              </a:rPr>
              <a:t>若 X→→Y，W→Z，且 Z⊆Y，W∩Y=∅，则 X→Z</a:t>
            </a:r>
          </a:p>
          <a:p>
            <a:pPr indent="0" algn="l">
              <a:lnSpc>
                <a:spcPct val="150000"/>
              </a:lnSpc>
            </a:pPr>
            <a:r>
              <a:rPr lang="en-US" b="1" i="0" u="none" strike="noStrike">
                <a:solidFill>
                  <a:srgbClr val="B45309"/>
                </a:solidFill>
                <a:latin typeface="Noto Sans SC"/>
                <a:ea typeface="Noto Sans SC"/>
                <a:cs typeface="Noto Sans SC"/>
                <a:sym typeface="Noto Sans SC"/>
              </a:rPr>
              <a:t>M8 (混合伪传递)  </a:t>
            </a:r>
            <a:r>
              <a:rPr lang="en-US" b="0" i="0" u="none" strike="noStrike">
                <a:solidFill>
                  <a:srgbClr val="4B5563"/>
                </a:solidFill>
                <a:latin typeface="Noto Sans SC"/>
                <a:ea typeface="Noto Sans SC"/>
                <a:cs typeface="Noto Sans SC"/>
                <a:sym typeface="Noto Sans SC"/>
              </a:rPr>
              <a:t>若 X→→Y，XY→Z，则 X→(Z-Y)</a:t>
            </a:r>
            <a:endParaRPr lang="en-US" sz="1200" b="0" i="0" u="none" strike="noStrike">
              <a:solidFill>
                <a:srgbClr val="4B5563"/>
              </a:solidFill>
              <a:latin typeface="Noto Sans SC"/>
              <a:ea typeface="Noto Sans SC"/>
              <a:cs typeface="Noto Sans SC"/>
              <a:sym typeface="Noto Sans SC"/>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7.5.2 FD和MVD的推理规则集 (2)</a:t>
            </a:r>
            <a:endParaRPr lang="en-US" sz="2400" b="1">
              <a:solidFill>
                <a:srgbClr val="FFFFFF"/>
              </a:solidFill>
              <a:latin typeface="Noto Sans SC"/>
              <a:ea typeface="Noto Sans SC"/>
            </a:endParaRPr>
          </a:p>
        </p:txBody>
      </p:sp>
      <p:sp>
        <p:nvSpPr>
          <p:cNvPr id="3" name="AutoShape 3"/>
          <p:cNvSpPr/>
          <p:nvPr/>
        </p:nvSpPr>
        <p:spPr>
          <a:xfrm>
            <a:off x="838200" y="1474691"/>
            <a:ext cx="4690730" cy="4983095"/>
          </a:xfrm>
          <a:prstGeom prst="rect">
            <a:avLst/>
          </a:prstGeom>
          <a:noFill/>
          <a:ln w="12700" cap="flat" cmpd="sng">
            <a:noFill/>
            <a:prstDash val="solid"/>
            <a:round/>
          </a:ln>
        </p:spPr>
        <p:txBody>
          <a:bodyPr vert="horz" wrap="square" lIns="0" tIns="0" rIns="0" bIns="0" rtlCol="0" anchor="t" anchorCtr="0">
            <a:spAutoFit/>
          </a:bodyPr>
          <a:lstStyle/>
          <a:p>
            <a:pPr indent="0" algn="l">
              <a:lnSpc>
                <a:spcPct val="108333"/>
              </a:lnSpc>
              <a:spcBef>
                <a:spcPts val="1000"/>
              </a:spcBef>
              <a:defRPr/>
            </a:pPr>
            <a:r>
              <a:rPr lang="en-US" sz="1800" b="1" i="0" u="none" strike="noStrike">
                <a:solidFill>
                  <a:srgbClr val="7030A0"/>
                </a:solidFill>
                <a:latin typeface="Noto Sans SC"/>
                <a:ea typeface="Noto Sans SC"/>
                <a:cs typeface="Noto Sans SC"/>
                <a:sym typeface="Noto Sans SC"/>
              </a:rPr>
              <a:t>■ 定义7.26（平凡与非平凡MVD）</a:t>
            </a:r>
            <a:endParaRPr lang="en-US"/>
          </a:p>
          <a:p>
            <a:pPr indent="0" algn="l">
              <a:lnSpc>
                <a:spcPct val="150000"/>
              </a:lnSpc>
            </a:pPr>
            <a:r>
              <a:rPr lang="en-US" sz="1600" b="0" i="0" u="none" strike="noStrike">
                <a:solidFill>
                  <a:srgbClr val="333333"/>
                </a:solidFill>
                <a:latin typeface="Noto Sans SC"/>
                <a:ea typeface="Noto Sans SC"/>
                <a:cs typeface="Noto Sans SC"/>
                <a:sym typeface="Noto Sans SC"/>
              </a:rPr>
              <a:t>对于属性集U上的MVD X→→Y，若Y⊆X 或 XY=U，则称X→→Y为</a:t>
            </a:r>
            <a:r>
              <a:rPr lang="en-US" sz="1600" b="1" i="0" u="none" strike="noStrike">
                <a:solidFill>
                  <a:srgbClr val="333333"/>
                </a:solidFill>
                <a:latin typeface="Noto Sans SC"/>
                <a:ea typeface="Noto Sans SC"/>
                <a:cs typeface="Noto Sans SC"/>
                <a:sym typeface="Noto Sans SC"/>
              </a:rPr>
              <a:t>平凡的MVD</a:t>
            </a:r>
            <a:r>
              <a:rPr lang="en-US" sz="1600" b="0" i="0" u="none" strike="noStrike">
                <a:solidFill>
                  <a:srgbClr val="333333"/>
                </a:solidFill>
                <a:latin typeface="Noto Sans SC"/>
                <a:ea typeface="Noto Sans SC"/>
                <a:cs typeface="Noto Sans SC"/>
                <a:sym typeface="Noto Sans SC"/>
              </a:rPr>
              <a:t>；否则称为</a:t>
            </a:r>
            <a:r>
              <a:rPr lang="en-US" sz="1600" b="1" i="0" u="none" strike="noStrike">
                <a:solidFill>
                  <a:srgbClr val="333333"/>
                </a:solidFill>
                <a:latin typeface="Noto Sans SC"/>
                <a:ea typeface="Noto Sans SC"/>
                <a:cs typeface="Noto Sans SC"/>
                <a:sym typeface="Noto Sans SC"/>
              </a:rPr>
              <a:t>非平凡的MVD</a:t>
            </a:r>
            <a:r>
              <a:rPr lang="en-US" sz="1600" b="0" i="0" u="none" strike="noStrike">
                <a:solidFill>
                  <a:srgbClr val="333333"/>
                </a:solidFill>
                <a:latin typeface="Noto Sans SC"/>
                <a:ea typeface="Noto Sans SC"/>
                <a:cs typeface="Noto Sans SC"/>
                <a:sym typeface="Noto Sans SC"/>
              </a:rPr>
              <a:t>。平凡MVD不产生新的数据依赖，非平凡MVD是模式分解关注的重点。</a:t>
            </a:r>
          </a:p>
          <a:p>
            <a:pPr indent="0" algn="l">
              <a:lnSpc>
                <a:spcPct val="108333"/>
              </a:lnSpc>
              <a:spcBef>
                <a:spcPts val="1200"/>
              </a:spcBef>
            </a:pPr>
            <a:r>
              <a:rPr lang="en-US" sz="1800" b="1" i="0" u="none" strike="noStrike">
                <a:solidFill>
                  <a:srgbClr val="7030A0"/>
                </a:solidFill>
                <a:latin typeface="Noto Sans SC"/>
                <a:ea typeface="Noto Sans SC"/>
                <a:cs typeface="Noto Sans SC"/>
                <a:sym typeface="Noto Sans SC"/>
              </a:rPr>
              <a:t>■ Chase过程的适用性扩展</a:t>
            </a:r>
          </a:p>
          <a:p>
            <a:pPr indent="0" algn="l">
              <a:lnSpc>
                <a:spcPct val="150000"/>
              </a:lnSpc>
            </a:pPr>
            <a:r>
              <a:rPr lang="en-US" sz="1600" b="0" i="0" u="none" strike="noStrike">
                <a:solidFill>
                  <a:srgbClr val="333333"/>
                </a:solidFill>
                <a:latin typeface="Noto Sans SC"/>
                <a:ea typeface="Noto Sans SC"/>
                <a:cs typeface="Noto Sans SC"/>
                <a:sym typeface="Noto Sans SC"/>
              </a:rPr>
              <a:t>在同时存在函数依赖(FD)和多值依赖(MVD)的混合约束下，依然可以使用</a:t>
            </a:r>
            <a:r>
              <a:rPr lang="en-US" altLang="zh-CN" sz="1600" b="1">
                <a:solidFill>
                  <a:srgbClr val="333333"/>
                </a:solidFill>
                <a:latin typeface="Noto Sans SC"/>
                <a:ea typeface="Noto Sans SC"/>
                <a:cs typeface="Noto Sans SC"/>
                <a:sym typeface="Noto Sans SC"/>
              </a:rPr>
              <a:t>C</a:t>
            </a:r>
            <a:r>
              <a:rPr lang="en-US" sz="1600" b="1" i="0" u="none" strike="noStrike">
                <a:solidFill>
                  <a:srgbClr val="333333"/>
                </a:solidFill>
                <a:latin typeface="Noto Sans SC"/>
                <a:ea typeface="Noto Sans SC"/>
                <a:cs typeface="Noto Sans SC"/>
                <a:sym typeface="Noto Sans SC"/>
              </a:rPr>
              <a:t>hase过程</a:t>
            </a:r>
            <a:r>
              <a:rPr lang="en-US" sz="1600" i="0" u="none" strike="noStrike">
                <a:solidFill>
                  <a:srgbClr val="333333"/>
                </a:solidFill>
                <a:latin typeface="Noto Sans SC"/>
                <a:ea typeface="Noto Sans SC"/>
                <a:cs typeface="Noto Sans SC"/>
                <a:sym typeface="Noto Sans SC"/>
              </a:rPr>
              <a:t>来</a:t>
            </a:r>
            <a:r>
              <a:rPr lang="en-US" sz="1600" b="0" i="0" u="none" strike="noStrike">
                <a:solidFill>
                  <a:srgbClr val="333333"/>
                </a:solidFill>
                <a:latin typeface="Noto Sans SC"/>
                <a:ea typeface="Noto Sans SC"/>
                <a:cs typeface="Noto Sans SC"/>
                <a:sym typeface="Noto Sans SC"/>
              </a:rPr>
              <a:t>测试关系模式R分解后的关系模式集合ρ是否构成</a:t>
            </a:r>
            <a:r>
              <a:rPr lang="en-US" sz="1600" b="1" i="0" u="none" strike="noStrike">
                <a:solidFill>
                  <a:srgbClr val="333333"/>
                </a:solidFill>
                <a:latin typeface="Noto Sans SC"/>
                <a:ea typeface="Noto Sans SC"/>
                <a:cs typeface="Noto Sans SC"/>
                <a:sym typeface="Noto Sans SC"/>
              </a:rPr>
              <a:t>无损分解</a:t>
            </a:r>
            <a:r>
              <a:rPr lang="en-US" sz="1600" b="0" i="0" u="none" strike="noStrike">
                <a:solidFill>
                  <a:srgbClr val="333333"/>
                </a:solidFill>
                <a:latin typeface="Noto Sans SC"/>
                <a:ea typeface="Noto Sans SC"/>
                <a:cs typeface="Noto Sans SC"/>
                <a:sym typeface="Noto Sans SC"/>
              </a:rPr>
              <a:t>。</a:t>
            </a:r>
          </a:p>
          <a:p>
            <a:pPr indent="0" algn="l">
              <a:lnSpc>
                <a:spcPct val="108333"/>
              </a:lnSpc>
              <a:spcBef>
                <a:spcPts val="1200"/>
              </a:spcBef>
            </a:pPr>
            <a:r>
              <a:rPr lang="en-US" sz="1800" b="1" i="0" u="none" strike="noStrike">
                <a:solidFill>
                  <a:srgbClr val="7030A0"/>
                </a:solidFill>
                <a:latin typeface="Noto Sans SC"/>
                <a:ea typeface="Noto Sans SC"/>
                <a:cs typeface="Noto Sans SC"/>
                <a:sym typeface="Noto Sans SC"/>
              </a:rPr>
              <a:t>■ 定义7.27（MVD的形式化定义）</a:t>
            </a:r>
          </a:p>
          <a:p>
            <a:pPr>
              <a:lnSpc>
                <a:spcPct val="150000"/>
              </a:lnSpc>
            </a:pPr>
            <a:r>
              <a:rPr lang="zh-CN" altLang="en-US" sz="1600" b="0" i="0" u="none" strike="noStrike">
                <a:solidFill>
                  <a:srgbClr val="333333"/>
                </a:solidFill>
                <a:latin typeface="Noto Sans SC"/>
                <a:ea typeface="Noto Sans SC"/>
                <a:cs typeface="Noto Sans SC"/>
                <a:sym typeface="Noto Sans SC"/>
              </a:rPr>
              <a:t>对于</a:t>
            </a:r>
            <a:r>
              <a:rPr lang="en-US" altLang="zh-CN" sz="1600" b="0" i="0" u="none" strike="noStrike">
                <a:solidFill>
                  <a:srgbClr val="333333"/>
                </a:solidFill>
                <a:latin typeface="Noto Sans SC"/>
                <a:ea typeface="Noto Sans SC"/>
                <a:cs typeface="Noto Sans SC"/>
                <a:sym typeface="Noto Sans SC"/>
              </a:rPr>
              <a:t>R(U)</a:t>
            </a:r>
            <a:r>
              <a:rPr lang="en-US" sz="1600" b="0" i="0" u="none" strike="noStrike">
                <a:solidFill>
                  <a:srgbClr val="333333"/>
                </a:solidFill>
                <a:latin typeface="Noto Sans SC"/>
                <a:ea typeface="Noto Sans SC"/>
                <a:cs typeface="Noto Sans SC"/>
                <a:sym typeface="Noto Sans SC"/>
              </a:rPr>
              <a:t> ， X∪Y∪Z = U 且</a:t>
            </a:r>
            <a:r>
              <a:rPr lang="en-US" altLang="zh-CN" sz="1600">
                <a:solidFill>
                  <a:srgbClr val="333333"/>
                </a:solidFill>
                <a:latin typeface="Noto Sans SC"/>
                <a:ea typeface="Noto Sans SC"/>
                <a:cs typeface="Noto Sans SC"/>
                <a:sym typeface="Noto Sans SC"/>
              </a:rPr>
              <a:t> X</a:t>
            </a:r>
            <a:r>
              <a:rPr lang="zh-CN" altLang="en-US" sz="1600">
                <a:solidFill>
                  <a:srgbClr val="333333"/>
                </a:solidFill>
                <a:latin typeface="Noto Sans SC"/>
                <a:ea typeface="Noto Sans SC"/>
                <a:cs typeface="Noto Sans SC"/>
                <a:sym typeface="Noto Sans SC"/>
              </a:rPr>
              <a:t>∩</a:t>
            </a:r>
            <a:r>
              <a:rPr lang="en-US" altLang="zh-CN" sz="1600">
                <a:solidFill>
                  <a:srgbClr val="333333"/>
                </a:solidFill>
                <a:latin typeface="Noto Sans SC"/>
                <a:ea typeface="Noto Sans SC"/>
                <a:cs typeface="Noto Sans SC"/>
                <a:sym typeface="Noto Sans SC"/>
              </a:rPr>
              <a:t>Y</a:t>
            </a:r>
            <a:r>
              <a:rPr lang="zh-CN" altLang="en-US" sz="1600">
                <a:solidFill>
                  <a:srgbClr val="333333"/>
                </a:solidFill>
                <a:latin typeface="Noto Sans SC"/>
                <a:ea typeface="Noto Sans SC"/>
                <a:cs typeface="Noto Sans SC"/>
                <a:sym typeface="Noto Sans SC"/>
              </a:rPr>
              <a:t> ∩ </a:t>
            </a:r>
            <a:r>
              <a:rPr lang="en-US" altLang="zh-CN" sz="1600">
                <a:solidFill>
                  <a:srgbClr val="333333"/>
                </a:solidFill>
                <a:latin typeface="Noto Sans SC"/>
                <a:ea typeface="Noto Sans SC"/>
                <a:cs typeface="Noto Sans SC"/>
                <a:sym typeface="Noto Sans SC"/>
              </a:rPr>
              <a:t>Z =</a:t>
            </a:r>
            <a:r>
              <a:rPr lang="zh-CN" altLang="en-US" sz="1600">
                <a:solidFill>
                  <a:srgbClr val="333333"/>
                </a:solidFill>
                <a:latin typeface="Noto Sans SC"/>
                <a:ea typeface="Noto Sans SC"/>
                <a:cs typeface="Noto Sans SC"/>
                <a:sym typeface="Noto Sans SC"/>
              </a:rPr>
              <a:t>∅</a:t>
            </a:r>
            <a:r>
              <a:rPr lang="en-US" sz="1600" b="0" i="0" u="none" strike="noStrike">
                <a:solidFill>
                  <a:srgbClr val="333333"/>
                </a:solidFill>
                <a:latin typeface="Noto Sans SC"/>
                <a:ea typeface="Noto Sans SC"/>
                <a:cs typeface="Noto Sans SC"/>
                <a:sym typeface="Noto Sans SC"/>
              </a:rPr>
              <a:t>。若对R的任意关系r，均满足r = </a:t>
            </a:r>
            <a:r>
              <a:rPr lang="en-US" altLang="zh-CN" sz="1600" b="0" i="0" u="none" strike="noStrike">
                <a:solidFill>
                  <a:srgbClr val="333333"/>
                </a:solidFill>
                <a:latin typeface="+mn-ea"/>
                <a:ea typeface="+mn-ea"/>
                <a:cs typeface="Noto Sans SC"/>
                <a:sym typeface="Noto Sans SC"/>
              </a:rPr>
              <a:t>Π</a:t>
            </a:r>
            <a:r>
              <a:rPr lang="en-US" sz="1100" b="0" i="0" u="none" strike="noStrike">
                <a:solidFill>
                  <a:srgbClr val="333333"/>
                </a:solidFill>
                <a:latin typeface="Noto Sans SC"/>
                <a:ea typeface="Noto Sans SC"/>
                <a:cs typeface="Noto Sans SC"/>
                <a:sym typeface="Noto Sans SC"/>
              </a:rPr>
              <a:t>XY</a:t>
            </a:r>
            <a:r>
              <a:rPr lang="en-US" sz="1600" b="0" i="0" u="none" strike="noStrike">
                <a:solidFill>
                  <a:srgbClr val="333333"/>
                </a:solidFill>
                <a:latin typeface="Noto Sans SC"/>
                <a:ea typeface="Noto Sans SC"/>
                <a:cs typeface="Noto Sans SC"/>
                <a:sym typeface="Noto Sans SC"/>
              </a:rPr>
              <a:t>(r) ⋈</a:t>
            </a:r>
            <a:r>
              <a:rPr lang="en-US" altLang="zh-CN" sz="1600">
                <a:solidFill>
                  <a:srgbClr val="333333"/>
                </a:solidFill>
                <a:latin typeface="+mn-ea"/>
                <a:ea typeface="+mn-ea"/>
                <a:sym typeface="Noto Sans SC"/>
              </a:rPr>
              <a:t>Π</a:t>
            </a:r>
            <a:r>
              <a:rPr lang="en-US" sz="1100" b="0" i="0" u="none" strike="noStrike">
                <a:solidFill>
                  <a:srgbClr val="333333"/>
                </a:solidFill>
                <a:latin typeface="Noto Sans SC"/>
                <a:ea typeface="Noto Sans SC"/>
                <a:cs typeface="Noto Sans SC"/>
                <a:sym typeface="Noto Sans SC"/>
              </a:rPr>
              <a:t>XZ</a:t>
            </a:r>
            <a:r>
              <a:rPr lang="en-US" sz="1600" b="0" i="0" u="none" strike="noStrike">
                <a:solidFill>
                  <a:srgbClr val="333333"/>
                </a:solidFill>
                <a:latin typeface="Noto Sans SC"/>
                <a:ea typeface="Noto Sans SC"/>
                <a:cs typeface="Noto Sans SC"/>
                <a:sym typeface="Noto Sans SC"/>
              </a:rPr>
              <a:t>(r)，则称</a:t>
            </a:r>
            <a:r>
              <a:rPr lang="en-US" sz="1600" b="1" i="0" u="none" strike="noStrike">
                <a:solidFill>
                  <a:srgbClr val="333333"/>
                </a:solidFill>
                <a:latin typeface="Noto Sans SC"/>
                <a:ea typeface="Noto Sans SC"/>
                <a:cs typeface="Noto Sans SC"/>
                <a:sym typeface="Noto Sans SC"/>
              </a:rPr>
              <a:t>多值依赖 X→→Y 在 R上成立</a:t>
            </a:r>
            <a:r>
              <a:rPr lang="en-US" sz="1600" b="0" i="0" u="none" strike="noStrike">
                <a:solidFill>
                  <a:srgbClr val="333333"/>
                </a:solidFill>
                <a:latin typeface="Noto Sans SC"/>
                <a:ea typeface="Noto Sans SC"/>
                <a:cs typeface="Noto Sans SC"/>
                <a:sym typeface="Noto Sans SC"/>
              </a:rPr>
              <a:t>。</a:t>
            </a:r>
          </a:p>
        </p:txBody>
      </p:sp>
      <p:sp>
        <p:nvSpPr>
          <p:cNvPr id="4" name="AutoShape 4"/>
          <p:cNvSpPr/>
          <p:nvPr/>
        </p:nvSpPr>
        <p:spPr>
          <a:xfrm>
            <a:off x="7983870" y="3188802"/>
            <a:ext cx="622595" cy="3268984"/>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关键</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概念</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速览</a:t>
            </a:r>
            <a:endParaRPr lang="en-US" sz="1600" b="1">
              <a:solidFill>
                <a:srgbClr val="FFFFFF"/>
              </a:solidFill>
              <a:latin typeface="Noto Sans SC"/>
              <a:ea typeface="Noto Sans SC"/>
            </a:endParaRPr>
          </a:p>
        </p:txBody>
      </p:sp>
      <p:sp>
        <p:nvSpPr>
          <p:cNvPr id="5" name="AutoShape 5"/>
          <p:cNvSpPr/>
          <p:nvPr/>
        </p:nvSpPr>
        <p:spPr>
          <a:xfrm>
            <a:off x="8606464" y="3188802"/>
            <a:ext cx="2747335" cy="697993"/>
          </a:xfrm>
          <a:prstGeom prst="roundRect">
            <a:avLst>
              <a:gd name="adj" fmla="val 0"/>
            </a:avLst>
          </a:prstGeom>
          <a:solidFill>
            <a:srgbClr val="1F2937">
              <a:alpha val="100000"/>
            </a:srgbClr>
          </a:solidFill>
          <a:ln w="12700" cap="flat" cmpd="sng">
            <a:solidFill>
              <a:srgbClr val="FFFFFF">
                <a:alpha val="100000"/>
              </a:srgbClr>
            </a:solidFill>
            <a:prstDash val="solid"/>
            <a:round/>
          </a:ln>
        </p:spPr>
        <p:txBody>
          <a:bodyPr vert="horz" wrap="square" lIns="0" tIns="72000" rIns="0" bIns="72000" rtlCol="0" anchor="ctr" anchorCtr="0">
            <a:spAutoFit/>
          </a:bodyPr>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平凡 MVD</a:t>
            </a:r>
            <a:endParaRPr lang="en-US" sz="1200"/>
          </a:p>
          <a:p>
            <a:pPr indent="0" algn="ctr">
              <a:lnSpc>
                <a:spcPct val="125000"/>
              </a:lnSpc>
            </a:pPr>
            <a:r>
              <a:rPr lang="en-US" b="0" i="0" u="none" strike="noStrike">
                <a:solidFill>
                  <a:srgbClr val="D1D5DB"/>
                </a:solidFill>
                <a:latin typeface="Noto Sans SC"/>
                <a:ea typeface="Noto Sans SC"/>
                <a:cs typeface="Noto Sans SC"/>
                <a:sym typeface="Noto Sans SC"/>
              </a:rPr>
              <a:t>Y⊆X 或 XY = U</a:t>
            </a:r>
          </a:p>
        </p:txBody>
      </p:sp>
      <p:sp>
        <p:nvSpPr>
          <p:cNvPr id="6" name="AutoShape 6"/>
          <p:cNvSpPr/>
          <p:nvPr/>
        </p:nvSpPr>
        <p:spPr>
          <a:xfrm>
            <a:off x="8606465" y="4045799"/>
            <a:ext cx="2747335" cy="697993"/>
          </a:xfrm>
          <a:prstGeom prst="roundRect">
            <a:avLst>
              <a:gd name="adj" fmla="val 0"/>
            </a:avLst>
          </a:prstGeom>
          <a:solidFill>
            <a:srgbClr val="1F2937">
              <a:alpha val="100000"/>
            </a:srgbClr>
          </a:solidFill>
          <a:ln w="12700" cap="flat" cmpd="sng">
            <a:solidFill>
              <a:srgbClr val="FFFFFF">
                <a:alpha val="100000"/>
              </a:srgbClr>
            </a:solidFill>
            <a:prstDash val="solid"/>
            <a:round/>
          </a:ln>
        </p:spPr>
        <p:txBody>
          <a:bodyPr vert="horz" wrap="square" lIns="0" tIns="72000" rIns="0" bIns="72000" rtlCol="0" anchor="ctr" anchorCtr="0">
            <a:spAutoFit/>
          </a:bodyPr>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非平凡 MVD</a:t>
            </a:r>
            <a:endParaRPr lang="en-US" sz="1200"/>
          </a:p>
          <a:p>
            <a:pPr indent="0" algn="ctr">
              <a:lnSpc>
                <a:spcPct val="125000"/>
              </a:lnSpc>
            </a:pPr>
            <a:r>
              <a:rPr lang="en-US" b="0" i="0" u="none" strike="noStrike">
                <a:solidFill>
                  <a:srgbClr val="D1D5DB"/>
                </a:solidFill>
                <a:latin typeface="Noto Sans SC"/>
                <a:ea typeface="Noto Sans SC"/>
                <a:cs typeface="Noto Sans SC"/>
                <a:sym typeface="Noto Sans SC"/>
              </a:rPr>
              <a:t>模式分解的核心关注点</a:t>
            </a:r>
          </a:p>
        </p:txBody>
      </p:sp>
      <p:sp>
        <p:nvSpPr>
          <p:cNvPr id="7" name="AutoShape 7"/>
          <p:cNvSpPr/>
          <p:nvPr/>
        </p:nvSpPr>
        <p:spPr>
          <a:xfrm>
            <a:off x="8606464" y="4902796"/>
            <a:ext cx="2747335" cy="697993"/>
          </a:xfrm>
          <a:prstGeom prst="roundRect">
            <a:avLst>
              <a:gd name="adj" fmla="val 0"/>
            </a:avLst>
          </a:prstGeom>
          <a:solidFill>
            <a:srgbClr val="1F2937">
              <a:alpha val="100000"/>
            </a:srgbClr>
          </a:solidFill>
          <a:ln w="12700" cap="flat" cmpd="sng">
            <a:solidFill>
              <a:srgbClr val="FFFFFF">
                <a:alpha val="100000"/>
              </a:srgbClr>
            </a:solidFill>
            <a:prstDash val="solid"/>
            <a:round/>
          </a:ln>
        </p:spPr>
        <p:txBody>
          <a:bodyPr vert="horz" wrap="square" lIns="0" tIns="72000" rIns="0" bIns="72000" rtlCol="0" anchor="ctr" anchorCtr="0">
            <a:spAutoFit/>
          </a:bodyPr>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Chase 过程</a:t>
            </a:r>
            <a:endParaRPr lang="en-US" sz="1200"/>
          </a:p>
          <a:p>
            <a:pPr indent="0" algn="ctr">
              <a:lnSpc>
                <a:spcPct val="125000"/>
              </a:lnSpc>
            </a:pPr>
            <a:r>
              <a:rPr lang="en-US" b="0" i="0" u="none" strike="noStrike">
                <a:solidFill>
                  <a:srgbClr val="D1D5DB"/>
                </a:solidFill>
                <a:latin typeface="Noto Sans SC"/>
                <a:ea typeface="Noto Sans SC"/>
                <a:cs typeface="Noto Sans SC"/>
                <a:sym typeface="Noto Sans SC"/>
              </a:rPr>
              <a:t>混合依赖下的无损性测试工具</a:t>
            </a:r>
          </a:p>
        </p:txBody>
      </p:sp>
      <p:sp>
        <p:nvSpPr>
          <p:cNvPr id="8" name="AutoShape 8"/>
          <p:cNvSpPr/>
          <p:nvPr/>
        </p:nvSpPr>
        <p:spPr>
          <a:xfrm>
            <a:off x="8606463" y="5759793"/>
            <a:ext cx="2747335" cy="697993"/>
          </a:xfrm>
          <a:prstGeom prst="roundRect">
            <a:avLst>
              <a:gd name="adj" fmla="val 0"/>
            </a:avLst>
          </a:prstGeom>
          <a:solidFill>
            <a:srgbClr val="1F2937">
              <a:alpha val="100000"/>
            </a:srgbClr>
          </a:solidFill>
          <a:ln w="12700" cap="flat" cmpd="sng">
            <a:solidFill>
              <a:srgbClr val="FFFFFF">
                <a:alpha val="100000"/>
              </a:srgbClr>
            </a:solidFill>
            <a:prstDash val="solid"/>
            <a:round/>
          </a:ln>
        </p:spPr>
        <p:txBody>
          <a:bodyPr vert="horz" wrap="square" lIns="0" tIns="72000" rIns="0" bIns="72000" rtlCol="0" anchor="ctr" anchorCtr="0">
            <a:spAutoFit/>
          </a:bodyPr>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MVD 与分解</a:t>
            </a:r>
            <a:endParaRPr lang="en-US" sz="1200"/>
          </a:p>
          <a:p>
            <a:pPr indent="0" algn="ctr">
              <a:lnSpc>
                <a:spcPct val="125000"/>
              </a:lnSpc>
            </a:pPr>
            <a:r>
              <a:rPr lang="en-US" b="0" i="0" u="none" strike="noStrike">
                <a:solidFill>
                  <a:srgbClr val="D1D5DB"/>
                </a:solidFill>
                <a:latin typeface="Noto Sans SC"/>
                <a:ea typeface="Noto Sans SC"/>
                <a:cs typeface="Noto Sans SC"/>
                <a:sym typeface="Noto Sans SC"/>
              </a:rPr>
              <a:t>二模式无损分解 ⇔ 多值依赖</a:t>
            </a:r>
          </a:p>
        </p:txBody>
      </p:sp>
      <p:sp>
        <p:nvSpPr>
          <p:cNvPr id="9" name="AutoShape 3">
            <a:extLst>
              <a:ext uri="{FF2B5EF4-FFF2-40B4-BE49-F238E27FC236}">
                <a16:creationId xmlns:a16="http://schemas.microsoft.com/office/drawing/2014/main" id="{C780FF5D-BBF8-CB30-647D-7A2B6D04EF35}"/>
              </a:ext>
            </a:extLst>
          </p:cNvPr>
          <p:cNvSpPr/>
          <p:nvPr/>
        </p:nvSpPr>
        <p:spPr>
          <a:xfrm>
            <a:off x="6712688" y="1474691"/>
            <a:ext cx="4641110" cy="1363771"/>
          </a:xfrm>
          <a:prstGeom prst="rect">
            <a:avLst/>
          </a:prstGeom>
          <a:noFill/>
          <a:ln w="12700" cap="flat" cmpd="sng">
            <a:noFill/>
            <a:prstDash val="solid"/>
            <a:round/>
          </a:ln>
        </p:spPr>
        <p:txBody>
          <a:bodyPr vert="horz" wrap="square" lIns="0" tIns="0" rIns="0" bIns="0" rtlCol="0" anchor="t" anchorCtr="0">
            <a:spAutoFit/>
          </a:bodyPr>
          <a:lstStyle/>
          <a:p>
            <a:pPr>
              <a:lnSpc>
                <a:spcPct val="108333"/>
              </a:lnSpc>
              <a:spcBef>
                <a:spcPts val="1000"/>
              </a:spcBef>
            </a:pPr>
            <a:r>
              <a:rPr lang="en-US" sz="1800" b="1">
                <a:solidFill>
                  <a:srgbClr val="7030A0"/>
                </a:solidFill>
                <a:latin typeface="Noto Sans SC"/>
                <a:ea typeface="Noto Sans SC"/>
                <a:sym typeface="Noto Sans SC"/>
              </a:rPr>
              <a:t>■ 核心推论</a:t>
            </a:r>
          </a:p>
          <a:p>
            <a:pPr>
              <a:lnSpc>
                <a:spcPct val="150000"/>
              </a:lnSpc>
            </a:pPr>
            <a:r>
              <a:rPr lang="en-US" sz="1600">
                <a:solidFill>
                  <a:srgbClr val="333333"/>
                </a:solidFill>
                <a:latin typeface="Noto Sans SC"/>
                <a:ea typeface="Noto Sans SC"/>
                <a:sym typeface="Noto Sans SC"/>
              </a:rPr>
              <a:t>一个关系模式能无损分解为两个子模式，当且仅当模式中存在一个对应的多值依赖(MVD)。这揭示了多值依赖与模式无损分解之间的充要条件关系。</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7.5.3 第四范式（4NF）(1)</a:t>
            </a:r>
            <a:endParaRPr lang="en-US" sz="2400" b="1">
              <a:solidFill>
                <a:srgbClr val="FFFFFF"/>
              </a:solidFill>
              <a:latin typeface="Noto Sans SC"/>
              <a:ea typeface="Noto Sans SC"/>
            </a:endParaRPr>
          </a:p>
        </p:txBody>
      </p:sp>
      <p:sp>
        <p:nvSpPr>
          <p:cNvPr id="3" name="AutoShape 3"/>
          <p:cNvSpPr/>
          <p:nvPr/>
        </p:nvSpPr>
        <p:spPr>
          <a:xfrm>
            <a:off x="838200" y="1470434"/>
            <a:ext cx="5647660" cy="2622449"/>
          </a:xfrm>
          <a:prstGeom prst="rect">
            <a:avLst/>
          </a:prstGeom>
          <a:noFill/>
          <a:ln w="12700" cap="flat" cmpd="sng">
            <a:noFill/>
            <a:prstDash val="solid"/>
            <a:round/>
          </a:ln>
        </p:spPr>
        <p:txBody>
          <a:bodyPr vert="horz" wrap="square" lIns="0" tIns="0" rIns="0" bIns="0" rtlCol="0" anchor="t" anchorCtr="0">
            <a:spAutoFit/>
          </a:bodyPr>
          <a:lstStyle/>
          <a:p>
            <a:pPr algn="l">
              <a:lnSpc>
                <a:spcPct val="135000"/>
              </a:lnSpc>
              <a:spcBef>
                <a:spcPts val="800"/>
              </a:spcBef>
              <a:buClr>
                <a:srgbClr val="1F2329"/>
              </a:buClr>
              <a:defRPr/>
            </a:pPr>
            <a:r>
              <a:rPr lang="en-US" sz="1800" b="1">
                <a:solidFill>
                  <a:srgbClr val="7030A0"/>
                </a:solidFill>
                <a:latin typeface="Noto Sans SC"/>
                <a:ea typeface="Noto Sans SC"/>
                <a:sym typeface="Noto Sans SC"/>
              </a:rPr>
              <a:t>第四范式（4NF）</a:t>
            </a:r>
            <a:r>
              <a:rPr lang="en-US" sz="1600" b="0" i="0" u="none" strike="noStrike">
                <a:solidFill>
                  <a:srgbClr val="1F2329"/>
                </a:solidFill>
                <a:latin typeface="Noto Sans SC"/>
                <a:ea typeface="Noto Sans SC"/>
                <a:cs typeface="Noto Sans SC"/>
                <a:sym typeface="Noto Sans SC"/>
              </a:rPr>
              <a:t>是BCNF的直接推广，旨在进一步消除关系模式中存在的非平凡多值依赖引起的数据冗余问题。</a:t>
            </a:r>
            <a:endParaRPr lang="en-US" sz="1600"/>
          </a:p>
          <a:p>
            <a:pPr algn="l">
              <a:lnSpc>
                <a:spcPct val="135000"/>
              </a:lnSpc>
              <a:spcBef>
                <a:spcPts val="800"/>
              </a:spcBef>
              <a:buClr>
                <a:srgbClr val="7030A0"/>
              </a:buClr>
            </a:pPr>
            <a:r>
              <a:rPr lang="en-US" sz="1800" b="1" i="0" u="none" strike="noStrike">
                <a:solidFill>
                  <a:srgbClr val="7030A0"/>
                </a:solidFill>
                <a:latin typeface="Noto Sans SC"/>
                <a:ea typeface="Noto Sans SC"/>
                <a:cs typeface="Noto Sans SC"/>
                <a:sym typeface="Noto Sans SC"/>
              </a:rPr>
              <a:t>定义 7.28：</a:t>
            </a:r>
            <a:r>
              <a:rPr lang="en-US" sz="1600" b="0" i="0" u="none" strike="noStrike">
                <a:solidFill>
                  <a:srgbClr val="1F2329"/>
                </a:solidFill>
                <a:latin typeface="Noto Sans SC"/>
                <a:ea typeface="Noto Sans SC"/>
                <a:cs typeface="Noto Sans SC"/>
                <a:sym typeface="Noto Sans SC"/>
              </a:rPr>
              <a:t>设D是关系模式R上成立的函数依赖(FD)和多值依赖(MVD)集合。</a:t>
            </a:r>
            <a:r>
              <a:rPr lang="en-US" sz="1600" b="0" i="0" u="none" strike="noStrike">
                <a:solidFill>
                  <a:srgbClr val="C00000"/>
                </a:solidFill>
                <a:latin typeface="Noto Sans SC"/>
                <a:ea typeface="Noto Sans SC"/>
                <a:cs typeface="Noto Sans SC"/>
                <a:sym typeface="Noto Sans SC"/>
              </a:rPr>
              <a:t>若D中每一个非平凡的 X→→Y</a:t>
            </a:r>
            <a:r>
              <a:rPr lang="zh-CN" altLang="en-US" sz="1600" b="0" i="0" u="none" strike="noStrike">
                <a:solidFill>
                  <a:srgbClr val="C00000"/>
                </a:solidFill>
                <a:latin typeface="Noto Sans SC"/>
                <a:ea typeface="Noto Sans SC"/>
                <a:cs typeface="Noto Sans SC"/>
                <a:sym typeface="Noto Sans SC"/>
              </a:rPr>
              <a:t>，其</a:t>
            </a:r>
            <a:r>
              <a:rPr lang="en-US" sz="1600" b="0" i="0" u="none" strike="noStrike">
                <a:solidFill>
                  <a:srgbClr val="C00000"/>
                </a:solidFill>
                <a:latin typeface="Noto Sans SC"/>
                <a:ea typeface="Noto Sans SC"/>
                <a:cs typeface="Noto Sans SC"/>
                <a:sym typeface="Noto Sans SC"/>
              </a:rPr>
              <a:t>左部X都是R的一个超键</a:t>
            </a:r>
            <a:r>
              <a:rPr lang="zh-CN" altLang="en-US" sz="1600" b="0" i="0" u="none" strike="noStrike">
                <a:solidFill>
                  <a:srgbClr val="C00000"/>
                </a:solidFill>
                <a:latin typeface="Noto Sans SC"/>
                <a:ea typeface="Noto Sans SC"/>
                <a:cs typeface="Noto Sans SC"/>
                <a:sym typeface="Noto Sans SC"/>
              </a:rPr>
              <a:t>（即</a:t>
            </a:r>
            <a:r>
              <a:rPr lang="en-US" altLang="zh-CN" sz="1600" b="0" i="0" u="none" strike="noStrike">
                <a:solidFill>
                  <a:srgbClr val="C00000"/>
                </a:solidFill>
                <a:latin typeface="Noto Sans SC"/>
                <a:ea typeface="Noto Sans SC"/>
                <a:cs typeface="Noto Sans SC"/>
                <a:sym typeface="Noto Sans SC"/>
              </a:rPr>
              <a:t>X</a:t>
            </a:r>
            <a:r>
              <a:rPr lang="zh-CN" altLang="en-US" sz="1600" b="0" i="0" u="none" strike="noStrike">
                <a:solidFill>
                  <a:srgbClr val="C00000"/>
                </a:solidFill>
                <a:latin typeface="Noto Sans SC"/>
                <a:ea typeface="Noto Sans SC"/>
                <a:cs typeface="Noto Sans SC"/>
                <a:sym typeface="Noto Sans SC"/>
              </a:rPr>
              <a:t>包含有候选键）</a:t>
            </a:r>
            <a:r>
              <a:rPr lang="en-US" sz="1600" b="0" i="0" u="none" strike="noStrike">
                <a:solidFill>
                  <a:srgbClr val="C00000"/>
                </a:solidFill>
                <a:latin typeface="Noto Sans SC"/>
                <a:ea typeface="Noto Sans SC"/>
                <a:cs typeface="Noto Sans SC"/>
                <a:sym typeface="Noto Sans SC"/>
              </a:rPr>
              <a:t>，则称R是4NF的模式。</a:t>
            </a:r>
          </a:p>
          <a:p>
            <a:pPr algn="l">
              <a:lnSpc>
                <a:spcPct val="135000"/>
              </a:lnSpc>
              <a:spcBef>
                <a:spcPts val="800"/>
              </a:spcBef>
              <a:buClr>
                <a:srgbClr val="7030A0"/>
              </a:buClr>
            </a:pPr>
            <a:r>
              <a:rPr lang="en-US" sz="1800" b="1" i="0" u="none" strike="noStrike">
                <a:solidFill>
                  <a:srgbClr val="7030A0"/>
                </a:solidFill>
                <a:latin typeface="Noto Sans SC"/>
                <a:ea typeface="Noto Sans SC"/>
                <a:cs typeface="Noto Sans SC"/>
                <a:sym typeface="Noto Sans SC"/>
              </a:rPr>
              <a:t>关键点：</a:t>
            </a:r>
            <a:r>
              <a:rPr lang="en-US" sz="1600" b="0" i="0" u="none" strike="noStrike">
                <a:solidFill>
                  <a:srgbClr val="1F2329"/>
                </a:solidFill>
                <a:latin typeface="Noto Sans SC"/>
                <a:ea typeface="Noto Sans SC"/>
                <a:cs typeface="Noto Sans SC"/>
                <a:sym typeface="Noto Sans SC"/>
              </a:rPr>
              <a:t>定义中的“超键”</a:t>
            </a:r>
            <a:r>
              <a:rPr lang="zh-CN" altLang="en-US" sz="1600" b="0" i="0" u="none" strike="noStrike">
                <a:solidFill>
                  <a:srgbClr val="1F2329"/>
                </a:solidFill>
                <a:latin typeface="Noto Sans SC"/>
                <a:ea typeface="Noto Sans SC"/>
                <a:cs typeface="Noto Sans SC"/>
                <a:sym typeface="Noto Sans SC"/>
              </a:rPr>
              <a:t>以及</a:t>
            </a:r>
            <a:r>
              <a:rPr lang="en-US" sz="1600" b="0" i="0" u="none" strike="noStrike">
                <a:solidFill>
                  <a:srgbClr val="1F2329"/>
                </a:solidFill>
                <a:latin typeface="Noto Sans SC"/>
                <a:ea typeface="Noto Sans SC"/>
                <a:cs typeface="Noto Sans SC"/>
                <a:sym typeface="Noto Sans SC"/>
              </a:rPr>
              <a:t>“候选键”</a:t>
            </a:r>
            <a:r>
              <a:rPr lang="zh-CN" altLang="en-US" sz="1600" b="0" i="0" u="none" strike="noStrike">
                <a:solidFill>
                  <a:srgbClr val="1F2329"/>
                </a:solidFill>
                <a:latin typeface="Noto Sans SC"/>
                <a:ea typeface="Noto Sans SC"/>
                <a:cs typeface="Noto Sans SC"/>
                <a:sym typeface="Noto Sans SC"/>
              </a:rPr>
              <a:t>的</a:t>
            </a:r>
            <a:r>
              <a:rPr lang="en-US" sz="1600" b="0" i="0" u="none" strike="noStrike">
                <a:solidFill>
                  <a:srgbClr val="1F2329"/>
                </a:solidFill>
                <a:latin typeface="Noto Sans SC"/>
                <a:ea typeface="Noto Sans SC"/>
                <a:cs typeface="Noto Sans SC"/>
                <a:sym typeface="Noto Sans SC"/>
              </a:rPr>
              <a:t>概念未变，仍需通过FD来定义，即键必须能唯一地决定关系中的每一个元组。</a:t>
            </a:r>
          </a:p>
        </p:txBody>
      </p:sp>
      <p:sp>
        <p:nvSpPr>
          <p:cNvPr id="4" name="AutoShape 4"/>
          <p:cNvSpPr/>
          <p:nvPr/>
        </p:nvSpPr>
        <p:spPr>
          <a:xfrm>
            <a:off x="7442200" y="1470434"/>
            <a:ext cx="574749" cy="4662672"/>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核心</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概览</a:t>
            </a:r>
            <a:endParaRPr lang="en-US" sz="1600" b="1">
              <a:solidFill>
                <a:srgbClr val="FFFFFF"/>
              </a:solidFill>
              <a:latin typeface="Noto Sans SC"/>
              <a:ea typeface="Noto Sans SC"/>
            </a:endParaRPr>
          </a:p>
        </p:txBody>
      </p:sp>
      <p:sp>
        <p:nvSpPr>
          <p:cNvPr id="5" name="AutoShape 5"/>
          <p:cNvSpPr/>
          <p:nvPr/>
        </p:nvSpPr>
        <p:spPr>
          <a:xfrm>
            <a:off x="8016949" y="1459506"/>
            <a:ext cx="3336851" cy="762000"/>
          </a:xfrm>
          <a:prstGeom prst="roundRect">
            <a:avLst>
              <a:gd name="adj" fmla="val 0"/>
            </a:avLst>
          </a:prstGeom>
          <a:solidFill>
            <a:srgbClr val="1E3A8A">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定义核心</a:t>
            </a:r>
            <a:endParaRPr lang="en-US" sz="1100"/>
          </a:p>
          <a:p>
            <a:pPr indent="0" algn="ctr">
              <a:lnSpc>
                <a:spcPct val="125000"/>
              </a:lnSpc>
            </a:pPr>
            <a:r>
              <a:rPr lang="en-US" b="0" i="0" u="none" strike="noStrike">
                <a:solidFill>
                  <a:srgbClr val="E5E7EB"/>
                </a:solidFill>
                <a:latin typeface="Noto Sans SC"/>
                <a:ea typeface="Noto Sans SC"/>
                <a:cs typeface="Noto Sans SC"/>
                <a:sym typeface="Noto Sans SC"/>
              </a:rPr>
              <a:t>非平凡MVD的左部必须是超键</a:t>
            </a:r>
          </a:p>
        </p:txBody>
      </p:sp>
      <p:sp>
        <p:nvSpPr>
          <p:cNvPr id="6" name="AutoShape 6"/>
          <p:cNvSpPr/>
          <p:nvPr/>
        </p:nvSpPr>
        <p:spPr>
          <a:xfrm>
            <a:off x="8016949" y="2437406"/>
            <a:ext cx="3336851" cy="762000"/>
          </a:xfrm>
          <a:prstGeom prst="roundRect">
            <a:avLst>
              <a:gd name="adj" fmla="val 0"/>
            </a:avLst>
          </a:prstGeom>
          <a:solidFill>
            <a:srgbClr val="10B981">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范式层级</a:t>
            </a:r>
            <a:endParaRPr lang="en-US" sz="1100"/>
          </a:p>
          <a:p>
            <a:pPr indent="0" algn="ctr">
              <a:lnSpc>
                <a:spcPct val="125000"/>
              </a:lnSpc>
            </a:pPr>
            <a:r>
              <a:rPr lang="en-US" b="0" i="0" u="none" strike="noStrike">
                <a:solidFill>
                  <a:srgbClr val="ECFDF5"/>
                </a:solidFill>
                <a:latin typeface="Noto Sans SC"/>
                <a:ea typeface="Noto Sans SC"/>
                <a:cs typeface="Noto Sans SC"/>
                <a:sym typeface="Noto Sans SC"/>
              </a:rPr>
              <a:t>4NF ⊂ BCNF，是BCNF的进一步规范化</a:t>
            </a:r>
          </a:p>
        </p:txBody>
      </p:sp>
      <p:sp>
        <p:nvSpPr>
          <p:cNvPr id="7" name="AutoShape 7"/>
          <p:cNvSpPr/>
          <p:nvPr/>
        </p:nvSpPr>
        <p:spPr>
          <a:xfrm>
            <a:off x="8016949" y="3415306"/>
            <a:ext cx="3336851" cy="762000"/>
          </a:xfrm>
          <a:prstGeom prst="roundRect">
            <a:avLst>
              <a:gd name="adj" fmla="val 0"/>
            </a:avLst>
          </a:prstGeom>
          <a:solidFill>
            <a:srgbClr val="D97706">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判断依据</a:t>
            </a:r>
            <a:endParaRPr lang="en-US" sz="1100"/>
          </a:p>
          <a:p>
            <a:pPr indent="0" algn="ctr">
              <a:lnSpc>
                <a:spcPct val="125000"/>
              </a:lnSpc>
            </a:pPr>
            <a:r>
              <a:rPr lang="en-US" b="0" i="0" u="none" strike="noStrike">
                <a:solidFill>
                  <a:srgbClr val="FEF3C7"/>
                </a:solidFill>
                <a:latin typeface="Noto Sans SC"/>
                <a:ea typeface="Noto Sans SC"/>
                <a:cs typeface="Noto Sans SC"/>
                <a:sym typeface="Noto Sans SC"/>
              </a:rPr>
              <a:t>检查所有非平凡MVD的决定因素</a:t>
            </a:r>
          </a:p>
        </p:txBody>
      </p:sp>
      <p:sp>
        <p:nvSpPr>
          <p:cNvPr id="8" name="AutoShape 8"/>
          <p:cNvSpPr/>
          <p:nvPr/>
        </p:nvSpPr>
        <p:spPr>
          <a:xfrm>
            <a:off x="8016949" y="4393206"/>
            <a:ext cx="3336851" cy="762000"/>
          </a:xfrm>
          <a:prstGeom prst="roundRect">
            <a:avLst>
              <a:gd name="adj" fmla="val 0"/>
            </a:avLst>
          </a:prstGeom>
          <a:solidFill>
            <a:srgbClr val="DC2626">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常见问题</a:t>
            </a:r>
            <a:endParaRPr lang="en-US" sz="1100"/>
          </a:p>
          <a:p>
            <a:pPr indent="0" algn="ctr">
              <a:lnSpc>
                <a:spcPct val="125000"/>
              </a:lnSpc>
            </a:pPr>
            <a:r>
              <a:rPr lang="en-US" b="0" i="0" u="none" strike="noStrike">
                <a:solidFill>
                  <a:srgbClr val="FEE2E2"/>
                </a:solidFill>
                <a:latin typeface="Noto Sans SC"/>
                <a:ea typeface="Noto Sans SC"/>
                <a:cs typeface="Noto Sans SC"/>
                <a:sym typeface="Noto Sans SC"/>
              </a:rPr>
              <a:t>MVD左部不包含键，存在数据冗余</a:t>
            </a:r>
          </a:p>
        </p:txBody>
      </p:sp>
      <p:sp>
        <p:nvSpPr>
          <p:cNvPr id="9" name="AutoShape 9"/>
          <p:cNvSpPr/>
          <p:nvPr/>
        </p:nvSpPr>
        <p:spPr>
          <a:xfrm>
            <a:off x="8016949" y="5371106"/>
            <a:ext cx="3336851" cy="762000"/>
          </a:xfrm>
          <a:prstGeom prst="roundRect">
            <a:avLst>
              <a:gd name="adj" fmla="val 0"/>
            </a:avLst>
          </a:prstGeom>
          <a:solidFill>
            <a:srgbClr val="8B5CF6">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解决方法</a:t>
            </a:r>
            <a:endParaRPr lang="en-US" sz="1100"/>
          </a:p>
          <a:p>
            <a:pPr indent="0" algn="ctr">
              <a:lnSpc>
                <a:spcPct val="125000"/>
              </a:lnSpc>
            </a:pPr>
            <a:r>
              <a:rPr lang="en-US" b="0" i="0" u="none" strike="noStrike">
                <a:solidFill>
                  <a:srgbClr val="EDE9FE"/>
                </a:solidFill>
                <a:latin typeface="Noto Sans SC"/>
                <a:ea typeface="Noto Sans SC"/>
                <a:cs typeface="Noto Sans SC"/>
                <a:sym typeface="Noto Sans SC"/>
              </a:rPr>
              <a:t>模式分解以消除非平凡的MVD</a:t>
            </a:r>
          </a:p>
        </p:txBody>
      </p:sp>
      <p:sp>
        <p:nvSpPr>
          <p:cNvPr id="10" name="AutoShape 4">
            <a:extLst>
              <a:ext uri="{FF2B5EF4-FFF2-40B4-BE49-F238E27FC236}">
                <a16:creationId xmlns:a16="http://schemas.microsoft.com/office/drawing/2014/main" id="{AA78EC7E-737A-D14C-DC56-B09E7B14DB45}"/>
              </a:ext>
            </a:extLst>
          </p:cNvPr>
          <p:cNvSpPr/>
          <p:nvPr/>
        </p:nvSpPr>
        <p:spPr>
          <a:xfrm>
            <a:off x="838198" y="4506635"/>
            <a:ext cx="4557461"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14</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b="1">
                <a:solidFill>
                  <a:srgbClr val="7030A0"/>
                </a:solidFill>
                <a:latin typeface="Noto Sans SC"/>
                <a:ea typeface="Noto Sans SC"/>
                <a:cs typeface="Noto Sans SC"/>
                <a:sym typeface="Noto Sans SC"/>
              </a:rPr>
              <a:t>多值属性的原始关系</a:t>
            </a:r>
            <a:endParaRPr lang="zh-CN" altLang="en-US" sz="2000">
              <a:solidFill>
                <a:srgbClr val="7030A0"/>
              </a:solidFill>
              <a:latin typeface="Noto Sans SC Black" panose="020B0200000000000000" pitchFamily="34" charset="-122"/>
              <a:ea typeface="Noto Sans SC Black" panose="020B0200000000000000" pitchFamily="34" charset="-122"/>
              <a:sym typeface="Noto Sans SC"/>
            </a:endParaRPr>
          </a:p>
        </p:txBody>
      </p:sp>
      <p:sp>
        <p:nvSpPr>
          <p:cNvPr id="12" name="文本框 11">
            <a:extLst>
              <a:ext uri="{FF2B5EF4-FFF2-40B4-BE49-F238E27FC236}">
                <a16:creationId xmlns:a16="http://schemas.microsoft.com/office/drawing/2014/main" id="{DD5ECFD2-4688-4F17-617A-191A159230E0}"/>
              </a:ext>
            </a:extLst>
          </p:cNvPr>
          <p:cNvSpPr txBox="1"/>
          <p:nvPr/>
        </p:nvSpPr>
        <p:spPr>
          <a:xfrm>
            <a:off x="838198" y="4993756"/>
            <a:ext cx="5647661" cy="963021"/>
          </a:xfrm>
          <a:prstGeom prst="rect">
            <a:avLst/>
          </a:prstGeom>
          <a:noFill/>
        </p:spPr>
        <p:txBody>
          <a:bodyPr wrap="square" lIns="0" tIns="0" rIns="0" bIns="0">
            <a:spAutoFit/>
          </a:bodyPr>
          <a:lstStyle/>
          <a:p>
            <a:pPr>
              <a:lnSpc>
                <a:spcPct val="135000"/>
              </a:lnSpc>
            </a:pPr>
            <a:r>
              <a:rPr lang="en-US" altLang="zh-CN" sz="1600">
                <a:solidFill>
                  <a:srgbClr val="1F2329"/>
                </a:solidFill>
                <a:latin typeface="Noto Sans SC"/>
                <a:ea typeface="Noto Sans SC"/>
                <a:sym typeface="Noto Sans SC"/>
              </a:rPr>
              <a:t>模式 R(C#, S#, PreC#) 的 CK=(C#, S#, PreC#) 。</a:t>
            </a:r>
            <a:r>
              <a:rPr lang="zh-CN" altLang="en-US" sz="1600">
                <a:solidFill>
                  <a:srgbClr val="1F2329"/>
                </a:solidFill>
                <a:latin typeface="Noto Sans SC"/>
                <a:ea typeface="Noto Sans SC"/>
                <a:sym typeface="Noto Sans SC"/>
              </a:rPr>
              <a:t>因为 </a:t>
            </a:r>
            <a:r>
              <a:rPr lang="en-US" altLang="zh-CN" sz="1600">
                <a:solidFill>
                  <a:srgbClr val="1F2329"/>
                </a:solidFill>
                <a:latin typeface="Noto Sans SC"/>
                <a:ea typeface="Noto Sans SC"/>
                <a:sym typeface="Noto Sans SC"/>
              </a:rPr>
              <a:t>C#→→S# 和 C#→→PreC# 的左部都未包含CK，故 R不是4NF。若将R分解为R1(C#, S#)和R2(C#, PreC#)，则R1</a:t>
            </a:r>
            <a:r>
              <a:rPr lang="zh-CN" altLang="en-US" sz="1600">
                <a:solidFill>
                  <a:srgbClr val="1F2329"/>
                </a:solidFill>
                <a:latin typeface="Noto Sans SC"/>
                <a:ea typeface="Noto Sans SC"/>
                <a:sym typeface="Noto Sans SC"/>
              </a:rPr>
              <a:t>和</a:t>
            </a:r>
            <a:r>
              <a:rPr lang="en-US" altLang="zh-CN" sz="1600">
                <a:solidFill>
                  <a:srgbClr val="1F2329"/>
                </a:solidFill>
                <a:latin typeface="Noto Sans SC"/>
                <a:ea typeface="Noto Sans SC"/>
                <a:sym typeface="Noto Sans SC"/>
              </a:rPr>
              <a:t>R2均满足4NF。</a:t>
            </a:r>
            <a:endParaRPr lang="zh-CN" altLang="en-US" sz="1600">
              <a:solidFill>
                <a:srgbClr val="1F2329"/>
              </a:solidFill>
              <a:latin typeface="Noto Sans SC"/>
              <a:ea typeface="Noto Sans SC"/>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762000"/>
          </a:xfrm>
          <a:prstGeom prst="roundRect">
            <a:avLst>
              <a:gd name="adj" fmla="val 0"/>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7.5.3 第四范式（4NF）(2)</a:t>
            </a:r>
            <a:endParaRPr lang="en-US" sz="2400" b="1">
              <a:solidFill>
                <a:srgbClr val="FFFFFF"/>
              </a:solidFill>
              <a:latin typeface="Noto Sans SC"/>
              <a:ea typeface="Noto Sans SC"/>
            </a:endParaRPr>
          </a:p>
        </p:txBody>
      </p:sp>
      <p:sp>
        <p:nvSpPr>
          <p:cNvPr id="3" name="AutoShape 3"/>
          <p:cNvSpPr/>
          <p:nvPr/>
        </p:nvSpPr>
        <p:spPr>
          <a:xfrm>
            <a:off x="838200" y="1552353"/>
            <a:ext cx="5207000" cy="4621620"/>
          </a:xfrm>
          <a:prstGeom prst="roundRect">
            <a:avLst>
              <a:gd name="adj" fmla="val 2051"/>
            </a:avLst>
          </a:prstGeom>
          <a:solidFill>
            <a:srgbClr val="F8F5FF">
              <a:alpha val="100000"/>
            </a:srgbClr>
          </a:solidFill>
          <a:ln w="12700" cap="flat" cmpd="sng">
            <a:solidFill>
              <a:srgbClr val="7030A0">
                <a:alpha val="20000"/>
              </a:srgbClr>
            </a:solid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92200" y="1761542"/>
            <a:ext cx="4791149" cy="4223913"/>
          </a:xfrm>
          <a:prstGeom prst="rect">
            <a:avLst/>
          </a:prstGeom>
          <a:noFill/>
          <a:ln w="12700" cap="flat" cmpd="sng">
            <a:noFill/>
            <a:prstDash val="solid"/>
            <a:round/>
          </a:ln>
        </p:spPr>
        <p:txBody>
          <a:bodyPr vert="horz" wrap="square" lIns="0" tIns="0" rIns="0" bIns="0" rtlCol="0" anchor="t" anchorCtr="0">
            <a:spAutoFit/>
          </a:bodyPr>
          <a:lstStyle/>
          <a:p>
            <a:pPr indent="0" algn="l">
              <a:lnSpc>
                <a:spcPct val="100000"/>
              </a:lnSpc>
              <a:spcBef>
                <a:spcPts val="1000"/>
              </a:spcBef>
              <a:defRPr/>
            </a:pPr>
            <a:r>
              <a:rPr lang="en-US" sz="1800" b="1" i="0" u="none" strike="noStrike">
                <a:solidFill>
                  <a:srgbClr val="7030A0"/>
                </a:solidFill>
                <a:latin typeface="Noto Sans SC"/>
                <a:ea typeface="Noto Sans SC"/>
                <a:cs typeface="Noto Sans SC"/>
                <a:sym typeface="Noto Sans SC"/>
              </a:rPr>
              <a:t>▌ 定理 7.10</a:t>
            </a:r>
            <a:endParaRPr lang="en-US" sz="1100"/>
          </a:p>
          <a:p>
            <a:pPr>
              <a:lnSpc>
                <a:spcPct val="130000"/>
              </a:lnSpc>
              <a:spcBef>
                <a:spcPts val="600"/>
              </a:spcBef>
            </a:pPr>
            <a:r>
              <a:rPr lang="en-US" sz="1600">
                <a:solidFill>
                  <a:srgbClr val="333333"/>
                </a:solidFill>
                <a:latin typeface="Noto Sans SC"/>
                <a:ea typeface="Noto Sans SC"/>
                <a:sym typeface="Noto Sans SC"/>
              </a:rPr>
              <a:t>如果</a:t>
            </a:r>
            <a:r>
              <a:rPr lang="zh-CN" altLang="en-US" sz="1600">
                <a:solidFill>
                  <a:srgbClr val="333333"/>
                </a:solidFill>
                <a:latin typeface="Noto Sans SC"/>
                <a:ea typeface="Noto Sans SC"/>
                <a:sym typeface="Noto Sans SC"/>
              </a:rPr>
              <a:t>关系模式</a:t>
            </a:r>
            <a:r>
              <a:rPr lang="en-US" sz="1600">
                <a:solidFill>
                  <a:srgbClr val="333333"/>
                </a:solidFill>
                <a:latin typeface="Noto Sans SC"/>
                <a:ea typeface="Noto Sans SC"/>
                <a:sym typeface="Noto Sans SC"/>
              </a:rPr>
              <a:t> R </a:t>
            </a:r>
            <a:r>
              <a:rPr lang="zh-CN" altLang="en-US" sz="1600">
                <a:solidFill>
                  <a:srgbClr val="333333"/>
                </a:solidFill>
                <a:latin typeface="Noto Sans SC"/>
                <a:ea typeface="Noto Sans SC"/>
                <a:sym typeface="Noto Sans SC"/>
              </a:rPr>
              <a:t>是</a:t>
            </a:r>
            <a:r>
              <a:rPr lang="en-US" sz="1600">
                <a:solidFill>
                  <a:srgbClr val="333333"/>
                </a:solidFill>
                <a:latin typeface="Noto Sans SC"/>
                <a:ea typeface="Noto Sans SC"/>
                <a:sym typeface="Noto Sans SC"/>
              </a:rPr>
              <a:t> 4NF 的，那么 R 一定是 BCNF 的。</a:t>
            </a:r>
          </a:p>
          <a:p>
            <a:pPr indent="0" algn="l">
              <a:lnSpc>
                <a:spcPct val="100000"/>
              </a:lnSpc>
              <a:spcBef>
                <a:spcPts val="1500"/>
              </a:spcBef>
            </a:pPr>
            <a:r>
              <a:rPr lang="en-US" sz="1800" b="1" i="0" u="none" strike="noStrike">
                <a:solidFill>
                  <a:srgbClr val="D97706"/>
                </a:solidFill>
                <a:latin typeface="Noto Sans SC"/>
                <a:ea typeface="Noto Sans SC"/>
                <a:cs typeface="Noto Sans SC"/>
                <a:sym typeface="Noto Sans SC"/>
              </a:rPr>
              <a:t>▌ 证明 (反证法)</a:t>
            </a:r>
          </a:p>
          <a:p>
            <a:pPr indent="0">
              <a:lnSpc>
                <a:spcPct val="130000"/>
              </a:lnSpc>
              <a:spcBef>
                <a:spcPts val="600"/>
              </a:spcBef>
              <a:spcAft>
                <a:spcPts val="600"/>
              </a:spcAft>
            </a:pPr>
            <a:r>
              <a:rPr lang="en-US" sz="1600">
                <a:solidFill>
                  <a:srgbClr val="333333"/>
                </a:solidFill>
                <a:latin typeface="Noto Sans SC"/>
                <a:ea typeface="Noto Sans SC"/>
                <a:sym typeface="Noto Sans SC"/>
              </a:rPr>
              <a:t>假设关系模式 R 是 4NF，但不是 BCNF。根据 BCNF 的定义，R 中必存在一个非平凡的</a:t>
            </a:r>
            <a:r>
              <a:rPr lang="en-US" altLang="zh-CN" sz="1600">
                <a:solidFill>
                  <a:srgbClr val="333333"/>
                </a:solidFill>
                <a:latin typeface="Noto Sans SC"/>
                <a:ea typeface="Noto Sans SC"/>
                <a:sym typeface="Noto Sans SC"/>
              </a:rPr>
              <a:t>FD  </a:t>
            </a:r>
            <a:r>
              <a:rPr lang="en-US" sz="1600">
                <a:solidFill>
                  <a:srgbClr val="333333"/>
                </a:solidFill>
                <a:latin typeface="Noto Sans SC"/>
                <a:ea typeface="Noto Sans SC"/>
                <a:sym typeface="Noto Sans SC"/>
              </a:rPr>
              <a:t>X→Y，且 X 不是 R 的超键。分两种情况讨论：</a:t>
            </a:r>
          </a:p>
          <a:p>
            <a:pPr marL="342900" indent="-342900">
              <a:lnSpc>
                <a:spcPct val="130000"/>
              </a:lnSpc>
              <a:buFont typeface="+mj-lt"/>
              <a:buAutoNum type="arabicPeriod"/>
            </a:pPr>
            <a:r>
              <a:rPr lang="en-US" sz="1600">
                <a:solidFill>
                  <a:srgbClr val="333333"/>
                </a:solidFill>
                <a:latin typeface="Noto Sans SC"/>
                <a:ea typeface="Noto Sans SC"/>
                <a:sym typeface="Noto Sans SC"/>
              </a:rPr>
              <a:t>若 XY = R</a:t>
            </a:r>
            <a:r>
              <a:rPr lang="zh-CN" altLang="en-US" sz="1600">
                <a:solidFill>
                  <a:srgbClr val="333333"/>
                </a:solidFill>
                <a:latin typeface="Noto Sans SC"/>
                <a:ea typeface="Noto Sans SC"/>
                <a:sym typeface="Noto Sans SC"/>
              </a:rPr>
              <a:t>，</a:t>
            </a:r>
            <a:r>
              <a:rPr lang="en-US" sz="1600">
                <a:solidFill>
                  <a:srgbClr val="333333"/>
                </a:solidFill>
                <a:latin typeface="Noto Sans SC"/>
                <a:ea typeface="Noto Sans SC"/>
                <a:sym typeface="Noto Sans SC"/>
              </a:rPr>
              <a:t>则 X 必包含 R 的所有属性，即 X 是 R 的超键，与假设矛盾。</a:t>
            </a:r>
          </a:p>
          <a:p>
            <a:pPr marL="342900" indent="-342900">
              <a:lnSpc>
                <a:spcPct val="130000"/>
              </a:lnSpc>
              <a:buFont typeface="+mj-lt"/>
              <a:buAutoNum type="arabicPeriod"/>
            </a:pPr>
            <a:r>
              <a:rPr lang="en-US" sz="1600">
                <a:solidFill>
                  <a:srgbClr val="333333"/>
                </a:solidFill>
                <a:latin typeface="Noto Sans SC"/>
                <a:ea typeface="Noto Sans SC"/>
                <a:sym typeface="Noto Sans SC"/>
              </a:rPr>
              <a:t>若 XY ≠ R</a:t>
            </a:r>
            <a:r>
              <a:rPr lang="zh-CN" altLang="en-US" sz="1600">
                <a:solidFill>
                  <a:srgbClr val="333333"/>
                </a:solidFill>
                <a:latin typeface="Noto Sans SC"/>
                <a:ea typeface="Noto Sans SC"/>
                <a:sym typeface="Noto Sans SC"/>
              </a:rPr>
              <a:t>，</a:t>
            </a:r>
            <a:r>
              <a:rPr lang="en-US" sz="1600">
                <a:solidFill>
                  <a:srgbClr val="333333"/>
                </a:solidFill>
                <a:latin typeface="Noto Sans SC"/>
                <a:ea typeface="Noto Sans SC"/>
                <a:sym typeface="Noto Sans SC"/>
              </a:rPr>
              <a:t>根据MVD的复制性推导规则，从 X→Y 可推出非平凡的MVD X→→Y。此时 X 不是超键，直接违反了 4NF 的定义，与假设矛盾。</a:t>
            </a:r>
          </a:p>
          <a:p>
            <a:pPr>
              <a:lnSpc>
                <a:spcPct val="130000"/>
              </a:lnSpc>
              <a:spcBef>
                <a:spcPts val="600"/>
              </a:spcBef>
            </a:pPr>
            <a:r>
              <a:rPr lang="en-US" sz="1600">
                <a:solidFill>
                  <a:srgbClr val="333333"/>
                </a:solidFill>
                <a:latin typeface="Noto Sans SC"/>
                <a:ea typeface="Noto Sans SC"/>
                <a:sym typeface="Noto Sans SC"/>
              </a:rPr>
              <a:t>结论：原假设不成立，故 4NF 模式必为 BCNF 模式。</a:t>
            </a:r>
          </a:p>
        </p:txBody>
      </p:sp>
      <p:sp>
        <p:nvSpPr>
          <p:cNvPr id="5" name="AutoShape 5"/>
          <p:cNvSpPr/>
          <p:nvPr/>
        </p:nvSpPr>
        <p:spPr>
          <a:xfrm>
            <a:off x="6350000" y="1552353"/>
            <a:ext cx="5003800" cy="4621620"/>
          </a:xfrm>
          <a:prstGeom prst="roundRect">
            <a:avLst>
              <a:gd name="adj" fmla="val 2051"/>
            </a:avLst>
          </a:prstGeom>
          <a:solidFill>
            <a:srgbClr val="F0FDF4">
              <a:alpha val="100000"/>
            </a:srgbClr>
          </a:solidFill>
          <a:ln w="12700" cap="flat" cmpd="sng">
            <a:solidFill>
              <a:srgbClr val="15803D">
                <a:alpha val="20000"/>
              </a:srgbClr>
            </a:solidFill>
            <a:prstDash val="solid"/>
            <a:round/>
          </a:ln>
        </p:spPr>
        <p:txBody>
          <a:bodyPr vert="horz" wrap="square" lIns="63500" tIns="63500" rIns="63500" bIns="63500" rtlCol="0" anchor="ctr"/>
          <a:lstStyle/>
          <a:p>
            <a:pPr algn="ctr">
              <a:defRPr/>
            </a:pPr>
            <a:endParaRPr/>
          </a:p>
        </p:txBody>
      </p:sp>
      <p:sp>
        <p:nvSpPr>
          <p:cNvPr id="6" name="AutoShape 6"/>
          <p:cNvSpPr/>
          <p:nvPr/>
        </p:nvSpPr>
        <p:spPr>
          <a:xfrm>
            <a:off x="6604000" y="1761542"/>
            <a:ext cx="4572000" cy="4305474"/>
          </a:xfrm>
          <a:prstGeom prst="rect">
            <a:avLst/>
          </a:prstGeom>
          <a:noFill/>
          <a:ln w="12700" cap="flat" cmpd="sng">
            <a:noFill/>
            <a:prstDash val="solid"/>
            <a:round/>
          </a:ln>
        </p:spPr>
        <p:txBody>
          <a:bodyPr vert="horz" wrap="square" lIns="0" tIns="0" rIns="0" bIns="0" rtlCol="0" anchor="t" anchorCtr="0">
            <a:spAutoFit/>
          </a:bodyPr>
          <a:lstStyle/>
          <a:p>
            <a:pPr indent="0" algn="l">
              <a:lnSpc>
                <a:spcPct val="100000"/>
              </a:lnSpc>
              <a:spcBef>
                <a:spcPts val="1000"/>
              </a:spcBef>
              <a:defRPr/>
            </a:pPr>
            <a:r>
              <a:rPr lang="en-US" sz="1800" b="1" i="0" u="none" strike="noStrike">
                <a:solidFill>
                  <a:srgbClr val="15803D"/>
                </a:solidFill>
                <a:latin typeface="Noto Sans SC"/>
                <a:ea typeface="Noto Sans SC"/>
                <a:cs typeface="Noto Sans SC"/>
                <a:sym typeface="Noto Sans SC"/>
              </a:rPr>
              <a:t>▌ 算法 7.8：无损分解成 4NF 模式集</a:t>
            </a:r>
            <a:endParaRPr lang="en-US" sz="1100"/>
          </a:p>
          <a:p>
            <a:pPr indent="0">
              <a:lnSpc>
                <a:spcPct val="130000"/>
              </a:lnSpc>
              <a:spcBef>
                <a:spcPts val="600"/>
              </a:spcBef>
            </a:pPr>
            <a:r>
              <a:rPr lang="en-US" sz="1600" b="1">
                <a:solidFill>
                  <a:srgbClr val="333333"/>
                </a:solidFill>
                <a:latin typeface="Noto Sans SC"/>
                <a:ea typeface="Noto Sans SC"/>
                <a:sym typeface="Noto Sans SC"/>
              </a:rPr>
              <a:t>输入：</a:t>
            </a:r>
            <a:r>
              <a:rPr lang="en-US" sz="1600">
                <a:solidFill>
                  <a:srgbClr val="333333"/>
                </a:solidFill>
                <a:latin typeface="Noto Sans SC"/>
                <a:ea typeface="Noto Sans SC"/>
                <a:sym typeface="Noto Sans SC"/>
              </a:rPr>
              <a:t>关系模式 R(U, D)，D</a:t>
            </a:r>
            <a:r>
              <a:rPr lang="zh-CN" altLang="en-US" sz="1600">
                <a:solidFill>
                  <a:srgbClr val="333333"/>
                </a:solidFill>
                <a:latin typeface="Noto Sans SC"/>
                <a:ea typeface="Noto Sans SC"/>
                <a:sym typeface="Noto Sans SC"/>
              </a:rPr>
              <a:t>是</a:t>
            </a:r>
            <a:r>
              <a:rPr lang="en-US" sz="1600">
                <a:solidFill>
                  <a:srgbClr val="333333"/>
                </a:solidFill>
                <a:latin typeface="Noto Sans SC"/>
                <a:ea typeface="Noto Sans SC"/>
                <a:sym typeface="Noto Sans SC"/>
              </a:rPr>
              <a:t>R的</a:t>
            </a:r>
            <a:r>
              <a:rPr lang="en-US" altLang="zh-CN" sz="1600">
                <a:solidFill>
                  <a:srgbClr val="333333"/>
                </a:solidFill>
                <a:latin typeface="Noto Sans SC"/>
                <a:ea typeface="Noto Sans SC"/>
                <a:sym typeface="Noto Sans SC"/>
              </a:rPr>
              <a:t>FD</a:t>
            </a:r>
            <a:r>
              <a:rPr lang="en-US" sz="1600">
                <a:solidFill>
                  <a:srgbClr val="333333"/>
                </a:solidFill>
                <a:latin typeface="Noto Sans SC"/>
                <a:ea typeface="Noto Sans SC"/>
                <a:sym typeface="Noto Sans SC"/>
              </a:rPr>
              <a:t>和</a:t>
            </a:r>
            <a:r>
              <a:rPr lang="en-US" altLang="zh-CN" sz="1600">
                <a:solidFill>
                  <a:srgbClr val="333333"/>
                </a:solidFill>
                <a:latin typeface="Noto Sans SC"/>
                <a:ea typeface="Noto Sans SC"/>
                <a:sym typeface="Noto Sans SC"/>
              </a:rPr>
              <a:t>MVD</a:t>
            </a:r>
            <a:r>
              <a:rPr lang="en-US" sz="1600">
                <a:solidFill>
                  <a:srgbClr val="333333"/>
                </a:solidFill>
                <a:latin typeface="Noto Sans SC"/>
                <a:ea typeface="Noto Sans SC"/>
                <a:sym typeface="Noto Sans SC"/>
              </a:rPr>
              <a:t>集。</a:t>
            </a:r>
          </a:p>
          <a:p>
            <a:pPr indent="0">
              <a:lnSpc>
                <a:spcPct val="130000"/>
              </a:lnSpc>
              <a:spcBef>
                <a:spcPts val="600"/>
              </a:spcBef>
            </a:pPr>
            <a:r>
              <a:rPr lang="en-US" sz="1600" b="1">
                <a:solidFill>
                  <a:srgbClr val="333333"/>
                </a:solidFill>
                <a:latin typeface="Noto Sans SC"/>
                <a:ea typeface="Noto Sans SC"/>
                <a:sym typeface="Noto Sans SC"/>
              </a:rPr>
              <a:t>输出：</a:t>
            </a:r>
            <a:r>
              <a:rPr lang="en-US" sz="1600">
                <a:solidFill>
                  <a:srgbClr val="333333"/>
                </a:solidFill>
                <a:latin typeface="Noto Sans SC"/>
                <a:ea typeface="Noto Sans SC"/>
                <a:sym typeface="Noto Sans SC"/>
              </a:rPr>
              <a:t>R 的一个无损分解 ρ = {R₁, R₂, ..., Rₖ}，</a:t>
            </a:r>
            <a:br>
              <a:rPr lang="en-US" sz="1600">
                <a:solidFill>
                  <a:srgbClr val="333333"/>
                </a:solidFill>
                <a:latin typeface="Noto Sans SC"/>
                <a:ea typeface="Noto Sans SC"/>
                <a:sym typeface="Noto Sans SC"/>
              </a:rPr>
            </a:br>
            <a:r>
              <a:rPr lang="en-US" sz="1600">
                <a:solidFill>
                  <a:srgbClr val="333333"/>
                </a:solidFill>
                <a:latin typeface="Noto Sans SC"/>
                <a:ea typeface="Noto Sans SC"/>
                <a:sym typeface="Noto Sans SC"/>
              </a:rPr>
              <a:t>             其中每个 Rᵢ 都是 4NF。</a:t>
            </a:r>
          </a:p>
          <a:p>
            <a:pPr indent="0">
              <a:lnSpc>
                <a:spcPct val="130000"/>
              </a:lnSpc>
              <a:spcBef>
                <a:spcPts val="600"/>
              </a:spcBef>
            </a:pPr>
            <a:r>
              <a:rPr lang="en-US" sz="1600" b="1">
                <a:solidFill>
                  <a:srgbClr val="333333"/>
                </a:solidFill>
                <a:latin typeface="Noto Sans SC"/>
                <a:ea typeface="Noto Sans SC"/>
                <a:sym typeface="Noto Sans SC"/>
              </a:rPr>
              <a:t>步骤：</a:t>
            </a:r>
          </a:p>
          <a:p>
            <a:pPr marL="342900" indent="-342900">
              <a:lnSpc>
                <a:spcPct val="130000"/>
              </a:lnSpc>
              <a:spcBef>
                <a:spcPts val="600"/>
              </a:spcBef>
              <a:buFont typeface="+mj-lt"/>
              <a:buAutoNum type="arabicPeriod"/>
            </a:pPr>
            <a:r>
              <a:rPr lang="en-US" sz="1600">
                <a:solidFill>
                  <a:srgbClr val="333333"/>
                </a:solidFill>
                <a:latin typeface="Noto Sans SC"/>
                <a:ea typeface="Noto Sans SC"/>
                <a:sym typeface="Noto Sans SC"/>
              </a:rPr>
              <a:t>初始化分解结果 ρ = {R}。</a:t>
            </a:r>
          </a:p>
          <a:p>
            <a:pPr marL="342900" indent="-342900">
              <a:lnSpc>
                <a:spcPct val="130000"/>
              </a:lnSpc>
              <a:spcBef>
                <a:spcPts val="600"/>
              </a:spcBef>
              <a:buFont typeface="+mj-lt"/>
              <a:buAutoNum type="arabicPeriod"/>
            </a:pPr>
            <a:r>
              <a:rPr lang="en-US" sz="1600">
                <a:solidFill>
                  <a:srgbClr val="333333"/>
                </a:solidFill>
                <a:latin typeface="Noto Sans SC"/>
                <a:ea typeface="Noto Sans SC"/>
                <a:sym typeface="Noto Sans SC"/>
              </a:rPr>
              <a:t>若 ρ 中所有关系模式都是 4NF</a:t>
            </a:r>
            <a:r>
              <a:rPr lang="zh-CN" altLang="en-US" sz="1600">
                <a:solidFill>
                  <a:srgbClr val="333333"/>
                </a:solidFill>
                <a:latin typeface="Noto Sans SC"/>
                <a:ea typeface="Noto Sans SC"/>
                <a:sym typeface="Noto Sans SC"/>
              </a:rPr>
              <a:t>：</a:t>
            </a:r>
            <a:r>
              <a:rPr lang="en-US" sz="1600">
                <a:solidFill>
                  <a:srgbClr val="333333"/>
                </a:solidFill>
                <a:latin typeface="Noto Sans SC"/>
                <a:ea typeface="Noto Sans SC"/>
                <a:sym typeface="Noto Sans SC"/>
              </a:rPr>
              <a:t>转步骤 3。</a:t>
            </a:r>
            <a:br>
              <a:rPr lang="en-US" sz="1600">
                <a:solidFill>
                  <a:srgbClr val="333333"/>
                </a:solidFill>
                <a:latin typeface="Noto Sans SC"/>
                <a:ea typeface="Noto Sans SC"/>
                <a:sym typeface="Noto Sans SC"/>
              </a:rPr>
            </a:br>
            <a:r>
              <a:rPr lang="en-US" sz="1600">
                <a:solidFill>
                  <a:srgbClr val="333333"/>
                </a:solidFill>
                <a:latin typeface="Noto Sans SC"/>
                <a:ea typeface="Noto Sans SC"/>
                <a:sym typeface="Noto Sans SC"/>
              </a:rPr>
              <a:t>否则</a:t>
            </a:r>
            <a:r>
              <a:rPr lang="zh-CN" altLang="en-US" sz="1600">
                <a:solidFill>
                  <a:srgbClr val="333333"/>
                </a:solidFill>
                <a:latin typeface="Noto Sans SC"/>
                <a:ea typeface="Noto Sans SC"/>
                <a:sym typeface="Noto Sans SC"/>
              </a:rPr>
              <a:t>：</a:t>
            </a:r>
            <a:r>
              <a:rPr lang="en-US" sz="1600">
                <a:solidFill>
                  <a:srgbClr val="333333"/>
                </a:solidFill>
                <a:latin typeface="Noto Sans SC"/>
                <a:ea typeface="Noto Sans SC"/>
                <a:sym typeface="Noto Sans SC"/>
              </a:rPr>
              <a:t>取 ρ 中一个不满足 4NF 的模式 Rᵢ</a:t>
            </a:r>
            <a:r>
              <a:rPr lang="zh-CN" altLang="en-US" sz="1600">
                <a:solidFill>
                  <a:srgbClr val="333333"/>
                </a:solidFill>
                <a:latin typeface="Noto Sans SC"/>
                <a:ea typeface="Noto Sans SC"/>
                <a:sym typeface="Noto Sans SC"/>
              </a:rPr>
              <a:t>；</a:t>
            </a:r>
            <a:r>
              <a:rPr lang="en-US" sz="1600">
                <a:solidFill>
                  <a:srgbClr val="333333"/>
                </a:solidFill>
                <a:latin typeface="Noto Sans SC"/>
                <a:ea typeface="Noto Sans SC"/>
                <a:sym typeface="Noto Sans SC"/>
              </a:rPr>
              <a:t>Rᵢ 中必存在非平凡 MVD  X→→Y 且 X 不是 Rᵢ 的超键</a:t>
            </a:r>
            <a:r>
              <a:rPr lang="zh-CN" altLang="en-US" sz="1600">
                <a:solidFill>
                  <a:srgbClr val="333333"/>
                </a:solidFill>
                <a:latin typeface="Noto Sans SC"/>
                <a:ea typeface="Noto Sans SC"/>
                <a:sym typeface="Noto Sans SC"/>
              </a:rPr>
              <a:t>；</a:t>
            </a:r>
            <a:r>
              <a:rPr lang="en-US" sz="1600">
                <a:solidFill>
                  <a:srgbClr val="333333"/>
                </a:solidFill>
                <a:latin typeface="Noto Sans SC"/>
                <a:ea typeface="Noto Sans SC"/>
                <a:sym typeface="Noto Sans SC"/>
              </a:rPr>
              <a:t>将 Rᵢ 分解为 XY 和 Rᵢ - Y 两个模式，用这两个模式替换 ρ 中的 Rᵢ，返回步骤 2。</a:t>
            </a:r>
          </a:p>
          <a:p>
            <a:pPr marL="342900" indent="-342900">
              <a:lnSpc>
                <a:spcPct val="130000"/>
              </a:lnSpc>
              <a:spcBef>
                <a:spcPts val="600"/>
              </a:spcBef>
              <a:buFont typeface="+mj-lt"/>
              <a:buAutoNum type="arabicPeriod"/>
            </a:pPr>
            <a:r>
              <a:rPr lang="en-US" sz="1600">
                <a:solidFill>
                  <a:srgbClr val="333333"/>
                </a:solidFill>
                <a:latin typeface="Noto Sans SC"/>
                <a:ea typeface="Noto Sans SC"/>
                <a:sym typeface="Noto Sans SC"/>
              </a:rPr>
              <a:t>结束，输出分解结果 ρ。</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5164"/>
            <a:ext cx="10515600" cy="565073"/>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7.5.4 嵌入多值依赖(1)</a:t>
            </a:r>
            <a:endParaRPr lang="en-US" sz="2400" b="1">
              <a:solidFill>
                <a:srgbClr val="FFFFFF"/>
              </a:solidFill>
              <a:latin typeface="Noto Sans SC"/>
              <a:ea typeface="Noto Sans SC"/>
            </a:endParaRPr>
          </a:p>
        </p:txBody>
      </p:sp>
      <p:sp>
        <p:nvSpPr>
          <p:cNvPr id="3" name="AutoShape 3"/>
          <p:cNvSpPr/>
          <p:nvPr/>
        </p:nvSpPr>
        <p:spPr>
          <a:xfrm>
            <a:off x="838200" y="1524000"/>
            <a:ext cx="5137298" cy="4648200"/>
          </a:xfrm>
          <a:prstGeom prst="rect">
            <a:avLst/>
          </a:prstGeom>
          <a:noFill/>
          <a:ln w="12700" cap="flat" cmpd="sng">
            <a:noFill/>
            <a:prstDash val="solid"/>
            <a:round/>
          </a:ln>
        </p:spPr>
        <p:txBody>
          <a:bodyPr vert="horz" wrap="square" lIns="0" tIns="0" rIns="0" bIns="0" rtlCol="0" anchor="t" anchorCtr="0">
            <a:spAutoFit/>
          </a:bodyPr>
          <a:lstStyle/>
          <a:p>
            <a:pPr indent="0">
              <a:lnSpc>
                <a:spcPct val="116666"/>
              </a:lnSpc>
              <a:spcBef>
                <a:spcPts val="500"/>
              </a:spcBef>
              <a:defRPr/>
            </a:pPr>
            <a:r>
              <a:rPr lang="en-US" sz="2000" b="1" i="0" u="none" strike="noStrike">
                <a:solidFill>
                  <a:srgbClr val="000000"/>
                </a:solidFill>
                <a:latin typeface="Noto Sans SC"/>
                <a:ea typeface="Noto Sans SC"/>
                <a:cs typeface="Noto Sans SC"/>
                <a:sym typeface="Noto Sans SC"/>
              </a:rPr>
              <a:t>💡 现象引入</a:t>
            </a:r>
            <a:endParaRPr lang="en-US" sz="1200"/>
          </a:p>
          <a:p>
            <a:pPr indent="0">
              <a:lnSpc>
                <a:spcPct val="130000"/>
              </a:lnSpc>
              <a:spcBef>
                <a:spcPts val="800"/>
              </a:spcBef>
            </a:pPr>
            <a:r>
              <a:rPr lang="en-US" sz="1600" b="0" i="0" u="none" strike="noStrike">
                <a:solidFill>
                  <a:srgbClr val="333333"/>
                </a:solidFill>
                <a:latin typeface="Noto Sans SC"/>
                <a:ea typeface="Noto Sans SC"/>
                <a:cs typeface="Noto Sans SC"/>
                <a:sym typeface="Noto Sans SC"/>
              </a:rPr>
              <a:t>有时关系模式R中，多值依赖 X→→Y 在整体上并不成立，但在R的某个子集W中可能成立。在数据库逻辑</a:t>
            </a:r>
            <a:r>
              <a:rPr lang="zh-CN" altLang="en-US" sz="1600" b="0" i="0" u="none" strike="noStrike">
                <a:solidFill>
                  <a:srgbClr val="333333"/>
                </a:solidFill>
                <a:latin typeface="Noto Sans SC"/>
                <a:ea typeface="Noto Sans SC"/>
                <a:cs typeface="Noto Sans SC"/>
                <a:sym typeface="Noto Sans SC"/>
              </a:rPr>
              <a:t>结构</a:t>
            </a:r>
            <a:r>
              <a:rPr lang="en-US" sz="1600" b="0" i="0" u="none" strike="noStrike">
                <a:solidFill>
                  <a:srgbClr val="333333"/>
                </a:solidFill>
                <a:latin typeface="Noto Sans SC"/>
                <a:ea typeface="Noto Sans SC"/>
                <a:cs typeface="Noto Sans SC"/>
                <a:sym typeface="Noto Sans SC"/>
              </a:rPr>
              <a:t>设计阶段，这种隐藏在子集上的依赖关系也应引起重视，避免数据冗余或异常。</a:t>
            </a:r>
          </a:p>
          <a:p>
            <a:pPr indent="0">
              <a:lnSpc>
                <a:spcPct val="116666"/>
              </a:lnSpc>
              <a:spcBef>
                <a:spcPts val="2000"/>
              </a:spcBef>
            </a:pPr>
            <a:r>
              <a:rPr lang="en-US" sz="2000" b="1" i="0" u="none" strike="noStrike">
                <a:solidFill>
                  <a:srgbClr val="7030A0"/>
                </a:solidFill>
                <a:latin typeface="Noto Sans SC"/>
                <a:ea typeface="Noto Sans SC"/>
                <a:cs typeface="Noto Sans SC"/>
                <a:sym typeface="Noto Sans SC"/>
              </a:rPr>
              <a:t>📝 定义 7.29 (嵌入多值依赖 EMVD)</a:t>
            </a:r>
          </a:p>
          <a:p>
            <a:pPr indent="0">
              <a:lnSpc>
                <a:spcPct val="130000"/>
              </a:lnSpc>
              <a:spcBef>
                <a:spcPts val="800"/>
              </a:spcBef>
            </a:pPr>
            <a:r>
              <a:rPr lang="zh-CN" altLang="en-US" sz="1600">
                <a:solidFill>
                  <a:srgbClr val="333333"/>
                </a:solidFill>
                <a:latin typeface="Noto Sans SC"/>
                <a:ea typeface="Noto Sans SC"/>
                <a:cs typeface="Noto Sans SC"/>
                <a:sym typeface="Noto Sans SC"/>
              </a:rPr>
              <a:t>设</a:t>
            </a:r>
            <a:r>
              <a:rPr lang="en-US" sz="1600" b="0" i="0" u="none" strike="noStrike">
                <a:solidFill>
                  <a:srgbClr val="333333"/>
                </a:solidFill>
                <a:latin typeface="Noto Sans SC"/>
                <a:ea typeface="Noto Sans SC"/>
                <a:cs typeface="Noto Sans SC"/>
                <a:sym typeface="Noto Sans SC"/>
              </a:rPr>
              <a:t>关系模式R(U,</a:t>
            </a:r>
            <a:r>
              <a:rPr lang="en-US" altLang="zh-CN" sz="1600" b="0" i="0" u="none" strike="noStrike">
                <a:solidFill>
                  <a:srgbClr val="333333"/>
                </a:solidFill>
                <a:latin typeface="Noto Sans SC"/>
                <a:ea typeface="Noto Sans SC"/>
                <a:cs typeface="Noto Sans SC"/>
                <a:sym typeface="Noto Sans SC"/>
              </a:rPr>
              <a:t>D</a:t>
            </a:r>
            <a:r>
              <a:rPr lang="en-US" sz="1600" b="0" i="0" u="none" strike="noStrike">
                <a:solidFill>
                  <a:srgbClr val="333333"/>
                </a:solidFill>
                <a:latin typeface="Noto Sans SC"/>
                <a:ea typeface="Noto Sans SC"/>
                <a:cs typeface="Noto Sans SC"/>
                <a:sym typeface="Noto Sans SC"/>
              </a:rPr>
              <a:t>)</a:t>
            </a:r>
            <a:r>
              <a:rPr lang="zh-CN" altLang="en-US" sz="1600" b="0" i="0" u="none" strike="noStrike">
                <a:solidFill>
                  <a:srgbClr val="333333"/>
                </a:solidFill>
                <a:latin typeface="Noto Sans SC"/>
                <a:ea typeface="Noto Sans SC"/>
                <a:cs typeface="Noto Sans SC"/>
                <a:sym typeface="Noto Sans SC"/>
              </a:rPr>
              <a:t>，</a:t>
            </a:r>
            <a:r>
              <a:rPr lang="en-US" sz="1600" b="0" i="0" u="none" strike="noStrike">
                <a:solidFill>
                  <a:srgbClr val="333333"/>
                </a:solidFill>
                <a:latin typeface="Noto Sans SC"/>
                <a:ea typeface="Noto Sans SC"/>
                <a:cs typeface="Noto Sans SC"/>
                <a:sym typeface="Noto Sans SC"/>
              </a:rPr>
              <a:t>X</a:t>
            </a:r>
            <a:r>
              <a:rPr lang="en-US" altLang="zh-CN" sz="1600">
                <a:solidFill>
                  <a:srgbClr val="333333"/>
                </a:solidFill>
                <a:latin typeface="Noto Sans SC"/>
                <a:ea typeface="Noto Sans SC"/>
                <a:cs typeface="Noto Sans SC"/>
                <a:sym typeface="Noto Sans SC"/>
              </a:rPr>
              <a:t>⊆U</a:t>
            </a:r>
            <a:r>
              <a:rPr lang="zh-CN" altLang="en-US" sz="1600">
                <a:solidFill>
                  <a:srgbClr val="333333"/>
                </a:solidFill>
                <a:latin typeface="Noto Sans SC"/>
                <a:ea typeface="Noto Sans SC"/>
                <a:cs typeface="Noto Sans SC"/>
                <a:sym typeface="Noto Sans SC"/>
              </a:rPr>
              <a:t>，</a:t>
            </a:r>
            <a:r>
              <a:rPr lang="en-US" sz="1600" b="0" i="0" u="none" strike="noStrike">
                <a:solidFill>
                  <a:srgbClr val="333333"/>
                </a:solidFill>
                <a:latin typeface="Noto Sans SC"/>
                <a:ea typeface="Noto Sans SC"/>
                <a:cs typeface="Noto Sans SC"/>
                <a:sym typeface="Noto Sans SC"/>
              </a:rPr>
              <a:t>Y</a:t>
            </a:r>
            <a:r>
              <a:rPr lang="en-US" altLang="zh-CN" sz="1600">
                <a:solidFill>
                  <a:srgbClr val="333333"/>
                </a:solidFill>
                <a:latin typeface="Noto Sans SC"/>
                <a:ea typeface="Noto Sans SC"/>
                <a:cs typeface="Noto Sans SC"/>
                <a:sym typeface="Noto Sans SC"/>
              </a:rPr>
              <a:t>⊆U</a:t>
            </a:r>
            <a:r>
              <a:rPr lang="en-US" sz="1600" b="0" i="0" u="none" strike="noStrike">
                <a:solidFill>
                  <a:srgbClr val="333333"/>
                </a:solidFill>
                <a:latin typeface="Noto Sans SC"/>
                <a:ea typeface="Noto Sans SC"/>
                <a:cs typeface="Noto Sans SC"/>
                <a:sym typeface="Noto Sans SC"/>
              </a:rPr>
              <a:t>，W</a:t>
            </a:r>
            <a:r>
              <a:rPr lang="zh-CN" altLang="en-US" sz="1600" b="0" i="0" u="none" strike="noStrike">
                <a:solidFill>
                  <a:srgbClr val="333333"/>
                </a:solidFill>
                <a:latin typeface="Noto Sans SC"/>
                <a:ea typeface="Noto Sans SC"/>
                <a:cs typeface="Noto Sans SC"/>
                <a:sym typeface="Noto Sans SC"/>
              </a:rPr>
              <a:t>⊂</a:t>
            </a:r>
            <a:r>
              <a:rPr lang="en-US" sz="1600" b="0" i="0" u="none" strike="noStrike">
                <a:solidFill>
                  <a:srgbClr val="333333"/>
                </a:solidFill>
                <a:latin typeface="Noto Sans SC"/>
                <a:ea typeface="Noto Sans SC"/>
                <a:cs typeface="Noto Sans SC"/>
                <a:sym typeface="Noto Sans SC"/>
              </a:rPr>
              <a:t>U</a:t>
            </a:r>
            <a:r>
              <a:rPr lang="zh-CN" altLang="en-US" sz="1600" b="0" i="0" u="none" strike="noStrike">
                <a:solidFill>
                  <a:srgbClr val="333333"/>
                </a:solidFill>
                <a:latin typeface="Noto Sans SC"/>
                <a:ea typeface="Noto Sans SC"/>
                <a:cs typeface="Noto Sans SC"/>
                <a:sym typeface="Noto Sans SC"/>
              </a:rPr>
              <a:t>，</a:t>
            </a:r>
            <a:r>
              <a:rPr lang="en-US" sz="1600" b="0" i="0" u="none" strike="noStrike">
                <a:solidFill>
                  <a:srgbClr val="333333"/>
                </a:solidFill>
                <a:latin typeface="Noto Sans SC"/>
                <a:ea typeface="Noto Sans SC"/>
                <a:cs typeface="Noto Sans SC"/>
                <a:sym typeface="Noto Sans SC"/>
              </a:rPr>
              <a:t>XY⊆W。若 MVD  </a:t>
            </a:r>
            <a:r>
              <a:rPr lang="en-US" sz="1600" b="1" i="0" u="none" strike="noStrike">
                <a:solidFill>
                  <a:srgbClr val="333333"/>
                </a:solidFill>
                <a:latin typeface="Noto Sans SC"/>
                <a:ea typeface="Noto Sans SC"/>
                <a:cs typeface="Noto Sans SC"/>
                <a:sym typeface="Noto Sans SC"/>
              </a:rPr>
              <a:t>X→→Y </a:t>
            </a:r>
            <a:r>
              <a:rPr lang="en-US" sz="1600" b="0" i="0" u="none" strike="noStrike">
                <a:solidFill>
                  <a:srgbClr val="333333"/>
                </a:solidFill>
                <a:latin typeface="Noto Sans SC"/>
                <a:ea typeface="Noto Sans SC"/>
                <a:cs typeface="Noto Sans SC"/>
                <a:sym typeface="Noto Sans SC"/>
              </a:rPr>
              <a:t>在模式 R 上不成立，但在其子模式</a:t>
            </a:r>
            <a:r>
              <a:rPr lang="en-US" altLang="zh-CN" sz="1600" b="0" i="0" u="none" strike="noStrike">
                <a:solidFill>
                  <a:srgbClr val="333333"/>
                </a:solidFill>
                <a:latin typeface="Noto Sans SC"/>
                <a:ea typeface="Noto Sans SC"/>
                <a:cs typeface="Noto Sans SC"/>
                <a:sym typeface="Noto Sans SC"/>
              </a:rPr>
              <a:t>R</a:t>
            </a:r>
            <a:r>
              <a:rPr lang="en-US" altLang="zh-CN" sz="1600">
                <a:solidFill>
                  <a:srgbClr val="333333"/>
                </a:solidFill>
                <a:latin typeface="Noto Sans SC"/>
                <a:ea typeface="Noto Sans SC"/>
                <a:cs typeface="Noto Sans SC"/>
                <a:sym typeface="Noto Sans SC"/>
              </a:rPr>
              <a:t>1(</a:t>
            </a:r>
            <a:r>
              <a:rPr lang="en-US" sz="1600" b="0" i="0" u="none" strike="noStrike">
                <a:solidFill>
                  <a:srgbClr val="333333"/>
                </a:solidFill>
                <a:latin typeface="Noto Sans SC"/>
                <a:ea typeface="Noto Sans SC"/>
                <a:cs typeface="Noto Sans SC"/>
                <a:sym typeface="Noto Sans SC"/>
              </a:rPr>
              <a:t>W)上成立，则称 X→→Y 为 R 上的</a:t>
            </a:r>
            <a:r>
              <a:rPr lang="en-US" sz="1600" b="1" i="0" u="none" strike="noStrike">
                <a:solidFill>
                  <a:srgbClr val="C00000"/>
                </a:solidFill>
                <a:latin typeface="Noto Sans SC"/>
                <a:ea typeface="Noto Sans SC"/>
                <a:cs typeface="Noto Sans SC"/>
                <a:sym typeface="Noto Sans SC"/>
              </a:rPr>
              <a:t>嵌入多值依赖</a:t>
            </a:r>
            <a:r>
              <a:rPr lang="en-US" sz="1600" b="0" i="0" u="none" strike="noStrike">
                <a:solidFill>
                  <a:srgbClr val="333333"/>
                </a:solidFill>
                <a:latin typeface="Noto Sans SC"/>
                <a:ea typeface="Noto Sans SC"/>
                <a:cs typeface="Noto Sans SC"/>
                <a:sym typeface="Noto Sans SC"/>
              </a:rPr>
              <a:t>（Embedded MVD，简记为 EMVD）。</a:t>
            </a:r>
          </a:p>
          <a:p>
            <a:pPr indent="0">
              <a:lnSpc>
                <a:spcPct val="130000"/>
              </a:lnSpc>
              <a:spcBef>
                <a:spcPts val="1200"/>
              </a:spcBef>
            </a:pPr>
            <a:r>
              <a:rPr lang="en-US" sz="1600" b="0" i="0" u="none" strike="noStrike">
                <a:solidFill>
                  <a:srgbClr val="333333"/>
                </a:solidFill>
                <a:latin typeface="Noto Sans SC"/>
                <a:ea typeface="Noto Sans SC"/>
                <a:cs typeface="Noto Sans SC"/>
                <a:sym typeface="Noto Sans SC"/>
              </a:rPr>
              <a:t>通常</a:t>
            </a:r>
            <a:r>
              <a:rPr lang="zh-CN" altLang="en-US" sz="1600" b="0" i="0" u="none" strike="noStrike">
                <a:solidFill>
                  <a:srgbClr val="333333"/>
                </a:solidFill>
                <a:latin typeface="Noto Sans SC"/>
                <a:ea typeface="Noto Sans SC"/>
                <a:cs typeface="Noto Sans SC"/>
                <a:sym typeface="Noto Sans SC"/>
              </a:rPr>
              <a:t>，</a:t>
            </a:r>
            <a:r>
              <a:rPr lang="en-US" sz="1600" b="0" i="0" u="none" strike="noStrike">
                <a:solidFill>
                  <a:srgbClr val="333333"/>
                </a:solidFill>
                <a:latin typeface="Noto Sans SC"/>
                <a:ea typeface="Noto Sans SC"/>
                <a:cs typeface="Noto Sans SC"/>
                <a:sym typeface="Noto Sans SC"/>
              </a:rPr>
              <a:t>使用符号</a:t>
            </a:r>
            <a:r>
              <a:rPr lang="en-US" sz="1600">
                <a:solidFill>
                  <a:srgbClr val="333333"/>
                </a:solidFill>
                <a:latin typeface="Noto Sans SC"/>
                <a:ea typeface="Noto Sans SC"/>
                <a:cs typeface="Noto Sans SC"/>
                <a:sym typeface="Noto Sans SC"/>
              </a:rPr>
              <a:t> (</a:t>
            </a:r>
            <a:r>
              <a:rPr lang="en-US" sz="1600" b="1" i="0" u="none" strike="noStrike">
                <a:solidFill>
                  <a:srgbClr val="000066"/>
                </a:solidFill>
                <a:latin typeface="Noto Sans SC"/>
                <a:ea typeface="Noto Sans SC"/>
                <a:cs typeface="Noto Sans SC"/>
                <a:sym typeface="Noto Sans SC"/>
              </a:rPr>
              <a:t>X→→Y) </a:t>
            </a:r>
            <a:r>
              <a:rPr lang="en-US" sz="1600" b="1" i="0" u="none" strike="noStrike" baseline="-25000">
                <a:solidFill>
                  <a:srgbClr val="000066"/>
                </a:solidFill>
                <a:latin typeface="Noto Sans SC"/>
                <a:ea typeface="Noto Sans SC"/>
                <a:cs typeface="Noto Sans SC"/>
                <a:sym typeface="Noto Sans SC"/>
              </a:rPr>
              <a:t>W</a:t>
            </a:r>
            <a:r>
              <a:rPr lang="en-US" sz="1600" b="0" i="0" u="none" strike="noStrike">
                <a:solidFill>
                  <a:srgbClr val="333333"/>
                </a:solidFill>
                <a:latin typeface="Noto Sans SC"/>
                <a:ea typeface="Noto Sans SC"/>
                <a:cs typeface="Noto Sans SC"/>
                <a:sym typeface="Noto Sans SC"/>
              </a:rPr>
              <a:t>来表示</a:t>
            </a:r>
            <a:r>
              <a:rPr lang="en-US" altLang="zh-CN" sz="1600" b="1">
                <a:solidFill>
                  <a:srgbClr val="000066"/>
                </a:solidFill>
                <a:latin typeface="Noto Sans SC"/>
                <a:ea typeface="Noto Sans SC"/>
                <a:cs typeface="Noto Sans SC"/>
                <a:sym typeface="Noto Sans SC"/>
              </a:rPr>
              <a:t> X→→Y </a:t>
            </a:r>
            <a:r>
              <a:rPr lang="zh-CN" altLang="en-US" sz="1600">
                <a:solidFill>
                  <a:srgbClr val="333333"/>
                </a:solidFill>
                <a:latin typeface="Noto Sans SC"/>
                <a:ea typeface="Noto Sans SC"/>
                <a:sym typeface="Noto Sans SC"/>
              </a:rPr>
              <a:t>是</a:t>
            </a:r>
            <a:r>
              <a:rPr lang="en-US" sz="1600">
                <a:solidFill>
                  <a:srgbClr val="333333"/>
                </a:solidFill>
                <a:latin typeface="Noto Sans SC"/>
                <a:ea typeface="Noto Sans SC"/>
                <a:sym typeface="Noto Sans SC"/>
              </a:rPr>
              <a:t>在</a:t>
            </a:r>
            <a:r>
              <a:rPr lang="en-US" altLang="zh-CN" sz="1600">
                <a:solidFill>
                  <a:srgbClr val="333333"/>
                </a:solidFill>
                <a:latin typeface="Noto Sans SC"/>
                <a:ea typeface="Noto Sans SC"/>
                <a:sym typeface="Noto Sans SC"/>
              </a:rPr>
              <a:t>子模式R1(W)上成立</a:t>
            </a:r>
            <a:r>
              <a:rPr lang="zh-CN" altLang="en-US" sz="1600">
                <a:solidFill>
                  <a:srgbClr val="333333"/>
                </a:solidFill>
                <a:latin typeface="Noto Sans SC"/>
                <a:ea typeface="Noto Sans SC"/>
                <a:sym typeface="Noto Sans SC"/>
              </a:rPr>
              <a:t>的</a:t>
            </a:r>
            <a:r>
              <a:rPr lang="en-US" sz="1600">
                <a:solidFill>
                  <a:srgbClr val="333333"/>
                </a:solidFill>
                <a:latin typeface="Noto Sans SC"/>
                <a:ea typeface="Noto Sans SC"/>
                <a:sym typeface="Noto Sans SC"/>
              </a:rPr>
              <a:t>。</a:t>
            </a:r>
          </a:p>
        </p:txBody>
      </p:sp>
      <p:sp>
        <p:nvSpPr>
          <p:cNvPr id="4" name="AutoShape 4"/>
          <p:cNvSpPr/>
          <p:nvPr/>
        </p:nvSpPr>
        <p:spPr>
          <a:xfrm>
            <a:off x="7478232" y="1524000"/>
            <a:ext cx="649767" cy="43561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核心</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要点</a:t>
            </a:r>
            <a:endParaRPr lang="en-US" sz="1600" b="1">
              <a:solidFill>
                <a:srgbClr val="FFFFFF"/>
              </a:solidFill>
              <a:latin typeface="Noto Sans SC"/>
              <a:ea typeface="Noto Sans SC"/>
            </a:endParaRPr>
          </a:p>
        </p:txBody>
      </p:sp>
      <p:sp>
        <p:nvSpPr>
          <p:cNvPr id="5" name="AutoShape 5"/>
          <p:cNvSpPr/>
          <p:nvPr/>
        </p:nvSpPr>
        <p:spPr>
          <a:xfrm>
            <a:off x="8140700" y="1524000"/>
            <a:ext cx="3213100" cy="647700"/>
          </a:xfrm>
          <a:prstGeom prst="roundRect">
            <a:avLst>
              <a:gd name="adj" fmla="val 0"/>
            </a:avLst>
          </a:prstGeom>
          <a:solidFill>
            <a:srgbClr val="1E3A8A">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现象：子集上成立的MVD</a:t>
            </a:r>
            <a:endParaRPr lang="en-US" sz="1050"/>
          </a:p>
        </p:txBody>
      </p:sp>
      <p:sp>
        <p:nvSpPr>
          <p:cNvPr id="6" name="AutoShape 6"/>
          <p:cNvSpPr/>
          <p:nvPr/>
        </p:nvSpPr>
        <p:spPr>
          <a:xfrm>
            <a:off x="8140700" y="2451100"/>
            <a:ext cx="3213100" cy="647700"/>
          </a:xfrm>
          <a:prstGeom prst="roundRect">
            <a:avLst>
              <a:gd name="adj" fmla="val 0"/>
            </a:avLst>
          </a:prstGeom>
          <a:solidFill>
            <a:srgbClr val="1E3A8A">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条件：XY ⊆ W ⊂ U</a:t>
            </a:r>
            <a:endParaRPr lang="en-US" sz="1050"/>
          </a:p>
        </p:txBody>
      </p:sp>
      <p:sp>
        <p:nvSpPr>
          <p:cNvPr id="7" name="AutoShape 7"/>
          <p:cNvSpPr/>
          <p:nvPr/>
        </p:nvSpPr>
        <p:spPr>
          <a:xfrm>
            <a:off x="8140700" y="3390900"/>
            <a:ext cx="3213100" cy="647700"/>
          </a:xfrm>
          <a:prstGeom prst="roundRect">
            <a:avLst>
              <a:gd name="adj" fmla="val 0"/>
            </a:avLst>
          </a:prstGeom>
          <a:solidFill>
            <a:srgbClr val="B45309">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嵌入多值依赖 (EMVD)</a:t>
            </a:r>
            <a:endParaRPr lang="en-US" sz="1050"/>
          </a:p>
        </p:txBody>
      </p:sp>
      <p:sp>
        <p:nvSpPr>
          <p:cNvPr id="8" name="AutoShape 8"/>
          <p:cNvSpPr/>
          <p:nvPr/>
        </p:nvSpPr>
        <p:spPr>
          <a:xfrm>
            <a:off x="8140700" y="4330700"/>
            <a:ext cx="3213100" cy="647700"/>
          </a:xfrm>
          <a:prstGeom prst="roundRect">
            <a:avLst>
              <a:gd name="adj" fmla="val 0"/>
            </a:avLst>
          </a:prstGeom>
          <a:solidFill>
            <a:srgbClr val="1E3A8A">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符号：(X →→ Y) W</a:t>
            </a:r>
            <a:endParaRPr lang="en-US" sz="1050"/>
          </a:p>
        </p:txBody>
      </p:sp>
      <p:sp>
        <p:nvSpPr>
          <p:cNvPr id="9" name="AutoShape 9"/>
          <p:cNvSpPr/>
          <p:nvPr/>
        </p:nvSpPr>
        <p:spPr>
          <a:xfrm>
            <a:off x="8140700" y="5219700"/>
            <a:ext cx="3213100" cy="647700"/>
          </a:xfrm>
          <a:prstGeom prst="roundRect">
            <a:avLst>
              <a:gd name="adj" fmla="val 0"/>
            </a:avLst>
          </a:prstGeom>
          <a:solidFill>
            <a:srgbClr val="DC2626">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意义：消除隐藏的数据冗余</a:t>
            </a:r>
            <a:endParaRPr lang="en-US" sz="105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762000"/>
          </a:xfrm>
          <a:prstGeom prst="roundRect">
            <a:avLst>
              <a:gd name="adj" fmla="val 0"/>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7.5.4 嵌入多值依赖 (2)</a:t>
            </a:r>
            <a:endParaRPr lang="en-US" sz="2400" b="1">
              <a:solidFill>
                <a:srgbClr val="FFFFFF"/>
              </a:solidFill>
              <a:latin typeface="Noto Sans SC"/>
              <a:ea typeface="Noto Sans SC"/>
            </a:endParaRPr>
          </a:p>
        </p:txBody>
      </p:sp>
      <p:sp>
        <p:nvSpPr>
          <p:cNvPr id="5" name="AutoShape 5"/>
          <p:cNvSpPr/>
          <p:nvPr/>
        </p:nvSpPr>
        <p:spPr>
          <a:xfrm>
            <a:off x="6851608" y="2229080"/>
            <a:ext cx="4502192" cy="901092"/>
          </a:xfrm>
          <a:prstGeom prst="roundRect">
            <a:avLst>
              <a:gd name="adj" fmla="val 0"/>
            </a:avLst>
          </a:prstGeom>
          <a:solidFill>
            <a:srgbClr val="FFF3E0">
              <a:alpha val="100000"/>
            </a:srgbClr>
          </a:solidFill>
          <a:ln w="12700" cap="flat" cmpd="sng">
            <a:solidFill>
              <a:srgbClr val="FFA726">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042108" y="2368171"/>
            <a:ext cx="609600" cy="609600"/>
          </a:xfrm>
          <a:prstGeom prst="rect">
            <a:avLst/>
          </a:prstGeom>
        </p:spPr>
      </p:pic>
      <p:sp>
        <p:nvSpPr>
          <p:cNvPr id="7" name="AutoShape 7"/>
          <p:cNvSpPr/>
          <p:nvPr/>
        </p:nvSpPr>
        <p:spPr>
          <a:xfrm>
            <a:off x="7726431" y="2241171"/>
            <a:ext cx="2688747"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65100"/>
                </a:solidFill>
                <a:latin typeface="Noto Sans SC"/>
                <a:ea typeface="Noto Sans SC"/>
                <a:cs typeface="Noto Sans SC"/>
                <a:sym typeface="Noto Sans SC"/>
              </a:rPr>
              <a:t>初始模式与依赖</a:t>
            </a:r>
            <a:endParaRPr lang="en-US" sz="1100"/>
          </a:p>
          <a:p>
            <a:pPr indent="0" algn="l">
              <a:lnSpc>
                <a:spcPct val="125000"/>
              </a:lnSpc>
            </a:pPr>
            <a:r>
              <a:rPr lang="en-US" b="0" i="0" u="none" strike="noStrike">
                <a:solidFill>
                  <a:srgbClr val="424242"/>
                </a:solidFill>
                <a:latin typeface="Noto Sans SC"/>
                <a:ea typeface="Noto Sans SC"/>
                <a:cs typeface="Noto Sans SC"/>
                <a:sym typeface="Noto Sans SC"/>
              </a:rPr>
              <a:t>R(C,S,P,Y) </a:t>
            </a:r>
            <a:r>
              <a:rPr lang="zh-CN" altLang="en-US">
                <a:solidFill>
                  <a:srgbClr val="424242"/>
                </a:solidFill>
                <a:latin typeface="Noto Sans SC"/>
                <a:ea typeface="Noto Sans SC"/>
                <a:cs typeface="Noto Sans SC"/>
                <a:sym typeface="Noto Sans SC"/>
              </a:rPr>
              <a:t>，</a:t>
            </a:r>
            <a:r>
              <a:rPr lang="en-US" altLang="zh-CN">
                <a:solidFill>
                  <a:srgbClr val="424242"/>
                </a:solidFill>
                <a:latin typeface="Noto Sans SC"/>
                <a:ea typeface="Noto Sans SC"/>
                <a:cs typeface="Noto Sans SC"/>
                <a:sym typeface="Noto Sans SC"/>
              </a:rPr>
              <a:t>CK=(</a:t>
            </a:r>
            <a:r>
              <a:rPr lang="en-US" b="0" i="0" u="none" strike="noStrike">
                <a:solidFill>
                  <a:srgbClr val="424242"/>
                </a:solidFill>
                <a:latin typeface="Noto Sans SC"/>
                <a:ea typeface="Noto Sans SC"/>
                <a:cs typeface="Noto Sans SC"/>
                <a:sym typeface="Noto Sans SC"/>
              </a:rPr>
              <a:t>CSP)</a:t>
            </a:r>
            <a:r>
              <a:rPr lang="zh-CN" altLang="en-US" b="0" i="0" u="none" strike="noStrike">
                <a:solidFill>
                  <a:srgbClr val="424242"/>
                </a:solidFill>
                <a:latin typeface="Noto Sans SC"/>
                <a:ea typeface="Noto Sans SC"/>
                <a:cs typeface="Noto Sans SC"/>
                <a:sym typeface="Noto Sans SC"/>
              </a:rPr>
              <a:t>，</a:t>
            </a:r>
            <a:r>
              <a:rPr lang="en-US" b="0" i="0" u="none" strike="noStrike">
                <a:solidFill>
                  <a:srgbClr val="424242"/>
                </a:solidFill>
                <a:latin typeface="Noto Sans SC"/>
                <a:ea typeface="Noto Sans SC"/>
                <a:cs typeface="Noto Sans SC"/>
                <a:sym typeface="Noto Sans SC"/>
              </a:rPr>
              <a:t>SP → Y</a:t>
            </a:r>
          </a:p>
        </p:txBody>
      </p:sp>
      <p:sp>
        <p:nvSpPr>
          <p:cNvPr id="8" name="AutoShape 8"/>
          <p:cNvSpPr/>
          <p:nvPr/>
        </p:nvSpPr>
        <p:spPr>
          <a:xfrm>
            <a:off x="6851608" y="3765171"/>
            <a:ext cx="4502192" cy="901092"/>
          </a:xfrm>
          <a:prstGeom prst="roundRect">
            <a:avLst>
              <a:gd name="adj" fmla="val 0"/>
            </a:avLst>
          </a:prstGeom>
          <a:solidFill>
            <a:srgbClr val="E3F2FD">
              <a:alpha val="100000"/>
            </a:srgbClr>
          </a:solidFill>
          <a:ln w="12700" cap="flat" cmpd="sng">
            <a:solidFill>
              <a:srgbClr val="03A9F4">
                <a:alpha val="100000"/>
              </a:srgbClr>
            </a:solidFill>
            <a:prstDash val="solid"/>
            <a:round/>
          </a:ln>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042108" y="3892171"/>
            <a:ext cx="609600" cy="609600"/>
          </a:xfrm>
          <a:prstGeom prst="rect">
            <a:avLst/>
          </a:prstGeom>
        </p:spPr>
      </p:pic>
      <p:sp>
        <p:nvSpPr>
          <p:cNvPr id="10" name="AutoShape 10"/>
          <p:cNvSpPr/>
          <p:nvPr/>
        </p:nvSpPr>
        <p:spPr>
          <a:xfrm>
            <a:off x="7726431" y="3765171"/>
            <a:ext cx="3570177"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77BD"/>
                </a:solidFill>
                <a:latin typeface="Noto Sans SC"/>
                <a:ea typeface="Noto Sans SC"/>
                <a:cs typeface="Noto Sans SC"/>
                <a:sym typeface="Noto Sans SC"/>
              </a:rPr>
              <a:t>嵌入多值依赖 (EMVD)</a:t>
            </a:r>
            <a:endParaRPr lang="en-US" sz="1200"/>
          </a:p>
          <a:p>
            <a:pPr indent="0" algn="l">
              <a:lnSpc>
                <a:spcPct val="125000"/>
              </a:lnSpc>
            </a:pPr>
            <a:r>
              <a:rPr lang="en-US" b="0" i="0" u="none" strike="noStrike">
                <a:solidFill>
                  <a:srgbClr val="424242"/>
                </a:solidFill>
                <a:latin typeface="Noto Sans SC"/>
                <a:ea typeface="Noto Sans SC"/>
                <a:cs typeface="Noto Sans SC"/>
                <a:sym typeface="Noto Sans SC"/>
              </a:rPr>
              <a:t>仅在子集 R₁(CSP) 上成立：C→→S, C→→P</a:t>
            </a:r>
          </a:p>
        </p:txBody>
      </p:sp>
      <p:sp>
        <p:nvSpPr>
          <p:cNvPr id="11" name="AutoShape 11"/>
          <p:cNvSpPr/>
          <p:nvPr/>
        </p:nvSpPr>
        <p:spPr>
          <a:xfrm>
            <a:off x="6851608" y="5226007"/>
            <a:ext cx="4502192" cy="901092"/>
          </a:xfrm>
          <a:prstGeom prst="roundRect">
            <a:avLst>
              <a:gd name="adj" fmla="val 0"/>
            </a:avLst>
          </a:prstGeom>
          <a:solidFill>
            <a:srgbClr val="E8F5E9">
              <a:alpha val="100000"/>
            </a:srgbClr>
          </a:solidFill>
          <a:ln w="12700" cap="flat" cmpd="sng">
            <a:solidFill>
              <a:srgbClr val="4CAF50">
                <a:alpha val="100000"/>
              </a:srgbClr>
            </a:solidFill>
            <a:prstDash val="solid"/>
            <a:round/>
          </a:ln>
        </p:spPr>
        <p:txBody>
          <a:bodyPr vert="horz" wrap="square" lIns="63500" tIns="63500" rIns="63500" bIns="63500" rtlCol="0" anchor="ctr"/>
          <a:lstStyle/>
          <a:p>
            <a:pPr algn="ctr">
              <a:defRPr/>
            </a:pPr>
            <a:endParaRPr/>
          </a:p>
        </p:txBody>
      </p:sp>
      <p:pic>
        <p:nvPicPr>
          <p:cNvPr id="12" name="Picture 12"/>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42108" y="5416171"/>
            <a:ext cx="609600" cy="609600"/>
          </a:xfrm>
          <a:prstGeom prst="rect">
            <a:avLst/>
          </a:prstGeom>
        </p:spPr>
      </p:pic>
      <p:sp>
        <p:nvSpPr>
          <p:cNvPr id="13" name="AutoShape 13"/>
          <p:cNvSpPr/>
          <p:nvPr/>
        </p:nvSpPr>
        <p:spPr>
          <a:xfrm>
            <a:off x="7726431" y="5289171"/>
            <a:ext cx="3570177"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2E7D32"/>
                </a:solidFill>
                <a:latin typeface="Noto Sans SC"/>
                <a:ea typeface="Noto Sans SC"/>
                <a:cs typeface="Noto Sans SC"/>
                <a:sym typeface="Noto Sans SC"/>
              </a:rPr>
              <a:t>最终4NF分解</a:t>
            </a:r>
            <a:endParaRPr lang="en-US" sz="1200"/>
          </a:p>
          <a:p>
            <a:pPr indent="0" algn="l">
              <a:lnSpc>
                <a:spcPct val="125000"/>
              </a:lnSpc>
            </a:pPr>
            <a:r>
              <a:rPr lang="en-US" b="0" i="0" u="none" strike="noStrike">
                <a:solidFill>
                  <a:srgbClr val="424242"/>
                </a:solidFill>
                <a:latin typeface="Noto Sans SC"/>
                <a:ea typeface="Noto Sans SC"/>
                <a:cs typeface="Noto Sans SC"/>
                <a:sym typeface="Noto Sans SC"/>
              </a:rPr>
              <a:t>{  CS,  CP, SPY }</a:t>
            </a:r>
          </a:p>
        </p:txBody>
      </p:sp>
      <p:sp>
        <p:nvSpPr>
          <p:cNvPr id="14" name="AutoShape 4">
            <a:extLst>
              <a:ext uri="{FF2B5EF4-FFF2-40B4-BE49-F238E27FC236}">
                <a16:creationId xmlns:a16="http://schemas.microsoft.com/office/drawing/2014/main" id="{4933C20C-D09C-2F2A-0EF5-8F98E044524C}"/>
              </a:ext>
            </a:extLst>
          </p:cNvPr>
          <p:cNvSpPr/>
          <p:nvPr/>
        </p:nvSpPr>
        <p:spPr>
          <a:xfrm>
            <a:off x="838199" y="1311761"/>
            <a:ext cx="4557459"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16</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a:t>
            </a:r>
            <a:r>
              <a:rPr lang="en-US" altLang="zh-CN" sz="2000" b="1">
                <a:solidFill>
                  <a:srgbClr val="7030A0"/>
                </a:solidFill>
                <a:latin typeface="Noto Sans SC"/>
                <a:ea typeface="Noto Sans SC"/>
                <a:cs typeface="Noto Sans SC"/>
                <a:sym typeface="Noto Sans SC"/>
              </a:rPr>
              <a:t> 模式分解</a:t>
            </a:r>
            <a:endParaRPr lang="zh-CN" altLang="en-US" sz="2000">
              <a:solidFill>
                <a:srgbClr val="7030A0"/>
              </a:solidFill>
              <a:latin typeface="Noto Sans SC Black" panose="020B0200000000000000" pitchFamily="34" charset="-122"/>
              <a:ea typeface="Noto Sans SC Black" panose="020B0200000000000000" pitchFamily="34" charset="-122"/>
              <a:sym typeface="Noto Sans SC"/>
            </a:endParaRPr>
          </a:p>
        </p:txBody>
      </p:sp>
      <p:sp>
        <p:nvSpPr>
          <p:cNvPr id="16" name="文本框 15">
            <a:extLst>
              <a:ext uri="{FF2B5EF4-FFF2-40B4-BE49-F238E27FC236}">
                <a16:creationId xmlns:a16="http://schemas.microsoft.com/office/drawing/2014/main" id="{7447AF49-0EE8-DC69-E535-55997693D713}"/>
              </a:ext>
            </a:extLst>
          </p:cNvPr>
          <p:cNvSpPr txBox="1"/>
          <p:nvPr/>
        </p:nvSpPr>
        <p:spPr>
          <a:xfrm>
            <a:off x="838198" y="1829409"/>
            <a:ext cx="5442099" cy="4671792"/>
          </a:xfrm>
          <a:prstGeom prst="rect">
            <a:avLst/>
          </a:prstGeom>
          <a:noFill/>
        </p:spPr>
        <p:txBody>
          <a:bodyPr wrap="square" lIns="0" tIns="0" rIns="0" bIns="0">
            <a:spAutoFit/>
          </a:bodyPr>
          <a:lstStyle/>
          <a:p>
            <a:pPr indent="0" algn="l">
              <a:lnSpc>
                <a:spcPct val="130000"/>
              </a:lnSpc>
            </a:pPr>
            <a:r>
              <a:rPr lang="en-US" altLang="zh-CN" sz="1600" b="0" i="0" u="none" strike="noStrike">
                <a:solidFill>
                  <a:srgbClr val="333333"/>
                </a:solidFill>
                <a:latin typeface="Noto Sans SC"/>
                <a:ea typeface="Noto Sans SC"/>
                <a:cs typeface="Noto Sans SC"/>
                <a:sym typeface="Noto Sans SC"/>
              </a:rPr>
              <a:t>设关系模式 R(C,S,P,Y)，属性</a:t>
            </a:r>
            <a:r>
              <a:rPr lang="zh-CN" altLang="en-US" sz="1600">
                <a:solidFill>
                  <a:srgbClr val="333333"/>
                </a:solidFill>
                <a:latin typeface="Noto Sans SC"/>
                <a:ea typeface="Noto Sans SC"/>
                <a:cs typeface="Noto Sans SC"/>
                <a:sym typeface="Noto Sans SC"/>
              </a:rPr>
              <a:t>分别代表</a:t>
            </a:r>
            <a:r>
              <a:rPr lang="en-US" altLang="zh-CN" sz="1600" b="0" i="0" u="none" strike="noStrike">
                <a:solidFill>
                  <a:srgbClr val="333333"/>
                </a:solidFill>
                <a:latin typeface="Noto Sans SC"/>
                <a:ea typeface="Noto Sans SC"/>
                <a:cs typeface="Noto Sans SC"/>
                <a:sym typeface="Noto Sans SC"/>
              </a:rPr>
              <a:t>：课程、学生、先修课程、先修年份。已知 R 上仅有非平凡函数依赖 SP→Y，且关系的</a:t>
            </a:r>
            <a:r>
              <a:rPr lang="zh-CN" altLang="en-US" sz="1600" b="0" i="0" u="none" strike="noStrike">
                <a:solidFill>
                  <a:srgbClr val="333333"/>
                </a:solidFill>
                <a:latin typeface="Noto Sans SC"/>
                <a:ea typeface="Noto Sans SC"/>
                <a:cs typeface="Noto Sans SC"/>
                <a:sym typeface="Noto Sans SC"/>
              </a:rPr>
              <a:t>候选码</a:t>
            </a:r>
            <a:r>
              <a:rPr lang="en-US" altLang="zh-CN" sz="1600" b="0" i="0" u="none" strike="noStrike">
                <a:solidFill>
                  <a:srgbClr val="333333"/>
                </a:solidFill>
                <a:latin typeface="Noto Sans SC"/>
                <a:ea typeface="Noto Sans SC"/>
                <a:cs typeface="Noto Sans SC"/>
                <a:sym typeface="Noto Sans SC"/>
              </a:rPr>
              <a:t>为</a:t>
            </a:r>
            <a:r>
              <a:rPr lang="zh-CN" altLang="en-US" sz="1600">
                <a:solidFill>
                  <a:srgbClr val="333333"/>
                </a:solidFill>
                <a:latin typeface="Noto Sans SC"/>
                <a:ea typeface="Noto Sans SC"/>
                <a:cs typeface="Noto Sans SC"/>
                <a:sym typeface="Noto Sans SC"/>
              </a:rPr>
              <a:t> </a:t>
            </a:r>
            <a:r>
              <a:rPr lang="en-US" altLang="zh-CN" sz="1600" b="0" i="0" u="none" strike="noStrike">
                <a:solidFill>
                  <a:srgbClr val="333333"/>
                </a:solidFill>
                <a:latin typeface="Noto Sans SC"/>
                <a:ea typeface="Noto Sans SC"/>
                <a:cs typeface="Noto Sans SC"/>
                <a:sym typeface="Noto Sans SC"/>
              </a:rPr>
              <a:t>CSP。因此</a:t>
            </a:r>
            <a:r>
              <a:rPr lang="zh-CN" altLang="en-US" sz="1600">
                <a:solidFill>
                  <a:srgbClr val="333333"/>
                </a:solidFill>
                <a:latin typeface="Noto Sans SC"/>
                <a:ea typeface="Noto Sans SC"/>
                <a:cs typeface="Noto Sans SC"/>
                <a:sym typeface="Noto Sans SC"/>
              </a:rPr>
              <a:t>，</a:t>
            </a:r>
            <a:r>
              <a:rPr lang="en-US" altLang="zh-CN" sz="1600" b="0" i="0" u="none" strike="noStrike">
                <a:solidFill>
                  <a:srgbClr val="333333"/>
                </a:solidFill>
                <a:latin typeface="Noto Sans SC"/>
                <a:ea typeface="Noto Sans SC"/>
                <a:cs typeface="Noto Sans SC"/>
                <a:sym typeface="Noto Sans SC"/>
              </a:rPr>
              <a:t>可将 R 初步分解为 R₁(</a:t>
            </a:r>
            <a:r>
              <a:rPr lang="en-US" altLang="zh-CN" sz="1600">
                <a:solidFill>
                  <a:srgbClr val="333333"/>
                </a:solidFill>
                <a:latin typeface="Noto Sans SC"/>
                <a:ea typeface="Noto Sans SC"/>
                <a:cs typeface="Noto Sans SC"/>
                <a:sym typeface="Noto Sans SC"/>
              </a:rPr>
              <a:t>CSP</a:t>
            </a:r>
            <a:r>
              <a:rPr lang="en-US" altLang="zh-CN" sz="1600" b="0" i="0" u="none" strike="noStrike">
                <a:solidFill>
                  <a:srgbClr val="333333"/>
                </a:solidFill>
                <a:latin typeface="Noto Sans SC"/>
                <a:ea typeface="Noto Sans SC"/>
                <a:cs typeface="Noto Sans SC"/>
                <a:sym typeface="Noto Sans SC"/>
              </a:rPr>
              <a:t>) 和 R₂(</a:t>
            </a:r>
            <a:r>
              <a:rPr lang="en-US" altLang="zh-CN" sz="1600">
                <a:solidFill>
                  <a:srgbClr val="333333"/>
                </a:solidFill>
                <a:latin typeface="Noto Sans SC"/>
                <a:ea typeface="Noto Sans SC"/>
                <a:cs typeface="Noto Sans SC"/>
                <a:sym typeface="Noto Sans SC"/>
              </a:rPr>
              <a:t>SPY</a:t>
            </a:r>
            <a:r>
              <a:rPr lang="en-US" altLang="zh-CN" sz="1600" b="0" i="0" u="none" strike="noStrike">
                <a:solidFill>
                  <a:srgbClr val="333333"/>
                </a:solidFill>
                <a:latin typeface="Noto Sans SC"/>
                <a:ea typeface="Noto Sans SC"/>
                <a:cs typeface="Noto Sans SC"/>
                <a:sym typeface="Noto Sans SC"/>
              </a:rPr>
              <a:t>)，其中 R₂ 已满足 4NF。</a:t>
            </a:r>
          </a:p>
          <a:p>
            <a:pPr>
              <a:lnSpc>
                <a:spcPct val="130000"/>
              </a:lnSpc>
              <a:spcBef>
                <a:spcPts val="1200"/>
              </a:spcBef>
            </a:pPr>
            <a:r>
              <a:rPr lang="en-US" altLang="zh-CN" sz="1800" b="1">
                <a:solidFill>
                  <a:srgbClr val="7030A0"/>
                </a:solidFill>
                <a:latin typeface="Noto Sans SC"/>
                <a:ea typeface="Noto Sans SC"/>
                <a:cs typeface="Noto Sans SC"/>
                <a:sym typeface="Noto Sans SC"/>
              </a:rPr>
              <a:t>嵌入多值依赖 (EMVD) 的判定</a:t>
            </a:r>
          </a:p>
          <a:p>
            <a:pPr>
              <a:lnSpc>
                <a:spcPct val="130000"/>
              </a:lnSpc>
            </a:pPr>
            <a:r>
              <a:rPr lang="en-US" altLang="zh-CN" sz="1600">
                <a:solidFill>
                  <a:srgbClr val="333333"/>
                </a:solidFill>
                <a:latin typeface="Noto Sans SC"/>
                <a:ea typeface="Noto Sans SC"/>
                <a:cs typeface="Noto Sans SC"/>
                <a:sym typeface="Noto Sans SC"/>
              </a:rPr>
              <a:t>在 R 上，多值依赖 C→→S 和 C→→P 并不成立。</a:t>
            </a:r>
          </a:p>
          <a:p>
            <a:pPr>
              <a:lnSpc>
                <a:spcPct val="130000"/>
              </a:lnSpc>
              <a:spcBef>
                <a:spcPts val="600"/>
              </a:spcBef>
              <a:spcAft>
                <a:spcPts val="600"/>
              </a:spcAft>
            </a:pPr>
            <a:r>
              <a:rPr lang="en-US" altLang="zh-CN" sz="1600">
                <a:solidFill>
                  <a:srgbClr val="333333"/>
                </a:solidFill>
                <a:latin typeface="Noto Sans SC"/>
                <a:ea typeface="Noto Sans SC"/>
                <a:cs typeface="Noto Sans SC"/>
                <a:sym typeface="Noto Sans SC"/>
              </a:rPr>
              <a:t>在 R </a:t>
            </a:r>
            <a:r>
              <a:rPr lang="zh-CN" altLang="en-US" sz="1600">
                <a:solidFill>
                  <a:srgbClr val="333333"/>
                </a:solidFill>
                <a:latin typeface="Noto Sans SC"/>
                <a:ea typeface="Noto Sans SC"/>
                <a:cs typeface="Noto Sans SC"/>
                <a:sym typeface="Noto Sans SC"/>
              </a:rPr>
              <a:t>的</a:t>
            </a:r>
            <a:r>
              <a:rPr lang="en-US" altLang="zh-CN" sz="1600">
                <a:solidFill>
                  <a:srgbClr val="333333"/>
                </a:solidFill>
                <a:latin typeface="Noto Sans SC"/>
                <a:ea typeface="Noto Sans SC"/>
                <a:cs typeface="Noto Sans SC"/>
                <a:sym typeface="Noto Sans SC"/>
              </a:rPr>
              <a:t>子集 R₁(CSP) 上，C→→S 和 C→→P 成立</a:t>
            </a:r>
            <a:r>
              <a:rPr lang="zh-CN" altLang="en-US" sz="1600">
                <a:solidFill>
                  <a:srgbClr val="333333"/>
                </a:solidFill>
                <a:latin typeface="Noto Sans SC"/>
                <a:ea typeface="Noto Sans SC"/>
                <a:cs typeface="Noto Sans SC"/>
                <a:sym typeface="Noto Sans SC"/>
              </a:rPr>
              <a:t>（</a:t>
            </a:r>
            <a:r>
              <a:rPr lang="en-US" altLang="zh-CN" sz="1600">
                <a:solidFill>
                  <a:srgbClr val="333333"/>
                </a:solidFill>
                <a:latin typeface="Noto Sans SC"/>
                <a:ea typeface="Noto Sans SC"/>
                <a:cs typeface="Noto Sans SC"/>
                <a:sym typeface="Noto Sans SC"/>
              </a:rPr>
              <a:t>因为一门课的先修课对所有学生都一样）。</a:t>
            </a:r>
          </a:p>
          <a:p>
            <a:pPr>
              <a:lnSpc>
                <a:spcPct val="130000"/>
              </a:lnSpc>
            </a:pPr>
            <a:r>
              <a:rPr lang="en-US" altLang="zh-CN" sz="1600" b="1">
                <a:solidFill>
                  <a:srgbClr val="D93025"/>
                </a:solidFill>
                <a:latin typeface="Noto Sans SC"/>
                <a:ea typeface="Noto Sans SC"/>
                <a:cs typeface="Noto Sans SC"/>
                <a:sym typeface="Noto Sans SC"/>
              </a:rPr>
              <a:t>结论：C→→S 和 C→→P 是 R 上的嵌入多值依赖</a:t>
            </a:r>
            <a:r>
              <a:rPr lang="zh-CN" altLang="en-US" sz="1600" b="1">
                <a:solidFill>
                  <a:srgbClr val="D93025"/>
                </a:solidFill>
                <a:latin typeface="Noto Sans SC"/>
                <a:ea typeface="Noto Sans SC"/>
                <a:cs typeface="Noto Sans SC"/>
                <a:sym typeface="Noto Sans SC"/>
              </a:rPr>
              <a:t>。</a:t>
            </a:r>
            <a:endParaRPr lang="en-US" altLang="zh-CN" sz="1600" b="1">
              <a:solidFill>
                <a:srgbClr val="D93025"/>
              </a:solidFill>
              <a:latin typeface="Noto Sans SC"/>
              <a:ea typeface="Noto Sans SC"/>
              <a:cs typeface="Noto Sans SC"/>
              <a:sym typeface="Noto Sans SC"/>
            </a:endParaRPr>
          </a:p>
          <a:p>
            <a:pPr>
              <a:lnSpc>
                <a:spcPct val="130000"/>
              </a:lnSpc>
              <a:spcBef>
                <a:spcPts val="1200"/>
              </a:spcBef>
            </a:pPr>
            <a:r>
              <a:rPr lang="en-US" altLang="zh-CN" sz="1800" b="1">
                <a:solidFill>
                  <a:srgbClr val="7030A0"/>
                </a:solidFill>
                <a:latin typeface="Noto Sans SC"/>
                <a:ea typeface="Noto Sans SC"/>
                <a:cs typeface="Noto Sans SC"/>
                <a:sym typeface="Noto Sans SC"/>
              </a:rPr>
              <a:t>最终规范化分解</a:t>
            </a:r>
          </a:p>
          <a:p>
            <a:pPr>
              <a:lnSpc>
                <a:spcPct val="130000"/>
              </a:lnSpc>
            </a:pPr>
            <a:r>
              <a:rPr lang="en-US" altLang="zh-CN" sz="1600">
                <a:solidFill>
                  <a:srgbClr val="333333"/>
                </a:solidFill>
                <a:latin typeface="Noto Sans SC"/>
                <a:ea typeface="Noto Sans SC"/>
                <a:cs typeface="Noto Sans SC"/>
                <a:sym typeface="Noto Sans SC"/>
              </a:rPr>
              <a:t>由于 R₁ </a:t>
            </a:r>
            <a:r>
              <a:rPr lang="zh-CN" altLang="en-US" sz="1600">
                <a:solidFill>
                  <a:srgbClr val="333333"/>
                </a:solidFill>
                <a:latin typeface="Noto Sans SC"/>
                <a:ea typeface="Noto Sans SC"/>
                <a:cs typeface="Noto Sans SC"/>
                <a:sym typeface="Noto Sans SC"/>
              </a:rPr>
              <a:t>中</a:t>
            </a:r>
            <a:r>
              <a:rPr lang="en-US" altLang="zh-CN" sz="1600">
                <a:solidFill>
                  <a:srgbClr val="333333"/>
                </a:solidFill>
                <a:latin typeface="Noto Sans SC"/>
                <a:ea typeface="Noto Sans SC"/>
                <a:cs typeface="Noto Sans SC"/>
                <a:sym typeface="Noto Sans SC"/>
              </a:rPr>
              <a:t>存在 EMVD，故不满足 4NF，需进一步分解为 R₁₁(CS) 和 R₁₂(CP)。最终，R 的 4NF 分解结果为：</a:t>
            </a:r>
            <a:br>
              <a:rPr lang="en-US" altLang="zh-CN" sz="1600">
                <a:solidFill>
                  <a:srgbClr val="333333"/>
                </a:solidFill>
                <a:latin typeface="Noto Sans SC"/>
                <a:ea typeface="Noto Sans SC"/>
                <a:cs typeface="Noto Sans SC"/>
                <a:sym typeface="Noto Sans SC"/>
              </a:rPr>
            </a:br>
            <a:r>
              <a:rPr lang="en-US" altLang="zh-CN" sz="1600">
                <a:solidFill>
                  <a:srgbClr val="333333"/>
                </a:solidFill>
                <a:latin typeface="Noto Sans SC"/>
                <a:ea typeface="Noto Sans SC"/>
                <a:cs typeface="Noto Sans SC"/>
                <a:sym typeface="Noto Sans SC"/>
              </a:rPr>
              <a:t>{ R₁₁(</a:t>
            </a:r>
            <a:r>
              <a:rPr lang="en-US" altLang="zh-CN" sz="1600" b="1">
                <a:solidFill>
                  <a:srgbClr val="333333"/>
                </a:solidFill>
                <a:latin typeface="Noto Sans SC"/>
                <a:ea typeface="Noto Sans SC"/>
                <a:cs typeface="Noto Sans SC"/>
                <a:sym typeface="Noto Sans SC"/>
              </a:rPr>
              <a:t>CS), </a:t>
            </a:r>
            <a:r>
              <a:rPr lang="en-US" altLang="zh-CN" sz="1600">
                <a:solidFill>
                  <a:srgbClr val="333333"/>
                </a:solidFill>
                <a:latin typeface="Noto Sans SC"/>
                <a:ea typeface="Noto Sans SC"/>
                <a:cs typeface="Noto Sans SC"/>
                <a:sym typeface="Noto Sans SC"/>
              </a:rPr>
              <a:t>R₁₂</a:t>
            </a:r>
            <a:r>
              <a:rPr lang="en-US" altLang="zh-CN" sz="1600" b="1">
                <a:solidFill>
                  <a:srgbClr val="333333"/>
                </a:solidFill>
                <a:latin typeface="Noto Sans SC"/>
                <a:ea typeface="Noto Sans SC"/>
                <a:cs typeface="Noto Sans SC"/>
                <a:sym typeface="Noto Sans SC"/>
              </a:rPr>
              <a:t>(CP), </a:t>
            </a:r>
            <a:r>
              <a:rPr lang="en-US" altLang="zh-CN" sz="1600">
                <a:solidFill>
                  <a:srgbClr val="333333"/>
                </a:solidFill>
                <a:latin typeface="Noto Sans SC"/>
                <a:ea typeface="Noto Sans SC"/>
                <a:cs typeface="Noto Sans SC"/>
                <a:sym typeface="Noto Sans SC"/>
              </a:rPr>
              <a:t>R₂</a:t>
            </a:r>
            <a:r>
              <a:rPr lang="en-US" altLang="zh-CN" sz="1600" b="1">
                <a:solidFill>
                  <a:srgbClr val="333333"/>
                </a:solidFill>
                <a:latin typeface="Noto Sans SC"/>
                <a:ea typeface="Noto Sans SC"/>
                <a:cs typeface="Noto Sans SC"/>
                <a:sym typeface="Noto Sans SC"/>
              </a:rPr>
              <a:t>(SPY) </a:t>
            </a:r>
            <a:r>
              <a:rPr lang="en-US" altLang="zh-CN" sz="1600">
                <a:solidFill>
                  <a:srgbClr val="333333"/>
                </a:solidFill>
                <a:latin typeface="Noto Sans SC"/>
                <a:ea typeface="Noto Sans SC"/>
                <a:cs typeface="Noto Sans SC"/>
                <a:sym typeface="Noto Sans SC"/>
              </a:rPr>
              <a:t>}。</a:t>
            </a:r>
            <a:endParaRPr lang="en-US" altLang="zh-CN" sz="1600" b="0" i="0" u="none" strike="noStrike">
              <a:solidFill>
                <a:srgbClr val="333333"/>
              </a:solidFill>
              <a:latin typeface="Noto Sans SC"/>
              <a:ea typeface="Noto Sans SC"/>
              <a:cs typeface="Noto Sans SC"/>
              <a:sym typeface="Noto Sans SC"/>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7.5.5 连接依赖和第五范式(1)</a:t>
            </a:r>
            <a:endParaRPr lang="en-US" sz="2400" b="1">
              <a:solidFill>
                <a:srgbClr val="FFFFFF"/>
              </a:solidFill>
              <a:latin typeface="Noto Sans SC"/>
              <a:ea typeface="Noto Sans SC"/>
            </a:endParaRPr>
          </a:p>
        </p:txBody>
      </p:sp>
      <p:sp>
        <p:nvSpPr>
          <p:cNvPr id="3" name="AutoShape 3"/>
          <p:cNvSpPr/>
          <p:nvPr/>
        </p:nvSpPr>
        <p:spPr>
          <a:xfrm>
            <a:off x="838200" y="1467712"/>
            <a:ext cx="5512981" cy="4526688"/>
          </a:xfrm>
          <a:prstGeom prst="rect">
            <a:avLst/>
          </a:prstGeom>
          <a:noFill/>
          <a:ln w="12700" cap="flat" cmpd="sng">
            <a:noFill/>
            <a:prstDash val="solid"/>
            <a:round/>
          </a:ln>
        </p:spPr>
        <p:txBody>
          <a:bodyPr vert="horz" wrap="square" lIns="0" tIns="0" rIns="0" bIns="0" rtlCol="0" anchor="t" anchorCtr="0">
            <a:spAutoFit/>
          </a:bodyPr>
          <a:lstStyle/>
          <a:p>
            <a:pPr indent="0" algn="l">
              <a:lnSpc>
                <a:spcPct val="116666"/>
              </a:lnSpc>
              <a:spcBef>
                <a:spcPts val="1200"/>
              </a:spcBef>
              <a:defRPr/>
            </a:pPr>
            <a:r>
              <a:rPr lang="en-US" sz="1800" b="1" i="0" u="none" strike="noStrike">
                <a:solidFill>
                  <a:srgbClr val="7030A0"/>
                </a:solidFill>
                <a:latin typeface="Noto Sans SC"/>
                <a:ea typeface="Noto Sans SC"/>
                <a:cs typeface="Noto Sans SC"/>
                <a:sym typeface="Noto Sans SC"/>
              </a:rPr>
              <a:t> 定义7.30（连接依赖 JD）</a:t>
            </a:r>
          </a:p>
          <a:p>
            <a:pPr>
              <a:lnSpc>
                <a:spcPct val="130000"/>
              </a:lnSpc>
              <a:defRPr/>
            </a:pPr>
            <a:r>
              <a:rPr lang="en-US" sz="1600" b="0" i="0" u="none" strike="noStrike">
                <a:solidFill>
                  <a:srgbClr val="333333"/>
                </a:solidFill>
                <a:latin typeface="Noto Sans SC"/>
                <a:ea typeface="Noto Sans SC"/>
                <a:cs typeface="Noto Sans SC"/>
                <a:sym typeface="Noto Sans SC"/>
              </a:rPr>
              <a:t>设</a:t>
            </a:r>
            <a:r>
              <a:rPr lang="en-US" altLang="zh-CN" sz="1600">
                <a:solidFill>
                  <a:srgbClr val="333333"/>
                </a:solidFill>
                <a:latin typeface="Noto Sans SC"/>
                <a:ea typeface="Noto Sans SC"/>
                <a:cs typeface="Noto Sans SC"/>
                <a:sym typeface="Noto Sans SC"/>
              </a:rPr>
              <a:t>关系模式</a:t>
            </a:r>
            <a:r>
              <a:rPr lang="en-US" sz="1600" b="0" i="0" u="none" strike="noStrike">
                <a:solidFill>
                  <a:srgbClr val="333333"/>
                </a:solidFill>
                <a:latin typeface="Noto Sans SC"/>
                <a:ea typeface="Noto Sans SC"/>
                <a:cs typeface="Noto Sans SC"/>
                <a:sym typeface="Noto Sans SC"/>
              </a:rPr>
              <a:t>R(U) ，R</a:t>
            </a:r>
            <a:r>
              <a:rPr lang="en-US" sz="1600" b="0" i="0" u="none" strike="noStrike" baseline="-25000">
                <a:solidFill>
                  <a:srgbClr val="333333"/>
                </a:solidFill>
                <a:latin typeface="Noto Sans SC"/>
                <a:ea typeface="Noto Sans SC"/>
                <a:cs typeface="Noto Sans SC"/>
                <a:sym typeface="Noto Sans SC"/>
              </a:rPr>
              <a:t>1</a:t>
            </a:r>
            <a:r>
              <a:rPr lang="en-US" sz="1600" b="0" i="0" u="none" strike="noStrike">
                <a:solidFill>
                  <a:srgbClr val="333333"/>
                </a:solidFill>
                <a:latin typeface="Noto Sans SC"/>
                <a:ea typeface="Noto Sans SC"/>
                <a:cs typeface="Noto Sans SC"/>
                <a:sym typeface="Noto Sans SC"/>
              </a:rPr>
              <a:t>、…、R</a:t>
            </a:r>
            <a:r>
              <a:rPr lang="en-US" sz="1600" baseline="-25000">
                <a:solidFill>
                  <a:srgbClr val="333333"/>
                </a:solidFill>
                <a:latin typeface="Noto Sans SC"/>
                <a:ea typeface="Noto Sans SC"/>
                <a:sym typeface="Noto Sans SC"/>
              </a:rPr>
              <a:t>n</a:t>
            </a:r>
            <a:r>
              <a:rPr lang="en-US" sz="1600" b="0" i="0" u="none" strike="noStrike">
                <a:solidFill>
                  <a:srgbClr val="333333"/>
                </a:solidFill>
                <a:latin typeface="Noto Sans SC"/>
                <a:ea typeface="Noto Sans SC"/>
                <a:cs typeface="Noto Sans SC"/>
                <a:sym typeface="Noto Sans SC"/>
              </a:rPr>
              <a:t>是U的子集，U=R</a:t>
            </a:r>
            <a:r>
              <a:rPr lang="en-US" sz="1600" baseline="-25000">
                <a:solidFill>
                  <a:srgbClr val="333333"/>
                </a:solidFill>
                <a:latin typeface="Noto Sans SC"/>
                <a:ea typeface="Noto Sans SC"/>
                <a:sym typeface="Noto Sans SC"/>
              </a:rPr>
              <a:t>1</a:t>
            </a:r>
            <a:r>
              <a:rPr lang="en-US" sz="1600" b="0" i="0" u="none" strike="noStrike">
                <a:solidFill>
                  <a:srgbClr val="333333"/>
                </a:solidFill>
                <a:latin typeface="Noto Sans SC"/>
                <a:ea typeface="Noto Sans SC"/>
                <a:cs typeface="Noto Sans SC"/>
                <a:sym typeface="Noto Sans SC"/>
              </a:rPr>
              <a:t>∪…∪R</a:t>
            </a:r>
            <a:r>
              <a:rPr lang="en-US" sz="1600" baseline="-25000">
                <a:solidFill>
                  <a:srgbClr val="333333"/>
                </a:solidFill>
                <a:latin typeface="Noto Sans SC"/>
                <a:ea typeface="Noto Sans SC"/>
                <a:sym typeface="Noto Sans SC"/>
              </a:rPr>
              <a:t>n</a:t>
            </a:r>
            <a:r>
              <a:rPr lang="en-US" sz="1600" b="0" i="0" u="none" strike="noStrike">
                <a:solidFill>
                  <a:srgbClr val="333333"/>
                </a:solidFill>
                <a:latin typeface="Noto Sans SC"/>
                <a:ea typeface="Noto Sans SC"/>
                <a:cs typeface="Noto Sans SC"/>
                <a:sym typeface="Noto Sans SC"/>
              </a:rPr>
              <a:t>，ρ={R</a:t>
            </a:r>
            <a:r>
              <a:rPr lang="en-US" sz="1600" baseline="-25000">
                <a:solidFill>
                  <a:srgbClr val="333333"/>
                </a:solidFill>
                <a:latin typeface="Noto Sans SC"/>
                <a:ea typeface="Noto Sans SC"/>
                <a:sym typeface="Noto Sans SC"/>
              </a:rPr>
              <a:t>1</a:t>
            </a:r>
            <a:r>
              <a:rPr lang="en-US" sz="1600" b="0" i="0" u="none" strike="noStrike">
                <a:solidFill>
                  <a:srgbClr val="333333"/>
                </a:solidFill>
                <a:latin typeface="Noto Sans SC"/>
                <a:ea typeface="Noto Sans SC"/>
                <a:cs typeface="Noto Sans SC"/>
                <a:sym typeface="Noto Sans SC"/>
              </a:rPr>
              <a:t>，…，R</a:t>
            </a:r>
            <a:r>
              <a:rPr lang="en-US" sz="1600" baseline="-25000">
                <a:solidFill>
                  <a:srgbClr val="333333"/>
                </a:solidFill>
                <a:latin typeface="Noto Sans SC"/>
                <a:ea typeface="Noto Sans SC"/>
                <a:sym typeface="Noto Sans SC"/>
              </a:rPr>
              <a:t>n</a:t>
            </a:r>
            <a:r>
              <a:rPr lang="en-US" sz="1600" b="0" i="0" u="none" strike="noStrike">
                <a:solidFill>
                  <a:srgbClr val="333333"/>
                </a:solidFill>
                <a:latin typeface="Noto Sans SC"/>
                <a:ea typeface="Noto Sans SC"/>
                <a:cs typeface="Noto Sans SC"/>
                <a:sym typeface="Noto Sans SC"/>
              </a:rPr>
              <a:t>} 是R的一个分解。若对R的每个关系r，都有 m</a:t>
            </a:r>
            <a:r>
              <a:rPr lang="en-US" sz="1600" b="0" i="0" u="none" strike="noStrike" baseline="-25000">
                <a:solidFill>
                  <a:srgbClr val="333333"/>
                </a:solidFill>
                <a:latin typeface="Noto Sans SC"/>
                <a:ea typeface="Noto Sans SC"/>
                <a:cs typeface="Noto Sans SC"/>
                <a:sym typeface="Noto Sans SC"/>
              </a:rPr>
              <a:t>ρ</a:t>
            </a:r>
            <a:r>
              <a:rPr lang="en-US" sz="1600" b="0" i="0" u="none" strike="noStrike">
                <a:solidFill>
                  <a:srgbClr val="333333"/>
                </a:solidFill>
                <a:latin typeface="Noto Sans SC"/>
                <a:ea typeface="Noto Sans SC"/>
                <a:cs typeface="Noto Sans SC"/>
                <a:sym typeface="Noto Sans SC"/>
              </a:rPr>
              <a:t>(r)=r，即r可无损分解为这些投影并通过自然连接精确恢复，则称连接依赖在模式R上成立，记为 *(R</a:t>
            </a:r>
            <a:r>
              <a:rPr lang="en-US" sz="1600" baseline="-25000">
                <a:solidFill>
                  <a:srgbClr val="333333"/>
                </a:solidFill>
                <a:latin typeface="Noto Sans SC"/>
                <a:ea typeface="Noto Sans SC"/>
                <a:sym typeface="Noto Sans SC"/>
              </a:rPr>
              <a:t>1</a:t>
            </a:r>
            <a:r>
              <a:rPr lang="en-US" sz="1600" b="0" i="0" u="none" strike="noStrike">
                <a:solidFill>
                  <a:srgbClr val="333333"/>
                </a:solidFill>
                <a:latin typeface="Noto Sans SC"/>
                <a:ea typeface="Noto Sans SC"/>
                <a:cs typeface="Noto Sans SC"/>
                <a:sym typeface="Noto Sans SC"/>
              </a:rPr>
              <a:t>，…，R</a:t>
            </a:r>
            <a:r>
              <a:rPr lang="en-US" sz="1600" baseline="-25000">
                <a:solidFill>
                  <a:srgbClr val="333333"/>
                </a:solidFill>
                <a:latin typeface="Noto Sans SC"/>
                <a:ea typeface="Noto Sans SC"/>
                <a:sym typeface="Noto Sans SC"/>
              </a:rPr>
              <a:t>n</a:t>
            </a:r>
            <a:r>
              <a:rPr lang="en-US" sz="1600" b="0" i="0" u="none" strike="noStrike">
                <a:solidFill>
                  <a:srgbClr val="333333"/>
                </a:solidFill>
                <a:latin typeface="Noto Sans SC"/>
                <a:ea typeface="Noto Sans SC"/>
                <a:cs typeface="Noto Sans SC"/>
                <a:sym typeface="Noto Sans SC"/>
              </a:rPr>
              <a:t>)。</a:t>
            </a:r>
            <a:endParaRPr lang="en-US"/>
          </a:p>
          <a:p>
            <a:pPr indent="0" algn="l">
              <a:lnSpc>
                <a:spcPct val="116666"/>
              </a:lnSpc>
              <a:spcBef>
                <a:spcPts val="1500"/>
              </a:spcBef>
            </a:pPr>
            <a:r>
              <a:rPr lang="en-US" sz="1800" b="1" i="0" u="none" strike="noStrike">
                <a:solidFill>
                  <a:srgbClr val="7030A0"/>
                </a:solidFill>
                <a:latin typeface="Noto Sans SC"/>
                <a:ea typeface="Noto Sans SC"/>
                <a:cs typeface="Noto Sans SC"/>
                <a:sym typeface="Noto Sans SC"/>
              </a:rPr>
              <a:t> 定义7.31（平凡的JD）</a:t>
            </a:r>
          </a:p>
          <a:p>
            <a:pPr indent="0" algn="l">
              <a:lnSpc>
                <a:spcPct val="130000"/>
              </a:lnSpc>
            </a:pPr>
            <a:r>
              <a:rPr lang="en-US" sz="1600" b="0" i="0" u="none" strike="noStrike">
                <a:solidFill>
                  <a:srgbClr val="333333"/>
                </a:solidFill>
                <a:latin typeface="Noto Sans SC"/>
                <a:ea typeface="Noto Sans SC"/>
                <a:cs typeface="Noto Sans SC"/>
                <a:sym typeface="Noto Sans SC"/>
              </a:rPr>
              <a:t>若连接依赖 *(R</a:t>
            </a:r>
            <a:r>
              <a:rPr lang="en-US" sz="1600" baseline="-25000">
                <a:solidFill>
                  <a:srgbClr val="333333"/>
                </a:solidFill>
                <a:latin typeface="Noto Sans SC"/>
                <a:ea typeface="Noto Sans SC"/>
                <a:sym typeface="Noto Sans SC"/>
              </a:rPr>
              <a:t>1</a:t>
            </a:r>
            <a:r>
              <a:rPr lang="en-US" sz="1600" b="0" i="0" u="none" strike="noStrike">
                <a:solidFill>
                  <a:srgbClr val="333333"/>
                </a:solidFill>
                <a:latin typeface="Noto Sans SC"/>
                <a:ea typeface="Noto Sans SC"/>
                <a:cs typeface="Noto Sans SC"/>
                <a:sym typeface="Noto Sans SC"/>
              </a:rPr>
              <a:t>，…，R</a:t>
            </a:r>
            <a:r>
              <a:rPr lang="en-US" sz="1600" baseline="-25000">
                <a:solidFill>
                  <a:srgbClr val="333333"/>
                </a:solidFill>
                <a:latin typeface="Noto Sans SC"/>
                <a:ea typeface="Noto Sans SC"/>
                <a:sym typeface="Noto Sans SC"/>
              </a:rPr>
              <a:t>n</a:t>
            </a:r>
            <a:r>
              <a:rPr lang="en-US" sz="1600" b="0" i="0" u="none" strike="noStrike">
                <a:solidFill>
                  <a:srgbClr val="333333"/>
                </a:solidFill>
                <a:latin typeface="Noto Sans SC"/>
                <a:ea typeface="Noto Sans SC"/>
                <a:cs typeface="Noto Sans SC"/>
                <a:sym typeface="Noto Sans SC"/>
              </a:rPr>
              <a:t>) 中存在某个 R</a:t>
            </a:r>
            <a:r>
              <a:rPr lang="en-US" sz="1600" baseline="-25000">
                <a:solidFill>
                  <a:srgbClr val="333333"/>
                </a:solidFill>
                <a:latin typeface="Noto Sans SC"/>
                <a:ea typeface="Noto Sans SC"/>
                <a:sym typeface="Noto Sans SC"/>
              </a:rPr>
              <a:t>i </a:t>
            </a:r>
            <a:r>
              <a:rPr lang="en-US" sz="1600" b="0" i="0" u="none" strike="noStrike">
                <a:solidFill>
                  <a:srgbClr val="333333"/>
                </a:solidFill>
                <a:latin typeface="Noto Sans SC"/>
                <a:ea typeface="Noto Sans SC"/>
                <a:cs typeface="Noto Sans SC"/>
                <a:sym typeface="Noto Sans SC"/>
              </a:rPr>
              <a:t>就是 R 本身，则称该连接依赖为“平凡的连接依赖”。平凡JD总是成立的。</a:t>
            </a:r>
          </a:p>
          <a:p>
            <a:pPr indent="0" algn="l">
              <a:lnSpc>
                <a:spcPct val="116666"/>
              </a:lnSpc>
              <a:spcBef>
                <a:spcPts val="1500"/>
              </a:spcBef>
            </a:pPr>
            <a:r>
              <a:rPr lang="en-US" sz="1800" b="1" i="0" u="none" strike="noStrike">
                <a:solidFill>
                  <a:srgbClr val="7030A0"/>
                </a:solidFill>
                <a:latin typeface="Noto Sans SC"/>
                <a:ea typeface="Noto Sans SC"/>
                <a:cs typeface="Noto Sans SC"/>
                <a:sym typeface="Noto Sans SC"/>
              </a:rPr>
              <a:t> 定义7.32（第五范式 5NF）</a:t>
            </a:r>
          </a:p>
          <a:p>
            <a:pPr indent="0" algn="l">
              <a:lnSpc>
                <a:spcPct val="130000"/>
              </a:lnSpc>
            </a:pPr>
            <a:r>
              <a:rPr lang="en-US" sz="1600" b="0" i="0" u="none" strike="noStrike">
                <a:solidFill>
                  <a:srgbClr val="333333"/>
                </a:solidFill>
                <a:latin typeface="Noto Sans SC"/>
                <a:ea typeface="Noto Sans SC"/>
                <a:cs typeface="Noto Sans SC"/>
                <a:sym typeface="Noto Sans SC"/>
              </a:rPr>
              <a:t>若关系模式R上的每个非平凡连接依赖都由R的候选键逻辑蕴涵，则称R属于第五范式。5NF也常被称为投影连接范式 (PJNF)，它消除了所有由候选键之外的因素引起的连接依赖，是目前关系数据库规范化的最高级别。</a:t>
            </a:r>
          </a:p>
        </p:txBody>
      </p:sp>
      <p:sp>
        <p:nvSpPr>
          <p:cNvPr id="4" name="AutoShape 4"/>
          <p:cNvSpPr/>
          <p:nvPr/>
        </p:nvSpPr>
        <p:spPr>
          <a:xfrm>
            <a:off x="7442200" y="1467712"/>
            <a:ext cx="685800" cy="4526688"/>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核心</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要点</a:t>
            </a:r>
            <a:endParaRPr lang="en-US" sz="1600" b="1">
              <a:solidFill>
                <a:srgbClr val="FFFFFF"/>
              </a:solidFill>
              <a:latin typeface="Noto Sans SC"/>
              <a:ea typeface="Noto Sans SC"/>
            </a:endParaRPr>
          </a:p>
        </p:txBody>
      </p:sp>
      <p:sp>
        <p:nvSpPr>
          <p:cNvPr id="5" name="AutoShape 5"/>
          <p:cNvSpPr/>
          <p:nvPr/>
        </p:nvSpPr>
        <p:spPr>
          <a:xfrm>
            <a:off x="8128000" y="1467712"/>
            <a:ext cx="3213100" cy="647700"/>
          </a:xfrm>
          <a:prstGeom prst="roundRect">
            <a:avLst>
              <a:gd name="adj" fmla="val 0"/>
            </a:avLst>
          </a:prstGeom>
          <a:solidFill>
            <a:srgbClr val="2C3E50">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连接依赖 (JD)</a:t>
            </a:r>
            <a:endParaRPr lang="en-US" sz="1600"/>
          </a:p>
        </p:txBody>
      </p:sp>
      <p:sp>
        <p:nvSpPr>
          <p:cNvPr id="6" name="AutoShape 6"/>
          <p:cNvSpPr/>
          <p:nvPr/>
        </p:nvSpPr>
        <p:spPr>
          <a:xfrm>
            <a:off x="8140700" y="2437459"/>
            <a:ext cx="3213100" cy="647700"/>
          </a:xfrm>
          <a:prstGeom prst="roundRect">
            <a:avLst>
              <a:gd name="adj" fmla="val 0"/>
            </a:avLst>
          </a:prstGeom>
          <a:solidFill>
            <a:srgbClr val="3498DB">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平凡连接依赖</a:t>
            </a:r>
            <a:endParaRPr lang="en-US" sz="1600"/>
          </a:p>
        </p:txBody>
      </p:sp>
      <p:sp>
        <p:nvSpPr>
          <p:cNvPr id="7" name="AutoShape 7"/>
          <p:cNvSpPr/>
          <p:nvPr/>
        </p:nvSpPr>
        <p:spPr>
          <a:xfrm>
            <a:off x="8140700" y="3407206"/>
            <a:ext cx="3213100" cy="647700"/>
          </a:xfrm>
          <a:prstGeom prst="roundRect">
            <a:avLst>
              <a:gd name="adj" fmla="val 0"/>
            </a:avLst>
          </a:prstGeom>
          <a:solidFill>
            <a:srgbClr val="2C3E50">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第五范式 (5NF)</a:t>
            </a:r>
            <a:endParaRPr lang="en-US" sz="1600"/>
          </a:p>
        </p:txBody>
      </p:sp>
      <p:sp>
        <p:nvSpPr>
          <p:cNvPr id="8" name="AutoShape 8"/>
          <p:cNvSpPr/>
          <p:nvPr/>
        </p:nvSpPr>
        <p:spPr>
          <a:xfrm>
            <a:off x="8140700" y="4376953"/>
            <a:ext cx="3213100" cy="647700"/>
          </a:xfrm>
          <a:prstGeom prst="roundRect">
            <a:avLst>
              <a:gd name="adj" fmla="val 0"/>
            </a:avLst>
          </a:prstGeom>
          <a:solidFill>
            <a:srgbClr val="3498DB">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投影连接范式 (PJNF)</a:t>
            </a:r>
            <a:endParaRPr lang="en-US" sz="1600"/>
          </a:p>
        </p:txBody>
      </p:sp>
      <p:sp>
        <p:nvSpPr>
          <p:cNvPr id="9" name="AutoShape 9"/>
          <p:cNvSpPr/>
          <p:nvPr/>
        </p:nvSpPr>
        <p:spPr>
          <a:xfrm>
            <a:off x="8140700" y="5346700"/>
            <a:ext cx="3213100" cy="647700"/>
          </a:xfrm>
          <a:prstGeom prst="roundRect">
            <a:avLst>
              <a:gd name="adj" fmla="val 0"/>
            </a:avLst>
          </a:prstGeom>
          <a:solidFill>
            <a:srgbClr val="E74C3C">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FFFFFF"/>
                </a:solidFill>
                <a:latin typeface="Noto Sans SC"/>
                <a:ea typeface="Noto Sans SC"/>
                <a:cs typeface="Noto Sans SC"/>
                <a:sym typeface="Noto Sans SC"/>
              </a:rPr>
              <a:t>规范化的最高级别</a:t>
            </a:r>
            <a:endParaRPr lang="en-US" sz="160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5164"/>
            <a:ext cx="10515600" cy="565073"/>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7.5.5 连接依赖和第五范式 (2)</a:t>
            </a:r>
            <a:r>
              <a:rPr lang="en-US" altLang="zh-CN" sz="2400" b="1">
                <a:solidFill>
                  <a:srgbClr val="FFFFFF"/>
                </a:solidFill>
                <a:latin typeface="Noto Sans SC"/>
                <a:ea typeface="Noto Sans SC"/>
                <a:sym typeface="Noto Sans SC"/>
              </a:rPr>
              <a:t> —— 连接陷阱</a:t>
            </a:r>
            <a:r>
              <a:rPr lang="zh-CN" altLang="en-US" sz="2400" b="1">
                <a:solidFill>
                  <a:srgbClr val="FFFFFF"/>
                </a:solidFill>
                <a:latin typeface="Noto Sans SC"/>
                <a:ea typeface="Noto Sans SC"/>
                <a:sym typeface="Noto Sans SC"/>
              </a:rPr>
              <a:t>示例</a:t>
            </a:r>
            <a:endParaRPr lang="en-US" sz="2400" b="1">
              <a:solidFill>
                <a:srgbClr val="FFFFFF"/>
              </a:solidFill>
              <a:latin typeface="Noto Sans SC"/>
              <a:ea typeface="Noto Sans SC"/>
            </a:endParaRPr>
          </a:p>
        </p:txBody>
      </p:sp>
      <p:sp>
        <p:nvSpPr>
          <p:cNvPr id="4" name="AutoShape 4"/>
          <p:cNvSpPr/>
          <p:nvPr/>
        </p:nvSpPr>
        <p:spPr>
          <a:xfrm>
            <a:off x="838199" y="1971756"/>
            <a:ext cx="5590954" cy="649088"/>
          </a:xfrm>
          <a:prstGeom prst="rect">
            <a:avLst/>
          </a:prstGeom>
          <a:noFill/>
          <a:ln w="12700" cap="flat" cmpd="sng">
            <a:noFill/>
            <a:prstDash val="solid"/>
            <a:round/>
          </a:ln>
        </p:spPr>
        <p:txBody>
          <a:bodyPr vert="horz" wrap="square" lIns="0" tIns="0" rIns="0" bIns="0" rtlCol="0" anchor="t" anchorCtr="0">
            <a:spAutoFit/>
          </a:bodyPr>
          <a:lstStyle/>
          <a:p>
            <a:pPr indent="0" algn="l">
              <a:lnSpc>
                <a:spcPct val="130000"/>
              </a:lnSpc>
              <a:spcAft>
                <a:spcPts val="600"/>
              </a:spcAft>
            </a:pPr>
            <a:r>
              <a:rPr lang="en-US" sz="1800" b="1" i="0" u="none" strike="noStrike">
                <a:solidFill>
                  <a:srgbClr val="374151"/>
                </a:solidFill>
                <a:latin typeface="Noto Sans SC"/>
                <a:ea typeface="Noto Sans SC"/>
                <a:cs typeface="Noto Sans SC"/>
                <a:sym typeface="Noto Sans SC"/>
              </a:rPr>
              <a:t>原始关系 SPJ：</a:t>
            </a:r>
            <a:r>
              <a:rPr lang="en-US" sz="1600" b="0" i="0" u="none" strike="noStrike">
                <a:solidFill>
                  <a:srgbClr val="4B5563"/>
                </a:solidFill>
                <a:latin typeface="Noto Sans SC"/>
                <a:ea typeface="Noto Sans SC"/>
                <a:cs typeface="Noto Sans SC"/>
                <a:sym typeface="Noto Sans SC"/>
              </a:rPr>
              <a:t>记录了真实存在的“哪个供应商为哪个项目供应哪</a:t>
            </a:r>
            <a:r>
              <a:rPr lang="zh-CN" altLang="en-US" sz="1600">
                <a:solidFill>
                  <a:srgbClr val="4B5563"/>
                </a:solidFill>
                <a:latin typeface="Noto Sans SC"/>
                <a:ea typeface="Noto Sans SC"/>
                <a:cs typeface="Noto Sans SC"/>
                <a:sym typeface="Noto Sans SC"/>
              </a:rPr>
              <a:t>种</a:t>
            </a:r>
            <a:r>
              <a:rPr lang="en-US" sz="1600" b="0" i="0" u="none" strike="noStrike">
                <a:solidFill>
                  <a:srgbClr val="4B5563"/>
                </a:solidFill>
                <a:latin typeface="Noto Sans SC"/>
                <a:ea typeface="Noto Sans SC"/>
                <a:cs typeface="Noto Sans SC"/>
                <a:sym typeface="Noto Sans SC"/>
              </a:rPr>
              <a:t>零件”的三元组信息。</a:t>
            </a:r>
          </a:p>
        </p:txBody>
      </p:sp>
      <p:sp>
        <p:nvSpPr>
          <p:cNvPr id="15" name="AutoShape 4">
            <a:extLst>
              <a:ext uri="{FF2B5EF4-FFF2-40B4-BE49-F238E27FC236}">
                <a16:creationId xmlns:a16="http://schemas.microsoft.com/office/drawing/2014/main" id="{1070CE1E-6593-BA01-E7D8-69FABFA4158D}"/>
              </a:ext>
            </a:extLst>
          </p:cNvPr>
          <p:cNvSpPr/>
          <p:nvPr/>
        </p:nvSpPr>
        <p:spPr>
          <a:xfrm>
            <a:off x="838199" y="1311761"/>
            <a:ext cx="5590954"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17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b="1">
                <a:solidFill>
                  <a:srgbClr val="7030A0"/>
                </a:solidFill>
                <a:latin typeface="Noto Sans SC"/>
                <a:ea typeface="Noto Sans SC"/>
                <a:cs typeface="Noto Sans SC"/>
                <a:sym typeface="Noto Sans SC"/>
              </a:rPr>
              <a:t>供应商</a:t>
            </a:r>
            <a:r>
              <a:rPr lang="en-US" altLang="zh-CN" sz="2000" b="1">
                <a:solidFill>
                  <a:srgbClr val="7030A0"/>
                </a:solidFill>
                <a:latin typeface="Noto Sans SC"/>
                <a:ea typeface="Noto Sans SC"/>
                <a:cs typeface="Noto Sans SC"/>
                <a:sym typeface="Noto Sans SC"/>
              </a:rPr>
              <a:t>(S)-</a:t>
            </a:r>
            <a:r>
              <a:rPr lang="zh-CN" altLang="en-US" sz="2000" b="1">
                <a:solidFill>
                  <a:srgbClr val="7030A0"/>
                </a:solidFill>
                <a:latin typeface="Noto Sans SC"/>
                <a:ea typeface="Noto Sans SC"/>
                <a:cs typeface="Noto Sans SC"/>
                <a:sym typeface="Noto Sans SC"/>
              </a:rPr>
              <a:t>零件</a:t>
            </a:r>
            <a:r>
              <a:rPr lang="en-US" altLang="zh-CN" sz="2000" b="1">
                <a:solidFill>
                  <a:srgbClr val="7030A0"/>
                </a:solidFill>
                <a:latin typeface="Noto Sans SC"/>
                <a:ea typeface="Noto Sans SC"/>
                <a:cs typeface="Noto Sans SC"/>
                <a:sym typeface="Noto Sans SC"/>
              </a:rPr>
              <a:t>(P)-</a:t>
            </a:r>
            <a:r>
              <a:rPr lang="zh-CN" altLang="en-US" sz="2000" b="1">
                <a:solidFill>
                  <a:srgbClr val="7030A0"/>
                </a:solidFill>
                <a:latin typeface="Noto Sans SC"/>
                <a:ea typeface="Noto Sans SC"/>
                <a:cs typeface="Noto Sans SC"/>
                <a:sym typeface="Noto Sans SC"/>
              </a:rPr>
              <a:t>项目</a:t>
            </a:r>
            <a:r>
              <a:rPr lang="en-US" altLang="zh-CN" sz="2000" b="1">
                <a:solidFill>
                  <a:srgbClr val="7030A0"/>
                </a:solidFill>
                <a:latin typeface="Noto Sans SC"/>
                <a:ea typeface="Noto Sans SC"/>
                <a:cs typeface="Noto Sans SC"/>
                <a:sym typeface="Noto Sans SC"/>
              </a:rPr>
              <a:t>(J) </a:t>
            </a:r>
            <a:r>
              <a:rPr lang="zh-CN" altLang="en-US" sz="2000" b="1">
                <a:solidFill>
                  <a:srgbClr val="FF0000"/>
                </a:solidFill>
                <a:latin typeface="Noto Sans SC"/>
                <a:ea typeface="Noto Sans SC"/>
                <a:cs typeface="Noto Sans SC"/>
                <a:sym typeface="Noto Sans SC"/>
              </a:rPr>
              <a:t>连接陷阱</a:t>
            </a:r>
            <a:endParaRPr lang="zh-CN" altLang="en-US" sz="2000">
              <a:solidFill>
                <a:srgbClr val="FF0000"/>
              </a:solidFill>
              <a:latin typeface="Noto Sans SC Black" panose="020B0200000000000000" pitchFamily="34" charset="-122"/>
              <a:ea typeface="Noto Sans SC Black" panose="020B0200000000000000" pitchFamily="34" charset="-122"/>
              <a:sym typeface="Noto Sans SC"/>
            </a:endParaRPr>
          </a:p>
        </p:txBody>
      </p:sp>
      <p:graphicFrame>
        <p:nvGraphicFramePr>
          <p:cNvPr id="13" name="Group 327">
            <a:extLst>
              <a:ext uri="{FF2B5EF4-FFF2-40B4-BE49-F238E27FC236}">
                <a16:creationId xmlns:a16="http://schemas.microsoft.com/office/drawing/2014/main" id="{1EF477C0-609F-1F46-7B37-FB54CA3B1CBA}"/>
              </a:ext>
            </a:extLst>
          </p:cNvPr>
          <p:cNvGraphicFramePr>
            <a:graphicFrameLocks noGrp="1"/>
          </p:cNvGraphicFramePr>
          <p:nvPr>
            <p:extLst>
              <p:ext uri="{D42A27DB-BD31-4B8C-83A1-F6EECF244321}">
                <p14:modId xmlns:p14="http://schemas.microsoft.com/office/powerpoint/2010/main" val="1769144180"/>
              </p:ext>
            </p:extLst>
          </p:nvPr>
        </p:nvGraphicFramePr>
        <p:xfrm>
          <a:off x="838200" y="2870233"/>
          <a:ext cx="1245783" cy="1864802"/>
        </p:xfrm>
        <a:graphic>
          <a:graphicData uri="http://schemas.openxmlformats.org/drawingml/2006/table">
            <a:tbl>
              <a:tblPr>
                <a:tableStyleId>{5940675A-B579-460E-94D1-54222C63F5DA}</a:tableStyleId>
              </a:tblPr>
              <a:tblGrid>
                <a:gridCol w="415650">
                  <a:extLst>
                    <a:ext uri="{9D8B030D-6E8A-4147-A177-3AD203B41FA5}">
                      <a16:colId xmlns:a16="http://schemas.microsoft.com/office/drawing/2014/main" val="20001"/>
                    </a:ext>
                  </a:extLst>
                </a:gridCol>
                <a:gridCol w="414483">
                  <a:extLst>
                    <a:ext uri="{9D8B030D-6E8A-4147-A177-3AD203B41FA5}">
                      <a16:colId xmlns:a16="http://schemas.microsoft.com/office/drawing/2014/main" val="20002"/>
                    </a:ext>
                  </a:extLst>
                </a:gridCol>
                <a:gridCol w="415650">
                  <a:extLst>
                    <a:ext uri="{9D8B030D-6E8A-4147-A177-3AD203B41FA5}">
                      <a16:colId xmlns:a16="http://schemas.microsoft.com/office/drawing/2014/main" val="20003"/>
                    </a:ext>
                  </a:extLst>
                </a:gridCol>
              </a:tblGrid>
              <a:tr h="310428">
                <a:tc gridSpan="3">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defRPr/>
                      </a:pPr>
                      <a:r>
                        <a:rPr kumimoji="0" lang="en-US" altLang="zh-CN" sz="1400" b="1"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SPJ</a:t>
                      </a: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tc>
                <a:extLst>
                  <a:ext uri="{0D108BD9-81ED-4DB2-BD59-A6C34878D82A}">
                    <a16:rowId xmlns:a16="http://schemas.microsoft.com/office/drawing/2014/main" val="1758304956"/>
                  </a:ext>
                </a:extLst>
              </a:tr>
              <a:tr h="310428">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a:t>
                      </a: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a:t>
                      </a: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a:t>
                      </a: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11545">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j2</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310428">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p2</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311545">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s2</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310428">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14" name="AutoShape 4">
            <a:extLst>
              <a:ext uri="{FF2B5EF4-FFF2-40B4-BE49-F238E27FC236}">
                <a16:creationId xmlns:a16="http://schemas.microsoft.com/office/drawing/2014/main" id="{C9CFCD99-8F14-18AE-A4D6-5414F17D78D7}"/>
              </a:ext>
            </a:extLst>
          </p:cNvPr>
          <p:cNvSpPr/>
          <p:nvPr/>
        </p:nvSpPr>
        <p:spPr>
          <a:xfrm>
            <a:off x="7060452" y="1311761"/>
            <a:ext cx="4293348" cy="1289264"/>
          </a:xfrm>
          <a:prstGeom prst="rect">
            <a:avLst/>
          </a:prstGeom>
          <a:noFill/>
          <a:ln w="12700" cap="flat" cmpd="sng">
            <a:noFill/>
            <a:prstDash val="solid"/>
            <a:round/>
          </a:ln>
        </p:spPr>
        <p:txBody>
          <a:bodyPr vert="horz" wrap="square" lIns="0" tIns="0" rIns="0" bIns="0" rtlCol="0" anchor="t" anchorCtr="0">
            <a:spAutoFit/>
          </a:bodyPr>
          <a:lstStyle/>
          <a:p>
            <a:pPr indent="0" algn="l">
              <a:lnSpc>
                <a:spcPct val="130000"/>
              </a:lnSpc>
              <a:spcBef>
                <a:spcPts val="1200"/>
              </a:spcBef>
              <a:spcAft>
                <a:spcPts val="600"/>
              </a:spcAft>
            </a:pPr>
            <a:r>
              <a:rPr lang="en-US" sz="1800" b="1" i="0" u="none" strike="noStrike">
                <a:solidFill>
                  <a:srgbClr val="374151"/>
                </a:solidFill>
                <a:latin typeface="Noto Sans SC"/>
                <a:ea typeface="Noto Sans SC"/>
                <a:cs typeface="Noto Sans SC"/>
                <a:sym typeface="Noto Sans SC"/>
              </a:rPr>
              <a:t>分解逻辑：</a:t>
            </a:r>
            <a:r>
              <a:rPr lang="en-US" sz="1600" b="0" i="0" u="none" strike="noStrike">
                <a:solidFill>
                  <a:srgbClr val="4B5563"/>
                </a:solidFill>
                <a:latin typeface="Noto Sans SC"/>
                <a:ea typeface="Noto Sans SC"/>
                <a:cs typeface="Noto Sans SC"/>
                <a:sym typeface="Noto Sans SC"/>
              </a:rPr>
              <a:t>将SPJ分解为</a:t>
            </a:r>
            <a:r>
              <a:rPr lang="en-US" sz="1600">
                <a:solidFill>
                  <a:srgbClr val="4B5563"/>
                </a:solidFill>
                <a:latin typeface="Noto Sans SC"/>
                <a:ea typeface="Noto Sans SC"/>
                <a:cs typeface="Noto Sans SC"/>
                <a:sym typeface="Noto Sans SC"/>
              </a:rPr>
              <a:t>3</a:t>
            </a:r>
            <a:r>
              <a:rPr lang="en-US" sz="1600" b="0" i="0" u="none" strike="noStrike">
                <a:solidFill>
                  <a:srgbClr val="4B5563"/>
                </a:solidFill>
                <a:latin typeface="Noto Sans SC"/>
                <a:ea typeface="Noto Sans SC"/>
                <a:cs typeface="Noto Sans SC"/>
                <a:sym typeface="Noto Sans SC"/>
              </a:rPr>
              <a:t>个二元关系的投影：SP(供应商-零件)、PJ(零件-项目)、JS(项目-供应商)。直观上，这三个二元关系包含了所有两两关联信息，似乎可以无损恢复原关系？</a:t>
            </a:r>
          </a:p>
        </p:txBody>
      </p:sp>
      <p:graphicFrame>
        <p:nvGraphicFramePr>
          <p:cNvPr id="16" name="Group 569">
            <a:extLst>
              <a:ext uri="{FF2B5EF4-FFF2-40B4-BE49-F238E27FC236}">
                <a16:creationId xmlns:a16="http://schemas.microsoft.com/office/drawing/2014/main" id="{5D4AB0E0-C44A-C987-7D93-734BE73F0A6D}"/>
              </a:ext>
            </a:extLst>
          </p:cNvPr>
          <p:cNvGraphicFramePr>
            <a:graphicFrameLocks noGrp="1"/>
          </p:cNvGraphicFramePr>
          <p:nvPr>
            <p:extLst>
              <p:ext uri="{D42A27DB-BD31-4B8C-83A1-F6EECF244321}">
                <p14:modId xmlns:p14="http://schemas.microsoft.com/office/powerpoint/2010/main" val="1989422748"/>
              </p:ext>
            </p:extLst>
          </p:nvPr>
        </p:nvGraphicFramePr>
        <p:xfrm>
          <a:off x="3168796" y="2843036"/>
          <a:ext cx="3122723" cy="1239865"/>
        </p:xfrm>
        <a:graphic>
          <a:graphicData uri="http://schemas.openxmlformats.org/drawingml/2006/table">
            <a:tbl>
              <a:tblPr/>
              <a:tblGrid>
                <a:gridCol w="451172">
                  <a:extLst>
                    <a:ext uri="{9D8B030D-6E8A-4147-A177-3AD203B41FA5}">
                      <a16:colId xmlns:a16="http://schemas.microsoft.com/office/drawing/2014/main" val="20001"/>
                    </a:ext>
                  </a:extLst>
                </a:gridCol>
                <a:gridCol w="451172">
                  <a:extLst>
                    <a:ext uri="{9D8B030D-6E8A-4147-A177-3AD203B41FA5}">
                      <a16:colId xmlns:a16="http://schemas.microsoft.com/office/drawing/2014/main" val="20002"/>
                    </a:ext>
                  </a:extLst>
                </a:gridCol>
                <a:gridCol w="237887">
                  <a:extLst>
                    <a:ext uri="{9D8B030D-6E8A-4147-A177-3AD203B41FA5}">
                      <a16:colId xmlns:a16="http://schemas.microsoft.com/office/drawing/2014/main" val="20003"/>
                    </a:ext>
                  </a:extLst>
                </a:gridCol>
                <a:gridCol w="430644">
                  <a:extLst>
                    <a:ext uri="{9D8B030D-6E8A-4147-A177-3AD203B41FA5}">
                      <a16:colId xmlns:a16="http://schemas.microsoft.com/office/drawing/2014/main" val="20004"/>
                    </a:ext>
                  </a:extLst>
                </a:gridCol>
                <a:gridCol w="437170">
                  <a:extLst>
                    <a:ext uri="{9D8B030D-6E8A-4147-A177-3AD203B41FA5}">
                      <a16:colId xmlns:a16="http://schemas.microsoft.com/office/drawing/2014/main" val="20005"/>
                    </a:ext>
                  </a:extLst>
                </a:gridCol>
                <a:gridCol w="274046">
                  <a:extLst>
                    <a:ext uri="{9D8B030D-6E8A-4147-A177-3AD203B41FA5}">
                      <a16:colId xmlns:a16="http://schemas.microsoft.com/office/drawing/2014/main" val="20006"/>
                    </a:ext>
                  </a:extLst>
                </a:gridCol>
                <a:gridCol w="424119">
                  <a:extLst>
                    <a:ext uri="{9D8B030D-6E8A-4147-A177-3AD203B41FA5}">
                      <a16:colId xmlns:a16="http://schemas.microsoft.com/office/drawing/2014/main" val="20007"/>
                    </a:ext>
                  </a:extLst>
                </a:gridCol>
                <a:gridCol w="416513">
                  <a:extLst>
                    <a:ext uri="{9D8B030D-6E8A-4147-A177-3AD203B41FA5}">
                      <a16:colId xmlns:a16="http://schemas.microsoft.com/office/drawing/2014/main" val="20008"/>
                    </a:ext>
                  </a:extLst>
                </a:gridCol>
              </a:tblGrid>
              <a:tr h="247973">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JS</a:t>
                      </a: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PJ</a:t>
                      </a: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gridSpan="2">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SP</a:t>
                      </a:r>
                    </a:p>
                  </a:txBody>
                  <a:tcPr marL="0" marR="0" marT="0" marB="0" anchor="ctr"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2"/>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42227575"/>
                  </a:ext>
                </a:extLst>
              </a:tr>
              <a:tr h="247973">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47973">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47973">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47973">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zh-CN" altLang="en-US"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17" name="箭头: 右 16">
            <a:extLst>
              <a:ext uri="{FF2B5EF4-FFF2-40B4-BE49-F238E27FC236}">
                <a16:creationId xmlns:a16="http://schemas.microsoft.com/office/drawing/2014/main" id="{1A31F771-F165-4B78-2085-502673EEF8A0}"/>
              </a:ext>
            </a:extLst>
          </p:cNvPr>
          <p:cNvSpPr/>
          <p:nvPr/>
        </p:nvSpPr>
        <p:spPr>
          <a:xfrm>
            <a:off x="2245242" y="2991588"/>
            <a:ext cx="723899" cy="64908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CN" altLang="en-US"/>
              <a:t>分解</a:t>
            </a:r>
          </a:p>
        </p:txBody>
      </p:sp>
      <p:sp>
        <p:nvSpPr>
          <p:cNvPr id="18" name="左大括号 17">
            <a:extLst>
              <a:ext uri="{FF2B5EF4-FFF2-40B4-BE49-F238E27FC236}">
                <a16:creationId xmlns:a16="http://schemas.microsoft.com/office/drawing/2014/main" id="{9428B976-7BC5-72EB-A333-D32C5D2018A1}"/>
              </a:ext>
            </a:extLst>
          </p:cNvPr>
          <p:cNvSpPr/>
          <p:nvPr/>
        </p:nvSpPr>
        <p:spPr>
          <a:xfrm rot="16200000">
            <a:off x="4970486" y="3447839"/>
            <a:ext cx="685971" cy="1956096"/>
          </a:xfrm>
          <a:prstGeom prst="leftBrace">
            <a:avLst>
              <a:gd name="adj1" fmla="val 20564"/>
              <a:gd name="adj2" fmla="val 47957"/>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94A1DD25-298D-73D9-0B8B-E848F6731379}"/>
              </a:ext>
            </a:extLst>
          </p:cNvPr>
          <p:cNvSpPr txBox="1"/>
          <p:nvPr/>
        </p:nvSpPr>
        <p:spPr>
          <a:xfrm>
            <a:off x="4474931" y="4131736"/>
            <a:ext cx="1914307" cy="307777"/>
          </a:xfrm>
          <a:prstGeom prst="rect">
            <a:avLst/>
          </a:prstGeom>
          <a:noFill/>
        </p:spPr>
        <p:txBody>
          <a:bodyPr wrap="none" rtlCol="0">
            <a:spAutoFit/>
          </a:bodyPr>
          <a:lstStyle/>
          <a:p>
            <a:r>
              <a:rPr lang="zh-CN" altLang="en-US">
                <a:latin typeface="Noto Sans SC" panose="020B0200000000000000" pitchFamily="34" charset="-122"/>
                <a:ea typeface="Noto Sans SC" panose="020B0200000000000000" pitchFamily="34" charset="-122"/>
              </a:rPr>
              <a:t>①自然连接（</a:t>
            </a:r>
            <a:r>
              <a:rPr lang="en-US" altLang="zh-CN">
                <a:latin typeface="Noto Sans SC" panose="020B0200000000000000" pitchFamily="34" charset="-122"/>
                <a:ea typeface="Noto Sans SC" panose="020B0200000000000000" pitchFamily="34" charset="-122"/>
              </a:rPr>
              <a:t>P</a:t>
            </a:r>
            <a:r>
              <a:rPr lang="zh-CN" altLang="en-US">
                <a:latin typeface="Noto Sans SC" panose="020B0200000000000000" pitchFamily="34" charset="-122"/>
                <a:ea typeface="Noto Sans SC" panose="020B0200000000000000" pitchFamily="34" charset="-122"/>
              </a:rPr>
              <a:t>相等）</a:t>
            </a:r>
          </a:p>
        </p:txBody>
      </p:sp>
      <p:graphicFrame>
        <p:nvGraphicFramePr>
          <p:cNvPr id="20" name="Group 727">
            <a:extLst>
              <a:ext uri="{FF2B5EF4-FFF2-40B4-BE49-F238E27FC236}">
                <a16:creationId xmlns:a16="http://schemas.microsoft.com/office/drawing/2014/main" id="{415A7F50-C27C-EFFB-32E7-314B057131CD}"/>
              </a:ext>
            </a:extLst>
          </p:cNvPr>
          <p:cNvGraphicFramePr>
            <a:graphicFrameLocks noGrp="1"/>
          </p:cNvGraphicFramePr>
          <p:nvPr>
            <p:extLst>
              <p:ext uri="{D42A27DB-BD31-4B8C-83A1-F6EECF244321}">
                <p14:modId xmlns:p14="http://schemas.microsoft.com/office/powerpoint/2010/main" val="2203346482"/>
              </p:ext>
            </p:extLst>
          </p:nvPr>
        </p:nvGraphicFramePr>
        <p:xfrm>
          <a:off x="4437171" y="4854706"/>
          <a:ext cx="1752600" cy="1586964"/>
        </p:xfrm>
        <a:graphic>
          <a:graphicData uri="http://schemas.openxmlformats.org/drawingml/2006/table">
            <a:tbl>
              <a:tblPr/>
              <a:tblGrid>
                <a:gridCol w="5842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tblGrid>
              <a:tr h="264494">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64494">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64494">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64494">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64494">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7474"/>
                    </a:solid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7474"/>
                    </a:solid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j2</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7474"/>
                    </a:solidFill>
                  </a:tcPr>
                </a:tc>
                <a:extLst>
                  <a:ext uri="{0D108BD9-81ED-4DB2-BD59-A6C34878D82A}">
                    <a16:rowId xmlns:a16="http://schemas.microsoft.com/office/drawing/2014/main" val="10004"/>
                  </a:ext>
                </a:extLst>
              </a:tr>
              <a:tr h="264494">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23" name="标注: 线形 22">
            <a:extLst>
              <a:ext uri="{FF2B5EF4-FFF2-40B4-BE49-F238E27FC236}">
                <a16:creationId xmlns:a16="http://schemas.microsoft.com/office/drawing/2014/main" id="{9F81B263-E54A-31D8-A691-022B3B3D65B6}"/>
              </a:ext>
            </a:extLst>
          </p:cNvPr>
          <p:cNvSpPr/>
          <p:nvPr/>
        </p:nvSpPr>
        <p:spPr>
          <a:xfrm>
            <a:off x="1701209" y="6133893"/>
            <a:ext cx="2190307" cy="307777"/>
          </a:xfrm>
          <a:prstGeom prst="borderCallout1">
            <a:avLst>
              <a:gd name="adj1" fmla="val 47073"/>
              <a:gd name="adj2" fmla="val 98084"/>
              <a:gd name="adj3" fmla="val -12948"/>
              <a:gd name="adj4" fmla="val 125765"/>
            </a:avLst>
          </a:prstGeom>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zh-CN" altLang="en-US">
                <a:latin typeface="Noto Sans SC" panose="020B0200000000000000" pitchFamily="34" charset="-122"/>
                <a:ea typeface="Noto Sans SC" panose="020B0200000000000000" pitchFamily="34" charset="-122"/>
              </a:rPr>
              <a:t>无用的行（非真实信息）</a:t>
            </a:r>
          </a:p>
        </p:txBody>
      </p:sp>
      <p:sp>
        <p:nvSpPr>
          <p:cNvPr id="24" name="左大括号 23">
            <a:extLst>
              <a:ext uri="{FF2B5EF4-FFF2-40B4-BE49-F238E27FC236}">
                <a16:creationId xmlns:a16="http://schemas.microsoft.com/office/drawing/2014/main" id="{A2F4D2D6-3487-2A2C-3E93-C1C6ECE68680}"/>
              </a:ext>
            </a:extLst>
          </p:cNvPr>
          <p:cNvSpPr/>
          <p:nvPr/>
        </p:nvSpPr>
        <p:spPr>
          <a:xfrm rot="19475538">
            <a:off x="3390046" y="4140860"/>
            <a:ext cx="508977" cy="1691313"/>
          </a:xfrm>
          <a:prstGeom prst="leftBrace">
            <a:avLst>
              <a:gd name="adj1" fmla="val 20564"/>
              <a:gd name="adj2" fmla="val 48872"/>
            </a:avLst>
          </a:prstGeom>
          <a:ln w="127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5" name="文本框 24">
            <a:extLst>
              <a:ext uri="{FF2B5EF4-FFF2-40B4-BE49-F238E27FC236}">
                <a16:creationId xmlns:a16="http://schemas.microsoft.com/office/drawing/2014/main" id="{05A6E291-277A-A469-2053-CA702D427DE5}"/>
              </a:ext>
            </a:extLst>
          </p:cNvPr>
          <p:cNvSpPr txBox="1"/>
          <p:nvPr/>
        </p:nvSpPr>
        <p:spPr>
          <a:xfrm>
            <a:off x="2507667" y="4413250"/>
            <a:ext cx="1587294" cy="523220"/>
          </a:xfrm>
          <a:prstGeom prst="rect">
            <a:avLst/>
          </a:prstGeom>
          <a:noFill/>
        </p:spPr>
        <p:txBody>
          <a:bodyPr wrap="none" rtlCol="0">
            <a:spAutoFit/>
          </a:bodyPr>
          <a:lstStyle/>
          <a:p>
            <a:pPr algn="ctr"/>
            <a:r>
              <a:rPr lang="zh-CN" altLang="en-US">
                <a:latin typeface="Noto Sans SC" panose="020B0200000000000000" pitchFamily="34" charset="-122"/>
                <a:ea typeface="Noto Sans SC" panose="020B0200000000000000" pitchFamily="34" charset="-122"/>
              </a:rPr>
              <a:t>②自然连接</a:t>
            </a:r>
            <a:br>
              <a:rPr lang="en-US" altLang="zh-CN">
                <a:latin typeface="Noto Sans SC" panose="020B0200000000000000" pitchFamily="34" charset="-122"/>
                <a:ea typeface="Noto Sans SC" panose="020B0200000000000000" pitchFamily="34" charset="-122"/>
              </a:rPr>
            </a:br>
            <a:r>
              <a:rPr lang="zh-CN" altLang="en-US">
                <a:latin typeface="Noto Sans SC" panose="020B0200000000000000" pitchFamily="34" charset="-122"/>
                <a:ea typeface="Noto Sans SC" panose="020B0200000000000000" pitchFamily="34" charset="-122"/>
              </a:rPr>
              <a:t>（</a:t>
            </a:r>
            <a:r>
              <a:rPr lang="en-US" altLang="zh-CN">
                <a:latin typeface="Noto Sans SC" panose="020B0200000000000000" pitchFamily="34" charset="-122"/>
                <a:ea typeface="Noto Sans SC" panose="020B0200000000000000" pitchFamily="34" charset="-122"/>
              </a:rPr>
              <a:t>J</a:t>
            </a:r>
            <a:r>
              <a:rPr lang="zh-CN" altLang="en-US">
                <a:latin typeface="Noto Sans SC" panose="020B0200000000000000" pitchFamily="34" charset="-122"/>
                <a:ea typeface="Noto Sans SC" panose="020B0200000000000000" pitchFamily="34" charset="-122"/>
              </a:rPr>
              <a:t>相等</a:t>
            </a:r>
            <a:r>
              <a:rPr lang="en-US" altLang="zh-CN">
                <a:latin typeface="Noto Sans SC" panose="020B0200000000000000" pitchFamily="34" charset="-122"/>
                <a:ea typeface="Noto Sans SC" panose="020B0200000000000000" pitchFamily="34" charset="-122"/>
              </a:rPr>
              <a:t>&amp;S</a:t>
            </a:r>
            <a:r>
              <a:rPr lang="zh-CN" altLang="en-US">
                <a:latin typeface="Noto Sans SC" panose="020B0200000000000000" pitchFamily="34" charset="-122"/>
                <a:ea typeface="Noto Sans SC" panose="020B0200000000000000" pitchFamily="34" charset="-122"/>
              </a:rPr>
              <a:t>相等）</a:t>
            </a:r>
          </a:p>
        </p:txBody>
      </p:sp>
      <p:sp>
        <p:nvSpPr>
          <p:cNvPr id="26" name="箭头: 右弧形 25">
            <a:extLst>
              <a:ext uri="{FF2B5EF4-FFF2-40B4-BE49-F238E27FC236}">
                <a16:creationId xmlns:a16="http://schemas.microsoft.com/office/drawing/2014/main" id="{6C77998A-5B72-1E78-BA52-13E903428F04}"/>
              </a:ext>
            </a:extLst>
          </p:cNvPr>
          <p:cNvSpPr/>
          <p:nvPr/>
        </p:nvSpPr>
        <p:spPr>
          <a:xfrm rot="5927928">
            <a:off x="2298907" y="4407588"/>
            <a:ext cx="561784" cy="1692641"/>
          </a:xfrm>
          <a:prstGeom prst="curvedLef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28" name="文本框 27">
            <a:extLst>
              <a:ext uri="{FF2B5EF4-FFF2-40B4-BE49-F238E27FC236}">
                <a16:creationId xmlns:a16="http://schemas.microsoft.com/office/drawing/2014/main" id="{95814B80-DD2D-3A27-5E34-76F2692AFFCF}"/>
              </a:ext>
            </a:extLst>
          </p:cNvPr>
          <p:cNvSpPr txBox="1"/>
          <p:nvPr/>
        </p:nvSpPr>
        <p:spPr>
          <a:xfrm>
            <a:off x="838199" y="4810780"/>
            <a:ext cx="955159" cy="523220"/>
          </a:xfrm>
          <a:prstGeom prst="rect">
            <a:avLst/>
          </a:prstGeom>
          <a:noFill/>
        </p:spPr>
        <p:txBody>
          <a:bodyPr wrap="square">
            <a:spAutoFit/>
          </a:bodyPr>
          <a:lstStyle/>
          <a:p>
            <a:pPr eaLnBrk="1" hangingPunct="1">
              <a:spcBef>
                <a:spcPct val="0"/>
              </a:spcBef>
              <a:buClrTx/>
              <a:buSzTx/>
              <a:buFontTx/>
              <a:buNone/>
            </a:pPr>
            <a:r>
              <a:rPr lang="zh-CN" altLang="en-US" sz="1400" b="1"/>
              <a:t>恢复出原来的关系</a:t>
            </a:r>
          </a:p>
        </p:txBody>
      </p:sp>
      <p:sp>
        <p:nvSpPr>
          <p:cNvPr id="30" name="AutoShape 6">
            <a:extLst>
              <a:ext uri="{FF2B5EF4-FFF2-40B4-BE49-F238E27FC236}">
                <a16:creationId xmlns:a16="http://schemas.microsoft.com/office/drawing/2014/main" id="{BD2CFFA1-A607-CF90-717B-BE8047F7ABB7}"/>
              </a:ext>
            </a:extLst>
          </p:cNvPr>
          <p:cNvSpPr/>
          <p:nvPr/>
        </p:nvSpPr>
        <p:spPr>
          <a:xfrm>
            <a:off x="7060451" y="2758860"/>
            <a:ext cx="4293347" cy="881816"/>
          </a:xfrm>
          <a:prstGeom prst="roundRect">
            <a:avLst>
              <a:gd name="adj" fmla="val 0"/>
            </a:avLst>
          </a:prstGeom>
          <a:solidFill>
            <a:srgbClr val="EFF6FF">
              <a:alpha val="100000"/>
            </a:srgbClr>
          </a:solidFill>
          <a:ln w="12700" cap="flat" cmpd="sng">
            <a:solidFill>
              <a:srgbClr val="BFDBFE">
                <a:alpha val="100000"/>
              </a:srgbClr>
            </a:solidFill>
            <a:prstDash val="solid"/>
            <a:round/>
          </a:ln>
        </p:spPr>
        <p:txBody>
          <a:bodyPr vert="horz" wrap="square" lIns="63500" tIns="63500" rIns="63500" bIns="63500" rtlCol="0" anchor="ctr"/>
          <a:lstStyle/>
          <a:p>
            <a:pPr indent="0" algn="ctr">
              <a:lnSpc>
                <a:spcPct val="125000"/>
              </a:lnSpc>
              <a:defRPr/>
            </a:pPr>
            <a:r>
              <a:rPr lang="en-US" altLang="zh-CN" sz="1600" b="1">
                <a:solidFill>
                  <a:srgbClr val="1E40AF"/>
                </a:solidFill>
                <a:latin typeface="Noto Sans SC"/>
                <a:ea typeface="Noto Sans SC"/>
                <a:cs typeface="Noto Sans SC"/>
                <a:sym typeface="Noto Sans SC"/>
              </a:rPr>
              <a:t>第一步：分解为二元投影</a:t>
            </a:r>
            <a:endParaRPr lang="en-US" altLang="zh-CN" sz="1600"/>
          </a:p>
          <a:p>
            <a:pPr indent="0" algn="ctr">
              <a:lnSpc>
                <a:spcPct val="125000"/>
              </a:lnSpc>
              <a:spcBef>
                <a:spcPts val="400"/>
              </a:spcBef>
            </a:pPr>
            <a:r>
              <a:rPr lang="en-US" altLang="zh-CN">
                <a:solidFill>
                  <a:srgbClr val="374151"/>
                </a:solidFill>
                <a:latin typeface="Noto Sans SC"/>
                <a:ea typeface="Noto Sans SC"/>
                <a:cs typeface="Noto Sans SC"/>
                <a:sym typeface="Noto Sans SC"/>
              </a:rPr>
              <a:t>SP ∪ PJ ∪ JS 包含了所有实体间的两两联系</a:t>
            </a:r>
            <a:endParaRPr/>
          </a:p>
        </p:txBody>
      </p:sp>
      <p:sp>
        <p:nvSpPr>
          <p:cNvPr id="32" name="AutoShape 8">
            <a:extLst>
              <a:ext uri="{FF2B5EF4-FFF2-40B4-BE49-F238E27FC236}">
                <a16:creationId xmlns:a16="http://schemas.microsoft.com/office/drawing/2014/main" id="{044C940C-DCCE-160F-2463-C1CAFEBF36ED}"/>
              </a:ext>
            </a:extLst>
          </p:cNvPr>
          <p:cNvSpPr/>
          <p:nvPr/>
        </p:nvSpPr>
        <p:spPr>
          <a:xfrm>
            <a:off x="7060450" y="3820894"/>
            <a:ext cx="4293347" cy="881816"/>
          </a:xfrm>
          <a:prstGeom prst="roundRect">
            <a:avLst>
              <a:gd name="adj" fmla="val 0"/>
            </a:avLst>
          </a:prstGeom>
          <a:solidFill>
            <a:srgbClr val="F0FDF4">
              <a:alpha val="100000"/>
            </a:srgbClr>
          </a:solidFill>
          <a:ln w="12700" cap="flat" cmpd="sng">
            <a:solidFill>
              <a:srgbClr val="BBF7D0">
                <a:alpha val="100000"/>
              </a:srgbClr>
            </a:solidFill>
            <a:prstDash val="solid"/>
            <a:round/>
          </a:ln>
        </p:spPr>
        <p:txBody>
          <a:bodyPr vert="horz" wrap="square" lIns="63500" tIns="63500" rIns="63500" bIns="63500" rtlCol="0" anchor="ctr"/>
          <a:lstStyle/>
          <a:p>
            <a:pPr indent="0" algn="ctr">
              <a:lnSpc>
                <a:spcPct val="125000"/>
              </a:lnSpc>
              <a:defRPr/>
            </a:pPr>
            <a:r>
              <a:rPr lang="en-US" altLang="zh-CN" sz="1600" b="1">
                <a:solidFill>
                  <a:srgbClr val="15803D"/>
                </a:solidFill>
                <a:latin typeface="Noto Sans SC"/>
                <a:ea typeface="Noto Sans SC"/>
                <a:cs typeface="Noto Sans SC"/>
                <a:sym typeface="Noto Sans SC"/>
              </a:rPr>
              <a:t>第二步：自然连接 (SP ⋈ PJ ⋈ JS)</a:t>
            </a:r>
            <a:endParaRPr lang="en-US" altLang="zh-CN" sz="1600"/>
          </a:p>
          <a:p>
            <a:pPr indent="0" algn="ctr">
              <a:lnSpc>
                <a:spcPct val="125000"/>
              </a:lnSpc>
              <a:spcBef>
                <a:spcPts val="400"/>
              </a:spcBef>
            </a:pPr>
            <a:r>
              <a:rPr lang="en-US" altLang="zh-CN">
                <a:solidFill>
                  <a:srgbClr val="374151"/>
                </a:solidFill>
                <a:latin typeface="Noto Sans SC"/>
                <a:ea typeface="Noto Sans SC"/>
                <a:cs typeface="Noto Sans SC"/>
                <a:sym typeface="Noto Sans SC"/>
              </a:rPr>
              <a:t>结果比原表多出一行：</a:t>
            </a:r>
            <a:r>
              <a:rPr lang="en-US" altLang="zh-CN" b="1">
                <a:solidFill>
                  <a:srgbClr val="DC2626"/>
                </a:solidFill>
                <a:latin typeface="Noto Sans SC"/>
                <a:ea typeface="Noto Sans SC"/>
                <a:cs typeface="Noto Sans SC"/>
                <a:sym typeface="Noto Sans SC"/>
              </a:rPr>
              <a:t>(s2, p1, j2)</a:t>
            </a:r>
            <a:endParaRPr/>
          </a:p>
        </p:txBody>
      </p:sp>
      <p:sp>
        <p:nvSpPr>
          <p:cNvPr id="34" name="AutoShape 10">
            <a:extLst>
              <a:ext uri="{FF2B5EF4-FFF2-40B4-BE49-F238E27FC236}">
                <a16:creationId xmlns:a16="http://schemas.microsoft.com/office/drawing/2014/main" id="{18A7F39B-BE62-33FB-CA88-B6A3E4D3F617}"/>
              </a:ext>
            </a:extLst>
          </p:cNvPr>
          <p:cNvSpPr/>
          <p:nvPr/>
        </p:nvSpPr>
        <p:spPr>
          <a:xfrm>
            <a:off x="7060449" y="4876886"/>
            <a:ext cx="4293348" cy="1148229"/>
          </a:xfrm>
          <a:prstGeom prst="roundRect">
            <a:avLst>
              <a:gd name="adj" fmla="val 0"/>
            </a:avLst>
          </a:prstGeom>
          <a:solidFill>
            <a:srgbClr val="FEF2F2">
              <a:alpha val="100000"/>
            </a:srgbClr>
          </a:solidFill>
          <a:ln w="12700" cap="flat" cmpd="sng">
            <a:solidFill>
              <a:srgbClr val="FECACA">
                <a:alpha val="100000"/>
              </a:srgbClr>
            </a:solidFill>
            <a:prstDash val="solid"/>
            <a:round/>
          </a:ln>
        </p:spPr>
        <p:txBody>
          <a:bodyPr vert="horz" wrap="square" lIns="72000" tIns="0" rIns="72000" bIns="0" rtlCol="0" anchor="ctr"/>
          <a:lstStyle/>
          <a:p>
            <a:pPr indent="0" algn="ctr">
              <a:lnSpc>
                <a:spcPct val="125000"/>
              </a:lnSpc>
              <a:defRPr/>
            </a:pPr>
            <a:r>
              <a:rPr lang="en-US" altLang="zh-CN" sz="1600" b="1">
                <a:solidFill>
                  <a:srgbClr val="B91C1C"/>
                </a:solidFill>
                <a:latin typeface="Noto Sans SC"/>
                <a:ea typeface="Noto Sans SC"/>
                <a:cs typeface="Noto Sans SC"/>
                <a:sym typeface="Noto Sans SC"/>
              </a:rPr>
              <a:t>关键结论：连接依赖不成立</a:t>
            </a:r>
            <a:endParaRPr lang="en-US" altLang="zh-CN" sz="1600"/>
          </a:p>
          <a:p>
            <a:pPr indent="0" algn="ctr">
              <a:lnSpc>
                <a:spcPct val="108333"/>
              </a:lnSpc>
              <a:spcBef>
                <a:spcPts val="600"/>
              </a:spcBef>
            </a:pPr>
            <a:r>
              <a:rPr lang="en-US" altLang="zh-CN">
                <a:solidFill>
                  <a:srgbClr val="450A0A"/>
                </a:solidFill>
                <a:latin typeface="Noto Sans SC"/>
                <a:ea typeface="Noto Sans SC"/>
                <a:cs typeface="Noto Sans SC"/>
                <a:sym typeface="Noto Sans SC"/>
              </a:rPr>
              <a:t>多出的 (s2,p1,j2) 是</a:t>
            </a:r>
            <a:r>
              <a:rPr lang="en-US" altLang="zh-CN" b="1">
                <a:solidFill>
                  <a:srgbClr val="450A0A"/>
                </a:solidFill>
                <a:latin typeface="Noto Sans SC"/>
                <a:ea typeface="Noto Sans SC"/>
                <a:cs typeface="Noto Sans SC"/>
                <a:sym typeface="Noto Sans SC"/>
              </a:rPr>
              <a:t>寄生元组</a:t>
            </a:r>
            <a:r>
              <a:rPr lang="en-US" altLang="zh-CN">
                <a:solidFill>
                  <a:srgbClr val="450A0A"/>
                </a:solidFill>
                <a:latin typeface="Noto Sans SC"/>
                <a:ea typeface="Noto Sans SC"/>
                <a:cs typeface="Noto Sans SC"/>
                <a:sym typeface="Noto Sans SC"/>
              </a:rPr>
              <a:t>（虚假信息）。</a:t>
            </a:r>
          </a:p>
          <a:p>
            <a:pPr indent="0" algn="ctr">
              <a:lnSpc>
                <a:spcPct val="108333"/>
              </a:lnSpc>
              <a:spcBef>
                <a:spcPts val="600"/>
              </a:spcBef>
            </a:pPr>
            <a:r>
              <a:rPr lang="en-US" altLang="zh-CN">
                <a:solidFill>
                  <a:srgbClr val="450A0A"/>
                </a:solidFill>
                <a:latin typeface="Noto Sans SC"/>
                <a:ea typeface="Noto Sans SC"/>
                <a:cs typeface="Noto Sans SC"/>
                <a:sym typeface="Noto Sans SC"/>
              </a:rPr>
              <a:t>这说明关系模式SPJ上不存在连接依赖 *(SP,PJ,JS)。</a:t>
            </a:r>
            <a:endParaRPr/>
          </a:p>
        </p:txBody>
      </p:sp>
      <p:sp>
        <p:nvSpPr>
          <p:cNvPr id="36" name="AutoShape 12">
            <a:extLst>
              <a:ext uri="{FF2B5EF4-FFF2-40B4-BE49-F238E27FC236}">
                <a16:creationId xmlns:a16="http://schemas.microsoft.com/office/drawing/2014/main" id="{F7BE6A06-2622-9E64-AA03-FE0AE530017E}"/>
              </a:ext>
            </a:extLst>
          </p:cNvPr>
          <p:cNvSpPr/>
          <p:nvPr/>
        </p:nvSpPr>
        <p:spPr>
          <a:xfrm>
            <a:off x="7060449" y="6180602"/>
            <a:ext cx="4293348" cy="279757"/>
          </a:xfrm>
          <a:prstGeom prst="rect">
            <a:avLst/>
          </a:prstGeom>
          <a:noFill/>
          <a:ln w="12700" cap="flat" cmpd="sng">
            <a:noFill/>
            <a:prstDash val="solid"/>
            <a:round/>
          </a:ln>
        </p:spPr>
        <p:txBody>
          <a:bodyPr vert="horz" wrap="square" lIns="0" tIns="0" rIns="0" bIns="0" rtlCol="0" anchor="ctr" anchorCtr="0">
            <a:spAutoFit/>
          </a:bodyPr>
          <a:lstStyle/>
          <a:p>
            <a:pPr indent="0" algn="ctr">
              <a:lnSpc>
                <a:spcPct val="125000"/>
              </a:lnSpc>
              <a:defRPr/>
            </a:pPr>
            <a:r>
              <a:rPr lang="en-US" sz="1600">
                <a:solidFill>
                  <a:srgbClr val="FF0000"/>
                </a:solidFill>
                <a:latin typeface="Noto Sans SC"/>
                <a:ea typeface="Noto Sans SC"/>
                <a:sym typeface="Noto Sans SC"/>
              </a:rPr>
              <a:t>即使满足4NF，仍可能存在连接导致的冗余问题</a:t>
            </a:r>
            <a:endParaRPr lang="en-US" sz="1600">
              <a:solidFill>
                <a:srgbClr val="FF0000"/>
              </a:solidFill>
              <a:latin typeface="Noto Sans SC"/>
              <a:ea typeface="Noto Sans SC"/>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5164"/>
            <a:ext cx="10515600" cy="565073"/>
          </a:xfrm>
          <a:prstGeom prst="rect">
            <a:avLst/>
          </a:prstGeom>
          <a:solidFill>
            <a:srgbClr val="7030A0">
              <a:alpha val="100000"/>
            </a:srgbClr>
          </a:solidFill>
          <a:ln w="12700" cap="flat" cmpd="sng">
            <a:noFill/>
            <a:prstDash val="solid"/>
            <a:round/>
          </a:ln>
        </p:spPr>
        <p:txBody>
          <a:bodyPr vert="horz" wrap="square" lIns="144000" tIns="72000" rIns="72000" bIns="72000" rtlCol="0" anchor="ctr" anchorCtr="0">
            <a:spAutoFit/>
          </a:bodyPr>
          <a:lstStyle/>
          <a:p>
            <a:pPr>
              <a:lnSpc>
                <a:spcPct val="125000"/>
              </a:lnSpc>
            </a:pPr>
            <a:r>
              <a:rPr lang="en-US" sz="2400" b="1">
                <a:solidFill>
                  <a:srgbClr val="FFFFFF"/>
                </a:solidFill>
                <a:latin typeface="Noto Sans SC"/>
                <a:ea typeface="Noto Sans SC"/>
                <a:sym typeface="Noto Sans SC"/>
              </a:rPr>
              <a:t>7.5.5 连接依赖和第五范式 (3) —— 连接陷阱</a:t>
            </a:r>
            <a:r>
              <a:rPr lang="zh-CN" altLang="en-US" sz="2400" b="1">
                <a:solidFill>
                  <a:srgbClr val="FFFFFF"/>
                </a:solidFill>
                <a:latin typeface="Noto Sans SC"/>
                <a:ea typeface="Noto Sans SC"/>
                <a:sym typeface="Noto Sans SC"/>
              </a:rPr>
              <a:t>示例</a:t>
            </a:r>
            <a:endParaRPr lang="en-US" sz="2400" b="1">
              <a:solidFill>
                <a:srgbClr val="FFFFFF"/>
              </a:solidFill>
              <a:latin typeface="Noto Sans SC"/>
              <a:ea typeface="Noto Sans SC"/>
            </a:endParaRPr>
          </a:p>
        </p:txBody>
      </p:sp>
      <p:sp>
        <p:nvSpPr>
          <p:cNvPr id="3" name="AutoShape 3"/>
          <p:cNvSpPr/>
          <p:nvPr/>
        </p:nvSpPr>
        <p:spPr>
          <a:xfrm>
            <a:off x="838199" y="2006009"/>
            <a:ext cx="5715000" cy="279500"/>
          </a:xfrm>
          <a:prstGeom prst="rect">
            <a:avLst/>
          </a:prstGeom>
          <a:noFill/>
          <a:ln w="12700" cap="flat" cmpd="sng">
            <a:noFill/>
            <a:prstDash val="solid"/>
            <a:round/>
          </a:ln>
        </p:spPr>
        <p:txBody>
          <a:bodyPr vert="horz" wrap="square" lIns="0" tIns="0" rIns="0" bIns="0" rtlCol="0" anchor="t" anchorCtr="0">
            <a:spAutoFit/>
          </a:bodyPr>
          <a:lstStyle/>
          <a:p>
            <a:pPr>
              <a:lnSpc>
                <a:spcPct val="108333"/>
              </a:lnSpc>
              <a:spcBef>
                <a:spcPts val="1200"/>
              </a:spcBef>
            </a:pPr>
            <a:r>
              <a:rPr lang="zh-CN" altLang="en-US" sz="1800" b="1" i="0" u="none" strike="noStrike">
                <a:solidFill>
                  <a:srgbClr val="CC3333"/>
                </a:solidFill>
                <a:latin typeface="Noto Sans SC"/>
                <a:ea typeface="Noto Sans SC"/>
                <a:cs typeface="Noto Sans SC"/>
                <a:sym typeface="Noto Sans SC"/>
              </a:rPr>
              <a:t>连接陷进</a:t>
            </a:r>
            <a:r>
              <a:rPr lang="en-US" sz="1800" b="1" i="0" u="none" strike="noStrike">
                <a:solidFill>
                  <a:srgbClr val="CC3333"/>
                </a:solidFill>
                <a:latin typeface="Noto Sans SC"/>
                <a:ea typeface="Noto Sans SC"/>
                <a:cs typeface="Noto Sans SC"/>
                <a:sym typeface="Noto Sans SC"/>
              </a:rPr>
              <a:t>引发的</a:t>
            </a:r>
            <a:r>
              <a:rPr lang="zh-CN" altLang="en-US" sz="1800" b="1">
                <a:solidFill>
                  <a:srgbClr val="CC3333"/>
                </a:solidFill>
                <a:latin typeface="Noto Sans SC"/>
                <a:ea typeface="Noto Sans SC"/>
                <a:cs typeface="Noto Sans SC"/>
                <a:sym typeface="Noto Sans SC"/>
              </a:rPr>
              <a:t>更新</a:t>
            </a:r>
            <a:r>
              <a:rPr lang="en-US" altLang="zh-CN" sz="1800" b="1">
                <a:solidFill>
                  <a:srgbClr val="CC3333"/>
                </a:solidFill>
                <a:latin typeface="Noto Sans SC"/>
                <a:ea typeface="Noto Sans SC"/>
                <a:sym typeface="Noto Sans SC"/>
              </a:rPr>
              <a:t>操作异常 </a:t>
            </a:r>
            <a:endParaRPr lang="en-US" sz="1800" b="1">
              <a:solidFill>
                <a:srgbClr val="CC3333"/>
              </a:solidFill>
              <a:latin typeface="Noto Sans SC"/>
              <a:ea typeface="Noto Sans SC"/>
              <a:sym typeface="Noto Sans SC"/>
            </a:endParaRPr>
          </a:p>
        </p:txBody>
      </p:sp>
      <p:sp>
        <p:nvSpPr>
          <p:cNvPr id="4" name="AutoShape 4"/>
          <p:cNvSpPr/>
          <p:nvPr/>
        </p:nvSpPr>
        <p:spPr>
          <a:xfrm>
            <a:off x="7442200" y="1435100"/>
            <a:ext cx="685800" cy="46990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核心</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要点</a:t>
            </a:r>
            <a:endParaRPr lang="en-US" sz="1600" b="1">
              <a:solidFill>
                <a:srgbClr val="FFFFFF"/>
              </a:solidFill>
              <a:latin typeface="Noto Sans SC"/>
              <a:ea typeface="Noto Sans SC"/>
            </a:endParaRPr>
          </a:p>
        </p:txBody>
      </p:sp>
      <p:sp>
        <p:nvSpPr>
          <p:cNvPr id="5" name="AutoShape 5"/>
          <p:cNvSpPr/>
          <p:nvPr/>
        </p:nvSpPr>
        <p:spPr>
          <a:xfrm>
            <a:off x="8140700" y="1435100"/>
            <a:ext cx="3213100" cy="7366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连接依赖 (JD)</a:t>
            </a:r>
            <a:endParaRPr lang="en-US" sz="1200"/>
          </a:p>
        </p:txBody>
      </p:sp>
      <p:sp>
        <p:nvSpPr>
          <p:cNvPr id="6" name="AutoShape 6"/>
          <p:cNvSpPr/>
          <p:nvPr/>
        </p:nvSpPr>
        <p:spPr>
          <a:xfrm>
            <a:off x="8140700" y="2425700"/>
            <a:ext cx="3213100" cy="7366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125000"/>
              </a:lnSpc>
              <a:defRPr/>
            </a:pPr>
            <a:r>
              <a:rPr lang="en-US" sz="1600" b="1" i="0" u="none" strike="noStrike">
                <a:solidFill>
                  <a:srgbClr val="FFA500"/>
                </a:solidFill>
                <a:latin typeface="Noto Sans SC"/>
                <a:ea typeface="Noto Sans SC"/>
                <a:cs typeface="Noto Sans SC"/>
                <a:sym typeface="Noto Sans SC"/>
              </a:rPr>
              <a:t>第五范式 (5NF)</a:t>
            </a:r>
            <a:endParaRPr lang="en-US" sz="1200"/>
          </a:p>
        </p:txBody>
      </p:sp>
      <p:sp>
        <p:nvSpPr>
          <p:cNvPr id="7" name="AutoShape 7"/>
          <p:cNvSpPr/>
          <p:nvPr/>
        </p:nvSpPr>
        <p:spPr>
          <a:xfrm>
            <a:off x="8140700" y="3416300"/>
            <a:ext cx="3213100" cy="7366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连接陷阱 (Join Trap)</a:t>
            </a:r>
            <a:endParaRPr lang="en-US" sz="1200"/>
          </a:p>
        </p:txBody>
      </p:sp>
      <p:sp>
        <p:nvSpPr>
          <p:cNvPr id="8" name="AutoShape 8"/>
          <p:cNvSpPr/>
          <p:nvPr/>
        </p:nvSpPr>
        <p:spPr>
          <a:xfrm>
            <a:off x="8140700" y="4406900"/>
            <a:ext cx="3213100" cy="7366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125000"/>
              </a:lnSpc>
              <a:defRPr/>
            </a:pPr>
            <a:r>
              <a:rPr lang="en-US" sz="1600" b="0" i="0" u="none" strike="noStrike">
                <a:solidFill>
                  <a:srgbClr val="EF4444"/>
                </a:solidFill>
                <a:latin typeface="Noto Sans SC"/>
                <a:ea typeface="Noto Sans SC"/>
                <a:cs typeface="Noto Sans SC"/>
                <a:sym typeface="Noto Sans SC"/>
              </a:rPr>
              <a:t>操作异常</a:t>
            </a:r>
            <a:endParaRPr lang="en-US" sz="1200"/>
          </a:p>
        </p:txBody>
      </p:sp>
      <p:sp>
        <p:nvSpPr>
          <p:cNvPr id="9" name="AutoShape 9"/>
          <p:cNvSpPr/>
          <p:nvPr/>
        </p:nvSpPr>
        <p:spPr>
          <a:xfrm>
            <a:off x="8140700" y="5397500"/>
            <a:ext cx="3213100" cy="736600"/>
          </a:xfrm>
          <a:prstGeom prst="roundRect">
            <a:avLst>
              <a:gd name="adj" fmla="val 0"/>
            </a:avLst>
          </a:prstGeom>
          <a:solidFill>
            <a:srgbClr val="000000">
              <a:alpha val="100000"/>
            </a:srgbClr>
          </a:solidFill>
          <a:ln w="12700" cap="flat" cmpd="sng">
            <a:solidFill>
              <a:srgbClr val="FFFFFF">
                <a:alpha val="100000"/>
              </a:srgbClr>
            </a:solidFill>
            <a:prstDash val="solid"/>
            <a:miter lim="10000000"/>
          </a:ln>
        </p:spPr>
        <p:txBody>
          <a:bodyPr vert="horz" wrap="square" lIns="0" tIns="0" rIns="0" bIns="0" rtlCol="0" anchor="ctr" anchorCtr="0"/>
          <a:lstStyle/>
          <a:p>
            <a:pPr indent="0" algn="ctr">
              <a:lnSpc>
                <a:spcPct val="125000"/>
              </a:lnSpc>
              <a:defRPr/>
            </a:pPr>
            <a:r>
              <a:rPr lang="en-US" sz="1600" b="0" i="0" u="none" strike="noStrike">
                <a:solidFill>
                  <a:srgbClr val="10B981"/>
                </a:solidFill>
                <a:latin typeface="Noto Sans SC"/>
                <a:ea typeface="Noto Sans SC"/>
                <a:cs typeface="Noto Sans SC"/>
                <a:sym typeface="Noto Sans SC"/>
              </a:rPr>
              <a:t>无损连接分解</a:t>
            </a:r>
            <a:endParaRPr lang="en-US" sz="1200"/>
          </a:p>
        </p:txBody>
      </p:sp>
      <p:sp>
        <p:nvSpPr>
          <p:cNvPr id="10" name="AutoShape 4">
            <a:extLst>
              <a:ext uri="{FF2B5EF4-FFF2-40B4-BE49-F238E27FC236}">
                <a16:creationId xmlns:a16="http://schemas.microsoft.com/office/drawing/2014/main" id="{EF2CBCA7-E568-5549-A03B-0C5D85EBDAEC}"/>
              </a:ext>
            </a:extLst>
          </p:cNvPr>
          <p:cNvSpPr/>
          <p:nvPr/>
        </p:nvSpPr>
        <p:spPr>
          <a:xfrm>
            <a:off x="838199" y="1311761"/>
            <a:ext cx="5590954" cy="380480"/>
          </a:xfrm>
          <a:prstGeom prst="rect">
            <a:avLst/>
          </a:prstGeom>
          <a:noFill/>
          <a:ln w="12700" cap="flat" cmpd="sng">
            <a:noFill/>
            <a:prstDash val="solid"/>
            <a:round/>
          </a:ln>
        </p:spPr>
        <p:txBody>
          <a:bodyPr vert="horz" wrap="square" lIns="0" tIns="36000" rIns="0" bIns="36000" rtlCol="0" anchor="t" anchorCtr="0">
            <a:spAutoFit/>
          </a:bodyPr>
          <a:lstStyle/>
          <a:p>
            <a:pPr>
              <a:spcAft>
                <a:spcPts val="1200"/>
              </a:spcAft>
            </a:pP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例</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 </a:t>
            </a:r>
            <a:r>
              <a:rPr lang="en-US" altLang="zh-CN" sz="2000">
                <a:solidFill>
                  <a:srgbClr val="7030A0"/>
                </a:solidFill>
                <a:latin typeface="Noto Sans SC Black" panose="020B0200000000000000" pitchFamily="34" charset="-122"/>
                <a:ea typeface="Noto Sans SC Black" panose="020B0200000000000000" pitchFamily="34" charset="-122"/>
                <a:sym typeface="Noto Sans SC"/>
              </a:rPr>
              <a:t>17</a:t>
            </a:r>
            <a:r>
              <a:rPr lang="zh-CN" altLang="en-US" sz="2000">
                <a:solidFill>
                  <a:srgbClr val="7030A0"/>
                </a:solidFill>
                <a:latin typeface="Noto Sans SC Black" panose="020B0200000000000000" pitchFamily="34" charset="-122"/>
                <a:ea typeface="Noto Sans SC Black" panose="020B0200000000000000" pitchFamily="34" charset="-122"/>
                <a:sym typeface="Noto Sans SC"/>
              </a:rPr>
              <a:t>：</a:t>
            </a:r>
            <a:r>
              <a:rPr lang="zh-CN" altLang="en-US" sz="2000" b="1">
                <a:solidFill>
                  <a:srgbClr val="7030A0"/>
                </a:solidFill>
                <a:latin typeface="Noto Sans SC"/>
                <a:ea typeface="Noto Sans SC"/>
                <a:cs typeface="Noto Sans SC"/>
                <a:sym typeface="Noto Sans SC"/>
              </a:rPr>
              <a:t>供应商</a:t>
            </a:r>
            <a:r>
              <a:rPr lang="en-US" altLang="zh-CN" sz="2000" b="1">
                <a:solidFill>
                  <a:srgbClr val="7030A0"/>
                </a:solidFill>
                <a:latin typeface="Noto Sans SC"/>
                <a:ea typeface="Noto Sans SC"/>
                <a:cs typeface="Noto Sans SC"/>
                <a:sym typeface="Noto Sans SC"/>
              </a:rPr>
              <a:t>(S)-</a:t>
            </a:r>
            <a:r>
              <a:rPr lang="zh-CN" altLang="en-US" sz="2000" b="1">
                <a:solidFill>
                  <a:srgbClr val="7030A0"/>
                </a:solidFill>
                <a:latin typeface="Noto Sans SC"/>
                <a:ea typeface="Noto Sans SC"/>
                <a:cs typeface="Noto Sans SC"/>
                <a:sym typeface="Noto Sans SC"/>
              </a:rPr>
              <a:t>零件</a:t>
            </a:r>
            <a:r>
              <a:rPr lang="en-US" altLang="zh-CN" sz="2000" b="1">
                <a:solidFill>
                  <a:srgbClr val="7030A0"/>
                </a:solidFill>
                <a:latin typeface="Noto Sans SC"/>
                <a:ea typeface="Noto Sans SC"/>
                <a:cs typeface="Noto Sans SC"/>
                <a:sym typeface="Noto Sans SC"/>
              </a:rPr>
              <a:t>(P)-</a:t>
            </a:r>
            <a:r>
              <a:rPr lang="zh-CN" altLang="en-US" sz="2000" b="1">
                <a:solidFill>
                  <a:srgbClr val="7030A0"/>
                </a:solidFill>
                <a:latin typeface="Noto Sans SC"/>
                <a:ea typeface="Noto Sans SC"/>
                <a:cs typeface="Noto Sans SC"/>
                <a:sym typeface="Noto Sans SC"/>
              </a:rPr>
              <a:t>项目</a:t>
            </a:r>
            <a:r>
              <a:rPr lang="en-US" altLang="zh-CN" sz="2000" b="1">
                <a:solidFill>
                  <a:srgbClr val="7030A0"/>
                </a:solidFill>
                <a:latin typeface="Noto Sans SC"/>
                <a:ea typeface="Noto Sans SC"/>
                <a:cs typeface="Noto Sans SC"/>
                <a:sym typeface="Noto Sans SC"/>
              </a:rPr>
              <a:t>(J) </a:t>
            </a:r>
            <a:r>
              <a:rPr lang="zh-CN" altLang="en-US" sz="2000" b="1">
                <a:solidFill>
                  <a:srgbClr val="FF0000"/>
                </a:solidFill>
                <a:latin typeface="Noto Sans SC"/>
                <a:ea typeface="Noto Sans SC"/>
                <a:cs typeface="Noto Sans SC"/>
                <a:sym typeface="Noto Sans SC"/>
              </a:rPr>
              <a:t>连接陷阱</a:t>
            </a:r>
            <a:endParaRPr lang="zh-CN" altLang="en-US" sz="2000">
              <a:solidFill>
                <a:srgbClr val="FF0000"/>
              </a:solidFill>
              <a:latin typeface="Noto Sans SC Black" panose="020B0200000000000000" pitchFamily="34" charset="-122"/>
              <a:ea typeface="Noto Sans SC Black" panose="020B0200000000000000" pitchFamily="34" charset="-122"/>
              <a:sym typeface="Noto Sans SC"/>
            </a:endParaRPr>
          </a:p>
        </p:txBody>
      </p:sp>
      <p:sp>
        <p:nvSpPr>
          <p:cNvPr id="11" name="AutoShape 3">
            <a:extLst>
              <a:ext uri="{FF2B5EF4-FFF2-40B4-BE49-F238E27FC236}">
                <a16:creationId xmlns:a16="http://schemas.microsoft.com/office/drawing/2014/main" id="{ECD6BBCC-D882-21FE-8007-7426EDB71C57}"/>
              </a:ext>
            </a:extLst>
          </p:cNvPr>
          <p:cNvSpPr/>
          <p:nvPr/>
        </p:nvSpPr>
        <p:spPr>
          <a:xfrm>
            <a:off x="838199" y="5763733"/>
            <a:ext cx="5588593" cy="685252"/>
          </a:xfrm>
          <a:prstGeom prst="rect">
            <a:avLst/>
          </a:prstGeom>
          <a:noFill/>
          <a:ln w="12700" cap="flat" cmpd="sng">
            <a:noFill/>
            <a:prstDash val="solid"/>
            <a:round/>
          </a:ln>
        </p:spPr>
        <p:txBody>
          <a:bodyPr vert="horz" wrap="square" lIns="0" tIns="0" rIns="0" bIns="0" rtlCol="0" anchor="t" anchorCtr="0">
            <a:spAutoFit/>
          </a:bodyPr>
          <a:lstStyle/>
          <a:p>
            <a:pPr indent="0" algn="l">
              <a:lnSpc>
                <a:spcPct val="130000"/>
              </a:lnSpc>
              <a:spcBef>
                <a:spcPts val="1000"/>
              </a:spcBef>
            </a:pPr>
            <a:r>
              <a:rPr lang="en-US" sz="1800" b="0" u="none" strike="noStrike">
                <a:solidFill>
                  <a:srgbClr val="FF0000"/>
                </a:solidFill>
                <a:latin typeface="Noto Sans SC"/>
                <a:ea typeface="Noto Sans SC"/>
                <a:cs typeface="Noto Sans SC"/>
                <a:sym typeface="Noto Sans SC"/>
              </a:rPr>
              <a:t>结论：</a:t>
            </a:r>
            <a:r>
              <a:rPr lang="en-US" sz="1800" b="0" u="none" strike="noStrike">
                <a:solidFill>
                  <a:schemeClr val="tx1"/>
                </a:solidFill>
                <a:latin typeface="Noto Sans SC"/>
                <a:ea typeface="Noto Sans SC"/>
                <a:cs typeface="Noto Sans SC"/>
                <a:sym typeface="Noto Sans SC"/>
              </a:rPr>
              <a:t>满足4NF的关系模式，若存在非平凡的连接依赖且不是函数依赖，仍需分解以达到5NF。</a:t>
            </a:r>
          </a:p>
        </p:txBody>
      </p:sp>
      <p:graphicFrame>
        <p:nvGraphicFramePr>
          <p:cNvPr id="12" name="Group 327">
            <a:extLst>
              <a:ext uri="{FF2B5EF4-FFF2-40B4-BE49-F238E27FC236}">
                <a16:creationId xmlns:a16="http://schemas.microsoft.com/office/drawing/2014/main" id="{EF3A094E-EEAE-6C7E-9E55-CAB045F48608}"/>
              </a:ext>
            </a:extLst>
          </p:cNvPr>
          <p:cNvGraphicFramePr>
            <a:graphicFrameLocks noGrp="1"/>
          </p:cNvGraphicFramePr>
          <p:nvPr>
            <p:extLst>
              <p:ext uri="{D42A27DB-BD31-4B8C-83A1-F6EECF244321}">
                <p14:modId xmlns:p14="http://schemas.microsoft.com/office/powerpoint/2010/main" val="3552480607"/>
              </p:ext>
            </p:extLst>
          </p:nvPr>
        </p:nvGraphicFramePr>
        <p:xfrm>
          <a:off x="838199" y="2496599"/>
          <a:ext cx="1245783" cy="2900902"/>
        </p:xfrm>
        <a:graphic>
          <a:graphicData uri="http://schemas.openxmlformats.org/drawingml/2006/table">
            <a:tbl>
              <a:tblPr>
                <a:tableStyleId>{5940675A-B579-460E-94D1-54222C63F5DA}</a:tableStyleId>
              </a:tblPr>
              <a:tblGrid>
                <a:gridCol w="415650">
                  <a:extLst>
                    <a:ext uri="{9D8B030D-6E8A-4147-A177-3AD203B41FA5}">
                      <a16:colId xmlns:a16="http://schemas.microsoft.com/office/drawing/2014/main" val="20001"/>
                    </a:ext>
                  </a:extLst>
                </a:gridCol>
                <a:gridCol w="414483">
                  <a:extLst>
                    <a:ext uri="{9D8B030D-6E8A-4147-A177-3AD203B41FA5}">
                      <a16:colId xmlns:a16="http://schemas.microsoft.com/office/drawing/2014/main" val="20002"/>
                    </a:ext>
                  </a:extLst>
                </a:gridCol>
                <a:gridCol w="415650">
                  <a:extLst>
                    <a:ext uri="{9D8B030D-6E8A-4147-A177-3AD203B41FA5}">
                      <a16:colId xmlns:a16="http://schemas.microsoft.com/office/drawing/2014/main" val="20003"/>
                    </a:ext>
                  </a:extLst>
                </a:gridCol>
              </a:tblGrid>
              <a:tr h="483194">
                <a:tc gridSpan="3">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defRPr/>
                      </a:pPr>
                      <a:r>
                        <a:rPr kumimoji="0" lang="en-US" altLang="zh-CN" sz="1400" b="1"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SPJ</a:t>
                      </a: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solidFill>
                  </a:tcPr>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tc>
                <a:tc hMerge="1">
                  <a:txBody>
                    <a:body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tc>
                <a:extLst>
                  <a:ext uri="{0D108BD9-81ED-4DB2-BD59-A6C34878D82A}">
                    <a16:rowId xmlns:a16="http://schemas.microsoft.com/office/drawing/2014/main" val="1758304956"/>
                  </a:ext>
                </a:extLst>
              </a:tr>
              <a:tr h="483194">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a:t>
                      </a: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a:t>
                      </a: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1"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a:t>
                      </a:r>
                      <a:endParaRPr kumimoji="0" lang="en-US" altLang="zh-CN" sz="1400" b="1"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484932">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j2</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483194">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s1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p2</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chemeClr val="tx1"/>
                          </a:solidFill>
                          <a:effectLst/>
                          <a:latin typeface="Noto Sans SC" panose="020B0200000000000000" pitchFamily="34" charset="-122"/>
                          <a:ea typeface="Noto Sans SC" panose="020B0200000000000000" pitchFamily="34" charset="-122"/>
                        </a:rPr>
                        <a:t>j1</a:t>
                      </a:r>
                      <a:endParaRPr kumimoji="0" lang="en-US" altLang="zh-CN" sz="1400" b="0" i="0" u="none" strike="noStrike" cap="none" normalizeH="0" baseline="0">
                        <a:ln>
                          <a:noFill/>
                        </a:ln>
                        <a:solidFill>
                          <a:schemeClr val="tx1"/>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483194">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rgbClr val="FF0000"/>
                          </a:solidFill>
                          <a:effectLst/>
                          <a:latin typeface="Noto Sans SC" panose="020B0200000000000000" pitchFamily="34" charset="-122"/>
                          <a:ea typeface="Noto Sans SC" panose="020B0200000000000000" pitchFamily="34" charset="-122"/>
                        </a:rPr>
                        <a:t>s2</a:t>
                      </a:r>
                      <a:endParaRPr kumimoji="0" lang="en-US" altLang="zh-CN" sz="1400" b="0" i="0" u="none" strike="noStrike" cap="none" normalizeH="0" baseline="0">
                        <a:ln>
                          <a:noFill/>
                        </a:ln>
                        <a:solidFill>
                          <a:srgbClr val="FF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rgbClr val="FF0000"/>
                          </a:solidFill>
                          <a:effectLst/>
                          <a:latin typeface="Noto Sans SC" panose="020B0200000000000000" pitchFamily="34" charset="-122"/>
                          <a:ea typeface="Noto Sans SC" panose="020B0200000000000000" pitchFamily="34" charset="-122"/>
                        </a:rPr>
                        <a:t>p1</a:t>
                      </a:r>
                      <a:endParaRPr kumimoji="0" lang="en-US" altLang="zh-CN" sz="1400" b="0" i="0" u="none" strike="noStrike" cap="none" normalizeH="0" baseline="0">
                        <a:ln>
                          <a:noFill/>
                        </a:ln>
                        <a:solidFill>
                          <a:srgbClr val="FF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rgbClr val="FF0000"/>
                          </a:solidFill>
                          <a:effectLst/>
                          <a:latin typeface="Noto Sans SC" panose="020B0200000000000000" pitchFamily="34" charset="-122"/>
                          <a:ea typeface="Noto Sans SC" panose="020B0200000000000000" pitchFamily="34" charset="-122"/>
                        </a:rPr>
                        <a:t>j1</a:t>
                      </a:r>
                      <a:endParaRPr kumimoji="0" lang="en-US" altLang="zh-CN" sz="1400" b="0" i="0" u="none" strike="noStrike" cap="none" normalizeH="0" baseline="0">
                        <a:ln>
                          <a:noFill/>
                        </a:ln>
                        <a:solidFill>
                          <a:srgbClr val="FF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109210"/>
                  </a:ext>
                </a:extLst>
              </a:tr>
              <a:tr h="483194">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rgbClr val="FF0000"/>
                          </a:solidFill>
                          <a:effectLst/>
                          <a:latin typeface="Noto Sans SC" panose="020B0200000000000000" pitchFamily="34" charset="-122"/>
                          <a:ea typeface="Noto Sans SC" panose="020B0200000000000000" pitchFamily="34" charset="-122"/>
                        </a:rPr>
                        <a:t>s1</a:t>
                      </a:r>
                      <a:endParaRPr kumimoji="0" lang="en-US" altLang="zh-CN" sz="1400" b="0" i="0" u="none" strike="noStrike" cap="none" normalizeH="0" baseline="0">
                        <a:ln>
                          <a:noFill/>
                        </a:ln>
                        <a:solidFill>
                          <a:srgbClr val="FF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rgbClr val="FF0000"/>
                          </a:solidFill>
                          <a:effectLst/>
                          <a:latin typeface="Noto Sans SC" panose="020B0200000000000000" pitchFamily="34" charset="-122"/>
                          <a:ea typeface="Noto Sans SC" panose="020B0200000000000000" pitchFamily="34" charset="-122"/>
                        </a:rPr>
                        <a:t>p1</a:t>
                      </a:r>
                      <a:endParaRPr kumimoji="0" lang="en-US" altLang="zh-CN" sz="1400" b="0" i="0" u="none" strike="noStrike" cap="none" normalizeH="0" baseline="0">
                        <a:ln>
                          <a:noFill/>
                        </a:ln>
                        <a:solidFill>
                          <a:srgbClr val="FF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lvl1pPr algn="l">
                        <a:spcBef>
                          <a:spcPct val="20000"/>
                        </a:spcBef>
                        <a:buClr>
                          <a:schemeClr val="hlink"/>
                        </a:buClr>
                        <a:buSzPct val="70000"/>
                        <a:buFont typeface="Wingdings" panose="05000000000000000000" pitchFamily="2" charset="2"/>
                        <a:defRPr sz="2800">
                          <a:solidFill>
                            <a:schemeClr val="bg1"/>
                          </a:solidFill>
                          <a:latin typeface="Arial" panose="020B0604020202020204" pitchFamily="34" charset="0"/>
                          <a:ea typeface="宋体" panose="02010600030101010101" pitchFamily="2" charset="-122"/>
                        </a:defRPr>
                      </a:lvl1pPr>
                      <a:lvl2pPr algn="l">
                        <a:spcBef>
                          <a:spcPct val="20000"/>
                        </a:spcBef>
                        <a:buClr>
                          <a:schemeClr val="accent2"/>
                        </a:buClr>
                        <a:buSzPct val="85000"/>
                        <a:buFont typeface="Wingdings" panose="05000000000000000000" pitchFamily="2" charset="2"/>
                        <a:defRPr sz="2400">
                          <a:solidFill>
                            <a:schemeClr val="bg1"/>
                          </a:solidFill>
                          <a:latin typeface="Arial" panose="020B0604020202020204" pitchFamily="34" charset="0"/>
                          <a:ea typeface="宋体" panose="02010600030101010101" pitchFamily="2" charset="-122"/>
                        </a:defRPr>
                      </a:lvl2pPr>
                      <a:lvl3pPr algn="l">
                        <a:spcBef>
                          <a:spcPct val="20000"/>
                        </a:spcBef>
                        <a:buClr>
                          <a:schemeClr val="hlink"/>
                        </a:buClr>
                        <a:buSzPct val="80000"/>
                        <a:buFont typeface="Wingdings" panose="05000000000000000000" pitchFamily="2" charset="2"/>
                        <a:defRPr sz="2000">
                          <a:solidFill>
                            <a:schemeClr val="bg1"/>
                          </a:solidFill>
                          <a:latin typeface="Arial" panose="020B0604020202020204" pitchFamily="34" charset="0"/>
                          <a:ea typeface="宋体" panose="02010600030101010101" pitchFamily="2" charset="-122"/>
                        </a:defRPr>
                      </a:lvl3pPr>
                      <a:lvl4pPr algn="l">
                        <a:spcBef>
                          <a:spcPct val="20000"/>
                        </a:spcBef>
                        <a:buClr>
                          <a:schemeClr val="accent2"/>
                        </a:buClr>
                        <a:buSzPct val="90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4pPr>
                      <a:lvl5pPr algn="l">
                        <a:spcBef>
                          <a:spcPct val="20000"/>
                        </a:spcBef>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5pPr>
                      <a:lvl6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6pPr>
                      <a:lvl7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7pPr>
                      <a:lvl8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8pPr>
                      <a:lvl9pPr fontAlgn="base">
                        <a:spcBef>
                          <a:spcPct val="20000"/>
                        </a:spcBef>
                        <a:spcAft>
                          <a:spcPct val="0"/>
                        </a:spcAft>
                        <a:buClr>
                          <a:schemeClr val="hlink"/>
                        </a:buClr>
                        <a:buSzPct val="85000"/>
                        <a:buFont typeface="Wingdings" panose="05000000000000000000" pitchFamily="2" charset="2"/>
                        <a:defRPr>
                          <a:solidFill>
                            <a:schemeClr val="bg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70000"/>
                        <a:buFont typeface="Wingdings" panose="05000000000000000000" pitchFamily="2" charset="2"/>
                        <a:buNone/>
                        <a:tabLst/>
                      </a:pPr>
                      <a:r>
                        <a:rPr kumimoji="0" lang="en-US" altLang="zh-CN" sz="1400" b="0" u="none" strike="noStrike" cap="none" normalizeH="0" baseline="0">
                          <a:ln>
                            <a:noFill/>
                          </a:ln>
                          <a:solidFill>
                            <a:srgbClr val="FF0000"/>
                          </a:solidFill>
                          <a:effectLst/>
                          <a:latin typeface="Noto Sans SC" panose="020B0200000000000000" pitchFamily="34" charset="-122"/>
                          <a:ea typeface="Noto Sans SC" panose="020B0200000000000000" pitchFamily="34" charset="-122"/>
                        </a:rPr>
                        <a:t>j1</a:t>
                      </a:r>
                      <a:endParaRPr kumimoji="0" lang="en-US" altLang="zh-CN" sz="1400" b="0" i="0" u="none" strike="noStrike" cap="none" normalizeH="0" baseline="0">
                        <a:ln>
                          <a:noFill/>
                        </a:ln>
                        <a:solidFill>
                          <a:srgbClr val="FF0000"/>
                        </a:solidFill>
                        <a:effectLst/>
                        <a:latin typeface="Noto Sans SC" panose="020B0200000000000000" pitchFamily="34" charset="-122"/>
                        <a:ea typeface="Noto Sans SC" panose="020B0200000000000000" pitchFamily="34" charset="-122"/>
                      </a:endParaRPr>
                    </a:p>
                  </a:txBody>
                  <a:tcPr marL="0" marR="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99793691"/>
                  </a:ext>
                </a:extLst>
              </a:tr>
            </a:tbl>
          </a:graphicData>
        </a:graphic>
      </p:graphicFrame>
      <p:sp>
        <p:nvSpPr>
          <p:cNvPr id="13" name="AutoShape 3">
            <a:extLst>
              <a:ext uri="{FF2B5EF4-FFF2-40B4-BE49-F238E27FC236}">
                <a16:creationId xmlns:a16="http://schemas.microsoft.com/office/drawing/2014/main" id="{D4620719-DAF5-9F2D-26BC-C289C0C38D81}"/>
              </a:ext>
            </a:extLst>
          </p:cNvPr>
          <p:cNvSpPr/>
          <p:nvPr/>
        </p:nvSpPr>
        <p:spPr>
          <a:xfrm>
            <a:off x="2563630" y="2425700"/>
            <a:ext cx="3863162" cy="3003643"/>
          </a:xfrm>
          <a:prstGeom prst="rect">
            <a:avLst/>
          </a:prstGeom>
          <a:noFill/>
          <a:ln w="12700" cap="flat" cmpd="sng">
            <a:noFill/>
            <a:prstDash val="solid"/>
            <a:round/>
          </a:ln>
        </p:spPr>
        <p:txBody>
          <a:bodyPr vert="horz" wrap="square" lIns="0" tIns="0" rIns="0" bIns="0" rtlCol="0" anchor="t" anchorCtr="0">
            <a:spAutoFit/>
          </a:bodyPr>
          <a:lstStyle/>
          <a:p>
            <a:pPr indent="0" algn="l">
              <a:lnSpc>
                <a:spcPct val="130000"/>
              </a:lnSpc>
            </a:pPr>
            <a:r>
              <a:rPr lang="en-US" sz="1600" b="1" i="0" u="none" strike="noStrike">
                <a:solidFill>
                  <a:srgbClr val="1F2329"/>
                </a:solidFill>
                <a:latin typeface="Noto Sans SC"/>
                <a:ea typeface="Noto Sans SC"/>
                <a:cs typeface="Noto Sans SC"/>
                <a:sym typeface="Noto Sans SC"/>
              </a:rPr>
              <a:t>插入异常：</a:t>
            </a:r>
            <a:r>
              <a:rPr lang="en-US" sz="1600" b="0" i="0" u="none" strike="noStrike">
                <a:solidFill>
                  <a:srgbClr val="555555"/>
                </a:solidFill>
                <a:latin typeface="Noto Sans SC"/>
                <a:ea typeface="Noto Sans SC"/>
                <a:cs typeface="Noto Sans SC"/>
                <a:sym typeface="Noto Sans SC"/>
              </a:rPr>
              <a:t>插入元组 (s2, p1, j1) 时，为了满足连接依赖 *{SP, PJ, JS}，必须强制插入 (s1, p1, j1) 以保持语义完整。反之，插入 (s1, p1, j1) 时，却无需插入 (s2, p1, j1)。</a:t>
            </a:r>
          </a:p>
          <a:p>
            <a:pPr>
              <a:lnSpc>
                <a:spcPct val="130000"/>
              </a:lnSpc>
              <a:spcBef>
                <a:spcPts val="1200"/>
              </a:spcBef>
            </a:pPr>
            <a:r>
              <a:rPr lang="en-US" altLang="zh-CN" sz="1600" b="1">
                <a:solidFill>
                  <a:srgbClr val="1F2329"/>
                </a:solidFill>
                <a:latin typeface="Noto Sans SC"/>
                <a:ea typeface="Noto Sans SC"/>
                <a:cs typeface="Noto Sans SC"/>
                <a:sym typeface="Noto Sans SC"/>
              </a:rPr>
              <a:t>删除异常：</a:t>
            </a:r>
            <a:r>
              <a:rPr lang="en-US" altLang="zh-CN" sz="1600">
                <a:solidFill>
                  <a:srgbClr val="555555"/>
                </a:solidFill>
                <a:latin typeface="Noto Sans SC"/>
                <a:ea typeface="Noto Sans SC"/>
                <a:cs typeface="Noto Sans SC"/>
                <a:sym typeface="Noto Sans SC"/>
              </a:rPr>
              <a:t>若直接删除元组 (s2, p1, j1)，通常不会丢失重要信息。但如果删除唯一的 (s1, p1, j1)，会导致 “s1 供应 p1” 或 “p1 用于 j1” 等关键语义信息丢失，破坏连接依赖。</a:t>
            </a:r>
            <a:endParaRPr lang="en-US" sz="1600" b="0" i="1" u="none" strike="noStrike">
              <a:solidFill>
                <a:srgbClr val="7030A0"/>
              </a:solidFill>
              <a:latin typeface="Noto Sans SC"/>
              <a:ea typeface="Noto Sans SC"/>
              <a:cs typeface="Noto Sans SC"/>
              <a:sym typeface="Noto Sans SC"/>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838200" y="368300"/>
            <a:ext cx="10515600" cy="558800"/>
          </a:xfrm>
          <a:prstGeom prst="rect">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en-US" sz="2800">
                <a:solidFill>
                  <a:srgbClr val="FFFFFF"/>
                </a:solidFill>
                <a:latin typeface="Noto Sans SC Black" panose="020B0200000000000000" pitchFamily="34" charset="-122"/>
                <a:ea typeface="Noto Sans SC Black" panose="020B0200000000000000" pitchFamily="34" charset="-122"/>
                <a:sym typeface="Noto Sans SC"/>
              </a:rPr>
              <a:t>7.6 小结</a:t>
            </a:r>
            <a:endParaRPr lang="en-US" sz="2800">
              <a:solidFill>
                <a:srgbClr val="FFFFFF"/>
              </a:solidFill>
              <a:latin typeface="Noto Sans SC Black" panose="020B0200000000000000" pitchFamily="34" charset="-122"/>
              <a:ea typeface="Noto Sans SC Black" panose="020B0200000000000000" pitchFamily="34" charset="-122"/>
            </a:endParaRPr>
          </a:p>
        </p:txBody>
      </p:sp>
      <p:sp>
        <p:nvSpPr>
          <p:cNvPr id="3" name="AutoShape 3"/>
          <p:cNvSpPr/>
          <p:nvPr/>
        </p:nvSpPr>
        <p:spPr>
          <a:xfrm>
            <a:off x="838200" y="1422400"/>
            <a:ext cx="6604591" cy="4978400"/>
          </a:xfrm>
          <a:prstGeom prst="rect">
            <a:avLst/>
          </a:prstGeom>
          <a:noFill/>
          <a:ln w="12700" cap="flat" cmpd="sng">
            <a:noFill/>
            <a:prstDash val="solid"/>
            <a:round/>
          </a:ln>
        </p:spPr>
        <p:txBody>
          <a:bodyPr vert="horz" wrap="square" lIns="0" tIns="0" rIns="0" bIns="0" rtlCol="0" anchor="t" anchorCtr="0"/>
          <a:lstStyle/>
          <a:p>
            <a:pPr indent="0" algn="l">
              <a:lnSpc>
                <a:spcPct val="130000"/>
              </a:lnSpc>
              <a:defRPr/>
            </a:pPr>
            <a:r>
              <a:rPr lang="en-US" sz="2000" b="1">
                <a:solidFill>
                  <a:srgbClr val="7030A0"/>
                </a:solidFill>
                <a:latin typeface="Noto Sans SC"/>
                <a:ea typeface="Noto Sans SC"/>
                <a:sym typeface="Noto Sans SC"/>
              </a:rPr>
              <a:t>函数依赖 (FD)</a:t>
            </a:r>
          </a:p>
          <a:p>
            <a:pPr indent="0" algn="l">
              <a:lnSpc>
                <a:spcPct val="130000"/>
              </a:lnSpc>
              <a:defRPr/>
            </a:pPr>
            <a:r>
              <a:rPr lang="en-US" sz="1600">
                <a:solidFill>
                  <a:srgbClr val="555555"/>
                </a:solidFill>
                <a:latin typeface="Noto Sans SC"/>
                <a:ea typeface="Noto Sans SC"/>
                <a:sym typeface="Noto Sans SC"/>
              </a:rPr>
              <a:t>关系规范化的理论基石</a:t>
            </a:r>
            <a:r>
              <a:rPr lang="en-US" sz="1600" b="0" i="0" u="none" strike="noStrike">
                <a:solidFill>
                  <a:srgbClr val="555555"/>
                </a:solidFill>
                <a:latin typeface="Noto Sans SC"/>
                <a:ea typeface="Noto Sans SC"/>
                <a:cs typeface="Noto Sans SC"/>
                <a:sym typeface="Noto Sans SC"/>
              </a:rPr>
              <a:t>，用于描述属性间“一对一”或“一对多”的逻辑联系。</a:t>
            </a:r>
            <a:endParaRPr lang="en-US" sz="1600"/>
          </a:p>
          <a:p>
            <a:pPr indent="0" algn="l">
              <a:lnSpc>
                <a:spcPct val="130000"/>
              </a:lnSpc>
              <a:spcBef>
                <a:spcPts val="600"/>
              </a:spcBef>
            </a:pPr>
            <a:r>
              <a:rPr lang="en-US" sz="2000" b="1">
                <a:solidFill>
                  <a:srgbClr val="7030A0"/>
                </a:solidFill>
                <a:latin typeface="Noto Sans SC"/>
                <a:ea typeface="Noto Sans SC"/>
                <a:sym typeface="Noto Sans SC"/>
              </a:rPr>
              <a:t>范式体系 (Normal Forms)</a:t>
            </a:r>
          </a:p>
          <a:p>
            <a:pPr>
              <a:lnSpc>
                <a:spcPct val="130000"/>
              </a:lnSpc>
              <a:defRPr/>
            </a:pPr>
            <a:r>
              <a:rPr lang="en-US" sz="1600">
                <a:solidFill>
                  <a:srgbClr val="555555"/>
                </a:solidFill>
                <a:latin typeface="Noto Sans SC"/>
                <a:ea typeface="Noto Sans SC"/>
                <a:sym typeface="Noto Sans SC"/>
              </a:rPr>
              <a:t>1NF：确保属性值原子化，不可再分。</a:t>
            </a:r>
          </a:p>
          <a:p>
            <a:pPr>
              <a:lnSpc>
                <a:spcPct val="130000"/>
              </a:lnSpc>
              <a:defRPr/>
            </a:pPr>
            <a:r>
              <a:rPr lang="en-US" sz="1600">
                <a:solidFill>
                  <a:srgbClr val="555555"/>
                </a:solidFill>
                <a:latin typeface="Noto Sans SC"/>
                <a:ea typeface="Noto Sans SC"/>
                <a:sym typeface="Noto Sans SC"/>
              </a:rPr>
              <a:t>2NF：消除非主属性对候选键的部分函数依赖。</a:t>
            </a:r>
          </a:p>
          <a:p>
            <a:pPr>
              <a:lnSpc>
                <a:spcPct val="130000"/>
              </a:lnSpc>
              <a:defRPr/>
            </a:pPr>
            <a:r>
              <a:rPr lang="en-US" sz="1600">
                <a:solidFill>
                  <a:srgbClr val="555555"/>
                </a:solidFill>
                <a:latin typeface="Noto Sans SC"/>
                <a:ea typeface="Noto Sans SC"/>
                <a:sym typeface="Noto Sans SC"/>
              </a:rPr>
              <a:t>3NF：消除非主属性对候选键的传递函数依赖。</a:t>
            </a:r>
          </a:p>
          <a:p>
            <a:pPr>
              <a:lnSpc>
                <a:spcPct val="130000"/>
              </a:lnSpc>
              <a:defRPr/>
            </a:pPr>
            <a:r>
              <a:rPr lang="en-US" sz="1600">
                <a:solidFill>
                  <a:srgbClr val="555555"/>
                </a:solidFill>
                <a:latin typeface="Noto Sans SC"/>
                <a:ea typeface="Noto Sans SC"/>
                <a:sym typeface="Noto Sans SC"/>
              </a:rPr>
              <a:t>BCNF：消除所有属性（含主属性）对候选键的传递依赖，比3NF更严格。</a:t>
            </a:r>
          </a:p>
          <a:p>
            <a:pPr>
              <a:lnSpc>
                <a:spcPct val="130000"/>
              </a:lnSpc>
              <a:spcBef>
                <a:spcPts val="600"/>
              </a:spcBef>
            </a:pPr>
            <a:r>
              <a:rPr lang="en-US" sz="2000" b="1">
                <a:solidFill>
                  <a:srgbClr val="7030A0"/>
                </a:solidFill>
                <a:latin typeface="Noto Sans SC"/>
                <a:ea typeface="Noto Sans SC"/>
                <a:sym typeface="Noto Sans SC"/>
              </a:rPr>
              <a:t>高级范式</a:t>
            </a:r>
          </a:p>
          <a:p>
            <a:pPr>
              <a:lnSpc>
                <a:spcPct val="130000"/>
              </a:lnSpc>
              <a:defRPr/>
            </a:pPr>
            <a:r>
              <a:rPr lang="en-US" sz="1600">
                <a:solidFill>
                  <a:srgbClr val="555555"/>
                </a:solidFill>
                <a:latin typeface="Noto Sans SC"/>
                <a:ea typeface="Noto Sans SC"/>
                <a:sym typeface="Noto Sans SC"/>
              </a:rPr>
              <a:t>4NF：处理多对多的多值依赖，消除由MVD引起的数据冗余。</a:t>
            </a:r>
            <a:br>
              <a:rPr lang="en-US" sz="1600">
                <a:solidFill>
                  <a:srgbClr val="555555"/>
                </a:solidFill>
                <a:latin typeface="Noto Sans SC"/>
                <a:ea typeface="Noto Sans SC"/>
                <a:sym typeface="Noto Sans SC"/>
              </a:rPr>
            </a:br>
            <a:r>
              <a:rPr lang="en-US" sz="1600">
                <a:solidFill>
                  <a:srgbClr val="555555"/>
                </a:solidFill>
                <a:latin typeface="Noto Sans SC"/>
                <a:ea typeface="Noto Sans SC"/>
                <a:sym typeface="Noto Sans SC"/>
              </a:rPr>
              <a:t>5NF：解决连接依赖(JD)问题，是规范化的最高级别。</a:t>
            </a:r>
          </a:p>
          <a:p>
            <a:pPr>
              <a:lnSpc>
                <a:spcPct val="130000"/>
              </a:lnSpc>
              <a:spcBef>
                <a:spcPts val="600"/>
              </a:spcBef>
            </a:pPr>
            <a:r>
              <a:rPr lang="en-US" sz="2000" b="1">
                <a:solidFill>
                  <a:srgbClr val="7030A0"/>
                </a:solidFill>
                <a:latin typeface="Noto Sans SC"/>
                <a:ea typeface="Noto Sans SC"/>
                <a:sym typeface="Noto Sans SC"/>
              </a:rPr>
              <a:t>设计权衡</a:t>
            </a:r>
          </a:p>
          <a:p>
            <a:pPr indent="0">
              <a:lnSpc>
                <a:spcPct val="130000"/>
              </a:lnSpc>
              <a:defRPr/>
            </a:pPr>
            <a:r>
              <a:rPr lang="en-US" sz="1600">
                <a:solidFill>
                  <a:srgbClr val="555555"/>
                </a:solidFill>
                <a:latin typeface="Noto Sans SC"/>
                <a:ea typeface="Noto Sans SC"/>
                <a:sym typeface="Noto Sans SC"/>
              </a:rPr>
              <a:t>规范化并非越高越好。实际应用中</a:t>
            </a:r>
            <a:r>
              <a:rPr lang="zh-CN" altLang="en-US" sz="1600">
                <a:solidFill>
                  <a:srgbClr val="555555"/>
                </a:solidFill>
                <a:latin typeface="Noto Sans SC"/>
                <a:ea typeface="Noto Sans SC"/>
              </a:rPr>
              <a:t>，</a:t>
            </a:r>
            <a:r>
              <a:rPr lang="en-US" sz="1600">
                <a:solidFill>
                  <a:srgbClr val="555555"/>
                </a:solidFill>
                <a:latin typeface="Noto Sans SC"/>
                <a:ea typeface="Noto Sans SC"/>
                <a:sym typeface="Noto Sans SC"/>
              </a:rPr>
              <a:t>通常满足3NF或BCNF即可，需在“数据一致性”与“查询效率”之间寻求最佳平衡。</a:t>
            </a:r>
          </a:p>
        </p:txBody>
      </p:sp>
      <p:sp>
        <p:nvSpPr>
          <p:cNvPr id="4" name="AutoShape 4"/>
          <p:cNvSpPr/>
          <p:nvPr/>
        </p:nvSpPr>
        <p:spPr>
          <a:xfrm>
            <a:off x="8094921" y="1422400"/>
            <a:ext cx="685800" cy="4356100"/>
          </a:xfrm>
          <a:prstGeom prst="roundRect">
            <a:avLst>
              <a:gd name="adj" fmla="val 0"/>
            </a:avLst>
          </a:prstGeom>
          <a:solidFill>
            <a:srgbClr val="808080">
              <a:alpha val="100000"/>
            </a:srgbClr>
          </a:solidFill>
          <a:ln w="12700" cap="flat" cmpd="sng">
            <a:solidFill>
              <a:srgbClr val="FFFFFF">
                <a:alpha val="100000"/>
              </a:srgbClr>
            </a:solidFill>
            <a:prstDash val="solid"/>
            <a:miter lim="8000000"/>
          </a:ln>
        </p:spPr>
        <p:txBody>
          <a:bodyPr vert="horz" wrap="square" lIns="0" tIns="0" rIns="0" bIns="0" rtlCol="0" anchor="ctr" anchorCtr="0"/>
          <a:lstStyle/>
          <a:p>
            <a:pPr algn="ctr">
              <a:lnSpc>
                <a:spcPct val="125000"/>
              </a:lnSpc>
            </a:pPr>
            <a:r>
              <a:rPr lang="en-US" sz="1600" b="1">
                <a:solidFill>
                  <a:srgbClr val="FFFFFF"/>
                </a:solidFill>
                <a:latin typeface="Noto Sans SC"/>
                <a:ea typeface="Noto Sans SC"/>
                <a:sym typeface="Noto Sans SC"/>
              </a:rPr>
              <a:t>核心</a:t>
            </a:r>
            <a:br>
              <a:rPr lang="en-US" sz="1600" b="1">
                <a:solidFill>
                  <a:srgbClr val="FFFFFF"/>
                </a:solidFill>
                <a:latin typeface="Noto Sans SC"/>
                <a:ea typeface="Noto Sans SC"/>
                <a:sym typeface="Noto Sans SC"/>
              </a:rPr>
            </a:br>
            <a:r>
              <a:rPr lang="en-US" sz="1600" b="1">
                <a:solidFill>
                  <a:srgbClr val="FFFFFF"/>
                </a:solidFill>
                <a:latin typeface="Noto Sans SC"/>
                <a:ea typeface="Noto Sans SC"/>
                <a:sym typeface="Noto Sans SC"/>
              </a:rPr>
              <a:t>要点</a:t>
            </a:r>
            <a:endParaRPr lang="en-US" sz="1600" b="1">
              <a:solidFill>
                <a:srgbClr val="FFFFFF"/>
              </a:solidFill>
              <a:latin typeface="Noto Sans SC"/>
              <a:ea typeface="Noto Sans SC"/>
            </a:endParaRPr>
          </a:p>
        </p:txBody>
      </p:sp>
      <p:sp>
        <p:nvSpPr>
          <p:cNvPr id="5" name="AutoShape 5"/>
          <p:cNvSpPr/>
          <p:nvPr/>
        </p:nvSpPr>
        <p:spPr>
          <a:xfrm>
            <a:off x="8780721" y="1435100"/>
            <a:ext cx="2649279" cy="647700"/>
          </a:xfrm>
          <a:prstGeom prst="roundRect">
            <a:avLst>
              <a:gd name="adj" fmla="val 0"/>
            </a:avLst>
          </a:prstGeom>
          <a:solidFill>
            <a:srgbClr val="1E3C72">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 函数依赖 (FD)</a:t>
            </a:r>
            <a:endParaRPr lang="en-US" sz="1200"/>
          </a:p>
        </p:txBody>
      </p:sp>
      <p:sp>
        <p:nvSpPr>
          <p:cNvPr id="6" name="AutoShape 6"/>
          <p:cNvSpPr/>
          <p:nvPr/>
        </p:nvSpPr>
        <p:spPr>
          <a:xfrm>
            <a:off x="8780721" y="2362200"/>
            <a:ext cx="2649279" cy="647700"/>
          </a:xfrm>
          <a:prstGeom prst="roundRect">
            <a:avLst>
              <a:gd name="adj" fmla="val 0"/>
            </a:avLst>
          </a:prstGeom>
          <a:solidFill>
            <a:srgbClr val="7030A0">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 基础范式 (1NF-3NF)</a:t>
            </a:r>
            <a:endParaRPr lang="en-US" sz="1200"/>
          </a:p>
        </p:txBody>
      </p:sp>
      <p:sp>
        <p:nvSpPr>
          <p:cNvPr id="7" name="AutoShape 7"/>
          <p:cNvSpPr/>
          <p:nvPr/>
        </p:nvSpPr>
        <p:spPr>
          <a:xfrm>
            <a:off x="8780721" y="3302000"/>
            <a:ext cx="2649279" cy="647700"/>
          </a:xfrm>
          <a:prstGeom prst="roundRect">
            <a:avLst>
              <a:gd name="adj" fmla="val 0"/>
            </a:avLst>
          </a:prstGeom>
          <a:solidFill>
            <a:srgbClr val="C00000">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 高级范式 (BCNF-5NF)</a:t>
            </a:r>
            <a:endParaRPr lang="en-US" sz="1200"/>
          </a:p>
        </p:txBody>
      </p:sp>
      <p:sp>
        <p:nvSpPr>
          <p:cNvPr id="8" name="AutoShape 8"/>
          <p:cNvSpPr/>
          <p:nvPr/>
        </p:nvSpPr>
        <p:spPr>
          <a:xfrm>
            <a:off x="8780721" y="4241800"/>
            <a:ext cx="2649279" cy="647700"/>
          </a:xfrm>
          <a:prstGeom prst="roundRect">
            <a:avLst>
              <a:gd name="adj" fmla="val 0"/>
            </a:avLst>
          </a:prstGeom>
          <a:solidFill>
            <a:srgbClr val="16A34A">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 设计权衡原则</a:t>
            </a:r>
            <a:endParaRPr lang="en-US" sz="1200"/>
          </a:p>
        </p:txBody>
      </p:sp>
      <p:sp>
        <p:nvSpPr>
          <p:cNvPr id="9" name="AutoShape 9"/>
          <p:cNvSpPr/>
          <p:nvPr/>
        </p:nvSpPr>
        <p:spPr>
          <a:xfrm>
            <a:off x="8780721" y="5130800"/>
            <a:ext cx="2649279" cy="647700"/>
          </a:xfrm>
          <a:prstGeom prst="roundRect">
            <a:avLst>
              <a:gd name="adj" fmla="val 0"/>
            </a:avLst>
          </a:prstGeom>
          <a:solidFill>
            <a:srgbClr val="000000">
              <a:alpha val="100000"/>
            </a:srgbClr>
          </a:solidFill>
          <a:ln w="12700" cap="flat" cmpd="sng">
            <a:solidFill>
              <a:srgbClr val="FFFFFF">
                <a:alpha val="100000"/>
              </a:srgbClr>
            </a:solid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FFFF"/>
                </a:solidFill>
                <a:latin typeface="Noto Sans SC"/>
                <a:ea typeface="Noto Sans SC"/>
                <a:cs typeface="Noto Sans SC"/>
                <a:sym typeface="Noto Sans SC"/>
              </a:rPr>
              <a:t>🎯 目标: 3NF/BCNF</a:t>
            </a:r>
            <a:endParaRPr lang="en-US" sz="120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D0B504-ED28-8DE9-BA1B-A686A29B520E}"/>
            </a:ext>
          </a:extLst>
        </p:cNvPr>
        <p:cNvGrpSpPr/>
        <p:nvPr/>
      </p:nvGrpSpPr>
      <p:grpSpPr>
        <a:xfrm>
          <a:off x="0" y="0"/>
          <a:ext cx="0" cy="0"/>
          <a:chOff x="0" y="0"/>
          <a:chExt cx="0" cy="0"/>
        </a:xfrm>
      </p:grpSpPr>
      <p:sp>
        <p:nvSpPr>
          <p:cNvPr id="2" name="AutoShape 2">
            <a:extLst>
              <a:ext uri="{FF2B5EF4-FFF2-40B4-BE49-F238E27FC236}">
                <a16:creationId xmlns:a16="http://schemas.microsoft.com/office/drawing/2014/main" id="{09BF6CBA-57B7-0526-268A-3290D48DEC6E}"/>
              </a:ext>
            </a:extLst>
          </p:cNvPr>
          <p:cNvSpPr/>
          <p:nvPr/>
        </p:nvSpPr>
        <p:spPr>
          <a:xfrm>
            <a:off x="838200" y="368300"/>
            <a:ext cx="10515600" cy="558800"/>
          </a:xfrm>
          <a:prstGeom prst="rect">
            <a:avLst/>
          </a:prstGeom>
          <a:solidFill>
            <a:srgbClr val="FF0000"/>
          </a:solidFill>
          <a:ln w="12700" cap="flat" cmpd="sng">
            <a:noFill/>
            <a:prstDash val="solid"/>
            <a:round/>
          </a:ln>
        </p:spPr>
        <p:txBody>
          <a:bodyPr vert="horz" wrap="square" lIns="0" tIns="72000" rIns="0" bIns="72000" rtlCol="0" anchor="ctr" anchorCtr="0">
            <a:spAutoFit/>
          </a:bodyPr>
          <a:lstStyle/>
          <a:p>
            <a:pPr algn="ctr">
              <a:lnSpc>
                <a:spcPct val="125000"/>
              </a:lnSpc>
            </a:pPr>
            <a:r>
              <a:rPr lang="zh-CN" altLang="en-US" sz="2800">
                <a:solidFill>
                  <a:srgbClr val="FFFFFF"/>
                </a:solidFill>
                <a:latin typeface="Noto Sans SC Black" panose="020B0200000000000000" pitchFamily="34" charset="-122"/>
                <a:ea typeface="Noto Sans SC Black" panose="020B0200000000000000" pitchFamily="34" charset="-122"/>
                <a:sym typeface="Noto Sans SC"/>
              </a:rPr>
              <a:t>课外作业</a:t>
            </a:r>
            <a:endParaRPr lang="en-US" sz="2800">
              <a:solidFill>
                <a:srgbClr val="FFFFFF"/>
              </a:solidFill>
              <a:latin typeface="Noto Sans SC Black" panose="020B0200000000000000" pitchFamily="34" charset="-122"/>
              <a:ea typeface="Noto Sans SC Black" panose="020B0200000000000000" pitchFamily="34" charset="-122"/>
            </a:endParaRPr>
          </a:p>
        </p:txBody>
      </p:sp>
      <p:sp>
        <p:nvSpPr>
          <p:cNvPr id="3" name="AutoShape 3">
            <a:extLst>
              <a:ext uri="{FF2B5EF4-FFF2-40B4-BE49-F238E27FC236}">
                <a16:creationId xmlns:a16="http://schemas.microsoft.com/office/drawing/2014/main" id="{C1A75F3D-A4EF-0985-4437-CA3D15F6723D}"/>
              </a:ext>
            </a:extLst>
          </p:cNvPr>
          <p:cNvSpPr/>
          <p:nvPr/>
        </p:nvSpPr>
        <p:spPr>
          <a:xfrm>
            <a:off x="3367862" y="1918585"/>
            <a:ext cx="5456275" cy="361317"/>
          </a:xfrm>
          <a:prstGeom prst="rect">
            <a:avLst/>
          </a:prstGeom>
          <a:noFill/>
          <a:ln w="12700" cap="flat" cmpd="sng">
            <a:noFill/>
            <a:prstDash val="solid"/>
            <a:round/>
          </a:ln>
        </p:spPr>
        <p:txBody>
          <a:bodyPr vert="horz" wrap="square" lIns="0" tIns="0" rIns="0" bIns="0" rtlCol="0" anchor="t" anchorCtr="0">
            <a:spAutoFit/>
          </a:bodyPr>
          <a:lstStyle/>
          <a:p>
            <a:pPr indent="0" algn="l">
              <a:lnSpc>
                <a:spcPct val="130000"/>
              </a:lnSpc>
              <a:defRPr/>
            </a:pPr>
            <a:r>
              <a:rPr lang="en-US" altLang="zh-CN" sz="2000" b="1">
                <a:solidFill>
                  <a:srgbClr val="7030A0"/>
                </a:solidFill>
                <a:latin typeface="Noto Sans SC"/>
                <a:ea typeface="Noto Sans SC"/>
                <a:sym typeface="Noto Sans SC"/>
              </a:rPr>
              <a:t>《</a:t>
            </a:r>
            <a:r>
              <a:rPr lang="en-US" sz="2000" b="1">
                <a:solidFill>
                  <a:srgbClr val="7030A0"/>
                </a:solidFill>
                <a:latin typeface="Noto Sans SC"/>
                <a:ea typeface="Noto Sans SC"/>
                <a:sym typeface="Noto Sans SC"/>
              </a:rPr>
              <a:t>DB</a:t>
            </a:r>
            <a:r>
              <a:rPr lang="zh-CN" altLang="en-US" sz="2000" b="1">
                <a:solidFill>
                  <a:srgbClr val="7030A0"/>
                </a:solidFill>
                <a:latin typeface="Noto Sans SC"/>
                <a:ea typeface="Noto Sans SC"/>
                <a:sym typeface="Noto Sans SC"/>
              </a:rPr>
              <a:t>作业</a:t>
            </a:r>
            <a:r>
              <a:rPr lang="en-US" altLang="zh-CN" sz="2000" b="1">
                <a:solidFill>
                  <a:srgbClr val="7030A0"/>
                </a:solidFill>
                <a:latin typeface="Noto Sans SC"/>
                <a:ea typeface="Noto Sans SC"/>
                <a:sym typeface="Noto Sans SC"/>
              </a:rPr>
              <a:t>07B</a:t>
            </a:r>
            <a:r>
              <a:rPr lang="zh-CN" altLang="en-US" sz="2000" b="1">
                <a:solidFill>
                  <a:srgbClr val="7030A0"/>
                </a:solidFill>
                <a:latin typeface="Noto Sans SC"/>
                <a:ea typeface="Noto Sans SC"/>
                <a:sym typeface="Noto Sans SC"/>
              </a:rPr>
              <a:t>：关系数据库规范化设计理论</a:t>
            </a:r>
            <a:r>
              <a:rPr lang="en-US" altLang="zh-CN" sz="2000" b="1">
                <a:solidFill>
                  <a:srgbClr val="7030A0"/>
                </a:solidFill>
                <a:latin typeface="Noto Sans SC"/>
                <a:ea typeface="Noto Sans SC"/>
                <a:sym typeface="Noto Sans SC"/>
              </a:rPr>
              <a:t>》</a:t>
            </a:r>
            <a:endParaRPr lang="en-US" sz="1600">
              <a:solidFill>
                <a:srgbClr val="555555"/>
              </a:solidFill>
              <a:latin typeface="Noto Sans SC"/>
              <a:ea typeface="Noto Sans SC"/>
              <a:sym typeface="Noto Sans SC"/>
            </a:endParaRPr>
          </a:p>
        </p:txBody>
      </p:sp>
    </p:spTree>
    <p:extLst>
      <p:ext uri="{BB962C8B-B14F-4D97-AF65-F5344CB8AC3E}">
        <p14:creationId xmlns:p14="http://schemas.microsoft.com/office/powerpoint/2010/main" val="2694950856"/>
      </p:ext>
    </p:extLst>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1293</TotalTime>
  <Words>12840</Words>
  <Application>Microsoft Office PowerPoint</Application>
  <PresentationFormat>宽屏</PresentationFormat>
  <Paragraphs>1523</Paragraphs>
  <Slides>70</Slides>
  <Notes>70</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70</vt:i4>
      </vt:variant>
    </vt:vector>
  </HeadingPairs>
  <TitlesOfParts>
    <vt:vector size="81" baseType="lpstr">
      <vt:lpstr>Noto Sans SC</vt:lpstr>
      <vt:lpstr>Noto Sans SC Black</vt:lpstr>
      <vt:lpstr>Noto Sans SC Medium</vt:lpstr>
      <vt:lpstr>等线</vt:lpstr>
      <vt:lpstr>SimHei</vt:lpstr>
      <vt:lpstr>Arial</vt:lpstr>
      <vt:lpstr>Consolas</vt:lpstr>
      <vt:lpstr>Helvetica</vt:lpstr>
      <vt:lpstr>Wingdings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文林 潘</cp:lastModifiedBy>
  <cp:revision>1144</cp:revision>
  <dcterms:modified xsi:type="dcterms:W3CDTF">2026-05-06T20:33:39Z</dcterms:modified>
</cp:coreProperties>
</file>